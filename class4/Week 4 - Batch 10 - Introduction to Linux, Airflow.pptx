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0"/>
  </p:notesMasterIdLst>
  <p:sldIdLst>
    <p:sldId id="280" r:id="rId2"/>
    <p:sldId id="285" r:id="rId3"/>
    <p:sldId id="286" r:id="rId4"/>
    <p:sldId id="287" r:id="rId5"/>
    <p:sldId id="340" r:id="rId6"/>
    <p:sldId id="288" r:id="rId7"/>
    <p:sldId id="341" r:id="rId8"/>
    <p:sldId id="290" r:id="rId9"/>
    <p:sldId id="342" r:id="rId10"/>
    <p:sldId id="291" r:id="rId11"/>
    <p:sldId id="293" r:id="rId12"/>
    <p:sldId id="300" r:id="rId13"/>
    <p:sldId id="343" r:id="rId14"/>
    <p:sldId id="301" r:id="rId15"/>
    <p:sldId id="302" r:id="rId16"/>
    <p:sldId id="344" r:id="rId17"/>
    <p:sldId id="303" r:id="rId18"/>
    <p:sldId id="304" r:id="rId19"/>
    <p:sldId id="305" r:id="rId20"/>
    <p:sldId id="306" r:id="rId21"/>
    <p:sldId id="307" r:id="rId22"/>
    <p:sldId id="308" r:id="rId23"/>
    <p:sldId id="309" r:id="rId24"/>
    <p:sldId id="310" r:id="rId25"/>
    <p:sldId id="311" r:id="rId26"/>
    <p:sldId id="312" r:id="rId27"/>
    <p:sldId id="313" r:id="rId28"/>
    <p:sldId id="339" r:id="rId29"/>
  </p:sldIdLst>
  <p:sldSz cx="9144000" cy="5143500" type="screen16x9"/>
  <p:notesSz cx="6858000" cy="9144000"/>
  <p:embeddedFontLst>
    <p:embeddedFont>
      <p:font typeface="Georgia" panose="02040502050405020303" pitchFamily="18" charset="0"/>
      <p:regular r:id="rId31"/>
      <p:bold r:id="rId32"/>
      <p:italic r:id="rId33"/>
      <p:boldItalic r:id="rId34"/>
    </p:embeddedFont>
    <p:embeddedFont>
      <p:font typeface="Roboto" panose="020B0604020202020204" charset="0"/>
      <p:regular r:id="rId35"/>
      <p:bold r:id="rId36"/>
      <p:italic r:id="rId37"/>
      <p:boldItalic r:id="rId38"/>
    </p:embeddedFont>
    <p:embeddedFont>
      <p:font typeface="Roboto Slab" panose="020B0604020202020204" charset="0"/>
      <p:regular r:id="rId39"/>
      <p:bold r:id="rId40"/>
    </p:embeddedFont>
    <p:embeddedFont>
      <p:font typeface="Source Sans Pro" panose="020B0604020202020204" charset="0"/>
      <p:regular r:id="rId41"/>
      <p:bold r:id="rId42"/>
      <p:italic r:id="rId43"/>
      <p:boldItalic r:id="rId44"/>
    </p:embeddedFont>
    <p:embeddedFont>
      <p:font typeface="Roboto Mono" panose="020B060402020202020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2" roundtripDataSignature="AMtx7miPxG4YbJtcFX2mSyERmnnF78yTx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6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84"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 Type="http://schemas.openxmlformats.org/officeDocument/2006/relationships/slide" Target="slides/slide4.xml"/><Relationship Id="rId82"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8" Type="http://schemas.openxmlformats.org/officeDocument/2006/relationships/slide" Target="slides/slide7.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1.fntdata"/><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37286557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e7a59ce023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4" name="Google Shape;284;ge7a59ce023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773852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e490a57b47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2" name="Google Shape;322;ge490a57b47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793098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e490a57b47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1" name="Google Shape;331;ge490a57b47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1200"/>
              </a:spcBef>
              <a:spcAft>
                <a:spcPts val="0"/>
              </a:spcAft>
              <a:buClr>
                <a:schemeClr val="dk1"/>
              </a:buClr>
              <a:buSzPts val="1200"/>
              <a:buAutoNum type="arabicPeriod"/>
            </a:pPr>
            <a:r>
              <a:rPr lang="en" sz="1200">
                <a:solidFill>
                  <a:schemeClr val="dk1"/>
                </a:solidFill>
              </a:rPr>
              <a:t>Set your working directory to the root directory. 	</a:t>
            </a:r>
            <a:br>
              <a:rPr lang="en" sz="1200">
                <a:solidFill>
                  <a:schemeClr val="dk1"/>
                </a:solidFill>
              </a:rPr>
            </a:b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Set your working directory to your home directory</a:t>
            </a:r>
            <a:br>
              <a:rPr lang="en" sz="1200">
                <a:solidFill>
                  <a:schemeClr val="dk1"/>
                </a:solidFill>
              </a:rPr>
            </a:br>
            <a:r>
              <a:rPr lang="en" sz="1200">
                <a:solidFill>
                  <a:schemeClr val="dk1"/>
                </a:solidFill>
              </a:rPr>
              <a:t>using three different commands.</a:t>
            </a:r>
            <a:br>
              <a:rPr lang="en" sz="1200">
                <a:solidFill>
                  <a:schemeClr val="dk1"/>
                </a:solidFill>
              </a:rPr>
            </a:b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Find a folder on your computer using your file and</a:t>
            </a:r>
            <a:br>
              <a:rPr lang="en" sz="1200">
                <a:solidFill>
                  <a:schemeClr val="dk1"/>
                </a:solidFill>
              </a:rPr>
            </a:br>
            <a:r>
              <a:rPr lang="en" sz="1200">
                <a:solidFill>
                  <a:schemeClr val="dk1"/>
                </a:solidFill>
              </a:rPr>
              <a:t>folder browser, and then set your working directory to</a:t>
            </a:r>
            <a:br>
              <a:rPr lang="en" sz="1200">
                <a:solidFill>
                  <a:schemeClr val="dk1"/>
                </a:solidFill>
              </a:rPr>
            </a:br>
            <a:r>
              <a:rPr lang="en" sz="1200">
                <a:solidFill>
                  <a:schemeClr val="dk1"/>
                </a:solidFill>
              </a:rPr>
              <a:t>that folder using the terminal.</a:t>
            </a:r>
            <a:br>
              <a:rPr lang="en" sz="1200">
                <a:solidFill>
                  <a:schemeClr val="dk1"/>
                </a:solidFill>
              </a:rPr>
            </a:br>
            <a:r>
              <a:rPr lang="en" sz="1200">
                <a:solidFill>
                  <a:schemeClr val="dk1"/>
                </a:solidFill>
              </a:rPr>
              <a:t> 						</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List all of the files and folders in the directory you</a:t>
            </a:r>
            <a:br>
              <a:rPr lang="en" sz="1200">
                <a:solidFill>
                  <a:schemeClr val="dk1"/>
                </a:solidFill>
              </a:rPr>
            </a:br>
            <a:r>
              <a:rPr lang="en" sz="1200">
                <a:solidFill>
                  <a:schemeClr val="dk1"/>
                </a:solidFill>
              </a:rPr>
              <a:t>navigated to in #3. </a:t>
            </a:r>
            <a:endParaRPr/>
          </a:p>
        </p:txBody>
      </p:sp>
    </p:spTree>
    <p:extLst>
      <p:ext uri="{BB962C8B-B14F-4D97-AF65-F5344CB8AC3E}">
        <p14:creationId xmlns:p14="http://schemas.microsoft.com/office/powerpoint/2010/main" val="31988591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e490a57b47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2" name="Google Shape;342;ge490a57b47_0_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1200"/>
              </a:spcBef>
              <a:spcAft>
                <a:spcPts val="0"/>
              </a:spcAft>
              <a:buClr>
                <a:schemeClr val="dk1"/>
              </a:buClr>
              <a:buSzPts val="1200"/>
              <a:buAutoNum type="arabicPeriod"/>
            </a:pPr>
            <a:r>
              <a:rPr lang="en" sz="1200">
                <a:solidFill>
                  <a:schemeClr val="dk1"/>
                </a:solidFill>
              </a:rPr>
              <a:t>Create a new directory called </a:t>
            </a:r>
            <a:r>
              <a:rPr lang="en" sz="1000">
                <a:solidFill>
                  <a:schemeClr val="dk1"/>
                </a:solidFill>
              </a:rPr>
              <a:t>workbench </a:t>
            </a:r>
            <a:r>
              <a:rPr lang="en" sz="1200">
                <a:solidFill>
                  <a:schemeClr val="dk1"/>
                </a:solidFill>
              </a:rPr>
              <a:t>in your home directory.</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Without changing directories create a file called </a:t>
            </a:r>
            <a:r>
              <a:rPr lang="en" sz="1000">
                <a:solidFill>
                  <a:schemeClr val="dk1"/>
                </a:solidFill>
              </a:rPr>
              <a:t>readme.txt </a:t>
            </a:r>
            <a:r>
              <a:rPr lang="en" sz="1200">
                <a:solidFill>
                  <a:schemeClr val="dk1"/>
                </a:solidFill>
              </a:rPr>
              <a:t>inside of </a:t>
            </a:r>
            <a:r>
              <a:rPr lang="en" sz="1000">
                <a:solidFill>
                  <a:schemeClr val="dk1"/>
                </a:solidFill>
              </a:rPr>
              <a:t>workbench</a:t>
            </a:r>
            <a:r>
              <a:rPr lang="en" sz="1200">
                <a:solidFill>
                  <a:schemeClr val="dk1"/>
                </a:solidFill>
              </a:rPr>
              <a:t>.</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Append the numbers 1, 2, and 3 to </a:t>
            </a:r>
            <a:r>
              <a:rPr lang="en" sz="1000">
                <a:solidFill>
                  <a:schemeClr val="dk1"/>
                </a:solidFill>
              </a:rPr>
              <a:t>readme.txt </a:t>
            </a:r>
            <a:r>
              <a:rPr lang="en" sz="1200">
                <a:solidFill>
                  <a:schemeClr val="dk1"/>
                </a:solidFill>
              </a:rPr>
              <a:t>so that each number appears on it’s own line.</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Print </a:t>
            </a:r>
            <a:r>
              <a:rPr lang="en" sz="1000">
                <a:solidFill>
                  <a:schemeClr val="dk1"/>
                </a:solidFill>
              </a:rPr>
              <a:t>readme.txt </a:t>
            </a:r>
            <a:r>
              <a:rPr lang="en" sz="1200">
                <a:solidFill>
                  <a:schemeClr val="dk1"/>
                </a:solidFill>
              </a:rPr>
              <a:t>to the command line.</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Use output redirection to create a new file in the </a:t>
            </a:r>
            <a:r>
              <a:rPr lang="en" sz="1000">
                <a:solidFill>
                  <a:schemeClr val="dk1"/>
                </a:solidFill>
              </a:rPr>
              <a:t>workbench </a:t>
            </a:r>
            <a:r>
              <a:rPr lang="en" sz="1200">
                <a:solidFill>
                  <a:schemeClr val="dk1"/>
                </a:solidFill>
              </a:rPr>
              <a:t>directory called </a:t>
            </a:r>
            <a:r>
              <a:rPr lang="en" sz="1000">
                <a:solidFill>
                  <a:schemeClr val="dk1"/>
                </a:solidFill>
              </a:rPr>
              <a:t>list.txt </a:t>
            </a:r>
            <a:r>
              <a:rPr lang="en" sz="1200">
                <a:solidFill>
                  <a:schemeClr val="dk1"/>
                </a:solidFill>
              </a:rPr>
              <a:t>which lists the files and folders in your home directory.</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Find out how many characters are in </a:t>
            </a:r>
            <a:r>
              <a:rPr lang="en" sz="1000">
                <a:solidFill>
                  <a:schemeClr val="dk1"/>
                </a:solidFill>
              </a:rPr>
              <a:t>list.txt </a:t>
            </a:r>
            <a:r>
              <a:rPr lang="en" sz="1200">
                <a:solidFill>
                  <a:schemeClr val="dk1"/>
                </a:solidFill>
              </a:rPr>
              <a:t>without opening the file or printing it to the command line.</a:t>
            </a:r>
            <a:endParaRPr>
              <a:solidFill>
                <a:schemeClr val="dk1"/>
              </a:solidFill>
            </a:endParaRPr>
          </a:p>
        </p:txBody>
      </p:sp>
    </p:spTree>
    <p:extLst>
      <p:ext uri="{BB962C8B-B14F-4D97-AF65-F5344CB8AC3E}">
        <p14:creationId xmlns:p14="http://schemas.microsoft.com/office/powerpoint/2010/main" val="40047717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e490a57b47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2" name="Google Shape;342;ge490a57b47_0_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1200"/>
              </a:spcBef>
              <a:spcAft>
                <a:spcPts val="0"/>
              </a:spcAft>
              <a:buClr>
                <a:schemeClr val="dk1"/>
              </a:buClr>
              <a:buSzPts val="1200"/>
              <a:buAutoNum type="arabicPeriod"/>
            </a:pPr>
            <a:r>
              <a:rPr lang="en" sz="1200">
                <a:solidFill>
                  <a:schemeClr val="dk1"/>
                </a:solidFill>
              </a:rPr>
              <a:t>Create a new directory called </a:t>
            </a:r>
            <a:r>
              <a:rPr lang="en" sz="1000">
                <a:solidFill>
                  <a:schemeClr val="dk1"/>
                </a:solidFill>
              </a:rPr>
              <a:t>workbench </a:t>
            </a:r>
            <a:r>
              <a:rPr lang="en" sz="1200">
                <a:solidFill>
                  <a:schemeClr val="dk1"/>
                </a:solidFill>
              </a:rPr>
              <a:t>in your home directory.</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Without changing directories create a file called </a:t>
            </a:r>
            <a:r>
              <a:rPr lang="en" sz="1000">
                <a:solidFill>
                  <a:schemeClr val="dk1"/>
                </a:solidFill>
              </a:rPr>
              <a:t>readme.txt </a:t>
            </a:r>
            <a:r>
              <a:rPr lang="en" sz="1200">
                <a:solidFill>
                  <a:schemeClr val="dk1"/>
                </a:solidFill>
              </a:rPr>
              <a:t>inside of </a:t>
            </a:r>
            <a:r>
              <a:rPr lang="en" sz="1000">
                <a:solidFill>
                  <a:schemeClr val="dk1"/>
                </a:solidFill>
              </a:rPr>
              <a:t>workbench</a:t>
            </a:r>
            <a:r>
              <a:rPr lang="en" sz="1200">
                <a:solidFill>
                  <a:schemeClr val="dk1"/>
                </a:solidFill>
              </a:rPr>
              <a:t>.</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Append the numbers 1, 2, and 3 to </a:t>
            </a:r>
            <a:r>
              <a:rPr lang="en" sz="1000">
                <a:solidFill>
                  <a:schemeClr val="dk1"/>
                </a:solidFill>
              </a:rPr>
              <a:t>readme.txt </a:t>
            </a:r>
            <a:r>
              <a:rPr lang="en" sz="1200">
                <a:solidFill>
                  <a:schemeClr val="dk1"/>
                </a:solidFill>
              </a:rPr>
              <a:t>so that each number appears on it’s own line.</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Print </a:t>
            </a:r>
            <a:r>
              <a:rPr lang="en" sz="1000">
                <a:solidFill>
                  <a:schemeClr val="dk1"/>
                </a:solidFill>
              </a:rPr>
              <a:t>readme.txt </a:t>
            </a:r>
            <a:r>
              <a:rPr lang="en" sz="1200">
                <a:solidFill>
                  <a:schemeClr val="dk1"/>
                </a:solidFill>
              </a:rPr>
              <a:t>to the command line.</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Use output redirection to create a new file in the </a:t>
            </a:r>
            <a:r>
              <a:rPr lang="en" sz="1000">
                <a:solidFill>
                  <a:schemeClr val="dk1"/>
                </a:solidFill>
              </a:rPr>
              <a:t>workbench </a:t>
            </a:r>
            <a:r>
              <a:rPr lang="en" sz="1200">
                <a:solidFill>
                  <a:schemeClr val="dk1"/>
                </a:solidFill>
              </a:rPr>
              <a:t>directory called </a:t>
            </a:r>
            <a:r>
              <a:rPr lang="en" sz="1000">
                <a:solidFill>
                  <a:schemeClr val="dk1"/>
                </a:solidFill>
              </a:rPr>
              <a:t>list.txt </a:t>
            </a:r>
            <a:r>
              <a:rPr lang="en" sz="1200">
                <a:solidFill>
                  <a:schemeClr val="dk1"/>
                </a:solidFill>
              </a:rPr>
              <a:t>which lists the files and folders in your home directory.</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Find out how many characters are in </a:t>
            </a:r>
            <a:r>
              <a:rPr lang="en" sz="1000">
                <a:solidFill>
                  <a:schemeClr val="dk1"/>
                </a:solidFill>
              </a:rPr>
              <a:t>list.txt </a:t>
            </a:r>
            <a:r>
              <a:rPr lang="en" sz="1200">
                <a:solidFill>
                  <a:schemeClr val="dk1"/>
                </a:solidFill>
              </a:rPr>
              <a:t>without opening the file or printing it to the command line.</a:t>
            </a:r>
            <a:endParaRPr>
              <a:solidFill>
                <a:schemeClr val="dk1"/>
              </a:solidFill>
            </a:endParaRPr>
          </a:p>
        </p:txBody>
      </p:sp>
    </p:spTree>
    <p:extLst>
      <p:ext uri="{BB962C8B-B14F-4D97-AF65-F5344CB8AC3E}">
        <p14:creationId xmlns:p14="http://schemas.microsoft.com/office/powerpoint/2010/main" val="395360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e490a57b47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0" name="Google Shape;350;ge490a57b47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1200"/>
              </a:spcBef>
              <a:spcAft>
                <a:spcPts val="0"/>
              </a:spcAft>
              <a:buClr>
                <a:schemeClr val="dk1"/>
              </a:buClr>
              <a:buSzPts val="1200"/>
              <a:buAutoNum type="arabicPeriod"/>
            </a:pPr>
            <a:r>
              <a:rPr lang="en" sz="1200">
                <a:solidFill>
                  <a:schemeClr val="dk1"/>
                </a:solidFill>
              </a:rPr>
              <a:t>Create a file called </a:t>
            </a:r>
            <a:r>
              <a:rPr lang="en" sz="1000">
                <a:solidFill>
                  <a:schemeClr val="dk1"/>
                </a:solidFill>
              </a:rPr>
              <a:t>message.txt </a:t>
            </a:r>
            <a:r>
              <a:rPr lang="en" sz="1200">
                <a:solidFill>
                  <a:schemeClr val="dk1"/>
                </a:solidFill>
              </a:rPr>
              <a:t>in your home directory and move it into another directory.</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Copy the </a:t>
            </a:r>
            <a:r>
              <a:rPr lang="en" sz="1000">
                <a:solidFill>
                  <a:schemeClr val="dk1"/>
                </a:solidFill>
              </a:rPr>
              <a:t>message.txt </a:t>
            </a:r>
            <a:r>
              <a:rPr lang="en" sz="1200">
                <a:solidFill>
                  <a:schemeClr val="dk1"/>
                </a:solidFill>
              </a:rPr>
              <a:t>you just moved into your home directory.</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Delete both copies of </a:t>
            </a:r>
            <a:r>
              <a:rPr lang="en" sz="1000">
                <a:solidFill>
                  <a:schemeClr val="dk1"/>
                </a:solidFill>
              </a:rPr>
              <a:t>message.txt</a:t>
            </a:r>
            <a:r>
              <a:rPr lang="en" sz="1200">
                <a:solidFill>
                  <a:schemeClr val="dk1"/>
                </a:solidFill>
              </a:rPr>
              <a:t>. Try to do this without using </a:t>
            </a:r>
            <a:r>
              <a:rPr lang="en" sz="1000">
                <a:solidFill>
                  <a:schemeClr val="dk1"/>
                </a:solidFill>
              </a:rPr>
              <a:t>rm</a:t>
            </a:r>
            <a:r>
              <a:rPr lang="en" sz="1200">
                <a:solidFill>
                  <a:schemeClr val="dk1"/>
                </a:solidFill>
              </a:rPr>
              <a:t>.</a:t>
            </a:r>
            <a:endParaRPr sz="1200">
              <a:solidFill>
                <a:schemeClr val="dk1"/>
              </a:solidFill>
            </a:endParaRPr>
          </a:p>
        </p:txBody>
      </p:sp>
    </p:spTree>
    <p:extLst>
      <p:ext uri="{BB962C8B-B14F-4D97-AF65-F5344CB8AC3E}">
        <p14:creationId xmlns:p14="http://schemas.microsoft.com/office/powerpoint/2010/main" val="183806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e490a57b47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0" name="Google Shape;350;ge490a57b47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1200"/>
              </a:spcBef>
              <a:spcAft>
                <a:spcPts val="0"/>
              </a:spcAft>
              <a:buClr>
                <a:schemeClr val="dk1"/>
              </a:buClr>
              <a:buSzPts val="1200"/>
              <a:buAutoNum type="arabicPeriod"/>
            </a:pPr>
            <a:r>
              <a:rPr lang="en" sz="1200">
                <a:solidFill>
                  <a:schemeClr val="dk1"/>
                </a:solidFill>
              </a:rPr>
              <a:t>Create a file called </a:t>
            </a:r>
            <a:r>
              <a:rPr lang="en" sz="1000">
                <a:solidFill>
                  <a:schemeClr val="dk1"/>
                </a:solidFill>
              </a:rPr>
              <a:t>message.txt </a:t>
            </a:r>
            <a:r>
              <a:rPr lang="en" sz="1200">
                <a:solidFill>
                  <a:schemeClr val="dk1"/>
                </a:solidFill>
              </a:rPr>
              <a:t>in your home directory and move it into another directory.</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Copy the </a:t>
            </a:r>
            <a:r>
              <a:rPr lang="en" sz="1000">
                <a:solidFill>
                  <a:schemeClr val="dk1"/>
                </a:solidFill>
              </a:rPr>
              <a:t>message.txt </a:t>
            </a:r>
            <a:r>
              <a:rPr lang="en" sz="1200">
                <a:solidFill>
                  <a:schemeClr val="dk1"/>
                </a:solidFill>
              </a:rPr>
              <a:t>you just moved into your home directory.</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Delete both copies of </a:t>
            </a:r>
            <a:r>
              <a:rPr lang="en" sz="1000">
                <a:solidFill>
                  <a:schemeClr val="dk1"/>
                </a:solidFill>
              </a:rPr>
              <a:t>message.txt</a:t>
            </a:r>
            <a:r>
              <a:rPr lang="en" sz="1200">
                <a:solidFill>
                  <a:schemeClr val="dk1"/>
                </a:solidFill>
              </a:rPr>
              <a:t>. Try to do this without using </a:t>
            </a:r>
            <a:r>
              <a:rPr lang="en" sz="1000">
                <a:solidFill>
                  <a:schemeClr val="dk1"/>
                </a:solidFill>
              </a:rPr>
              <a:t>rm</a:t>
            </a:r>
            <a:r>
              <a:rPr lang="en" sz="1200">
                <a:solidFill>
                  <a:schemeClr val="dk1"/>
                </a:solidFill>
              </a:rPr>
              <a:t>.</a:t>
            </a:r>
            <a:endParaRPr sz="1200">
              <a:solidFill>
                <a:schemeClr val="dk1"/>
              </a:solidFill>
            </a:endParaRPr>
          </a:p>
        </p:txBody>
      </p:sp>
    </p:spTree>
    <p:extLst>
      <p:ext uri="{BB962C8B-B14F-4D97-AF65-F5344CB8AC3E}">
        <p14:creationId xmlns:p14="http://schemas.microsoft.com/office/powerpoint/2010/main" val="8075149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eda00f0913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5" name="Google Shape;365;geda00f0913_0_1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1200"/>
              </a:spcBef>
              <a:spcAft>
                <a:spcPts val="0"/>
              </a:spcAft>
              <a:buClr>
                <a:schemeClr val="dk1"/>
              </a:buClr>
              <a:buSzPts val="1200"/>
              <a:buAutoNum type="arabicPeriod"/>
            </a:pPr>
            <a:r>
              <a:rPr lang="en" sz="1200">
                <a:solidFill>
                  <a:schemeClr val="dk1"/>
                </a:solidFill>
              </a:rPr>
              <a:t>Create a file called </a:t>
            </a:r>
            <a:r>
              <a:rPr lang="en" sz="1000">
                <a:solidFill>
                  <a:schemeClr val="dk1"/>
                </a:solidFill>
              </a:rPr>
              <a:t>message.txt </a:t>
            </a:r>
            <a:r>
              <a:rPr lang="en" sz="1200">
                <a:solidFill>
                  <a:schemeClr val="dk1"/>
                </a:solidFill>
              </a:rPr>
              <a:t>in your home directory and move it into another directory.</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Copy the </a:t>
            </a:r>
            <a:r>
              <a:rPr lang="en" sz="1000">
                <a:solidFill>
                  <a:schemeClr val="dk1"/>
                </a:solidFill>
              </a:rPr>
              <a:t>message.txt </a:t>
            </a:r>
            <a:r>
              <a:rPr lang="en" sz="1200">
                <a:solidFill>
                  <a:schemeClr val="dk1"/>
                </a:solidFill>
              </a:rPr>
              <a:t>you just moved into your home directory.</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Delete both copies of </a:t>
            </a:r>
            <a:r>
              <a:rPr lang="en" sz="1000">
                <a:solidFill>
                  <a:schemeClr val="dk1"/>
                </a:solidFill>
              </a:rPr>
              <a:t>message.txt</a:t>
            </a:r>
            <a:r>
              <a:rPr lang="en" sz="1200">
                <a:solidFill>
                  <a:schemeClr val="dk1"/>
                </a:solidFill>
              </a:rPr>
              <a:t>. Try to do this without using </a:t>
            </a:r>
            <a:r>
              <a:rPr lang="en" sz="1000">
                <a:solidFill>
                  <a:schemeClr val="dk1"/>
                </a:solidFill>
              </a:rPr>
              <a:t>rm</a:t>
            </a:r>
            <a:r>
              <a:rPr lang="en" sz="1200">
                <a:solidFill>
                  <a:schemeClr val="dk1"/>
                </a:solidFill>
              </a:rPr>
              <a:t>.</a:t>
            </a:r>
            <a:endParaRPr sz="1200">
              <a:solidFill>
                <a:schemeClr val="dk1"/>
              </a:solidFill>
            </a:endParaRPr>
          </a:p>
        </p:txBody>
      </p:sp>
    </p:spTree>
    <p:extLst>
      <p:ext uri="{BB962C8B-B14F-4D97-AF65-F5344CB8AC3E}">
        <p14:creationId xmlns:p14="http://schemas.microsoft.com/office/powerpoint/2010/main" val="18394249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eda00f0913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5" name="Google Shape;365;geda00f0913_0_1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1200"/>
              </a:spcBef>
              <a:spcAft>
                <a:spcPts val="0"/>
              </a:spcAft>
              <a:buClr>
                <a:schemeClr val="dk1"/>
              </a:buClr>
              <a:buSzPts val="1200"/>
              <a:buAutoNum type="arabicPeriod"/>
            </a:pPr>
            <a:r>
              <a:rPr lang="en" sz="1200">
                <a:solidFill>
                  <a:schemeClr val="dk1"/>
                </a:solidFill>
              </a:rPr>
              <a:t>Create a file called </a:t>
            </a:r>
            <a:r>
              <a:rPr lang="en" sz="1000">
                <a:solidFill>
                  <a:schemeClr val="dk1"/>
                </a:solidFill>
              </a:rPr>
              <a:t>message.txt </a:t>
            </a:r>
            <a:r>
              <a:rPr lang="en" sz="1200">
                <a:solidFill>
                  <a:schemeClr val="dk1"/>
                </a:solidFill>
              </a:rPr>
              <a:t>in your home directory and move it into another directory.</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Copy the </a:t>
            </a:r>
            <a:r>
              <a:rPr lang="en" sz="1000">
                <a:solidFill>
                  <a:schemeClr val="dk1"/>
                </a:solidFill>
              </a:rPr>
              <a:t>message.txt </a:t>
            </a:r>
            <a:r>
              <a:rPr lang="en" sz="1200">
                <a:solidFill>
                  <a:schemeClr val="dk1"/>
                </a:solidFill>
              </a:rPr>
              <a:t>you just moved into your home directory.</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Delete both copies of </a:t>
            </a:r>
            <a:r>
              <a:rPr lang="en" sz="1000">
                <a:solidFill>
                  <a:schemeClr val="dk1"/>
                </a:solidFill>
              </a:rPr>
              <a:t>message.txt</a:t>
            </a:r>
            <a:r>
              <a:rPr lang="en" sz="1200">
                <a:solidFill>
                  <a:schemeClr val="dk1"/>
                </a:solidFill>
              </a:rPr>
              <a:t>. Try to do this without using </a:t>
            </a:r>
            <a:r>
              <a:rPr lang="en" sz="1000">
                <a:solidFill>
                  <a:schemeClr val="dk1"/>
                </a:solidFill>
              </a:rPr>
              <a:t>rm</a:t>
            </a:r>
            <a:r>
              <a:rPr lang="en" sz="1200">
                <a:solidFill>
                  <a:schemeClr val="dk1"/>
                </a:solidFill>
              </a:rPr>
              <a:t>.</a:t>
            </a:r>
            <a:endParaRPr sz="1200">
              <a:solidFill>
                <a:schemeClr val="dk1"/>
              </a:solidFill>
            </a:endParaRPr>
          </a:p>
        </p:txBody>
      </p:sp>
    </p:spTree>
    <p:extLst>
      <p:ext uri="{BB962C8B-B14F-4D97-AF65-F5344CB8AC3E}">
        <p14:creationId xmlns:p14="http://schemas.microsoft.com/office/powerpoint/2010/main" val="5880149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e7d5f60f8b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3" name="Google Shape;373;ge7d5f60f8b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1200"/>
              </a:spcBef>
              <a:spcAft>
                <a:spcPts val="0"/>
              </a:spcAft>
              <a:buClr>
                <a:schemeClr val="dk1"/>
              </a:buClr>
              <a:buSzPts val="1200"/>
              <a:buAutoNum type="arabicPeriod"/>
            </a:pPr>
            <a:r>
              <a:rPr lang="en" sz="1200">
                <a:solidFill>
                  <a:schemeClr val="dk1"/>
                </a:solidFill>
              </a:rPr>
              <a:t>Create a file called </a:t>
            </a:r>
            <a:r>
              <a:rPr lang="en" sz="1000">
                <a:solidFill>
                  <a:schemeClr val="dk1"/>
                </a:solidFill>
              </a:rPr>
              <a:t>message.txt </a:t>
            </a:r>
            <a:r>
              <a:rPr lang="en" sz="1200">
                <a:solidFill>
                  <a:schemeClr val="dk1"/>
                </a:solidFill>
              </a:rPr>
              <a:t>in your home directory and move it into another directory.</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Copy the </a:t>
            </a:r>
            <a:r>
              <a:rPr lang="en" sz="1000">
                <a:solidFill>
                  <a:schemeClr val="dk1"/>
                </a:solidFill>
              </a:rPr>
              <a:t>message.txt </a:t>
            </a:r>
            <a:r>
              <a:rPr lang="en" sz="1200">
                <a:solidFill>
                  <a:schemeClr val="dk1"/>
                </a:solidFill>
              </a:rPr>
              <a:t>you just moved into your home directory.</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Delete both copies of </a:t>
            </a:r>
            <a:r>
              <a:rPr lang="en" sz="1000">
                <a:solidFill>
                  <a:schemeClr val="dk1"/>
                </a:solidFill>
              </a:rPr>
              <a:t>message.txt</a:t>
            </a:r>
            <a:r>
              <a:rPr lang="en" sz="1200">
                <a:solidFill>
                  <a:schemeClr val="dk1"/>
                </a:solidFill>
              </a:rPr>
              <a:t>. Try to do this without using </a:t>
            </a:r>
            <a:r>
              <a:rPr lang="en" sz="1000">
                <a:solidFill>
                  <a:schemeClr val="dk1"/>
                </a:solidFill>
              </a:rPr>
              <a:t>rm</a:t>
            </a:r>
            <a:r>
              <a:rPr lang="en" sz="1200">
                <a:solidFill>
                  <a:schemeClr val="dk1"/>
                </a:solidFill>
              </a:rPr>
              <a:t>.</a:t>
            </a:r>
            <a:endParaRPr sz="1200">
              <a:solidFill>
                <a:schemeClr val="dk1"/>
              </a:solidFill>
            </a:endParaRPr>
          </a:p>
        </p:txBody>
      </p:sp>
    </p:spTree>
    <p:extLst>
      <p:ext uri="{BB962C8B-B14F-4D97-AF65-F5344CB8AC3E}">
        <p14:creationId xmlns:p14="http://schemas.microsoft.com/office/powerpoint/2010/main" val="2079507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e7d5f60f8b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8" name="Google Shape;388;ge7d5f60f8b_0_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1200"/>
              </a:spcBef>
              <a:spcAft>
                <a:spcPts val="0"/>
              </a:spcAft>
              <a:buClr>
                <a:schemeClr val="dk1"/>
              </a:buClr>
              <a:buSzPts val="1200"/>
              <a:buAutoNum type="arabicPeriod"/>
            </a:pPr>
            <a:r>
              <a:rPr lang="en" sz="1200">
                <a:solidFill>
                  <a:schemeClr val="dk1"/>
                </a:solidFill>
              </a:rPr>
              <a:t>Use pipe in 2 to 3 commands of your own.</a:t>
            </a:r>
            <a:endParaRPr sz="1200">
              <a:solidFill>
                <a:schemeClr val="dk1"/>
              </a:solidFill>
            </a:endParaRPr>
          </a:p>
        </p:txBody>
      </p:sp>
    </p:spTree>
    <p:extLst>
      <p:ext uri="{BB962C8B-B14F-4D97-AF65-F5344CB8AC3E}">
        <p14:creationId xmlns:p14="http://schemas.microsoft.com/office/powerpoint/2010/main" val="41320745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e6b864656b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6" name="Google Shape;446;ge6b864656b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1400"/>
              <a:buNone/>
            </a:pPr>
            <a:endParaRPr sz="1200">
              <a:solidFill>
                <a:schemeClr val="dk1"/>
              </a:solidFill>
            </a:endParaRPr>
          </a:p>
        </p:txBody>
      </p:sp>
    </p:spTree>
    <p:extLst>
      <p:ext uri="{BB962C8B-B14F-4D97-AF65-F5344CB8AC3E}">
        <p14:creationId xmlns:p14="http://schemas.microsoft.com/office/powerpoint/2010/main" val="24109468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e6b864656b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6" name="Google Shape;446;ge6b864656b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1400"/>
              <a:buNone/>
            </a:pPr>
            <a:endParaRPr sz="1200">
              <a:solidFill>
                <a:schemeClr val="dk1"/>
              </a:solidFill>
            </a:endParaRPr>
          </a:p>
        </p:txBody>
      </p:sp>
    </p:spTree>
    <p:extLst>
      <p:ext uri="{BB962C8B-B14F-4D97-AF65-F5344CB8AC3E}">
        <p14:creationId xmlns:p14="http://schemas.microsoft.com/office/powerpoint/2010/main" val="14586561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e6b864656b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5" name="Google Shape;455;ge6b864656b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1400"/>
              <a:buNone/>
            </a:pPr>
            <a:endParaRPr sz="1200">
              <a:solidFill>
                <a:schemeClr val="dk1"/>
              </a:solidFill>
            </a:endParaRPr>
          </a:p>
        </p:txBody>
      </p:sp>
    </p:spTree>
    <p:extLst>
      <p:ext uri="{BB962C8B-B14F-4D97-AF65-F5344CB8AC3E}">
        <p14:creationId xmlns:p14="http://schemas.microsoft.com/office/powerpoint/2010/main" val="5945764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e6b864656b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5" name="Google Shape;465;ge6b864656b_0_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1400"/>
              <a:buNone/>
            </a:pPr>
            <a:endParaRPr sz="1200">
              <a:solidFill>
                <a:schemeClr val="dk1"/>
              </a:solidFill>
            </a:endParaRPr>
          </a:p>
        </p:txBody>
      </p:sp>
    </p:spTree>
    <p:extLst>
      <p:ext uri="{BB962C8B-B14F-4D97-AF65-F5344CB8AC3E}">
        <p14:creationId xmlns:p14="http://schemas.microsoft.com/office/powerpoint/2010/main" val="13492327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e6b864656b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5" name="Google Shape;465;ge6b864656b_0_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1400"/>
              <a:buNone/>
            </a:pPr>
            <a:endParaRPr sz="1200">
              <a:solidFill>
                <a:schemeClr val="dk1"/>
              </a:solidFill>
            </a:endParaRPr>
          </a:p>
        </p:txBody>
      </p:sp>
    </p:spTree>
    <p:extLst>
      <p:ext uri="{BB962C8B-B14F-4D97-AF65-F5344CB8AC3E}">
        <p14:creationId xmlns:p14="http://schemas.microsoft.com/office/powerpoint/2010/main" val="7336535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e6b864656b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3" name="Google Shape;473;ge6b864656b_0_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1400"/>
              <a:buNone/>
            </a:pPr>
            <a:endParaRPr sz="1200">
              <a:solidFill>
                <a:schemeClr val="dk1"/>
              </a:solidFill>
            </a:endParaRPr>
          </a:p>
        </p:txBody>
      </p:sp>
    </p:spTree>
    <p:extLst>
      <p:ext uri="{BB962C8B-B14F-4D97-AF65-F5344CB8AC3E}">
        <p14:creationId xmlns:p14="http://schemas.microsoft.com/office/powerpoint/2010/main" val="20578425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eda00f0913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1" name="Google Shape;481;geda00f0913_0_1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1400"/>
              <a:buNone/>
            </a:pPr>
            <a:endParaRPr sz="1200">
              <a:solidFill>
                <a:schemeClr val="dk1"/>
              </a:solidFill>
            </a:endParaRPr>
          </a:p>
        </p:txBody>
      </p:sp>
    </p:spTree>
    <p:extLst>
      <p:ext uri="{BB962C8B-B14F-4D97-AF65-F5344CB8AC3E}">
        <p14:creationId xmlns:p14="http://schemas.microsoft.com/office/powerpoint/2010/main" val="11617173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e95ccabe2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9" name="Google Shape;489;ge95ccabe2c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1400"/>
              <a:buNone/>
            </a:pPr>
            <a:r>
              <a:rPr lang="en">
                <a:solidFill>
                  <a:schemeClr val="dk1"/>
                </a:solidFill>
              </a:rPr>
              <a:t>https://crontab.guru/</a:t>
            </a:r>
            <a:endParaRPr sz="1200">
              <a:solidFill>
                <a:schemeClr val="dk1"/>
              </a:solidFill>
            </a:endParaRPr>
          </a:p>
        </p:txBody>
      </p:sp>
    </p:spTree>
    <p:extLst>
      <p:ext uri="{BB962C8B-B14F-4D97-AF65-F5344CB8AC3E}">
        <p14:creationId xmlns:p14="http://schemas.microsoft.com/office/powerpoint/2010/main" val="8338769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eda00f091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2" name="Google Shape;502;geda00f091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1400"/>
              <a:buNone/>
            </a:pPr>
            <a:endParaRPr sz="1200">
              <a:solidFill>
                <a:schemeClr val="dk1"/>
              </a:solidFill>
            </a:endParaRPr>
          </a:p>
        </p:txBody>
      </p:sp>
    </p:spTree>
    <p:extLst>
      <p:ext uri="{BB962C8B-B14F-4D97-AF65-F5344CB8AC3E}">
        <p14:creationId xmlns:p14="http://schemas.microsoft.com/office/powerpoint/2010/main" val="23779574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geda00f091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0" name="Google Shape;510;geda00f0913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1400"/>
              <a:buNone/>
            </a:pPr>
            <a:endParaRPr sz="1200">
              <a:solidFill>
                <a:schemeClr val="dk1"/>
              </a:solidFill>
            </a:endParaRPr>
          </a:p>
        </p:txBody>
      </p:sp>
    </p:spTree>
    <p:extLst>
      <p:ext uri="{BB962C8B-B14F-4D97-AF65-F5344CB8AC3E}">
        <p14:creationId xmlns:p14="http://schemas.microsoft.com/office/powerpoint/2010/main" val="23701980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eda00f091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8" name="Google Shape;518;geda00f0913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1400"/>
              <a:buNone/>
            </a:pPr>
            <a:endParaRPr sz="1200">
              <a:solidFill>
                <a:schemeClr val="dk1"/>
              </a:solidFill>
            </a:endParaRPr>
          </a:p>
        </p:txBody>
      </p:sp>
    </p:spTree>
    <p:extLst>
      <p:ext uri="{BB962C8B-B14F-4D97-AF65-F5344CB8AC3E}">
        <p14:creationId xmlns:p14="http://schemas.microsoft.com/office/powerpoint/2010/main" val="4398526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eda00f0913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6" name="Google Shape;526;geda00f0913_0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1400"/>
              <a:buNone/>
            </a:pPr>
            <a:endParaRPr sz="1200">
              <a:solidFill>
                <a:schemeClr val="dk1"/>
              </a:solidFill>
            </a:endParaRPr>
          </a:p>
        </p:txBody>
      </p:sp>
    </p:spTree>
    <p:extLst>
      <p:ext uri="{BB962C8B-B14F-4D97-AF65-F5344CB8AC3E}">
        <p14:creationId xmlns:p14="http://schemas.microsoft.com/office/powerpoint/2010/main" val="23660081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eda00f0913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4" name="Google Shape;534;geda00f0913_0_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1400"/>
              <a:buNone/>
            </a:pPr>
            <a:endParaRPr sz="1200">
              <a:solidFill>
                <a:schemeClr val="dk1"/>
              </a:solidFill>
            </a:endParaRPr>
          </a:p>
        </p:txBody>
      </p:sp>
    </p:spTree>
    <p:extLst>
      <p:ext uri="{BB962C8B-B14F-4D97-AF65-F5344CB8AC3E}">
        <p14:creationId xmlns:p14="http://schemas.microsoft.com/office/powerpoint/2010/main" val="11631344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eda00f0913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3" name="Google Shape;543;geda00f0913_0_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1400"/>
              <a:buNone/>
            </a:pPr>
            <a:endParaRPr sz="1200">
              <a:solidFill>
                <a:schemeClr val="dk1"/>
              </a:solidFill>
            </a:endParaRPr>
          </a:p>
        </p:txBody>
      </p:sp>
    </p:spTree>
    <p:extLst>
      <p:ext uri="{BB962C8B-B14F-4D97-AF65-F5344CB8AC3E}">
        <p14:creationId xmlns:p14="http://schemas.microsoft.com/office/powerpoint/2010/main" val="26460299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eda00f0913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1" name="Google Shape;551;geda00f0913_0_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1400"/>
              <a:buNone/>
            </a:pPr>
            <a:endParaRPr sz="1200">
              <a:solidFill>
                <a:schemeClr val="dk1"/>
              </a:solidFill>
            </a:endParaRPr>
          </a:p>
        </p:txBody>
      </p:sp>
    </p:spTree>
    <p:extLst>
      <p:ext uri="{BB962C8B-B14F-4D97-AF65-F5344CB8AC3E}">
        <p14:creationId xmlns:p14="http://schemas.microsoft.com/office/powerpoint/2010/main" val="12449467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eda00f0913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9" name="Google Shape;559;geda00f0913_0_1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1400"/>
              <a:buNone/>
            </a:pPr>
            <a:endParaRPr sz="1200">
              <a:solidFill>
                <a:schemeClr val="dk1"/>
              </a:solidFill>
            </a:endParaRPr>
          </a:p>
        </p:txBody>
      </p:sp>
    </p:spTree>
    <p:extLst>
      <p:ext uri="{BB962C8B-B14F-4D97-AF65-F5344CB8AC3E}">
        <p14:creationId xmlns:p14="http://schemas.microsoft.com/office/powerpoint/2010/main" val="33040988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0" name="Google Shape;650;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2019129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44"/>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42"/>
          <p:cNvSpPr txBox="1">
            <a:spLocks noGrp="1"/>
          </p:cNvSpPr>
          <p:nvPr>
            <p:ph type="ctrTitle"/>
          </p:nvPr>
        </p:nvSpPr>
        <p:spPr>
          <a:xfrm>
            <a:off x="1700185" y="1991850"/>
            <a:ext cx="5807400" cy="1159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5800"/>
              <a:buNone/>
              <a:defRPr sz="5800" b="1">
                <a:latin typeface="+mj-lt"/>
              </a:defRPr>
            </a:lvl1pPr>
            <a:lvl2pPr lvl="1" algn="l">
              <a:lnSpc>
                <a:spcPct val="100000"/>
              </a:lnSpc>
              <a:spcBef>
                <a:spcPts val="0"/>
              </a:spcBef>
              <a:spcAft>
                <a:spcPts val="0"/>
              </a:spcAft>
              <a:buSzPts val="5800"/>
              <a:buNone/>
              <a:defRPr sz="5800" b="1"/>
            </a:lvl2pPr>
            <a:lvl3pPr lvl="2" algn="l">
              <a:lnSpc>
                <a:spcPct val="100000"/>
              </a:lnSpc>
              <a:spcBef>
                <a:spcPts val="0"/>
              </a:spcBef>
              <a:spcAft>
                <a:spcPts val="0"/>
              </a:spcAft>
              <a:buSzPts val="5800"/>
              <a:buNone/>
              <a:defRPr sz="5800" b="1"/>
            </a:lvl3pPr>
            <a:lvl4pPr lvl="3" algn="l">
              <a:lnSpc>
                <a:spcPct val="100000"/>
              </a:lnSpc>
              <a:spcBef>
                <a:spcPts val="0"/>
              </a:spcBef>
              <a:spcAft>
                <a:spcPts val="0"/>
              </a:spcAft>
              <a:buSzPts val="5800"/>
              <a:buNone/>
              <a:defRPr sz="5800" b="1"/>
            </a:lvl4pPr>
            <a:lvl5pPr lvl="4" algn="l">
              <a:lnSpc>
                <a:spcPct val="100000"/>
              </a:lnSpc>
              <a:spcBef>
                <a:spcPts val="0"/>
              </a:spcBef>
              <a:spcAft>
                <a:spcPts val="0"/>
              </a:spcAft>
              <a:buSzPts val="5800"/>
              <a:buNone/>
              <a:defRPr sz="5800" b="1"/>
            </a:lvl5pPr>
            <a:lvl6pPr lvl="5" algn="l">
              <a:lnSpc>
                <a:spcPct val="100000"/>
              </a:lnSpc>
              <a:spcBef>
                <a:spcPts val="0"/>
              </a:spcBef>
              <a:spcAft>
                <a:spcPts val="0"/>
              </a:spcAft>
              <a:buSzPts val="5800"/>
              <a:buNone/>
              <a:defRPr sz="5800" b="1"/>
            </a:lvl6pPr>
            <a:lvl7pPr lvl="6" algn="l">
              <a:lnSpc>
                <a:spcPct val="100000"/>
              </a:lnSpc>
              <a:spcBef>
                <a:spcPts val="0"/>
              </a:spcBef>
              <a:spcAft>
                <a:spcPts val="0"/>
              </a:spcAft>
              <a:buSzPts val="5800"/>
              <a:buNone/>
              <a:defRPr sz="5800" b="1"/>
            </a:lvl7pPr>
            <a:lvl8pPr lvl="7" algn="l">
              <a:lnSpc>
                <a:spcPct val="100000"/>
              </a:lnSpc>
              <a:spcBef>
                <a:spcPts val="0"/>
              </a:spcBef>
              <a:spcAft>
                <a:spcPts val="0"/>
              </a:spcAft>
              <a:buSzPts val="5800"/>
              <a:buNone/>
              <a:defRPr sz="5800" b="1"/>
            </a:lvl8pPr>
            <a:lvl9pPr lvl="8" algn="l">
              <a:lnSpc>
                <a:spcPct val="100000"/>
              </a:lnSpc>
              <a:spcBef>
                <a:spcPts val="0"/>
              </a:spcBef>
              <a:spcAft>
                <a:spcPts val="0"/>
              </a:spcAft>
              <a:buSzPts val="5800"/>
              <a:buNone/>
              <a:defRPr sz="5800" b="1"/>
            </a:lvl9pPr>
          </a:lstStyle>
          <a:p>
            <a:endParaRPr dirty="0"/>
          </a:p>
        </p:txBody>
      </p:sp>
      <p:sp>
        <p:nvSpPr>
          <p:cNvPr id="13" name="Google Shape;13;p42"/>
          <p:cNvSpPr/>
          <p:nvPr/>
        </p:nvSpPr>
        <p:spPr>
          <a:xfrm>
            <a:off x="7337531" y="4630074"/>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42"/>
          <p:cNvSpPr/>
          <p:nvPr/>
        </p:nvSpPr>
        <p:spPr>
          <a:xfrm>
            <a:off x="7790243" y="4182401"/>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42"/>
          <p:cNvSpPr/>
          <p:nvPr/>
        </p:nvSpPr>
        <p:spPr>
          <a:xfrm>
            <a:off x="8893253" y="3333348"/>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42"/>
          <p:cNvSpPr/>
          <p:nvPr/>
        </p:nvSpPr>
        <p:spPr>
          <a:xfrm>
            <a:off x="8771302" y="4923775"/>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42"/>
          <p:cNvSpPr/>
          <p:nvPr/>
        </p:nvSpPr>
        <p:spPr>
          <a:xfrm>
            <a:off x="2386266" y="508134"/>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42"/>
          <p:cNvSpPr/>
          <p:nvPr/>
        </p:nvSpPr>
        <p:spPr>
          <a:xfrm>
            <a:off x="479460" y="2703980"/>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42"/>
          <p:cNvSpPr/>
          <p:nvPr/>
        </p:nvSpPr>
        <p:spPr>
          <a:xfrm>
            <a:off x="261540" y="643097"/>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42"/>
          <p:cNvSpPr/>
          <p:nvPr/>
        </p:nvSpPr>
        <p:spPr>
          <a:xfrm>
            <a:off x="507235" y="1080863"/>
            <a:ext cx="192600" cy="192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42"/>
          <p:cNvSpPr/>
          <p:nvPr/>
        </p:nvSpPr>
        <p:spPr>
          <a:xfrm>
            <a:off x="8314019" y="3625322"/>
            <a:ext cx="144300" cy="1440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42"/>
          <p:cNvSpPr/>
          <p:nvPr/>
        </p:nvSpPr>
        <p:spPr>
          <a:xfrm>
            <a:off x="8882858" y="4186761"/>
            <a:ext cx="144300" cy="1440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42"/>
          <p:cNvSpPr/>
          <p:nvPr/>
        </p:nvSpPr>
        <p:spPr>
          <a:xfrm>
            <a:off x="158313" y="1596559"/>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42"/>
          <p:cNvSpPr/>
          <p:nvPr/>
        </p:nvSpPr>
        <p:spPr>
          <a:xfrm>
            <a:off x="1396483" y="226428"/>
            <a:ext cx="192600" cy="192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42"/>
          <p:cNvSpPr/>
          <p:nvPr/>
        </p:nvSpPr>
        <p:spPr>
          <a:xfrm>
            <a:off x="617492" y="2000594"/>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42"/>
          <p:cNvSpPr/>
          <p:nvPr/>
        </p:nvSpPr>
        <p:spPr>
          <a:xfrm>
            <a:off x="3425273" y="387880"/>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42"/>
          <p:cNvSpPr/>
          <p:nvPr/>
        </p:nvSpPr>
        <p:spPr>
          <a:xfrm>
            <a:off x="8014029" y="4567546"/>
            <a:ext cx="192600" cy="192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blipFill>
          <a:blip r:embed="rId2">
            <a:alphaModFix/>
          </a:blip>
          <a:stretch>
            <a:fillRect/>
          </a:stretch>
        </a:blipFill>
        <a:effectLst/>
      </p:bgPr>
    </p:bg>
    <p:spTree>
      <p:nvGrpSpPr>
        <p:cNvPr id="1" name="Shape 40"/>
        <p:cNvGrpSpPr/>
        <p:nvPr/>
      </p:nvGrpSpPr>
      <p:grpSpPr>
        <a:xfrm>
          <a:off x="0" y="0"/>
          <a:ext cx="0" cy="0"/>
          <a:chOff x="0" y="0"/>
          <a:chExt cx="0" cy="0"/>
        </a:xfrm>
      </p:grpSpPr>
      <p:sp>
        <p:nvSpPr>
          <p:cNvPr id="41" name="Google Shape;41;p49"/>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000"/>
              <a:buNone/>
              <a:defRPr>
                <a:latin typeface="+mj-lt"/>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a:endParaRPr dirty="0"/>
          </a:p>
        </p:txBody>
      </p:sp>
      <p:sp>
        <p:nvSpPr>
          <p:cNvPr id="42" name="Google Shape;42;p49"/>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complete pattern">
  <p:cSld name="BLANK_1">
    <p:bg>
      <p:bgPr>
        <a:blipFill>
          <a:blip r:embed="rId2">
            <a:alphaModFix/>
          </a:blip>
          <a:stretch>
            <a:fillRect/>
          </a:stretch>
        </a:blipFill>
        <a:effectLst/>
      </p:bgPr>
    </p:bg>
    <p:spTree>
      <p:nvGrpSpPr>
        <p:cNvPr id="1" name="Shape 43"/>
        <p:cNvGrpSpPr/>
        <p:nvPr/>
      </p:nvGrpSpPr>
      <p:grpSpPr>
        <a:xfrm>
          <a:off x="0" y="0"/>
          <a:ext cx="0" cy="0"/>
          <a:chOff x="0" y="0"/>
          <a:chExt cx="0" cy="0"/>
        </a:xfrm>
      </p:grpSpPr>
      <p:sp>
        <p:nvSpPr>
          <p:cNvPr id="44" name="Google Shape;44;p50"/>
          <p:cNvSpPr/>
          <p:nvPr/>
        </p:nvSpPr>
        <p:spPr>
          <a:xfrm>
            <a:off x="-26550" y="-14850"/>
            <a:ext cx="9197100" cy="5173200"/>
          </a:xfrm>
          <a:prstGeom prst="rect">
            <a:avLst/>
          </a:prstGeom>
          <a:solidFill>
            <a:srgbClr val="CFD8DC">
              <a:alpha val="48627"/>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50"/>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46"/>
        <p:cNvGrpSpPr/>
        <p:nvPr/>
      </p:nvGrpSpPr>
      <p:grpSpPr>
        <a:xfrm>
          <a:off x="0" y="0"/>
          <a:ext cx="0" cy="0"/>
          <a:chOff x="0" y="0"/>
          <a:chExt cx="0" cy="0"/>
        </a:xfrm>
      </p:grpSpPr>
      <p:pic>
        <p:nvPicPr>
          <p:cNvPr id="47" name="Google Shape;47;p46"/>
          <p:cNvPicPr preferRelativeResize="0"/>
          <p:nvPr/>
        </p:nvPicPr>
        <p:blipFill rotWithShape="1">
          <a:blip r:embed="rId2">
            <a:alphaModFix/>
          </a:blip>
          <a:srcRect l="19" r="19"/>
          <a:stretch/>
        </p:blipFill>
        <p:spPr>
          <a:xfrm rot="10800000" flipH="1">
            <a:off x="5952" y="0"/>
            <a:ext cx="9140602" cy="5143500"/>
          </a:xfrm>
          <a:prstGeom prst="rect">
            <a:avLst/>
          </a:prstGeom>
          <a:noFill/>
          <a:ln>
            <a:noFill/>
          </a:ln>
        </p:spPr>
      </p:pic>
      <p:sp>
        <p:nvSpPr>
          <p:cNvPr id="48" name="Google Shape;48;p46"/>
          <p:cNvSpPr txBox="1">
            <a:spLocks noGrp="1"/>
          </p:cNvSpPr>
          <p:nvPr>
            <p:ph type="body" idx="1"/>
          </p:nvPr>
        </p:nvSpPr>
        <p:spPr>
          <a:xfrm>
            <a:off x="1215300" y="1723650"/>
            <a:ext cx="6713400" cy="819900"/>
          </a:xfrm>
          <a:prstGeom prst="rect">
            <a:avLst/>
          </a:prstGeom>
          <a:noFill/>
          <a:ln>
            <a:noFill/>
          </a:ln>
        </p:spPr>
        <p:txBody>
          <a:bodyPr spcFirstLastPara="1" wrap="square" lIns="91425" tIns="91425" rIns="91425" bIns="91425" anchor="t" anchorCtr="0">
            <a:noAutofit/>
          </a:bodyPr>
          <a:lstStyle>
            <a:lvl1pPr marL="457200" lvl="0" indent="-457200" algn="ctr">
              <a:lnSpc>
                <a:spcPct val="100000"/>
              </a:lnSpc>
              <a:spcBef>
                <a:spcPts val="600"/>
              </a:spcBef>
              <a:spcAft>
                <a:spcPts val="0"/>
              </a:spcAft>
              <a:buClr>
                <a:schemeClr val="dk1"/>
              </a:buClr>
              <a:buSzPts val="3600"/>
              <a:buChar char="◎"/>
              <a:defRPr sz="3600" i="1"/>
            </a:lvl1pPr>
            <a:lvl2pPr marL="914400" lvl="1" indent="-457200" algn="ctr">
              <a:lnSpc>
                <a:spcPct val="100000"/>
              </a:lnSpc>
              <a:spcBef>
                <a:spcPts val="0"/>
              </a:spcBef>
              <a:spcAft>
                <a:spcPts val="0"/>
              </a:spcAft>
              <a:buClr>
                <a:schemeClr val="dk1"/>
              </a:buClr>
              <a:buSzPts val="3600"/>
              <a:buChar char="○"/>
              <a:defRPr sz="3600" i="1"/>
            </a:lvl2pPr>
            <a:lvl3pPr marL="1371600" lvl="2" indent="-457200" algn="ctr">
              <a:lnSpc>
                <a:spcPct val="100000"/>
              </a:lnSpc>
              <a:spcBef>
                <a:spcPts val="0"/>
              </a:spcBef>
              <a:spcAft>
                <a:spcPts val="0"/>
              </a:spcAft>
              <a:buClr>
                <a:schemeClr val="dk1"/>
              </a:buClr>
              <a:buSzPts val="3600"/>
              <a:buChar char="◉"/>
              <a:defRPr sz="3600" i="1"/>
            </a:lvl3pPr>
            <a:lvl4pPr marL="1828800" lvl="3" indent="-457200" algn="ctr">
              <a:lnSpc>
                <a:spcPct val="100000"/>
              </a:lnSpc>
              <a:spcBef>
                <a:spcPts val="0"/>
              </a:spcBef>
              <a:spcAft>
                <a:spcPts val="0"/>
              </a:spcAft>
              <a:buSzPts val="3600"/>
              <a:buChar char="●"/>
              <a:defRPr sz="3600" i="1"/>
            </a:lvl4pPr>
            <a:lvl5pPr marL="2286000" lvl="4" indent="-457200" algn="ctr">
              <a:lnSpc>
                <a:spcPct val="100000"/>
              </a:lnSpc>
              <a:spcBef>
                <a:spcPts val="0"/>
              </a:spcBef>
              <a:spcAft>
                <a:spcPts val="0"/>
              </a:spcAft>
              <a:buSzPts val="3600"/>
              <a:buChar char="○"/>
              <a:defRPr sz="3600" i="1"/>
            </a:lvl5pPr>
            <a:lvl6pPr marL="2743200" lvl="5" indent="-457200" algn="ctr">
              <a:lnSpc>
                <a:spcPct val="100000"/>
              </a:lnSpc>
              <a:spcBef>
                <a:spcPts val="0"/>
              </a:spcBef>
              <a:spcAft>
                <a:spcPts val="0"/>
              </a:spcAft>
              <a:buSzPts val="3600"/>
              <a:buChar char="■"/>
              <a:defRPr sz="3600" i="1"/>
            </a:lvl6pPr>
            <a:lvl7pPr marL="3200400" lvl="6" indent="-457200" algn="ctr">
              <a:lnSpc>
                <a:spcPct val="100000"/>
              </a:lnSpc>
              <a:spcBef>
                <a:spcPts val="0"/>
              </a:spcBef>
              <a:spcAft>
                <a:spcPts val="0"/>
              </a:spcAft>
              <a:buSzPts val="3600"/>
              <a:buChar char="●"/>
              <a:defRPr sz="3600" i="1"/>
            </a:lvl7pPr>
            <a:lvl8pPr marL="3657600" lvl="7" indent="-457200" algn="ctr">
              <a:lnSpc>
                <a:spcPct val="100000"/>
              </a:lnSpc>
              <a:spcBef>
                <a:spcPts val="0"/>
              </a:spcBef>
              <a:spcAft>
                <a:spcPts val="0"/>
              </a:spcAft>
              <a:buSzPts val="3600"/>
              <a:buChar char="○"/>
              <a:defRPr sz="3600" i="1"/>
            </a:lvl8pPr>
            <a:lvl9pPr marL="4114800" lvl="8" indent="-457200" algn="ctr">
              <a:lnSpc>
                <a:spcPct val="100000"/>
              </a:lnSpc>
              <a:spcBef>
                <a:spcPts val="0"/>
              </a:spcBef>
              <a:spcAft>
                <a:spcPts val="0"/>
              </a:spcAft>
              <a:buSzPts val="3600"/>
              <a:buChar char="■"/>
              <a:defRPr sz="3600" i="1"/>
            </a:lvl9pPr>
          </a:lstStyle>
          <a:p>
            <a:endParaRPr/>
          </a:p>
        </p:txBody>
      </p:sp>
      <p:grpSp>
        <p:nvGrpSpPr>
          <p:cNvPr id="49" name="Google Shape;49;p46"/>
          <p:cNvGrpSpPr/>
          <p:nvPr/>
        </p:nvGrpSpPr>
        <p:grpSpPr>
          <a:xfrm>
            <a:off x="3839646" y="782918"/>
            <a:ext cx="1464573" cy="842707"/>
            <a:chOff x="3593400" y="1729675"/>
            <a:chExt cx="1957200" cy="1123610"/>
          </a:xfrm>
        </p:grpSpPr>
        <p:sp>
          <p:nvSpPr>
            <p:cNvPr id="50" name="Google Shape;50;p46"/>
            <p:cNvSpPr txBox="1"/>
            <p:nvPr/>
          </p:nvSpPr>
          <p:spPr>
            <a:xfrm>
              <a:off x="3593400" y="1729675"/>
              <a:ext cx="1957200" cy="871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6000"/>
                <a:buFont typeface="Arial"/>
                <a:buNone/>
              </a:pPr>
              <a:r>
                <a:rPr lang="en" sz="6000" b="1" i="0" u="none" strike="noStrike" cap="none">
                  <a:solidFill>
                    <a:schemeClr val="accent1"/>
                  </a:solidFill>
                  <a:latin typeface="Source Sans Pro"/>
                  <a:ea typeface="Source Sans Pro"/>
                  <a:cs typeface="Source Sans Pro"/>
                  <a:sym typeface="Source Sans Pro"/>
                </a:rPr>
                <a:t>“</a:t>
              </a:r>
              <a:endParaRPr sz="6000" b="1" i="0" u="none" strike="noStrike" cap="none">
                <a:solidFill>
                  <a:schemeClr val="accent1"/>
                </a:solidFill>
                <a:latin typeface="Source Sans Pro"/>
                <a:ea typeface="Source Sans Pro"/>
                <a:cs typeface="Source Sans Pro"/>
                <a:sym typeface="Source Sans Pro"/>
              </a:endParaRPr>
            </a:p>
          </p:txBody>
        </p:sp>
        <p:sp>
          <p:nvSpPr>
            <p:cNvPr id="51" name="Google Shape;51;p46"/>
            <p:cNvSpPr/>
            <p:nvPr/>
          </p:nvSpPr>
          <p:spPr>
            <a:xfrm>
              <a:off x="4025400" y="1760085"/>
              <a:ext cx="1093200" cy="1093200"/>
            </a:xfrm>
            <a:prstGeom prst="ellipse">
              <a:avLst/>
            </a:prstGeom>
            <a:noFill/>
            <a:ln w="9525" cap="flat" cmpd="sng">
              <a:solidFill>
                <a:srgbClr val="CFD8DC"/>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46"/>
            <p:cNvSpPr/>
            <p:nvPr/>
          </p:nvSpPr>
          <p:spPr>
            <a:xfrm>
              <a:off x="4190700" y="1925385"/>
              <a:ext cx="762600" cy="762600"/>
            </a:xfrm>
            <a:prstGeom prst="ellipse">
              <a:avLst/>
            </a:prstGeom>
            <a:noFill/>
            <a:ln w="19050" cap="flat" cmpd="sng">
              <a:solidFill>
                <a:srgbClr val="CFD8D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53" name="Google Shape;53;p46"/>
          <p:cNvCxnSpPr>
            <a:endCxn id="51" idx="1"/>
          </p:cNvCxnSpPr>
          <p:nvPr/>
        </p:nvCxnSpPr>
        <p:spPr>
          <a:xfrm>
            <a:off x="3750511" y="390297"/>
            <a:ext cx="532200" cy="535500"/>
          </a:xfrm>
          <a:prstGeom prst="straightConnector1">
            <a:avLst/>
          </a:prstGeom>
          <a:noFill/>
          <a:ln w="9525" cap="flat" cmpd="sng">
            <a:solidFill>
              <a:srgbClr val="CFD8DC"/>
            </a:solidFill>
            <a:prstDash val="solid"/>
            <a:round/>
            <a:headEnd type="none" w="sm" len="sm"/>
            <a:tailEnd type="none" w="sm" len="sm"/>
          </a:ln>
        </p:spPr>
      </p:cxnSp>
      <p:cxnSp>
        <p:nvCxnSpPr>
          <p:cNvPr id="54" name="Google Shape;54;p46"/>
          <p:cNvCxnSpPr/>
          <p:nvPr/>
        </p:nvCxnSpPr>
        <p:spPr>
          <a:xfrm rot="10800000">
            <a:off x="4362902" y="436125"/>
            <a:ext cx="209100" cy="369600"/>
          </a:xfrm>
          <a:prstGeom prst="straightConnector1">
            <a:avLst/>
          </a:prstGeom>
          <a:noFill/>
          <a:ln w="9525" cap="flat" cmpd="sng">
            <a:solidFill>
              <a:srgbClr val="CFD8DC"/>
            </a:solidFill>
            <a:prstDash val="solid"/>
            <a:round/>
            <a:headEnd type="none" w="sm" len="sm"/>
            <a:tailEnd type="none" w="sm" len="sm"/>
          </a:ln>
        </p:spPr>
      </p:cxnSp>
      <p:cxnSp>
        <p:nvCxnSpPr>
          <p:cNvPr id="55" name="Google Shape;55;p46"/>
          <p:cNvCxnSpPr/>
          <p:nvPr/>
        </p:nvCxnSpPr>
        <p:spPr>
          <a:xfrm rot="10800000" flipH="1">
            <a:off x="4704510" y="351930"/>
            <a:ext cx="347100" cy="474600"/>
          </a:xfrm>
          <a:prstGeom prst="straightConnector1">
            <a:avLst/>
          </a:prstGeom>
          <a:noFill/>
          <a:ln w="9525" cap="flat" cmpd="sng">
            <a:solidFill>
              <a:srgbClr val="CFD8DC"/>
            </a:solidFill>
            <a:prstDash val="solid"/>
            <a:round/>
            <a:headEnd type="none" w="sm" len="sm"/>
            <a:tailEnd type="none" w="sm" len="sm"/>
          </a:ln>
        </p:spPr>
      </p:cxnSp>
      <p:sp>
        <p:nvSpPr>
          <p:cNvPr id="56" name="Google Shape;56;p46"/>
          <p:cNvSpPr txBox="1">
            <a:spLocks noGrp="1"/>
          </p:cNvSpPr>
          <p:nvPr>
            <p:ph type="sldNum" idx="12"/>
          </p:nvPr>
        </p:nvSpPr>
        <p:spPr>
          <a:xfrm>
            <a:off x="-87" y="4749844"/>
            <a:ext cx="9144000" cy="393600"/>
          </a:xfrm>
          <a:prstGeom prst="rect">
            <a:avLst/>
          </a:prstGeom>
          <a:noFill/>
          <a:ln>
            <a:noFill/>
          </a:ln>
        </p:spPr>
        <p:txBody>
          <a:bodyPr spcFirstLastPara="1" wrap="square" lIns="91425" tIns="91425" rIns="91425" bIns="91425" anchor="t" anchorCtr="0">
            <a:noAutofit/>
          </a:bodyPr>
          <a:lstStyle>
            <a:lvl1pPr marL="0" marR="0" lvl="0"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1pPr>
            <a:lvl2pPr marL="0" marR="0" lvl="1"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57"/>
        <p:cNvGrpSpPr/>
        <p:nvPr/>
      </p:nvGrpSpPr>
      <p:grpSpPr>
        <a:xfrm>
          <a:off x="0" y="0"/>
          <a:ext cx="0" cy="0"/>
          <a:chOff x="0" y="0"/>
          <a:chExt cx="0" cy="0"/>
        </a:xfrm>
      </p:grpSpPr>
      <p:sp>
        <p:nvSpPr>
          <p:cNvPr id="58" name="Google Shape;58;p48"/>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a:endParaRPr/>
          </a:p>
        </p:txBody>
      </p:sp>
      <p:sp>
        <p:nvSpPr>
          <p:cNvPr id="59" name="Google Shape;59;p48"/>
          <p:cNvSpPr txBox="1">
            <a:spLocks noGrp="1"/>
          </p:cNvSpPr>
          <p:nvPr>
            <p:ph type="body" idx="1"/>
          </p:nvPr>
        </p:nvSpPr>
        <p:spPr>
          <a:xfrm>
            <a:off x="786150" y="1200150"/>
            <a:ext cx="2419800" cy="37257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600"/>
              </a:spcBef>
              <a:spcAft>
                <a:spcPts val="0"/>
              </a:spcAft>
              <a:buSzPts val="1800"/>
              <a:buChar char="◎"/>
              <a:defRPr sz="1800"/>
            </a:lvl1pPr>
            <a:lvl2pPr marL="914400" lvl="1" indent="-342900" algn="l">
              <a:lnSpc>
                <a:spcPct val="100000"/>
              </a:lnSpc>
              <a:spcBef>
                <a:spcPts val="0"/>
              </a:spcBef>
              <a:spcAft>
                <a:spcPts val="0"/>
              </a:spcAft>
              <a:buSzPts val="1800"/>
              <a:buChar char="○"/>
              <a:defRPr sz="1800"/>
            </a:lvl2pPr>
            <a:lvl3pPr marL="1371600" lvl="2" indent="-342900" algn="l">
              <a:lnSpc>
                <a:spcPct val="100000"/>
              </a:lnSpc>
              <a:spcBef>
                <a:spcPts val="0"/>
              </a:spcBef>
              <a:spcAft>
                <a:spcPts val="0"/>
              </a:spcAft>
              <a:buSzPts val="1800"/>
              <a:buChar char="◉"/>
              <a:defRPr sz="1800"/>
            </a:lvl3pPr>
            <a:lvl4pPr marL="1828800" lvl="3" indent="-342900" algn="l">
              <a:lnSpc>
                <a:spcPct val="100000"/>
              </a:lnSpc>
              <a:spcBef>
                <a:spcPts val="0"/>
              </a:spcBef>
              <a:spcAft>
                <a:spcPts val="0"/>
              </a:spcAft>
              <a:buSzPts val="1800"/>
              <a:buChar char="●"/>
              <a:defRPr/>
            </a:lvl4pPr>
            <a:lvl5pPr marL="2286000" lvl="4" indent="-342900" algn="l">
              <a:lnSpc>
                <a:spcPct val="100000"/>
              </a:lnSpc>
              <a:spcBef>
                <a:spcPts val="0"/>
              </a:spcBef>
              <a:spcAft>
                <a:spcPts val="0"/>
              </a:spcAft>
              <a:buSzPts val="1800"/>
              <a:buChar char="○"/>
              <a:defRPr/>
            </a:lvl5pPr>
            <a:lvl6pPr marL="2743200" lvl="5" indent="-342900" algn="l">
              <a:lnSpc>
                <a:spcPct val="100000"/>
              </a:lnSpc>
              <a:spcBef>
                <a:spcPts val="0"/>
              </a:spcBef>
              <a:spcAft>
                <a:spcPts val="0"/>
              </a:spcAft>
              <a:buSzPts val="1800"/>
              <a:buChar char="■"/>
              <a:defRPr/>
            </a:lvl6pPr>
            <a:lvl7pPr marL="3200400" lvl="6" indent="-342900" algn="l">
              <a:lnSpc>
                <a:spcPct val="100000"/>
              </a:lnSpc>
              <a:spcBef>
                <a:spcPts val="0"/>
              </a:spcBef>
              <a:spcAft>
                <a:spcPts val="0"/>
              </a:spcAft>
              <a:buSzPts val="1800"/>
              <a:buChar char="●"/>
              <a:defRPr/>
            </a:lvl7pPr>
            <a:lvl8pPr marL="3657600" lvl="7" indent="-342900" algn="l">
              <a:lnSpc>
                <a:spcPct val="100000"/>
              </a:lnSpc>
              <a:spcBef>
                <a:spcPts val="0"/>
              </a:spcBef>
              <a:spcAft>
                <a:spcPts val="0"/>
              </a:spcAft>
              <a:buSzPts val="1800"/>
              <a:buChar char="○"/>
              <a:defRPr/>
            </a:lvl8pPr>
            <a:lvl9pPr marL="4114800" lvl="8" indent="-342900" algn="l">
              <a:lnSpc>
                <a:spcPct val="100000"/>
              </a:lnSpc>
              <a:spcBef>
                <a:spcPts val="0"/>
              </a:spcBef>
              <a:spcAft>
                <a:spcPts val="0"/>
              </a:spcAft>
              <a:buSzPts val="1800"/>
              <a:buChar char="■"/>
              <a:defRPr/>
            </a:lvl9pPr>
          </a:lstStyle>
          <a:p>
            <a:endParaRPr/>
          </a:p>
        </p:txBody>
      </p:sp>
      <p:sp>
        <p:nvSpPr>
          <p:cNvPr id="60" name="Google Shape;60;p48"/>
          <p:cNvSpPr txBox="1">
            <a:spLocks noGrp="1"/>
          </p:cNvSpPr>
          <p:nvPr>
            <p:ph type="body" idx="2"/>
          </p:nvPr>
        </p:nvSpPr>
        <p:spPr>
          <a:xfrm>
            <a:off x="3329992" y="1200150"/>
            <a:ext cx="2419800" cy="37257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600"/>
              </a:spcBef>
              <a:spcAft>
                <a:spcPts val="0"/>
              </a:spcAft>
              <a:buSzPts val="1800"/>
              <a:buChar char="◎"/>
              <a:defRPr sz="1800"/>
            </a:lvl1pPr>
            <a:lvl2pPr marL="914400" lvl="1" indent="-342900" algn="l">
              <a:lnSpc>
                <a:spcPct val="100000"/>
              </a:lnSpc>
              <a:spcBef>
                <a:spcPts val="0"/>
              </a:spcBef>
              <a:spcAft>
                <a:spcPts val="0"/>
              </a:spcAft>
              <a:buSzPts val="1800"/>
              <a:buChar char="○"/>
              <a:defRPr sz="1800"/>
            </a:lvl2pPr>
            <a:lvl3pPr marL="1371600" lvl="2" indent="-342900" algn="l">
              <a:lnSpc>
                <a:spcPct val="100000"/>
              </a:lnSpc>
              <a:spcBef>
                <a:spcPts val="0"/>
              </a:spcBef>
              <a:spcAft>
                <a:spcPts val="0"/>
              </a:spcAft>
              <a:buSzPts val="1800"/>
              <a:buChar char="◉"/>
              <a:defRPr sz="1800"/>
            </a:lvl3pPr>
            <a:lvl4pPr marL="1828800" lvl="3" indent="-342900" algn="l">
              <a:lnSpc>
                <a:spcPct val="100000"/>
              </a:lnSpc>
              <a:spcBef>
                <a:spcPts val="0"/>
              </a:spcBef>
              <a:spcAft>
                <a:spcPts val="0"/>
              </a:spcAft>
              <a:buSzPts val="1800"/>
              <a:buChar char="●"/>
              <a:defRPr/>
            </a:lvl4pPr>
            <a:lvl5pPr marL="2286000" lvl="4" indent="-342900" algn="l">
              <a:lnSpc>
                <a:spcPct val="100000"/>
              </a:lnSpc>
              <a:spcBef>
                <a:spcPts val="0"/>
              </a:spcBef>
              <a:spcAft>
                <a:spcPts val="0"/>
              </a:spcAft>
              <a:buSzPts val="1800"/>
              <a:buChar char="○"/>
              <a:defRPr/>
            </a:lvl5pPr>
            <a:lvl6pPr marL="2743200" lvl="5" indent="-342900" algn="l">
              <a:lnSpc>
                <a:spcPct val="100000"/>
              </a:lnSpc>
              <a:spcBef>
                <a:spcPts val="0"/>
              </a:spcBef>
              <a:spcAft>
                <a:spcPts val="0"/>
              </a:spcAft>
              <a:buSzPts val="1800"/>
              <a:buChar char="■"/>
              <a:defRPr/>
            </a:lvl6pPr>
            <a:lvl7pPr marL="3200400" lvl="6" indent="-342900" algn="l">
              <a:lnSpc>
                <a:spcPct val="100000"/>
              </a:lnSpc>
              <a:spcBef>
                <a:spcPts val="0"/>
              </a:spcBef>
              <a:spcAft>
                <a:spcPts val="0"/>
              </a:spcAft>
              <a:buSzPts val="1800"/>
              <a:buChar char="●"/>
              <a:defRPr/>
            </a:lvl7pPr>
            <a:lvl8pPr marL="3657600" lvl="7" indent="-342900" algn="l">
              <a:lnSpc>
                <a:spcPct val="100000"/>
              </a:lnSpc>
              <a:spcBef>
                <a:spcPts val="0"/>
              </a:spcBef>
              <a:spcAft>
                <a:spcPts val="0"/>
              </a:spcAft>
              <a:buSzPts val="1800"/>
              <a:buChar char="○"/>
              <a:defRPr/>
            </a:lvl8pPr>
            <a:lvl9pPr marL="4114800" lvl="8" indent="-342900" algn="l">
              <a:lnSpc>
                <a:spcPct val="100000"/>
              </a:lnSpc>
              <a:spcBef>
                <a:spcPts val="0"/>
              </a:spcBef>
              <a:spcAft>
                <a:spcPts val="0"/>
              </a:spcAft>
              <a:buSzPts val="1800"/>
              <a:buChar char="■"/>
              <a:defRPr/>
            </a:lvl9pPr>
          </a:lstStyle>
          <a:p>
            <a:endParaRPr/>
          </a:p>
        </p:txBody>
      </p:sp>
      <p:sp>
        <p:nvSpPr>
          <p:cNvPr id="61" name="Google Shape;61;p48"/>
          <p:cNvSpPr txBox="1">
            <a:spLocks noGrp="1"/>
          </p:cNvSpPr>
          <p:nvPr>
            <p:ph type="body" idx="3"/>
          </p:nvPr>
        </p:nvSpPr>
        <p:spPr>
          <a:xfrm>
            <a:off x="5873834" y="1200150"/>
            <a:ext cx="2419800" cy="37257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600"/>
              </a:spcBef>
              <a:spcAft>
                <a:spcPts val="0"/>
              </a:spcAft>
              <a:buSzPts val="1800"/>
              <a:buChar char="◎"/>
              <a:defRPr sz="1800"/>
            </a:lvl1pPr>
            <a:lvl2pPr marL="914400" lvl="1" indent="-342900" algn="l">
              <a:lnSpc>
                <a:spcPct val="100000"/>
              </a:lnSpc>
              <a:spcBef>
                <a:spcPts val="0"/>
              </a:spcBef>
              <a:spcAft>
                <a:spcPts val="0"/>
              </a:spcAft>
              <a:buSzPts val="1800"/>
              <a:buChar char="○"/>
              <a:defRPr sz="1800"/>
            </a:lvl2pPr>
            <a:lvl3pPr marL="1371600" lvl="2" indent="-342900" algn="l">
              <a:lnSpc>
                <a:spcPct val="100000"/>
              </a:lnSpc>
              <a:spcBef>
                <a:spcPts val="0"/>
              </a:spcBef>
              <a:spcAft>
                <a:spcPts val="0"/>
              </a:spcAft>
              <a:buSzPts val="1800"/>
              <a:buChar char="◉"/>
              <a:defRPr sz="1800"/>
            </a:lvl3pPr>
            <a:lvl4pPr marL="1828800" lvl="3" indent="-342900" algn="l">
              <a:lnSpc>
                <a:spcPct val="100000"/>
              </a:lnSpc>
              <a:spcBef>
                <a:spcPts val="0"/>
              </a:spcBef>
              <a:spcAft>
                <a:spcPts val="0"/>
              </a:spcAft>
              <a:buSzPts val="1800"/>
              <a:buChar char="●"/>
              <a:defRPr/>
            </a:lvl4pPr>
            <a:lvl5pPr marL="2286000" lvl="4" indent="-342900" algn="l">
              <a:lnSpc>
                <a:spcPct val="100000"/>
              </a:lnSpc>
              <a:spcBef>
                <a:spcPts val="0"/>
              </a:spcBef>
              <a:spcAft>
                <a:spcPts val="0"/>
              </a:spcAft>
              <a:buSzPts val="1800"/>
              <a:buChar char="○"/>
              <a:defRPr/>
            </a:lvl5pPr>
            <a:lvl6pPr marL="2743200" lvl="5" indent="-342900" algn="l">
              <a:lnSpc>
                <a:spcPct val="100000"/>
              </a:lnSpc>
              <a:spcBef>
                <a:spcPts val="0"/>
              </a:spcBef>
              <a:spcAft>
                <a:spcPts val="0"/>
              </a:spcAft>
              <a:buSzPts val="1800"/>
              <a:buChar char="■"/>
              <a:defRPr/>
            </a:lvl6pPr>
            <a:lvl7pPr marL="3200400" lvl="6" indent="-342900" algn="l">
              <a:lnSpc>
                <a:spcPct val="100000"/>
              </a:lnSpc>
              <a:spcBef>
                <a:spcPts val="0"/>
              </a:spcBef>
              <a:spcAft>
                <a:spcPts val="0"/>
              </a:spcAft>
              <a:buSzPts val="1800"/>
              <a:buChar char="●"/>
              <a:defRPr/>
            </a:lvl7pPr>
            <a:lvl8pPr marL="3657600" lvl="7" indent="-342900" algn="l">
              <a:lnSpc>
                <a:spcPct val="100000"/>
              </a:lnSpc>
              <a:spcBef>
                <a:spcPts val="0"/>
              </a:spcBef>
              <a:spcAft>
                <a:spcPts val="0"/>
              </a:spcAft>
              <a:buSzPts val="1800"/>
              <a:buChar char="○"/>
              <a:defRPr/>
            </a:lvl8pPr>
            <a:lvl9pPr marL="4114800" lvl="8" indent="-342900" algn="l">
              <a:lnSpc>
                <a:spcPct val="100000"/>
              </a:lnSpc>
              <a:spcBef>
                <a:spcPts val="0"/>
              </a:spcBef>
              <a:spcAft>
                <a:spcPts val="0"/>
              </a:spcAft>
              <a:buSzPts val="1800"/>
              <a:buChar char="■"/>
              <a:defRPr/>
            </a:lvl9pPr>
          </a:lstStyle>
          <a:p>
            <a:endParaRPr/>
          </a:p>
        </p:txBody>
      </p:sp>
      <p:sp>
        <p:nvSpPr>
          <p:cNvPr id="62" name="Google Shape;62;p48"/>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51"/>
          <p:cNvSpPr txBox="1">
            <a:spLocks noGrp="1"/>
          </p:cNvSpPr>
          <p:nvPr>
            <p:ph type="body" idx="1"/>
          </p:nvPr>
        </p:nvSpPr>
        <p:spPr>
          <a:xfrm>
            <a:off x="457200" y="4055343"/>
            <a:ext cx="8229600" cy="368700"/>
          </a:xfrm>
          <a:prstGeom prst="rect">
            <a:avLst/>
          </a:prstGeom>
          <a:noFill/>
          <a:ln>
            <a:noFill/>
          </a:ln>
        </p:spPr>
        <p:txBody>
          <a:bodyPr spcFirstLastPara="1" wrap="square" lIns="91425" tIns="91425" rIns="91425" bIns="91425" anchor="t" anchorCtr="0">
            <a:noAutofit/>
          </a:bodyPr>
          <a:lstStyle>
            <a:lvl1pPr marL="457200" lvl="0" indent="-228600" algn="ctr">
              <a:lnSpc>
                <a:spcPct val="100000"/>
              </a:lnSpc>
              <a:spcBef>
                <a:spcPts val="360"/>
              </a:spcBef>
              <a:spcAft>
                <a:spcPts val="0"/>
              </a:spcAft>
              <a:buSzPts val="1800"/>
              <a:buNone/>
              <a:defRPr sz="1800"/>
            </a:lvl1pPr>
          </a:lstStyle>
          <a:p>
            <a:endParaRPr/>
          </a:p>
        </p:txBody>
      </p:sp>
      <p:sp>
        <p:nvSpPr>
          <p:cNvPr id="65" name="Google Shape;65;p51"/>
          <p:cNvSpPr txBox="1">
            <a:spLocks noGrp="1"/>
          </p:cNvSpPr>
          <p:nvPr>
            <p:ph type="sldNum" idx="12"/>
          </p:nvPr>
        </p:nvSpPr>
        <p:spPr>
          <a:xfrm>
            <a:off x="-92" y="4749844"/>
            <a:ext cx="9144000" cy="393600"/>
          </a:xfrm>
          <a:prstGeom prst="rect">
            <a:avLst/>
          </a:prstGeom>
          <a:noFill/>
          <a:ln>
            <a:noFill/>
          </a:ln>
        </p:spPr>
        <p:txBody>
          <a:bodyPr spcFirstLastPara="1" wrap="square" lIns="91425" tIns="91425" rIns="91425" bIns="91425" anchor="t" anchorCtr="0">
            <a:noAutofit/>
          </a:bodyPr>
          <a:lstStyle>
            <a:lvl1pPr marL="0" marR="0" lvl="0"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1pPr>
            <a:lvl2pPr marL="0" marR="0" lvl="1"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blipFill>
          <a:blip r:embed="rId9">
            <a:alphaModFix/>
          </a:blip>
          <a:stretch>
            <a:fillRect/>
          </a:stretch>
        </a:blipFill>
        <a:effectLst/>
      </p:bgPr>
    </p:bg>
    <p:spTree>
      <p:nvGrpSpPr>
        <p:cNvPr id="1" name="Shape 5"/>
        <p:cNvGrpSpPr/>
        <p:nvPr/>
      </p:nvGrpSpPr>
      <p:grpSpPr>
        <a:xfrm>
          <a:off x="0" y="0"/>
          <a:ext cx="0" cy="0"/>
          <a:chOff x="0" y="0"/>
          <a:chExt cx="0" cy="0"/>
        </a:xfrm>
      </p:grpSpPr>
      <p:sp>
        <p:nvSpPr>
          <p:cNvPr id="6" name="Google Shape;6;p41"/>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endParaRPr dirty="0"/>
          </a:p>
        </p:txBody>
      </p:sp>
      <p:sp>
        <p:nvSpPr>
          <p:cNvPr id="7" name="Google Shape;7;p41"/>
          <p:cNvSpPr txBox="1">
            <a:spLocks noGrp="1"/>
          </p:cNvSpPr>
          <p:nvPr>
            <p:ph type="body" idx="1"/>
          </p:nvPr>
        </p:nvSpPr>
        <p:spPr>
          <a:xfrm>
            <a:off x="786150" y="1261700"/>
            <a:ext cx="7571700" cy="3573600"/>
          </a:xfrm>
          <a:prstGeom prst="rect">
            <a:avLst/>
          </a:prstGeom>
          <a:noFill/>
          <a:ln>
            <a:noFill/>
          </a:ln>
        </p:spPr>
        <p:txBody>
          <a:bodyPr spcFirstLastPara="1" wrap="square" lIns="91425" tIns="91425" rIns="91425" bIns="91425" anchor="t" anchorCtr="0">
            <a:noAutofit/>
          </a:bodyPr>
          <a:lstStyle>
            <a:lvl1pPr marL="457200" marR="0" lvl="0" indent="-419100" algn="l" rtl="0">
              <a:lnSpc>
                <a:spcPct val="100000"/>
              </a:lnSpc>
              <a:spcBef>
                <a:spcPts val="600"/>
              </a:spcBef>
              <a:spcAft>
                <a:spcPts val="0"/>
              </a:spcAft>
              <a:buClr>
                <a:schemeClr val="accent4"/>
              </a:buClr>
              <a:buSzPts val="3000"/>
              <a:buFont typeface="Source Sans Pro"/>
              <a:buChar char="◎"/>
              <a:defRPr sz="3000" b="0" i="0" u="none" strike="noStrike" cap="none">
                <a:solidFill>
                  <a:schemeClr val="dk1"/>
                </a:solidFill>
                <a:latin typeface="Source Sans Pro"/>
                <a:ea typeface="Source Sans Pro"/>
                <a:cs typeface="Source Sans Pro"/>
                <a:sym typeface="Source Sans Pro"/>
              </a:defRPr>
            </a:lvl1pPr>
            <a:lvl2pPr marL="914400" marR="0" lvl="1" indent="-381000" algn="l" rtl="0">
              <a:lnSpc>
                <a:spcPct val="100000"/>
              </a:lnSpc>
              <a:spcBef>
                <a:spcPts val="0"/>
              </a:spcBef>
              <a:spcAft>
                <a:spcPts val="0"/>
              </a:spcAft>
              <a:buClr>
                <a:schemeClr val="accent4"/>
              </a:buClr>
              <a:buSzPts val="2400"/>
              <a:buFont typeface="Source Sans Pro"/>
              <a:buChar char="○"/>
              <a:defRPr sz="2400" b="0" i="0" u="none" strike="noStrike" cap="none">
                <a:solidFill>
                  <a:schemeClr val="dk1"/>
                </a:solidFill>
                <a:latin typeface="Source Sans Pro"/>
                <a:ea typeface="Source Sans Pro"/>
                <a:cs typeface="Source Sans Pro"/>
                <a:sym typeface="Source Sans Pro"/>
              </a:defRPr>
            </a:lvl2pPr>
            <a:lvl3pPr marL="1371600" marR="0" lvl="2" indent="-381000" algn="l" rtl="0">
              <a:lnSpc>
                <a:spcPct val="100000"/>
              </a:lnSpc>
              <a:spcBef>
                <a:spcPts val="0"/>
              </a:spcBef>
              <a:spcAft>
                <a:spcPts val="0"/>
              </a:spcAft>
              <a:buClr>
                <a:schemeClr val="accent4"/>
              </a:buClr>
              <a:buSzPts val="2400"/>
              <a:buFont typeface="Source Sans Pro"/>
              <a:buChar char="◉"/>
              <a:defRPr sz="2400" b="0" i="0" u="none" strike="noStrike" cap="none">
                <a:solidFill>
                  <a:schemeClr val="dk1"/>
                </a:solidFill>
                <a:latin typeface="Source Sans Pro"/>
                <a:ea typeface="Source Sans Pro"/>
                <a:cs typeface="Source Sans Pro"/>
                <a:sym typeface="Source Sans Pro"/>
              </a:defRPr>
            </a:lvl3pPr>
            <a:lvl4pPr marL="1828800" marR="0" lvl="3" indent="-342900" algn="l" rtl="0">
              <a:lnSpc>
                <a:spcPct val="100000"/>
              </a:lnSpc>
              <a:spcBef>
                <a:spcPts val="0"/>
              </a:spcBef>
              <a:spcAft>
                <a:spcPts val="0"/>
              </a:spcAft>
              <a:buClr>
                <a:schemeClr val="dk1"/>
              </a:buClr>
              <a:buSzPts val="1800"/>
              <a:buFont typeface="Source Sans Pro"/>
              <a:buChar char="●"/>
              <a:defRPr sz="1800" b="0" i="0" u="none" strike="noStrike" cap="none">
                <a:solidFill>
                  <a:schemeClr val="dk1"/>
                </a:solidFill>
                <a:latin typeface="Source Sans Pro"/>
                <a:ea typeface="Source Sans Pro"/>
                <a:cs typeface="Source Sans Pro"/>
                <a:sym typeface="Source Sans Pro"/>
              </a:defRPr>
            </a:lvl4pPr>
            <a:lvl5pPr marL="2286000" marR="0" lvl="4" indent="-342900" algn="l" rtl="0">
              <a:lnSpc>
                <a:spcPct val="100000"/>
              </a:lnSpc>
              <a:spcBef>
                <a:spcPts val="0"/>
              </a:spcBef>
              <a:spcAft>
                <a:spcPts val="0"/>
              </a:spcAft>
              <a:buClr>
                <a:schemeClr val="dk1"/>
              </a:buClr>
              <a:buSzPts val="1800"/>
              <a:buFont typeface="Source Sans Pro"/>
              <a:buChar char="○"/>
              <a:defRPr sz="1800" b="0" i="0" u="none" strike="noStrike" cap="none">
                <a:solidFill>
                  <a:schemeClr val="dk1"/>
                </a:solidFill>
                <a:latin typeface="Source Sans Pro"/>
                <a:ea typeface="Source Sans Pro"/>
                <a:cs typeface="Source Sans Pro"/>
                <a:sym typeface="Source Sans Pro"/>
              </a:defRPr>
            </a:lvl5pPr>
            <a:lvl6pPr marL="2743200" marR="0" lvl="5" indent="-342900" algn="l" rtl="0">
              <a:lnSpc>
                <a:spcPct val="100000"/>
              </a:lnSpc>
              <a:spcBef>
                <a:spcPts val="0"/>
              </a:spcBef>
              <a:spcAft>
                <a:spcPts val="0"/>
              </a:spcAft>
              <a:buClr>
                <a:schemeClr val="dk1"/>
              </a:buClr>
              <a:buSzPts val="1800"/>
              <a:buFont typeface="Source Sans Pro"/>
              <a:buChar char="■"/>
              <a:defRPr sz="1800" b="0" i="0" u="none" strike="noStrike" cap="none">
                <a:solidFill>
                  <a:schemeClr val="dk1"/>
                </a:solidFill>
                <a:latin typeface="Source Sans Pro"/>
                <a:ea typeface="Source Sans Pro"/>
                <a:cs typeface="Source Sans Pro"/>
                <a:sym typeface="Source Sans Pro"/>
              </a:defRPr>
            </a:lvl6pPr>
            <a:lvl7pPr marL="3200400" marR="0" lvl="6" indent="-342900" algn="l" rtl="0">
              <a:lnSpc>
                <a:spcPct val="100000"/>
              </a:lnSpc>
              <a:spcBef>
                <a:spcPts val="0"/>
              </a:spcBef>
              <a:spcAft>
                <a:spcPts val="0"/>
              </a:spcAft>
              <a:buClr>
                <a:schemeClr val="dk1"/>
              </a:buClr>
              <a:buSzPts val="1800"/>
              <a:buFont typeface="Source Sans Pro"/>
              <a:buChar char="●"/>
              <a:defRPr sz="1800" b="0" i="0" u="none" strike="noStrike" cap="none">
                <a:solidFill>
                  <a:schemeClr val="dk1"/>
                </a:solidFill>
                <a:latin typeface="Source Sans Pro"/>
                <a:ea typeface="Source Sans Pro"/>
                <a:cs typeface="Source Sans Pro"/>
                <a:sym typeface="Source Sans Pro"/>
              </a:defRPr>
            </a:lvl7pPr>
            <a:lvl8pPr marL="3657600" marR="0" lvl="7" indent="-342900" algn="l" rtl="0">
              <a:lnSpc>
                <a:spcPct val="100000"/>
              </a:lnSpc>
              <a:spcBef>
                <a:spcPts val="0"/>
              </a:spcBef>
              <a:spcAft>
                <a:spcPts val="0"/>
              </a:spcAft>
              <a:buClr>
                <a:schemeClr val="dk1"/>
              </a:buClr>
              <a:buSzPts val="1800"/>
              <a:buFont typeface="Source Sans Pro"/>
              <a:buChar char="○"/>
              <a:defRPr sz="1800" b="0" i="0" u="none" strike="noStrike" cap="none">
                <a:solidFill>
                  <a:schemeClr val="dk1"/>
                </a:solidFill>
                <a:latin typeface="Source Sans Pro"/>
                <a:ea typeface="Source Sans Pro"/>
                <a:cs typeface="Source Sans Pro"/>
                <a:sym typeface="Source Sans Pro"/>
              </a:defRPr>
            </a:lvl8pPr>
            <a:lvl9pPr marL="4114800" marR="0" lvl="8" indent="-342900" algn="l" rtl="0">
              <a:lnSpc>
                <a:spcPct val="100000"/>
              </a:lnSpc>
              <a:spcBef>
                <a:spcPts val="0"/>
              </a:spcBef>
              <a:spcAft>
                <a:spcPts val="0"/>
              </a:spcAft>
              <a:buClr>
                <a:schemeClr val="dk1"/>
              </a:buClr>
              <a:buSzPts val="1800"/>
              <a:buFont typeface="Source Sans Pro"/>
              <a:buChar char="■"/>
              <a:defRPr sz="1800" b="0" i="0" u="none" strike="noStrike" cap="none">
                <a:solidFill>
                  <a:schemeClr val="dk1"/>
                </a:solidFill>
                <a:latin typeface="Source Sans Pro"/>
                <a:ea typeface="Source Sans Pro"/>
                <a:cs typeface="Source Sans Pro"/>
                <a:sym typeface="Source Sans Pro"/>
              </a:defRPr>
            </a:lvl9pPr>
          </a:lstStyle>
          <a:p>
            <a:endParaRPr dirty="0"/>
          </a:p>
        </p:txBody>
      </p:sp>
      <p:sp>
        <p:nvSpPr>
          <p:cNvPr id="8" name="Google Shape;8;p41"/>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1pPr>
            <a:lvl2pPr marL="0" marR="0" lvl="1"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latin typeface="Roboto Slab"/>
              <a:ea typeface="Roboto Slab"/>
              <a:cs typeface="Roboto Slab"/>
              <a:sym typeface="Roboto Slab"/>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4" r:id="rId3"/>
    <p:sldLayoutId id="2147483655" r:id="rId4"/>
    <p:sldLayoutId id="2147483656" r:id="rId5"/>
    <p:sldLayoutId id="2147483657" r:id="rId6"/>
    <p:sldLayoutId id="2147483658" r:id="rId7"/>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j-l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j-l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crontab.guru/"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hyperlink" Target="https://www.linkedin.com/in/zainkhanln/"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ge7a59ce023_0_1"/>
          <p:cNvSpPr txBox="1">
            <a:spLocks noGrp="1"/>
          </p:cNvSpPr>
          <p:nvPr>
            <p:ph type="ctrTitle"/>
          </p:nvPr>
        </p:nvSpPr>
        <p:spPr>
          <a:xfrm>
            <a:off x="1505344" y="1797886"/>
            <a:ext cx="6410400" cy="1159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800"/>
              <a:buNone/>
            </a:pPr>
            <a:r>
              <a:rPr lang="en" sz="5500" dirty="0"/>
              <a:t>Basic </a:t>
            </a:r>
            <a:r>
              <a:rPr lang="en" sz="5500" dirty="0" smtClean="0"/>
              <a:t>Linux</a:t>
            </a:r>
            <a:endParaRPr sz="5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5" name="Google Shape;325;ge490a57b47_0_3"/>
          <p:cNvSpPr txBox="1"/>
          <p:nvPr/>
        </p:nvSpPr>
        <p:spPr>
          <a:xfrm>
            <a:off x="649834" y="1129761"/>
            <a:ext cx="8028900" cy="249296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0" i="0" u="none" strike="noStrike" cap="none" dirty="0">
                <a:solidFill>
                  <a:srgbClr val="292929"/>
                </a:solidFill>
                <a:highlight>
                  <a:srgbClr val="FFFFFF"/>
                </a:highlight>
                <a:latin typeface="+mj-lt"/>
                <a:ea typeface="Georgia"/>
                <a:cs typeface="Georgia"/>
                <a:sym typeface="Georgia"/>
              </a:rPr>
              <a:t>If you’ve ever had to deal with large amounts of data or large numbers of digital files scattered across your computer or a remote server, you know that </a:t>
            </a:r>
            <a:r>
              <a:rPr lang="en" sz="1500" b="1" i="0" u="none" strike="noStrike" cap="none" dirty="0">
                <a:solidFill>
                  <a:srgbClr val="292929"/>
                </a:solidFill>
                <a:highlight>
                  <a:srgbClr val="FFFFFF"/>
                </a:highlight>
                <a:latin typeface="+mj-lt"/>
                <a:ea typeface="Georgia"/>
                <a:cs typeface="Georgia"/>
                <a:sym typeface="Georgia"/>
              </a:rPr>
              <a:t>copying</a:t>
            </a:r>
            <a:r>
              <a:rPr lang="en" sz="1500" b="0" i="0" u="none" strike="noStrike" cap="none" dirty="0">
                <a:solidFill>
                  <a:srgbClr val="292929"/>
                </a:solidFill>
                <a:highlight>
                  <a:srgbClr val="FFFFFF"/>
                </a:highlight>
                <a:latin typeface="+mj-lt"/>
                <a:ea typeface="Georgia"/>
                <a:cs typeface="Georgia"/>
                <a:sym typeface="Georgia"/>
              </a:rPr>
              <a:t>, </a:t>
            </a:r>
            <a:r>
              <a:rPr lang="en" sz="1500" b="1" i="0" u="none" strike="noStrike" cap="none" dirty="0">
                <a:solidFill>
                  <a:srgbClr val="292929"/>
                </a:solidFill>
                <a:highlight>
                  <a:srgbClr val="FFFFFF"/>
                </a:highlight>
                <a:latin typeface="+mj-lt"/>
                <a:ea typeface="Georgia"/>
                <a:cs typeface="Georgia"/>
                <a:sym typeface="Georgia"/>
              </a:rPr>
              <a:t>moving</a:t>
            </a:r>
            <a:r>
              <a:rPr lang="en" sz="1500" b="0" i="0" u="none" strike="noStrike" cap="none" dirty="0">
                <a:solidFill>
                  <a:srgbClr val="292929"/>
                </a:solidFill>
                <a:highlight>
                  <a:srgbClr val="FFFFFF"/>
                </a:highlight>
                <a:latin typeface="+mj-lt"/>
                <a:ea typeface="Georgia"/>
                <a:cs typeface="Georgia"/>
                <a:sym typeface="Georgia"/>
              </a:rPr>
              <a:t>, </a:t>
            </a:r>
            <a:r>
              <a:rPr lang="en" sz="1500" b="1" i="0" u="none" strike="noStrike" cap="none" dirty="0">
                <a:solidFill>
                  <a:srgbClr val="292929"/>
                </a:solidFill>
                <a:highlight>
                  <a:srgbClr val="FFFFFF"/>
                </a:highlight>
                <a:latin typeface="+mj-lt"/>
                <a:ea typeface="Georgia"/>
                <a:cs typeface="Georgia"/>
                <a:sym typeface="Georgia"/>
              </a:rPr>
              <a:t>renaming</a:t>
            </a:r>
            <a:r>
              <a:rPr lang="en" sz="1500" b="0" i="0" u="none" strike="noStrike" cap="none" dirty="0">
                <a:solidFill>
                  <a:srgbClr val="292929"/>
                </a:solidFill>
                <a:highlight>
                  <a:srgbClr val="FFFFFF"/>
                </a:highlight>
                <a:latin typeface="+mj-lt"/>
                <a:ea typeface="Georgia"/>
                <a:cs typeface="Georgia"/>
                <a:sym typeface="Georgia"/>
              </a:rPr>
              <a:t>, </a:t>
            </a:r>
            <a:r>
              <a:rPr lang="en" sz="1500" b="1" i="0" u="none" strike="noStrike" cap="none" dirty="0">
                <a:solidFill>
                  <a:srgbClr val="292929"/>
                </a:solidFill>
                <a:highlight>
                  <a:srgbClr val="FFFFFF"/>
                </a:highlight>
                <a:latin typeface="+mj-lt"/>
                <a:ea typeface="Georgia"/>
                <a:cs typeface="Georgia"/>
                <a:sym typeface="Georgia"/>
              </a:rPr>
              <a:t>counting</a:t>
            </a:r>
            <a:r>
              <a:rPr lang="en" sz="1500" b="0" i="0" u="none" strike="noStrike" cap="none" dirty="0">
                <a:solidFill>
                  <a:srgbClr val="292929"/>
                </a:solidFill>
                <a:highlight>
                  <a:srgbClr val="FFFFFF"/>
                </a:highlight>
                <a:latin typeface="+mj-lt"/>
                <a:ea typeface="Georgia"/>
                <a:cs typeface="Georgia"/>
                <a:sym typeface="Georgia"/>
              </a:rPr>
              <a:t>, </a:t>
            </a:r>
            <a:r>
              <a:rPr lang="en" sz="1500" b="1" i="0" u="none" strike="noStrike" cap="none" dirty="0">
                <a:solidFill>
                  <a:srgbClr val="292929"/>
                </a:solidFill>
                <a:highlight>
                  <a:srgbClr val="FFFFFF"/>
                </a:highlight>
                <a:latin typeface="+mj-lt"/>
                <a:ea typeface="Georgia"/>
                <a:cs typeface="Georgia"/>
                <a:sym typeface="Georgia"/>
              </a:rPr>
              <a:t>searching</a:t>
            </a:r>
            <a:r>
              <a:rPr lang="en" sz="1500" b="0" i="0" u="none" strike="noStrike" cap="none" dirty="0">
                <a:solidFill>
                  <a:srgbClr val="292929"/>
                </a:solidFill>
                <a:highlight>
                  <a:srgbClr val="FFFFFF"/>
                </a:highlight>
                <a:latin typeface="+mj-lt"/>
                <a:ea typeface="Georgia"/>
                <a:cs typeface="Georgia"/>
                <a:sym typeface="Georgia"/>
              </a:rPr>
              <a:t> through, or otherwise processing those files manually can be immensely time-consuming and error-prone. Fortunately, there is an extraordinarily powerful and flexible tool designed for just that purpose</a:t>
            </a:r>
            <a:r>
              <a:rPr lang="en" sz="1500" b="0" i="0" u="none" strike="noStrike" cap="none" dirty="0" smtClean="0">
                <a:solidFill>
                  <a:srgbClr val="292929"/>
                </a:solidFill>
                <a:highlight>
                  <a:srgbClr val="FFFFFF"/>
                </a:highlight>
                <a:latin typeface="+mj-lt"/>
                <a:ea typeface="Georgia"/>
                <a:cs typeface="Georgia"/>
                <a:sym typeface="Georgia"/>
              </a:rPr>
              <a:t>.</a:t>
            </a:r>
          </a:p>
          <a:p>
            <a:pPr marL="0" marR="0" lvl="0" indent="0" algn="l" rtl="0">
              <a:lnSpc>
                <a:spcPct val="100000"/>
              </a:lnSpc>
              <a:spcBef>
                <a:spcPts val="0"/>
              </a:spcBef>
              <a:spcAft>
                <a:spcPts val="0"/>
              </a:spcAft>
              <a:buClr>
                <a:srgbClr val="000000"/>
              </a:buClr>
              <a:buSzPts val="1500"/>
              <a:buFont typeface="Arial"/>
              <a:buNone/>
            </a:pPr>
            <a:endParaRPr lang="en" sz="1500" dirty="0">
              <a:solidFill>
                <a:srgbClr val="292929"/>
              </a:solidFill>
              <a:highlight>
                <a:srgbClr val="FFFFFF"/>
              </a:highlight>
              <a:latin typeface="+mj-lt"/>
              <a:ea typeface="Georgia"/>
              <a:cs typeface="Georgia"/>
              <a:sym typeface="Georgia"/>
            </a:endParaRPr>
          </a:p>
          <a:p>
            <a:pPr>
              <a:buSzPts val="1500"/>
            </a:pPr>
            <a:r>
              <a:rPr lang="en-US" sz="1500" dirty="0">
                <a:solidFill>
                  <a:srgbClr val="292929"/>
                </a:solidFill>
                <a:highlight>
                  <a:srgbClr val="FFFFFF"/>
                </a:highlight>
                <a:latin typeface="+mj-lt"/>
                <a:ea typeface="Georgia"/>
                <a:cs typeface="Georgia"/>
                <a:sym typeface="Georgia"/>
              </a:rPr>
              <a:t>It is the definitive example of a </a:t>
            </a:r>
            <a:r>
              <a:rPr lang="en-US" sz="1500" b="1" dirty="0">
                <a:solidFill>
                  <a:srgbClr val="292929"/>
                </a:solidFill>
                <a:highlight>
                  <a:srgbClr val="FFFFFF"/>
                </a:highlight>
                <a:latin typeface="+mj-lt"/>
                <a:ea typeface="Georgia"/>
                <a:cs typeface="Georgia"/>
                <a:sym typeface="Georgia"/>
              </a:rPr>
              <a:t>“command line interface”</a:t>
            </a:r>
            <a:r>
              <a:rPr lang="en-US" sz="1500" dirty="0">
                <a:solidFill>
                  <a:srgbClr val="292929"/>
                </a:solidFill>
                <a:highlight>
                  <a:srgbClr val="FFFFFF"/>
                </a:highlight>
                <a:latin typeface="+mj-lt"/>
                <a:ea typeface="Georgia"/>
                <a:cs typeface="Georgia"/>
                <a:sym typeface="Georgia"/>
              </a:rPr>
              <a:t>, where instructions are given to the computer by typing in commands, and the computer responds by performing a task or generating an output. This output is often directed to the screen, but can be directed to a file, or even to other commands, creating powerful chains of actions with very little effort</a:t>
            </a:r>
            <a:r>
              <a:rPr lang="en-US" sz="1500" dirty="0" smtClean="0">
                <a:solidFill>
                  <a:srgbClr val="292929"/>
                </a:solidFill>
                <a:highlight>
                  <a:srgbClr val="FFFFFF"/>
                </a:highlight>
                <a:latin typeface="+mj-lt"/>
                <a:ea typeface="Georgia"/>
                <a:cs typeface="Georgia"/>
                <a:sym typeface="Georgia"/>
              </a:rPr>
              <a:t>.</a:t>
            </a:r>
            <a:endParaRPr lang="en-US" sz="1500" dirty="0">
              <a:solidFill>
                <a:srgbClr val="292929"/>
              </a:solidFill>
              <a:highlight>
                <a:srgbClr val="FFFFFF"/>
              </a:highlight>
              <a:latin typeface="+mj-lt"/>
              <a:ea typeface="Georgia"/>
              <a:cs typeface="Georgia"/>
              <a:sym typeface="Georgia"/>
            </a:endParaRPr>
          </a:p>
        </p:txBody>
      </p:sp>
      <p:sp>
        <p:nvSpPr>
          <p:cNvPr id="326" name="Google Shape;326;ge490a57b47_0_3"/>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2</a:t>
            </a:fld>
            <a:endParaRPr/>
          </a:p>
        </p:txBody>
      </p:sp>
      <p:sp>
        <p:nvSpPr>
          <p:cNvPr id="327" name="Google Shape;327;ge490a57b47_0_3"/>
          <p:cNvSpPr txBox="1">
            <a:spLocks noGrp="1"/>
          </p:cNvSpPr>
          <p:nvPr>
            <p:ph type="title"/>
          </p:nvPr>
        </p:nvSpPr>
        <p:spPr>
          <a:xfrm>
            <a:off x="649834" y="388983"/>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dirty="0"/>
              <a:t>What is the shell</a:t>
            </a:r>
            <a:endParaRPr sz="27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27"/>
                                        </p:tgtEl>
                                        <p:attrNameLst>
                                          <p:attrName>style.visibility</p:attrName>
                                        </p:attrNameLst>
                                      </p:cBhvr>
                                      <p:to>
                                        <p:strVal val="visible"/>
                                      </p:to>
                                    </p:set>
                                    <p:animEffect transition="in" filter="fade">
                                      <p:cBhvr>
                                        <p:cTn id="7" dur="1000"/>
                                        <p:tgtEl>
                                          <p:spTgt spid="3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5"/>
                                        </p:tgtEl>
                                        <p:attrNameLst>
                                          <p:attrName>style.visibility</p:attrName>
                                        </p:attrNameLst>
                                      </p:cBhvr>
                                      <p:to>
                                        <p:strVal val="visible"/>
                                      </p:to>
                                    </p:set>
                                    <p:animEffect transition="in" filter="fade">
                                      <p:cBhvr>
                                        <p:cTn id="12" dur="1000"/>
                                        <p:tgtEl>
                                          <p:spTgt spid="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ge490a57b47_0_18"/>
          <p:cNvSpPr txBox="1"/>
          <p:nvPr/>
        </p:nvSpPr>
        <p:spPr>
          <a:xfrm>
            <a:off x="701425" y="908025"/>
            <a:ext cx="4814400" cy="350862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292929"/>
                </a:solidFill>
                <a:highlight>
                  <a:srgbClr val="FFFFFF"/>
                </a:highlight>
                <a:latin typeface="+mj-lt"/>
                <a:ea typeface="Georgia"/>
                <a:cs typeface="Georgia"/>
                <a:sym typeface="Georgia"/>
              </a:rPr>
              <a:t>Computers are organized in a hierarchy of folders, where a folder can contain many folders and files. </a:t>
            </a:r>
            <a:r>
              <a:rPr lang="en" sz="1200" b="0" i="0" u="none" strike="noStrike" cap="none" dirty="0" smtClean="0">
                <a:solidFill>
                  <a:srgbClr val="292929"/>
                </a:solidFill>
                <a:highlight>
                  <a:srgbClr val="FFFFFF"/>
                </a:highlight>
                <a:latin typeface="+mj-lt"/>
                <a:ea typeface="Georgia"/>
                <a:cs typeface="Georgia"/>
                <a:sym typeface="Georgia"/>
              </a:rPr>
              <a:t>People </a:t>
            </a:r>
            <a:r>
              <a:rPr lang="en" sz="1200" b="0" i="0" u="none" strike="noStrike" cap="none" dirty="0">
                <a:solidFill>
                  <a:srgbClr val="292929"/>
                </a:solidFill>
                <a:highlight>
                  <a:srgbClr val="FFFFFF"/>
                </a:highlight>
                <a:latin typeface="+mj-lt"/>
                <a:ea typeface="Georgia"/>
                <a:cs typeface="Georgia"/>
                <a:sym typeface="Georgia"/>
              </a:rPr>
              <a:t>who use Linux often refer to folders as directories and these terms are interchangeable. This directory hierarchy forms a tree, </a:t>
            </a:r>
            <a:r>
              <a:rPr lang="en" sz="1200" b="0" i="0" u="none" strike="noStrike" cap="none" dirty="0" smtClean="0">
                <a:solidFill>
                  <a:srgbClr val="292929"/>
                </a:solidFill>
                <a:highlight>
                  <a:srgbClr val="FFFFFF"/>
                </a:highlight>
                <a:latin typeface="+mj-lt"/>
                <a:ea typeface="Georgia"/>
                <a:cs typeface="Georgia"/>
                <a:sym typeface="Georgia"/>
              </a:rPr>
              <a:t>as shown in the diagram. </a:t>
            </a: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292929"/>
              </a:solidFill>
              <a:highlight>
                <a:srgbClr val="FFFFFF"/>
              </a:highlight>
              <a:latin typeface="+mj-lt"/>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292929"/>
                </a:solidFill>
                <a:highlight>
                  <a:srgbClr val="FFFFFF"/>
                </a:highlight>
                <a:latin typeface="+mj-lt"/>
                <a:ea typeface="Georgia"/>
                <a:cs typeface="Georgia"/>
                <a:sym typeface="Georgia"/>
              </a:rPr>
              <a:t>You can use the command line to navigate these trees on your computer. </a:t>
            </a:r>
            <a:endParaRPr lang="en" sz="1200" b="0" i="0" u="none" strike="noStrike" cap="none" dirty="0" smtClean="0">
              <a:solidFill>
                <a:srgbClr val="292929"/>
              </a:solidFill>
              <a:highlight>
                <a:srgbClr val="FFFFFF"/>
              </a:highlight>
              <a:latin typeface="+mj-lt"/>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endParaRPr lang="en" sz="1200" b="0" i="0" u="none" strike="noStrike" cap="none" dirty="0" smtClean="0">
              <a:solidFill>
                <a:srgbClr val="292929"/>
              </a:solidFill>
              <a:highlight>
                <a:srgbClr val="FFFFFF"/>
              </a:highlight>
              <a:latin typeface="+mj-lt"/>
              <a:ea typeface="Georgia"/>
              <a:cs typeface="Georgia"/>
              <a:sym typeface="Georgia"/>
            </a:endParaRPr>
          </a:p>
          <a:p>
            <a:pPr>
              <a:buSzPts val="1200"/>
            </a:pPr>
            <a:r>
              <a:rPr lang="en-US" sz="1200" dirty="0">
                <a:solidFill>
                  <a:srgbClr val="292929"/>
                </a:solidFill>
                <a:highlight>
                  <a:srgbClr val="FFFFFF"/>
                </a:highlight>
                <a:ea typeface="Georgia"/>
                <a:cs typeface="Georgia"/>
                <a:sym typeface="Georgia"/>
              </a:rPr>
              <a:t>There are a few special directories that you should be aware of on your computer. The directory at the top of this tree is called the root directory. The root directory contains all other directories, and is represented by a slash (/). </a:t>
            </a:r>
            <a:endParaRPr lang="en-US" sz="1200" dirty="0" smtClean="0">
              <a:solidFill>
                <a:srgbClr val="292929"/>
              </a:solidFill>
              <a:highlight>
                <a:srgbClr val="FFFFFF"/>
              </a:highlight>
              <a:ea typeface="Georgia"/>
              <a:cs typeface="Georgia"/>
              <a:sym typeface="Georgia"/>
            </a:endParaRPr>
          </a:p>
          <a:p>
            <a:pPr>
              <a:buSzPts val="1200"/>
            </a:pPr>
            <a:r>
              <a:rPr lang="en-US" sz="1200" dirty="0">
                <a:solidFill>
                  <a:srgbClr val="292929"/>
                </a:solidFill>
                <a:highlight>
                  <a:srgbClr val="FFFFFF"/>
                </a:highlight>
                <a:ea typeface="Georgia"/>
                <a:cs typeface="Georgia"/>
                <a:sym typeface="Georgia"/>
              </a:rPr>
              <a:t/>
            </a:r>
            <a:br>
              <a:rPr lang="en-US" sz="1200" dirty="0">
                <a:solidFill>
                  <a:srgbClr val="292929"/>
                </a:solidFill>
                <a:highlight>
                  <a:srgbClr val="FFFFFF"/>
                </a:highlight>
                <a:ea typeface="Georgia"/>
                <a:cs typeface="Georgia"/>
                <a:sym typeface="Georgia"/>
              </a:rPr>
            </a:br>
            <a:r>
              <a:rPr lang="en-US" sz="1200" dirty="0">
                <a:solidFill>
                  <a:srgbClr val="292929"/>
                </a:solidFill>
                <a:highlight>
                  <a:srgbClr val="FFFFFF"/>
                </a:highlight>
                <a:ea typeface="Georgia"/>
                <a:cs typeface="Georgia"/>
                <a:sym typeface="Georgia"/>
              </a:rPr>
              <a:t>The home directory is another special directory that is represented by a tilde (∼</a:t>
            </a:r>
            <a:r>
              <a:rPr lang="en-US" sz="1200" dirty="0" smtClean="0">
                <a:solidFill>
                  <a:srgbClr val="292929"/>
                </a:solidFill>
                <a:highlight>
                  <a:srgbClr val="FFFFFF"/>
                </a:highlight>
                <a:ea typeface="Georgia"/>
                <a:cs typeface="Georgia"/>
                <a:sym typeface="Georgia"/>
              </a:rPr>
              <a:t>).</a:t>
            </a:r>
          </a:p>
          <a:p>
            <a:pPr>
              <a:buSzPts val="1200"/>
            </a:pPr>
            <a:r>
              <a:rPr lang="en-US" sz="1200" dirty="0">
                <a:solidFill>
                  <a:srgbClr val="292929"/>
                </a:solidFill>
                <a:highlight>
                  <a:srgbClr val="FFFFFF"/>
                </a:highlight>
                <a:ea typeface="Georgia"/>
                <a:cs typeface="Georgia"/>
                <a:sym typeface="Georgia"/>
              </a:rPr>
              <a:t/>
            </a:r>
            <a:br>
              <a:rPr lang="en-US" sz="1200" dirty="0">
                <a:solidFill>
                  <a:srgbClr val="292929"/>
                </a:solidFill>
                <a:highlight>
                  <a:srgbClr val="FFFFFF"/>
                </a:highlight>
                <a:ea typeface="Georgia"/>
                <a:cs typeface="Georgia"/>
                <a:sym typeface="Georgia"/>
              </a:rPr>
            </a:br>
            <a:r>
              <a:rPr lang="en-US" sz="1200" dirty="0">
                <a:solidFill>
                  <a:srgbClr val="292929"/>
                </a:solidFill>
                <a:highlight>
                  <a:srgbClr val="FFFFFF"/>
                </a:highlight>
                <a:ea typeface="Georgia"/>
                <a:cs typeface="Georgia"/>
                <a:sym typeface="Georgia"/>
              </a:rPr>
              <a:t>When you first open up your shell you usually start off in your home directory.  </a:t>
            </a:r>
          </a:p>
        </p:txBody>
      </p:sp>
      <p:sp>
        <p:nvSpPr>
          <p:cNvPr id="334" name="Google Shape;334;ge490a57b47_0_18"/>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3</a:t>
            </a:fld>
            <a:endParaRPr/>
          </a:p>
        </p:txBody>
      </p:sp>
      <p:sp>
        <p:nvSpPr>
          <p:cNvPr id="335" name="Google Shape;335;ge490a57b47_0_18"/>
          <p:cNvSpPr txBox="1">
            <a:spLocks noGrp="1"/>
          </p:cNvSpPr>
          <p:nvPr>
            <p:ph type="title"/>
          </p:nvPr>
        </p:nvSpPr>
        <p:spPr>
          <a:xfrm>
            <a:off x="701425" y="346125"/>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700" b="1" dirty="0"/>
              <a:t>Navigating the Command Line</a:t>
            </a:r>
            <a:endParaRPr sz="2700" b="1" dirty="0"/>
          </a:p>
        </p:txBody>
      </p:sp>
      <p:pic>
        <p:nvPicPr>
          <p:cNvPr id="336" name="Google Shape;336;ge490a57b47_0_18"/>
          <p:cNvPicPr preferRelativeResize="0"/>
          <p:nvPr/>
        </p:nvPicPr>
        <p:blipFill rotWithShape="1">
          <a:blip r:embed="rId3">
            <a:alphaModFix/>
          </a:blip>
          <a:srcRect/>
          <a:stretch/>
        </p:blipFill>
        <p:spPr>
          <a:xfrm>
            <a:off x="5515825" y="908025"/>
            <a:ext cx="3597400" cy="1207400"/>
          </a:xfrm>
          <a:prstGeom prst="rect">
            <a:avLst/>
          </a:prstGeom>
          <a:noFill/>
          <a:ln>
            <a:noFill/>
          </a:ln>
        </p:spPr>
      </p:pic>
      <p:pic>
        <p:nvPicPr>
          <p:cNvPr id="337" name="Google Shape;337;ge490a57b47_0_18"/>
          <p:cNvPicPr preferRelativeResize="0"/>
          <p:nvPr/>
        </p:nvPicPr>
        <p:blipFill rotWithShape="1">
          <a:blip r:embed="rId4">
            <a:alphaModFix/>
          </a:blip>
          <a:srcRect/>
          <a:stretch/>
        </p:blipFill>
        <p:spPr>
          <a:xfrm>
            <a:off x="5808075" y="2275525"/>
            <a:ext cx="3270500" cy="18081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35"/>
                                        </p:tgtEl>
                                        <p:attrNameLst>
                                          <p:attrName>style.visibility</p:attrName>
                                        </p:attrNameLst>
                                      </p:cBhvr>
                                      <p:to>
                                        <p:strVal val="visible"/>
                                      </p:to>
                                    </p:set>
                                    <p:animEffect transition="in" filter="fade">
                                      <p:cBhvr>
                                        <p:cTn id="7" dur="1000"/>
                                        <p:tgtEl>
                                          <p:spTgt spid="3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3"/>
                                        </p:tgtEl>
                                        <p:attrNameLst>
                                          <p:attrName>style.visibility</p:attrName>
                                        </p:attrNameLst>
                                      </p:cBhvr>
                                      <p:to>
                                        <p:strVal val="visible"/>
                                      </p:to>
                                    </p:set>
                                    <p:animEffect transition="in" filter="fade">
                                      <p:cBhvr>
                                        <p:cTn id="12" dur="1000"/>
                                        <p:tgtEl>
                                          <p:spTgt spid="3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6"/>
                                        </p:tgtEl>
                                        <p:attrNameLst>
                                          <p:attrName>style.visibility</p:attrName>
                                        </p:attrNameLst>
                                      </p:cBhvr>
                                      <p:to>
                                        <p:strVal val="visible"/>
                                      </p:to>
                                    </p:set>
                                    <p:animEffect transition="in" filter="fade">
                                      <p:cBhvr>
                                        <p:cTn id="17" dur="1000"/>
                                        <p:tgtEl>
                                          <p:spTgt spid="3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7"/>
                                        </p:tgtEl>
                                        <p:attrNameLst>
                                          <p:attrName>style.visibility</p:attrName>
                                        </p:attrNameLst>
                                      </p:cBhvr>
                                      <p:to>
                                        <p:strVal val="visible"/>
                                      </p:to>
                                    </p:set>
                                    <p:animEffect transition="in" filter="fade">
                                      <p:cBhvr>
                                        <p:cTn id="22" dur="1000"/>
                                        <p:tgtEl>
                                          <p:spTgt spid="3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ge490a57b47_0_43"/>
          <p:cNvSpPr txBox="1"/>
          <p:nvPr/>
        </p:nvSpPr>
        <p:spPr>
          <a:xfrm>
            <a:off x="701550" y="910895"/>
            <a:ext cx="78618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292929"/>
                </a:solidFill>
                <a:highlight>
                  <a:srgbClr val="FFFFFF"/>
                </a:highlight>
                <a:latin typeface="+mj-lt"/>
                <a:ea typeface="Georgia"/>
                <a:cs typeface="Georgia"/>
                <a:sym typeface="Georgia"/>
              </a:rPr>
              <a:t>Now that you can fluidly use your terminal to bound between directories all over your computer I’ll show you some actions you can perform on folders and files.</a:t>
            </a:r>
            <a:endParaRPr sz="1200" b="0" i="0" u="none" strike="noStrike" cap="none" dirty="0">
              <a:solidFill>
                <a:srgbClr val="292929"/>
              </a:solidFill>
              <a:highlight>
                <a:srgbClr val="FFFFFF"/>
              </a:highlight>
              <a:latin typeface="+mj-lt"/>
              <a:ea typeface="Georgia"/>
              <a:cs typeface="Georgia"/>
              <a:sym typeface="Georgia"/>
            </a:endParaRPr>
          </a:p>
        </p:txBody>
      </p:sp>
      <p:sp>
        <p:nvSpPr>
          <p:cNvPr id="345" name="Google Shape;345;ge490a57b47_0_43"/>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4</a:t>
            </a:fld>
            <a:endParaRPr/>
          </a:p>
        </p:txBody>
      </p:sp>
      <p:sp>
        <p:nvSpPr>
          <p:cNvPr id="346" name="Google Shape;346;ge490a57b47_0_43"/>
          <p:cNvSpPr txBox="1">
            <a:spLocks noGrp="1"/>
          </p:cNvSpPr>
          <p:nvPr>
            <p:ph type="title"/>
          </p:nvPr>
        </p:nvSpPr>
        <p:spPr>
          <a:xfrm>
            <a:off x="701550" y="292001"/>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endParaRPr sz="2700" b="1" dirty="0"/>
          </a:p>
          <a:p>
            <a:pPr marL="0" lvl="0" indent="0" algn="l" rtl="0">
              <a:lnSpc>
                <a:spcPct val="100000"/>
              </a:lnSpc>
              <a:spcBef>
                <a:spcPts val="0"/>
              </a:spcBef>
              <a:spcAft>
                <a:spcPts val="0"/>
              </a:spcAft>
              <a:buSzPts val="2000"/>
              <a:buNone/>
            </a:pPr>
            <a:r>
              <a:rPr lang="en" sz="2700" b="1" dirty="0"/>
              <a:t>Creation and Inspection</a:t>
            </a:r>
            <a:endParaRPr sz="2700" b="1" dirty="0"/>
          </a:p>
        </p:txBody>
      </p:sp>
      <p:sp>
        <p:nvSpPr>
          <p:cNvPr id="347" name="Google Shape;347;ge490a57b47_0_43"/>
          <p:cNvSpPr txBox="1"/>
          <p:nvPr/>
        </p:nvSpPr>
        <p:spPr>
          <a:xfrm>
            <a:off x="701550" y="1464995"/>
            <a:ext cx="7419300" cy="297001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EF4F63"/>
                </a:solidFill>
                <a:latin typeface="+mj-lt"/>
                <a:ea typeface="Source Sans Pro"/>
                <a:cs typeface="Source Sans Pro"/>
                <a:sym typeface="Source Sans Pro"/>
              </a:rPr>
              <a:t>Commands</a:t>
            </a:r>
            <a:r>
              <a:rPr lang="en" sz="1400" b="0" i="0" u="none" strike="noStrike" cap="none" dirty="0">
                <a:solidFill>
                  <a:srgbClr val="000000"/>
                </a:solidFill>
                <a:latin typeface="+mj-lt"/>
                <a:ea typeface="Source Sans Pro"/>
                <a:cs typeface="Source Sans Pro"/>
                <a:sym typeface="Source Sans Pro"/>
              </a:rPr>
              <a:t/>
            </a:r>
            <a:br>
              <a:rPr lang="en" sz="1400" b="0" i="0" u="none" strike="noStrike" cap="none" dirty="0">
                <a:solidFill>
                  <a:srgbClr val="000000"/>
                </a:solidFill>
                <a:latin typeface="+mj-lt"/>
                <a:ea typeface="Source Sans Pro"/>
                <a:cs typeface="Source Sans Pro"/>
                <a:sym typeface="Source Sans Pro"/>
              </a:rPr>
            </a:br>
            <a:endParaRPr sz="600" b="0" i="0" u="none" strike="noStrike" cap="none" dirty="0">
              <a:solidFill>
                <a:srgbClr val="000000"/>
              </a:solidFill>
              <a:latin typeface="+mj-lt"/>
              <a:ea typeface="Source Sans Pro"/>
              <a:cs typeface="Source Sans Pro"/>
              <a:sym typeface="Source Sans Pro"/>
            </a:endParaRPr>
          </a:p>
          <a:p>
            <a:pPr marL="0" marR="0" lvl="0" indent="0" algn="l" rtl="0">
              <a:lnSpc>
                <a:spcPct val="115000"/>
              </a:lnSpc>
              <a:spcBef>
                <a:spcPts val="0"/>
              </a:spcBef>
              <a:spcAft>
                <a:spcPts val="0"/>
              </a:spcAft>
              <a:buClr>
                <a:srgbClr val="000000"/>
              </a:buClr>
              <a:buSzPts val="1200"/>
              <a:buFont typeface="Arial"/>
              <a:buNone/>
            </a:pPr>
            <a:r>
              <a:rPr lang="en" b="1" i="0" u="none" strike="noStrike" cap="none" dirty="0">
                <a:solidFill>
                  <a:schemeClr val="dk1"/>
                </a:solidFill>
                <a:latin typeface="+mj-lt"/>
                <a:ea typeface="Roboto Mono"/>
                <a:cs typeface="Roboto Mono"/>
                <a:sym typeface="Roboto Mono"/>
              </a:rPr>
              <a:t>mkdir</a:t>
            </a:r>
            <a:r>
              <a:rPr lang="en" b="0" i="0" u="none" strike="noStrike" cap="none" dirty="0">
                <a:solidFill>
                  <a:schemeClr val="dk1"/>
                </a:solidFill>
                <a:latin typeface="+mj-lt"/>
                <a:ea typeface="Source Sans Pro"/>
                <a:cs typeface="Source Sans Pro"/>
                <a:sym typeface="Source Sans Pro"/>
              </a:rPr>
              <a:t>: </a:t>
            </a:r>
            <a:r>
              <a:rPr lang="en" b="0" i="0" u="none" strike="noStrike" cap="none" dirty="0">
                <a:solidFill>
                  <a:srgbClr val="292929"/>
                </a:solidFill>
                <a:highlight>
                  <a:schemeClr val="lt1"/>
                </a:highlight>
                <a:latin typeface="+mj-lt"/>
                <a:ea typeface="Georgia"/>
                <a:cs typeface="Georgia"/>
                <a:sym typeface="Georgia"/>
              </a:rPr>
              <a:t>You can </a:t>
            </a:r>
            <a:r>
              <a:rPr lang="en" b="1" i="0" u="none" strike="noStrike" cap="none" dirty="0">
                <a:solidFill>
                  <a:srgbClr val="292929"/>
                </a:solidFill>
                <a:highlight>
                  <a:schemeClr val="lt1"/>
                </a:highlight>
                <a:latin typeface="+mj-lt"/>
                <a:ea typeface="Georgia"/>
                <a:cs typeface="Georgia"/>
                <a:sym typeface="Georgia"/>
              </a:rPr>
              <a:t>m</a:t>
            </a:r>
            <a:r>
              <a:rPr lang="en" b="0" i="0" u="none" strike="noStrike" cap="none" dirty="0">
                <a:solidFill>
                  <a:srgbClr val="292929"/>
                </a:solidFill>
                <a:highlight>
                  <a:schemeClr val="lt1"/>
                </a:highlight>
                <a:latin typeface="+mj-lt"/>
                <a:ea typeface="Georgia"/>
                <a:cs typeface="Georgia"/>
                <a:sym typeface="Georgia"/>
              </a:rPr>
              <a:t>a</a:t>
            </a:r>
            <a:r>
              <a:rPr lang="en" b="1" i="0" u="none" strike="noStrike" cap="none" dirty="0">
                <a:solidFill>
                  <a:srgbClr val="292929"/>
                </a:solidFill>
                <a:highlight>
                  <a:schemeClr val="lt1"/>
                </a:highlight>
                <a:latin typeface="+mj-lt"/>
                <a:ea typeface="Georgia"/>
                <a:cs typeface="Georgia"/>
                <a:sym typeface="Georgia"/>
              </a:rPr>
              <a:t>k</a:t>
            </a:r>
            <a:r>
              <a:rPr lang="en" b="0" i="0" u="none" strike="noStrike" cap="none" dirty="0">
                <a:solidFill>
                  <a:srgbClr val="292929"/>
                </a:solidFill>
                <a:highlight>
                  <a:schemeClr val="lt1"/>
                </a:highlight>
                <a:latin typeface="+mj-lt"/>
                <a:ea typeface="Georgia"/>
                <a:cs typeface="Georgia"/>
                <a:sym typeface="Georgia"/>
              </a:rPr>
              <a:t>e a </a:t>
            </a:r>
            <a:r>
              <a:rPr lang="en" b="1" i="0" u="none" strike="noStrike" cap="none" dirty="0">
                <a:solidFill>
                  <a:srgbClr val="292929"/>
                </a:solidFill>
                <a:highlight>
                  <a:schemeClr val="lt1"/>
                </a:highlight>
                <a:latin typeface="+mj-lt"/>
                <a:ea typeface="Georgia"/>
                <a:cs typeface="Georgia"/>
                <a:sym typeface="Georgia"/>
              </a:rPr>
              <a:t>dir</a:t>
            </a:r>
            <a:r>
              <a:rPr lang="en" b="0" i="0" u="none" strike="noStrike" cap="none" dirty="0">
                <a:solidFill>
                  <a:srgbClr val="292929"/>
                </a:solidFill>
                <a:highlight>
                  <a:schemeClr val="lt1"/>
                </a:highlight>
                <a:latin typeface="+mj-lt"/>
                <a:ea typeface="Georgia"/>
                <a:cs typeface="Georgia"/>
                <a:sym typeface="Georgia"/>
              </a:rPr>
              <a:t>ectory with the </a:t>
            </a:r>
            <a:r>
              <a:rPr lang="en" b="0" i="0" u="none" strike="noStrike" cap="none" dirty="0">
                <a:solidFill>
                  <a:srgbClr val="292929"/>
                </a:solidFill>
                <a:highlight>
                  <a:schemeClr val="lt2"/>
                </a:highlight>
                <a:latin typeface="+mj-lt"/>
                <a:ea typeface="Roboto Mono"/>
                <a:cs typeface="Roboto Mono"/>
                <a:sym typeface="Roboto Mono"/>
              </a:rPr>
              <a:t>mkdir</a:t>
            </a:r>
            <a:r>
              <a:rPr lang="en" b="0" i="0" u="none" strike="noStrike" cap="none" dirty="0">
                <a:solidFill>
                  <a:srgbClr val="292929"/>
                </a:solidFill>
                <a:highlight>
                  <a:schemeClr val="lt1"/>
                </a:highlight>
                <a:latin typeface="+mj-lt"/>
                <a:ea typeface="Georgia"/>
                <a:cs typeface="Georgia"/>
                <a:sym typeface="Georgia"/>
              </a:rPr>
              <a:t> command, followed by the path to the new directory.</a:t>
            </a:r>
            <a:endParaRPr b="0" i="0" u="none" strike="noStrike" cap="none" dirty="0">
              <a:solidFill>
                <a:schemeClr val="dk1"/>
              </a:solidFill>
              <a:latin typeface="+mj-lt"/>
              <a:ea typeface="Source Sans Pro"/>
              <a:cs typeface="Source Sans Pro"/>
              <a:sym typeface="Source Sans Pro"/>
            </a:endParaRPr>
          </a:p>
          <a:p>
            <a:pPr marL="0" marR="0" lvl="0" indent="0" algn="l" rtl="0">
              <a:lnSpc>
                <a:spcPct val="115000"/>
              </a:lnSpc>
              <a:spcBef>
                <a:spcPts val="0"/>
              </a:spcBef>
              <a:spcAft>
                <a:spcPts val="0"/>
              </a:spcAft>
              <a:buClr>
                <a:srgbClr val="000000"/>
              </a:buClr>
              <a:buSzPts val="900"/>
              <a:buFont typeface="Arial"/>
              <a:buNone/>
            </a:pPr>
            <a:r>
              <a:rPr lang="en" b="0" i="0" u="none" strike="noStrike" cap="none" dirty="0">
                <a:solidFill>
                  <a:srgbClr val="000000"/>
                </a:solidFill>
                <a:highlight>
                  <a:schemeClr val="lt2"/>
                </a:highlight>
                <a:latin typeface="+mj-lt"/>
                <a:ea typeface="Courier New"/>
                <a:cs typeface="Courier New"/>
                <a:sym typeface="Courier New"/>
              </a:rPr>
              <a:t>$ mkdir </a:t>
            </a:r>
            <a:r>
              <a:rPr lang="en" b="0" i="0" u="none" strike="noStrike" cap="none" dirty="0" smtClean="0">
                <a:solidFill>
                  <a:srgbClr val="000000"/>
                </a:solidFill>
                <a:highlight>
                  <a:schemeClr val="lt2"/>
                </a:highlight>
                <a:latin typeface="+mj-lt"/>
                <a:ea typeface="Courier New"/>
                <a:cs typeface="Courier New"/>
                <a:sym typeface="Courier New"/>
              </a:rPr>
              <a:t>new_folder</a:t>
            </a:r>
          </a:p>
          <a:p>
            <a:pPr marL="0" marR="0" lvl="0" indent="0" algn="l" rtl="0">
              <a:lnSpc>
                <a:spcPct val="115000"/>
              </a:lnSpc>
              <a:spcBef>
                <a:spcPts val="0"/>
              </a:spcBef>
              <a:spcAft>
                <a:spcPts val="0"/>
              </a:spcAft>
              <a:buClr>
                <a:srgbClr val="000000"/>
              </a:buClr>
              <a:buSzPts val="900"/>
              <a:buFont typeface="Arial"/>
              <a:buNone/>
            </a:pPr>
            <a:r>
              <a:rPr lang="en" b="0" i="0" u="none" strike="noStrike" cap="none" dirty="0">
                <a:solidFill>
                  <a:schemeClr val="dk1"/>
                </a:solidFill>
                <a:highlight>
                  <a:schemeClr val="lt2"/>
                </a:highlight>
                <a:latin typeface="+mj-lt"/>
                <a:ea typeface="Roboto Mono"/>
                <a:cs typeface="Roboto Mono"/>
                <a:sym typeface="Roboto Mono"/>
              </a:rPr>
              <a:t/>
            </a:r>
            <a:br>
              <a:rPr lang="en" b="0" i="0" u="none" strike="noStrike" cap="none" dirty="0">
                <a:solidFill>
                  <a:schemeClr val="dk1"/>
                </a:solidFill>
                <a:highlight>
                  <a:schemeClr val="lt2"/>
                </a:highlight>
                <a:latin typeface="+mj-lt"/>
                <a:ea typeface="Roboto Mono"/>
                <a:cs typeface="Roboto Mono"/>
                <a:sym typeface="Roboto Mono"/>
              </a:rPr>
            </a:br>
            <a:r>
              <a:rPr lang="en" b="1" i="0" u="none" strike="noStrike" cap="none" dirty="0">
                <a:solidFill>
                  <a:schemeClr val="dk1"/>
                </a:solidFill>
                <a:latin typeface="+mj-lt"/>
                <a:ea typeface="Roboto Mono"/>
                <a:cs typeface="Roboto Mono"/>
                <a:sym typeface="Roboto Mono"/>
              </a:rPr>
              <a:t>touch</a:t>
            </a:r>
            <a:r>
              <a:rPr lang="en" b="0" i="0" u="none" strike="noStrike" cap="none" dirty="0">
                <a:solidFill>
                  <a:srgbClr val="000000"/>
                </a:solidFill>
                <a:latin typeface="+mj-lt"/>
                <a:ea typeface="Source Sans Pro"/>
                <a:cs typeface="Source Sans Pro"/>
                <a:sym typeface="Source Sans Pro"/>
              </a:rPr>
              <a:t>: </a:t>
            </a:r>
            <a:r>
              <a:rPr lang="en" b="0" i="0" u="none" strike="noStrike" cap="none" dirty="0">
                <a:solidFill>
                  <a:srgbClr val="292929"/>
                </a:solidFill>
                <a:highlight>
                  <a:schemeClr val="lt1"/>
                </a:highlight>
                <a:latin typeface="+mj-lt"/>
                <a:ea typeface="Georgia"/>
                <a:cs typeface="Georgia"/>
                <a:sym typeface="Georgia"/>
              </a:rPr>
              <a:t>most simple way to create a blank file, followed by the path to the file you want to create.</a:t>
            </a:r>
            <a:r>
              <a:rPr lang="en" b="0" i="0" u="none" strike="noStrike" cap="none" dirty="0">
                <a:solidFill>
                  <a:srgbClr val="000000"/>
                </a:solidFill>
                <a:latin typeface="+mj-lt"/>
                <a:ea typeface="Source Sans Pro"/>
                <a:cs typeface="Source Sans Pro"/>
                <a:sym typeface="Source Sans Pro"/>
              </a:rPr>
              <a:t/>
            </a:r>
            <a:br>
              <a:rPr lang="en" b="0" i="0" u="none" strike="noStrike" cap="none" dirty="0">
                <a:solidFill>
                  <a:srgbClr val="000000"/>
                </a:solidFill>
                <a:latin typeface="+mj-lt"/>
                <a:ea typeface="Source Sans Pro"/>
                <a:cs typeface="Source Sans Pro"/>
                <a:sym typeface="Source Sans Pro"/>
              </a:rPr>
            </a:br>
            <a:r>
              <a:rPr lang="en" b="0" i="0" u="none" strike="noStrike" cap="none" dirty="0">
                <a:solidFill>
                  <a:srgbClr val="000000"/>
                </a:solidFill>
                <a:highlight>
                  <a:schemeClr val="lt2"/>
                </a:highlight>
                <a:latin typeface="+mj-lt"/>
                <a:ea typeface="Courier New"/>
                <a:cs typeface="Courier New"/>
                <a:sym typeface="Courier New"/>
              </a:rPr>
              <a:t>$ touch </a:t>
            </a:r>
            <a:r>
              <a:rPr lang="en" b="0" i="0" u="none" strike="noStrike" cap="none" dirty="0" smtClean="0">
                <a:solidFill>
                  <a:srgbClr val="000000"/>
                </a:solidFill>
                <a:highlight>
                  <a:schemeClr val="lt2"/>
                </a:highlight>
                <a:latin typeface="+mj-lt"/>
                <a:ea typeface="Courier New"/>
                <a:cs typeface="Courier New"/>
                <a:sym typeface="Courier New"/>
              </a:rPr>
              <a:t>new_file.txt</a:t>
            </a:r>
          </a:p>
          <a:p>
            <a:pPr marL="0" marR="0" lvl="0" indent="0" algn="l" rtl="0">
              <a:lnSpc>
                <a:spcPct val="115000"/>
              </a:lnSpc>
              <a:spcBef>
                <a:spcPts val="0"/>
              </a:spcBef>
              <a:spcAft>
                <a:spcPts val="0"/>
              </a:spcAft>
              <a:buClr>
                <a:srgbClr val="000000"/>
              </a:buClr>
              <a:buSzPts val="900"/>
              <a:buFont typeface="Arial"/>
              <a:buNone/>
            </a:pPr>
            <a:endParaRPr b="0" i="0" u="none" strike="noStrike" cap="none" dirty="0">
              <a:solidFill>
                <a:schemeClr val="dk1"/>
              </a:solidFill>
              <a:latin typeface="+mj-lt"/>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n" b="1" i="0" u="none" strike="noStrike" cap="none" dirty="0">
                <a:solidFill>
                  <a:schemeClr val="dk1"/>
                </a:solidFill>
                <a:latin typeface="+mj-lt"/>
                <a:ea typeface="Roboto Mono"/>
                <a:cs typeface="Roboto Mono"/>
                <a:sym typeface="Roboto Mono"/>
              </a:rPr>
              <a:t>wc</a:t>
            </a:r>
            <a:r>
              <a:rPr lang="en" b="0" i="0" u="none" strike="noStrike" cap="none" dirty="0">
                <a:solidFill>
                  <a:srgbClr val="000000"/>
                </a:solidFill>
                <a:latin typeface="+mj-lt"/>
                <a:ea typeface="Source Sans Pro"/>
                <a:cs typeface="Source Sans Pro"/>
                <a:sym typeface="Source Sans Pro"/>
              </a:rPr>
              <a:t>: </a:t>
            </a:r>
            <a:r>
              <a:rPr lang="en" b="0" i="0" u="none" strike="noStrike" cap="none" dirty="0">
                <a:solidFill>
                  <a:srgbClr val="292929"/>
                </a:solidFill>
                <a:highlight>
                  <a:schemeClr val="lt1"/>
                </a:highlight>
                <a:latin typeface="+mj-lt"/>
                <a:ea typeface="Georgia"/>
                <a:cs typeface="Georgia"/>
                <a:sym typeface="Georgia"/>
              </a:rPr>
              <a:t>use </a:t>
            </a:r>
            <a:r>
              <a:rPr lang="en" b="0" i="0" u="none" strike="noStrike" cap="none" dirty="0">
                <a:solidFill>
                  <a:srgbClr val="292929"/>
                </a:solidFill>
                <a:highlight>
                  <a:schemeClr val="lt2"/>
                </a:highlight>
                <a:latin typeface="+mj-lt"/>
                <a:ea typeface="Roboto Mono"/>
                <a:cs typeface="Roboto Mono"/>
                <a:sym typeface="Roboto Mono"/>
              </a:rPr>
              <a:t>wc</a:t>
            </a:r>
            <a:r>
              <a:rPr lang="en" b="0" i="0" u="none" strike="noStrike" cap="none" dirty="0">
                <a:solidFill>
                  <a:srgbClr val="292929"/>
                </a:solidFill>
                <a:highlight>
                  <a:schemeClr val="lt1"/>
                </a:highlight>
                <a:latin typeface="+mj-lt"/>
                <a:ea typeface="Georgia"/>
                <a:cs typeface="Georgia"/>
                <a:sym typeface="Georgia"/>
              </a:rPr>
              <a:t> to view the </a:t>
            </a:r>
            <a:r>
              <a:rPr lang="en" b="1" i="0" u="none" strike="noStrike" cap="none" dirty="0">
                <a:solidFill>
                  <a:srgbClr val="292929"/>
                </a:solidFill>
                <a:highlight>
                  <a:schemeClr val="lt1"/>
                </a:highlight>
                <a:latin typeface="+mj-lt"/>
                <a:ea typeface="Georgia"/>
                <a:cs typeface="Georgia"/>
                <a:sym typeface="Georgia"/>
              </a:rPr>
              <a:t>w</a:t>
            </a:r>
            <a:r>
              <a:rPr lang="en" b="0" i="0" u="none" strike="noStrike" cap="none" dirty="0">
                <a:solidFill>
                  <a:srgbClr val="292929"/>
                </a:solidFill>
                <a:highlight>
                  <a:schemeClr val="lt1"/>
                </a:highlight>
                <a:latin typeface="+mj-lt"/>
                <a:ea typeface="Georgia"/>
                <a:cs typeface="Georgia"/>
                <a:sym typeface="Georgia"/>
              </a:rPr>
              <a:t>ord </a:t>
            </a:r>
            <a:r>
              <a:rPr lang="en" b="1" i="0" u="none" strike="noStrike" cap="none" dirty="0">
                <a:solidFill>
                  <a:srgbClr val="292929"/>
                </a:solidFill>
                <a:highlight>
                  <a:schemeClr val="lt1"/>
                </a:highlight>
                <a:latin typeface="+mj-lt"/>
                <a:ea typeface="Georgia"/>
                <a:cs typeface="Georgia"/>
                <a:sym typeface="Georgia"/>
              </a:rPr>
              <a:t>c</a:t>
            </a:r>
            <a:r>
              <a:rPr lang="en" b="0" i="0" u="none" strike="noStrike" cap="none" dirty="0">
                <a:solidFill>
                  <a:srgbClr val="292929"/>
                </a:solidFill>
                <a:highlight>
                  <a:schemeClr val="lt1"/>
                </a:highlight>
                <a:latin typeface="+mj-lt"/>
                <a:ea typeface="Georgia"/>
                <a:cs typeface="Georgia"/>
                <a:sym typeface="Georgia"/>
              </a:rPr>
              <a:t>ount and other information.</a:t>
            </a:r>
            <a:br>
              <a:rPr lang="en" b="0" i="0" u="none" strike="noStrike" cap="none" dirty="0">
                <a:solidFill>
                  <a:srgbClr val="292929"/>
                </a:solidFill>
                <a:highlight>
                  <a:schemeClr val="lt1"/>
                </a:highlight>
                <a:latin typeface="+mj-lt"/>
                <a:ea typeface="Georgia"/>
                <a:cs typeface="Georgia"/>
                <a:sym typeface="Georgia"/>
              </a:rPr>
            </a:br>
            <a:r>
              <a:rPr lang="en" b="0" i="0" u="none" strike="noStrike" cap="none" dirty="0">
                <a:solidFill>
                  <a:srgbClr val="000000"/>
                </a:solidFill>
                <a:highlight>
                  <a:schemeClr val="lt2"/>
                </a:highlight>
                <a:latin typeface="+mj-lt"/>
                <a:ea typeface="Courier New"/>
                <a:cs typeface="Courier New"/>
                <a:sym typeface="Courier New"/>
              </a:rPr>
              <a:t>$ wc -lwc new_file.txt</a:t>
            </a:r>
            <a:r>
              <a:rPr lang="en" b="0" i="0" u="none" strike="noStrike" cap="none" dirty="0">
                <a:solidFill>
                  <a:srgbClr val="292929"/>
                </a:solidFill>
                <a:highlight>
                  <a:schemeClr val="lt1"/>
                </a:highlight>
                <a:latin typeface="+mj-lt"/>
                <a:ea typeface="Georgia"/>
                <a:cs typeface="Georgia"/>
                <a:sym typeface="Georgia"/>
              </a:rPr>
              <a:t> 	</a:t>
            </a:r>
            <a:r>
              <a:rPr lang="en" b="1" i="0" u="none" strike="noStrike" cap="none" dirty="0">
                <a:solidFill>
                  <a:srgbClr val="292929"/>
                </a:solidFill>
                <a:highlight>
                  <a:schemeClr val="lt1"/>
                </a:highlight>
                <a:latin typeface="+mj-lt"/>
                <a:ea typeface="Georgia"/>
                <a:cs typeface="Georgia"/>
                <a:sym typeface="Georgia"/>
              </a:rPr>
              <a:t>-l</a:t>
            </a:r>
            <a:r>
              <a:rPr lang="en" b="0" i="0" u="none" strike="noStrike" cap="none" dirty="0">
                <a:solidFill>
                  <a:srgbClr val="292929"/>
                </a:solidFill>
                <a:highlight>
                  <a:schemeClr val="lt1"/>
                </a:highlight>
                <a:latin typeface="+mj-lt"/>
                <a:ea typeface="Georgia"/>
                <a:cs typeface="Georgia"/>
                <a:sym typeface="Georgia"/>
              </a:rPr>
              <a:t> for lines, </a:t>
            </a:r>
            <a:r>
              <a:rPr lang="en" b="1" i="0" u="none" strike="noStrike" cap="none" dirty="0">
                <a:solidFill>
                  <a:srgbClr val="292929"/>
                </a:solidFill>
                <a:highlight>
                  <a:schemeClr val="lt1"/>
                </a:highlight>
                <a:latin typeface="+mj-lt"/>
                <a:ea typeface="Georgia"/>
                <a:cs typeface="Georgia"/>
                <a:sym typeface="Georgia"/>
              </a:rPr>
              <a:t>-w</a:t>
            </a:r>
            <a:r>
              <a:rPr lang="en" b="0" i="0" u="none" strike="noStrike" cap="none" dirty="0">
                <a:solidFill>
                  <a:srgbClr val="292929"/>
                </a:solidFill>
                <a:highlight>
                  <a:schemeClr val="lt1"/>
                </a:highlight>
                <a:latin typeface="+mj-lt"/>
                <a:ea typeface="Georgia"/>
                <a:cs typeface="Georgia"/>
                <a:sym typeface="Georgia"/>
              </a:rPr>
              <a:t> for words, </a:t>
            </a:r>
            <a:r>
              <a:rPr lang="en" b="1" i="0" u="none" strike="noStrike" cap="none" dirty="0">
                <a:solidFill>
                  <a:srgbClr val="292929"/>
                </a:solidFill>
                <a:highlight>
                  <a:schemeClr val="lt1"/>
                </a:highlight>
                <a:latin typeface="+mj-lt"/>
                <a:ea typeface="Georgia"/>
                <a:cs typeface="Georgia"/>
                <a:sym typeface="Georgia"/>
              </a:rPr>
              <a:t>-c</a:t>
            </a:r>
            <a:r>
              <a:rPr lang="en" b="0" i="0" u="none" strike="noStrike" cap="none" dirty="0">
                <a:solidFill>
                  <a:srgbClr val="292929"/>
                </a:solidFill>
                <a:highlight>
                  <a:schemeClr val="lt1"/>
                </a:highlight>
                <a:latin typeface="+mj-lt"/>
                <a:ea typeface="Georgia"/>
                <a:cs typeface="Georgia"/>
                <a:sym typeface="Georgia"/>
              </a:rPr>
              <a:t> for </a:t>
            </a:r>
            <a:r>
              <a:rPr lang="en" b="0" i="0" u="none" strike="noStrike" cap="none" dirty="0" smtClean="0">
                <a:solidFill>
                  <a:srgbClr val="292929"/>
                </a:solidFill>
                <a:highlight>
                  <a:schemeClr val="lt1"/>
                </a:highlight>
                <a:latin typeface="+mj-lt"/>
                <a:ea typeface="Georgia"/>
                <a:cs typeface="Georgia"/>
                <a:sym typeface="Georgia"/>
              </a:rPr>
              <a:t>chars</a:t>
            </a:r>
            <a:endParaRPr b="0" i="0" u="none" strike="noStrike" cap="none" dirty="0">
              <a:solidFill>
                <a:srgbClr val="292929"/>
              </a:solidFill>
              <a:highlight>
                <a:schemeClr val="lt1"/>
              </a:highlight>
              <a:latin typeface="+mj-lt"/>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6"/>
                                        </p:tgtEl>
                                        <p:attrNameLst>
                                          <p:attrName>style.visibility</p:attrName>
                                        </p:attrNameLst>
                                      </p:cBhvr>
                                      <p:to>
                                        <p:strVal val="visible"/>
                                      </p:to>
                                    </p:set>
                                    <p:animEffect transition="in" filter="fade">
                                      <p:cBhvr>
                                        <p:cTn id="7" dur="1000"/>
                                        <p:tgtEl>
                                          <p:spTgt spid="3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4"/>
                                        </p:tgtEl>
                                        <p:attrNameLst>
                                          <p:attrName>style.visibility</p:attrName>
                                        </p:attrNameLst>
                                      </p:cBhvr>
                                      <p:to>
                                        <p:strVal val="visible"/>
                                      </p:to>
                                    </p:set>
                                    <p:animEffect transition="in" filter="fade">
                                      <p:cBhvr>
                                        <p:cTn id="12" dur="1000"/>
                                        <p:tgtEl>
                                          <p:spTgt spid="34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7">
                                            <p:txEl>
                                              <p:pRg st="0" end="0"/>
                                            </p:txEl>
                                          </p:spTgt>
                                        </p:tgtEl>
                                        <p:attrNameLst>
                                          <p:attrName>style.visibility</p:attrName>
                                        </p:attrNameLst>
                                      </p:cBhvr>
                                      <p:to>
                                        <p:strVal val="visible"/>
                                      </p:to>
                                    </p:set>
                                    <p:animEffect transition="in" filter="fade">
                                      <p:cBhvr>
                                        <p:cTn id="17" dur="1000"/>
                                        <p:tgtEl>
                                          <p:spTgt spid="34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7">
                                            <p:txEl>
                                              <p:pRg st="1" end="1"/>
                                            </p:txEl>
                                          </p:spTgt>
                                        </p:tgtEl>
                                        <p:attrNameLst>
                                          <p:attrName>style.visibility</p:attrName>
                                        </p:attrNameLst>
                                      </p:cBhvr>
                                      <p:to>
                                        <p:strVal val="visible"/>
                                      </p:to>
                                    </p:set>
                                    <p:animEffect transition="in" filter="fade">
                                      <p:cBhvr>
                                        <p:cTn id="22" dur="1000"/>
                                        <p:tgtEl>
                                          <p:spTgt spid="34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7">
                                            <p:txEl>
                                              <p:pRg st="2" end="2"/>
                                            </p:txEl>
                                          </p:spTgt>
                                        </p:tgtEl>
                                        <p:attrNameLst>
                                          <p:attrName>style.visibility</p:attrName>
                                        </p:attrNameLst>
                                      </p:cBhvr>
                                      <p:to>
                                        <p:strVal val="visible"/>
                                      </p:to>
                                    </p:set>
                                    <p:animEffect transition="in" filter="fade">
                                      <p:cBhvr>
                                        <p:cTn id="27" dur="1000"/>
                                        <p:tgtEl>
                                          <p:spTgt spid="347">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7">
                                            <p:txEl>
                                              <p:pRg st="3" end="3"/>
                                            </p:txEl>
                                          </p:spTgt>
                                        </p:tgtEl>
                                        <p:attrNameLst>
                                          <p:attrName>style.visibility</p:attrName>
                                        </p:attrNameLst>
                                      </p:cBhvr>
                                      <p:to>
                                        <p:strVal val="visible"/>
                                      </p:to>
                                    </p:set>
                                    <p:animEffect transition="in" filter="fade">
                                      <p:cBhvr>
                                        <p:cTn id="32" dur="1000"/>
                                        <p:tgtEl>
                                          <p:spTgt spid="347">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47">
                                            <p:txEl>
                                              <p:pRg st="5" end="5"/>
                                            </p:txEl>
                                          </p:spTgt>
                                        </p:tgtEl>
                                        <p:attrNameLst>
                                          <p:attrName>style.visibility</p:attrName>
                                        </p:attrNameLst>
                                      </p:cBhvr>
                                      <p:to>
                                        <p:strVal val="visible"/>
                                      </p:to>
                                    </p:set>
                                    <p:animEffect transition="in" filter="fade">
                                      <p:cBhvr>
                                        <p:cTn id="37" dur="1000"/>
                                        <p:tgtEl>
                                          <p:spTgt spid="3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ge490a57b47_0_43"/>
          <p:cNvSpPr txBox="1"/>
          <p:nvPr/>
        </p:nvSpPr>
        <p:spPr>
          <a:xfrm>
            <a:off x="701550" y="910895"/>
            <a:ext cx="78618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292929"/>
                </a:solidFill>
                <a:highlight>
                  <a:srgbClr val="FFFFFF"/>
                </a:highlight>
                <a:latin typeface="+mj-lt"/>
                <a:ea typeface="Georgia"/>
                <a:cs typeface="Georgia"/>
                <a:sym typeface="Georgia"/>
              </a:rPr>
              <a:t>Now that you can fluidly use your terminal to bound between directories all over your computer I’ll show you some actions you can perform on folders and files.</a:t>
            </a:r>
            <a:endParaRPr sz="1200" b="0" i="0" u="none" strike="noStrike" cap="none" dirty="0">
              <a:solidFill>
                <a:srgbClr val="292929"/>
              </a:solidFill>
              <a:highlight>
                <a:srgbClr val="FFFFFF"/>
              </a:highlight>
              <a:latin typeface="+mj-lt"/>
              <a:ea typeface="Georgia"/>
              <a:cs typeface="Georgia"/>
              <a:sym typeface="Georgia"/>
            </a:endParaRPr>
          </a:p>
        </p:txBody>
      </p:sp>
      <p:sp>
        <p:nvSpPr>
          <p:cNvPr id="345" name="Google Shape;345;ge490a57b47_0_43"/>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5</a:t>
            </a:fld>
            <a:endParaRPr/>
          </a:p>
        </p:txBody>
      </p:sp>
      <p:sp>
        <p:nvSpPr>
          <p:cNvPr id="346" name="Google Shape;346;ge490a57b47_0_43"/>
          <p:cNvSpPr txBox="1">
            <a:spLocks noGrp="1"/>
          </p:cNvSpPr>
          <p:nvPr>
            <p:ph type="title"/>
          </p:nvPr>
        </p:nvSpPr>
        <p:spPr>
          <a:xfrm>
            <a:off x="701550" y="292001"/>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endParaRPr sz="2700" b="1" dirty="0"/>
          </a:p>
          <a:p>
            <a:pPr marL="0" lvl="0" indent="0" algn="l" rtl="0">
              <a:lnSpc>
                <a:spcPct val="100000"/>
              </a:lnSpc>
              <a:spcBef>
                <a:spcPts val="0"/>
              </a:spcBef>
              <a:spcAft>
                <a:spcPts val="0"/>
              </a:spcAft>
              <a:buSzPts val="2000"/>
              <a:buNone/>
            </a:pPr>
            <a:r>
              <a:rPr lang="en" sz="2700" b="1" dirty="0"/>
              <a:t>Creation and Inspection</a:t>
            </a:r>
            <a:endParaRPr sz="2700" b="1" dirty="0"/>
          </a:p>
        </p:txBody>
      </p:sp>
      <p:sp>
        <p:nvSpPr>
          <p:cNvPr id="347" name="Google Shape;347;ge490a57b47_0_43"/>
          <p:cNvSpPr txBox="1"/>
          <p:nvPr/>
        </p:nvSpPr>
        <p:spPr>
          <a:xfrm>
            <a:off x="701550" y="1464995"/>
            <a:ext cx="7419300" cy="252835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EF4F63"/>
                </a:solidFill>
                <a:latin typeface="+mj-lt"/>
                <a:ea typeface="Source Sans Pro"/>
                <a:cs typeface="Source Sans Pro"/>
                <a:sym typeface="Source Sans Pro"/>
              </a:rPr>
              <a:t>Commands</a:t>
            </a:r>
            <a:r>
              <a:rPr lang="en" sz="1400" b="0" i="0" u="none" strike="noStrike" cap="none" dirty="0">
                <a:solidFill>
                  <a:srgbClr val="000000"/>
                </a:solidFill>
                <a:latin typeface="+mj-lt"/>
                <a:ea typeface="Source Sans Pro"/>
                <a:cs typeface="Source Sans Pro"/>
                <a:sym typeface="Source Sans Pro"/>
              </a:rPr>
              <a:t/>
            </a:r>
            <a:br>
              <a:rPr lang="en" sz="1400" b="0" i="0" u="none" strike="noStrike" cap="none" dirty="0">
                <a:solidFill>
                  <a:srgbClr val="000000"/>
                </a:solidFill>
                <a:latin typeface="+mj-lt"/>
                <a:ea typeface="Source Sans Pro"/>
                <a:cs typeface="Source Sans Pro"/>
                <a:sym typeface="Source Sans Pro"/>
              </a:rPr>
            </a:br>
            <a:endParaRPr sz="600" b="0" i="0" u="none" strike="noStrike" cap="none" dirty="0">
              <a:solidFill>
                <a:srgbClr val="000000"/>
              </a:solidFill>
              <a:latin typeface="+mj-lt"/>
              <a:ea typeface="Source Sans Pro"/>
              <a:cs typeface="Source Sans Pro"/>
              <a:sym typeface="Source Sans Pro"/>
            </a:endParaRPr>
          </a:p>
          <a:p>
            <a:pPr marL="0" marR="0" lvl="0" indent="0" algn="l" rtl="0">
              <a:lnSpc>
                <a:spcPct val="100000"/>
              </a:lnSpc>
              <a:spcBef>
                <a:spcPts val="0"/>
              </a:spcBef>
              <a:spcAft>
                <a:spcPts val="0"/>
              </a:spcAft>
              <a:buClr>
                <a:srgbClr val="000000"/>
              </a:buClr>
              <a:buSzPts val="1200"/>
              <a:buFont typeface="Arial"/>
              <a:buNone/>
            </a:pPr>
            <a:r>
              <a:rPr lang="en" b="1" i="0" u="none" strike="noStrike" cap="none" dirty="0" smtClean="0">
                <a:solidFill>
                  <a:schemeClr val="dk1"/>
                </a:solidFill>
                <a:latin typeface="+mj-lt"/>
                <a:ea typeface="Roboto Mono"/>
                <a:cs typeface="Roboto Mono"/>
                <a:sym typeface="Roboto Mono"/>
              </a:rPr>
              <a:t>cat</a:t>
            </a:r>
            <a:r>
              <a:rPr lang="en" b="1" i="0" u="none" strike="noStrike" cap="none" dirty="0">
                <a:solidFill>
                  <a:srgbClr val="000000"/>
                </a:solidFill>
                <a:latin typeface="+mj-lt"/>
                <a:ea typeface="Source Sans Pro"/>
                <a:cs typeface="Source Sans Pro"/>
                <a:sym typeface="Source Sans Pro"/>
              </a:rPr>
              <a:t>:</a:t>
            </a:r>
            <a:r>
              <a:rPr lang="en" b="0" i="0" u="none" strike="noStrike" cap="none" dirty="0">
                <a:solidFill>
                  <a:srgbClr val="000000"/>
                </a:solidFill>
                <a:latin typeface="+mj-lt"/>
                <a:ea typeface="Source Sans Pro"/>
                <a:cs typeface="Source Sans Pro"/>
                <a:sym typeface="Source Sans Pro"/>
              </a:rPr>
              <a:t> </a:t>
            </a:r>
            <a:r>
              <a:rPr lang="en" b="0" i="0" u="none" strike="noStrike" cap="none" dirty="0">
                <a:solidFill>
                  <a:srgbClr val="292929"/>
                </a:solidFill>
                <a:highlight>
                  <a:schemeClr val="lt1"/>
                </a:highlight>
                <a:latin typeface="+mj-lt"/>
                <a:ea typeface="Georgia"/>
                <a:cs typeface="Georgia"/>
                <a:sym typeface="Georgia"/>
              </a:rPr>
              <a:t>use cat command to print file in console. This command really means to con</a:t>
            </a:r>
            <a:r>
              <a:rPr lang="en" b="1" i="0" u="none" strike="noStrike" cap="none" dirty="0">
                <a:solidFill>
                  <a:srgbClr val="292929"/>
                </a:solidFill>
                <a:highlight>
                  <a:schemeClr val="lt1"/>
                </a:highlight>
                <a:latin typeface="+mj-lt"/>
                <a:ea typeface="Georgia"/>
                <a:cs typeface="Georgia"/>
                <a:sym typeface="Georgia"/>
              </a:rPr>
              <a:t>cat</a:t>
            </a:r>
            <a:r>
              <a:rPr lang="en" b="0" i="0" u="none" strike="noStrike" cap="none" dirty="0">
                <a:solidFill>
                  <a:srgbClr val="292929"/>
                </a:solidFill>
                <a:highlight>
                  <a:schemeClr val="lt1"/>
                </a:highlight>
                <a:latin typeface="+mj-lt"/>
                <a:ea typeface="Georgia"/>
                <a:cs typeface="Georgia"/>
                <a:sym typeface="Georgia"/>
              </a:rPr>
              <a:t>enate files.</a:t>
            </a:r>
            <a:endParaRPr b="0" i="0" u="none" strike="noStrike" cap="none" dirty="0">
              <a:solidFill>
                <a:srgbClr val="292929"/>
              </a:solidFill>
              <a:highlight>
                <a:schemeClr val="lt1"/>
              </a:highlight>
              <a:latin typeface="+mj-lt"/>
              <a:ea typeface="Georgia"/>
              <a:cs typeface="Georgia"/>
              <a:sym typeface="Georgia"/>
            </a:endParaRPr>
          </a:p>
          <a:p>
            <a:pPr marL="0" marR="0" lvl="0" indent="0" algn="l" rtl="0">
              <a:lnSpc>
                <a:spcPct val="100000"/>
              </a:lnSpc>
              <a:spcBef>
                <a:spcPts val="0"/>
              </a:spcBef>
              <a:spcAft>
                <a:spcPts val="0"/>
              </a:spcAft>
              <a:buClr>
                <a:srgbClr val="000000"/>
              </a:buClr>
              <a:buSzPts val="900"/>
              <a:buFont typeface="Arial"/>
              <a:buNone/>
            </a:pPr>
            <a:r>
              <a:rPr lang="en" b="0" i="0" u="none" strike="noStrike" cap="none" dirty="0">
                <a:solidFill>
                  <a:srgbClr val="000000"/>
                </a:solidFill>
                <a:highlight>
                  <a:schemeClr val="lt2"/>
                </a:highlight>
                <a:latin typeface="+mj-lt"/>
                <a:ea typeface="Courier New"/>
                <a:cs typeface="Courier New"/>
                <a:sym typeface="Courier New"/>
              </a:rPr>
              <a:t>$ cat new_file.txt </a:t>
            </a:r>
            <a:r>
              <a:rPr lang="en" b="0" i="0" u="none" strike="noStrike" cap="none" dirty="0" smtClean="0">
                <a:solidFill>
                  <a:srgbClr val="000000"/>
                </a:solidFill>
                <a:highlight>
                  <a:schemeClr val="lt2"/>
                </a:highlight>
                <a:latin typeface="+mj-lt"/>
                <a:ea typeface="Courier New"/>
                <a:cs typeface="Courier New"/>
                <a:sym typeface="Courier New"/>
              </a:rPr>
              <a:t>new_file.txt</a:t>
            </a:r>
          </a:p>
          <a:p>
            <a:pPr marL="0" marR="0" lvl="0" indent="0" algn="l" rtl="0">
              <a:lnSpc>
                <a:spcPct val="100000"/>
              </a:lnSpc>
              <a:spcBef>
                <a:spcPts val="0"/>
              </a:spcBef>
              <a:spcAft>
                <a:spcPts val="0"/>
              </a:spcAft>
              <a:buClr>
                <a:srgbClr val="000000"/>
              </a:buClr>
              <a:buSzPts val="900"/>
              <a:buFont typeface="Arial"/>
              <a:buNone/>
            </a:pPr>
            <a:endParaRPr b="0" i="0" u="none" strike="noStrike" cap="none" dirty="0">
              <a:solidFill>
                <a:srgbClr val="292929"/>
              </a:solidFill>
              <a:highlight>
                <a:schemeClr val="lt1"/>
              </a:highlight>
              <a:latin typeface="+mj-lt"/>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b="1" dirty="0">
                <a:solidFill>
                  <a:schemeClr val="dk1"/>
                </a:solidFill>
                <a:latin typeface="+mj-lt"/>
                <a:ea typeface="Roboto Mono"/>
                <a:cs typeface="Roboto Mono"/>
                <a:sym typeface="Roboto Mono"/>
              </a:rPr>
              <a:t>O</a:t>
            </a:r>
            <a:r>
              <a:rPr lang="en" b="1" i="0" u="none" strike="noStrike" cap="none" dirty="0" smtClean="0">
                <a:solidFill>
                  <a:schemeClr val="dk1"/>
                </a:solidFill>
                <a:latin typeface="+mj-lt"/>
                <a:ea typeface="Roboto Mono"/>
                <a:cs typeface="Roboto Mono"/>
                <a:sym typeface="Roboto Mono"/>
              </a:rPr>
              <a:t>utput redirection</a:t>
            </a:r>
            <a:r>
              <a:rPr lang="en" b="0" i="0" u="none" strike="noStrike" cap="none" dirty="0" smtClean="0">
                <a:solidFill>
                  <a:schemeClr val="dk1"/>
                </a:solidFill>
                <a:latin typeface="+mj-lt"/>
                <a:ea typeface="Roboto Mono"/>
                <a:cs typeface="Roboto Mono"/>
                <a:sym typeface="Roboto Mono"/>
              </a:rPr>
              <a:t> (&gt;) &amp; (&gt;&gt;)</a:t>
            </a:r>
            <a:r>
              <a:rPr lang="en" b="0" i="0" u="none" strike="noStrike" cap="none" dirty="0" smtClean="0">
                <a:solidFill>
                  <a:srgbClr val="000000"/>
                </a:solidFill>
                <a:latin typeface="+mj-lt"/>
                <a:ea typeface="Source Sans Pro"/>
                <a:cs typeface="Source Sans Pro"/>
                <a:sym typeface="Source Sans Pro"/>
              </a:rPr>
              <a:t>: </a:t>
            </a:r>
            <a:r>
              <a:rPr lang="en" b="0" i="0" u="none" strike="noStrike" cap="none" dirty="0">
                <a:solidFill>
                  <a:srgbClr val="292929"/>
                </a:solidFill>
                <a:highlight>
                  <a:schemeClr val="lt1"/>
                </a:highlight>
                <a:latin typeface="+mj-lt"/>
                <a:ea typeface="Georgia"/>
                <a:cs typeface="Georgia"/>
                <a:sym typeface="Georgia"/>
              </a:rPr>
              <a:t>one easy way to create a file is using output redirection. </a:t>
            </a:r>
            <a:endParaRPr b="0" i="0" u="none" strike="noStrike" cap="none" dirty="0">
              <a:solidFill>
                <a:srgbClr val="292929"/>
              </a:solidFill>
              <a:highlight>
                <a:schemeClr val="lt1"/>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900"/>
              <a:buFont typeface="Arial"/>
              <a:buNone/>
            </a:pPr>
            <a:r>
              <a:rPr lang="en" b="0" i="0" u="none" strike="noStrike" cap="none" dirty="0">
                <a:solidFill>
                  <a:srgbClr val="000000"/>
                </a:solidFill>
                <a:highlight>
                  <a:schemeClr val="lt2"/>
                </a:highlight>
                <a:latin typeface="+mj-lt"/>
                <a:ea typeface="Courier New"/>
                <a:cs typeface="Courier New"/>
                <a:sym typeface="Courier New"/>
              </a:rPr>
              <a:t>$ echo </a:t>
            </a:r>
            <a:r>
              <a:rPr lang="en" b="0" i="0" u="none" strike="noStrike" cap="none" dirty="0">
                <a:solidFill>
                  <a:schemeClr val="dk1"/>
                </a:solidFill>
                <a:highlight>
                  <a:schemeClr val="lt2"/>
                </a:highlight>
                <a:latin typeface="+mj-lt"/>
                <a:ea typeface="Courier New"/>
                <a:cs typeface="Courier New"/>
                <a:sym typeface="Courier New"/>
              </a:rPr>
              <a:t>"hello world"</a:t>
            </a:r>
            <a:r>
              <a:rPr lang="en" b="0" i="0" u="none" strike="noStrike" cap="none" dirty="0">
                <a:solidFill>
                  <a:srgbClr val="000000"/>
                </a:solidFill>
                <a:highlight>
                  <a:schemeClr val="lt2"/>
                </a:highlight>
                <a:latin typeface="+mj-lt"/>
                <a:ea typeface="Courier New"/>
                <a:cs typeface="Courier New"/>
                <a:sym typeface="Courier New"/>
              </a:rPr>
              <a:t> &gt; new_file.txt          $ echo </a:t>
            </a:r>
            <a:r>
              <a:rPr lang="en" b="0" i="0" u="none" strike="noStrike" cap="none" dirty="0">
                <a:solidFill>
                  <a:schemeClr val="dk1"/>
                </a:solidFill>
                <a:highlight>
                  <a:schemeClr val="lt2"/>
                </a:highlight>
                <a:latin typeface="+mj-lt"/>
                <a:ea typeface="Courier New"/>
                <a:cs typeface="Courier New"/>
                <a:sym typeface="Courier New"/>
              </a:rPr>
              <a:t>"hello world"</a:t>
            </a:r>
            <a:r>
              <a:rPr lang="en" b="0" i="0" u="none" strike="noStrike" cap="none" dirty="0">
                <a:solidFill>
                  <a:srgbClr val="000000"/>
                </a:solidFill>
                <a:highlight>
                  <a:schemeClr val="lt2"/>
                </a:highlight>
                <a:latin typeface="+mj-lt"/>
                <a:ea typeface="Courier New"/>
                <a:cs typeface="Courier New"/>
                <a:sym typeface="Courier New"/>
              </a:rPr>
              <a:t> </a:t>
            </a:r>
            <a:r>
              <a:rPr lang="en" b="0" i="0" u="none" strike="noStrike" cap="none" dirty="0" smtClean="0">
                <a:solidFill>
                  <a:srgbClr val="000000"/>
                </a:solidFill>
                <a:highlight>
                  <a:schemeClr val="lt2"/>
                </a:highlight>
                <a:latin typeface="+mj-lt"/>
                <a:ea typeface="Courier New"/>
                <a:cs typeface="Courier New"/>
                <a:sym typeface="Courier New"/>
              </a:rPr>
              <a:t>&gt;&gt; new_file.txt</a:t>
            </a:r>
          </a:p>
          <a:p>
            <a:pPr marL="0" marR="0" lvl="0" indent="0" algn="l" rtl="0">
              <a:lnSpc>
                <a:spcPct val="115000"/>
              </a:lnSpc>
              <a:spcBef>
                <a:spcPts val="0"/>
              </a:spcBef>
              <a:spcAft>
                <a:spcPts val="0"/>
              </a:spcAft>
              <a:buClr>
                <a:srgbClr val="000000"/>
              </a:buClr>
              <a:buSzPts val="900"/>
              <a:buFont typeface="Arial"/>
              <a:buNone/>
            </a:pPr>
            <a:endParaRPr b="0" i="0" u="none" strike="noStrike" cap="none" dirty="0">
              <a:solidFill>
                <a:srgbClr val="292929"/>
              </a:solidFill>
              <a:highlight>
                <a:schemeClr val="lt1"/>
              </a:highlight>
              <a:latin typeface="+mj-lt"/>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b="1" i="0" u="none" strike="noStrike" cap="none" dirty="0">
                <a:solidFill>
                  <a:schemeClr val="dk1"/>
                </a:solidFill>
                <a:latin typeface="+mj-lt"/>
                <a:ea typeface="Roboto Mono"/>
                <a:cs typeface="Roboto Mono"/>
                <a:sym typeface="Roboto Mono"/>
              </a:rPr>
              <a:t>head &amp; </a:t>
            </a:r>
            <a:r>
              <a:rPr lang="en" b="1" i="0" u="none" strike="noStrike" cap="none" dirty="0" smtClean="0">
                <a:solidFill>
                  <a:schemeClr val="dk1"/>
                </a:solidFill>
                <a:latin typeface="+mj-lt"/>
                <a:ea typeface="Roboto Mono"/>
                <a:cs typeface="Roboto Mono"/>
                <a:sym typeface="Roboto Mono"/>
              </a:rPr>
              <a:t>tail</a:t>
            </a:r>
            <a:r>
              <a:rPr lang="en" b="1" i="0" u="none" strike="noStrike" cap="none" dirty="0" smtClean="0">
                <a:solidFill>
                  <a:srgbClr val="000000"/>
                </a:solidFill>
                <a:latin typeface="+mj-lt"/>
                <a:ea typeface="Source Sans Pro"/>
                <a:cs typeface="Source Sans Pro"/>
                <a:sym typeface="Source Sans Pro"/>
              </a:rPr>
              <a:t>:</a:t>
            </a:r>
            <a:r>
              <a:rPr lang="en" b="0" i="0" u="none" strike="noStrike" cap="none" dirty="0" smtClean="0">
                <a:solidFill>
                  <a:srgbClr val="000000"/>
                </a:solidFill>
                <a:latin typeface="+mj-lt"/>
                <a:ea typeface="Source Sans Pro"/>
                <a:cs typeface="Source Sans Pro"/>
                <a:sym typeface="Source Sans Pro"/>
              </a:rPr>
              <a:t> </a:t>
            </a:r>
            <a:r>
              <a:rPr lang="en" b="0" i="0" u="none" strike="noStrike" cap="none" dirty="0">
                <a:solidFill>
                  <a:srgbClr val="292929"/>
                </a:solidFill>
                <a:highlight>
                  <a:schemeClr val="lt1"/>
                </a:highlight>
                <a:latin typeface="+mj-lt"/>
                <a:ea typeface="Georgia"/>
                <a:cs typeface="Georgia"/>
                <a:sym typeface="Georgia"/>
              </a:rPr>
              <a:t>glimpsing the start and end of the file.</a:t>
            </a:r>
            <a:endParaRPr b="0" i="0" u="none" strike="noStrike" cap="none" dirty="0">
              <a:solidFill>
                <a:srgbClr val="292929"/>
              </a:solidFill>
              <a:highlight>
                <a:schemeClr val="lt1"/>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900"/>
              <a:buFont typeface="Arial"/>
              <a:buNone/>
            </a:pPr>
            <a:r>
              <a:rPr lang="en" b="0" i="0" u="none" strike="noStrike" cap="none" dirty="0">
                <a:solidFill>
                  <a:srgbClr val="000000"/>
                </a:solidFill>
                <a:highlight>
                  <a:schemeClr val="lt2"/>
                </a:highlight>
                <a:latin typeface="+mj-lt"/>
                <a:ea typeface="Courier New"/>
                <a:cs typeface="Courier New"/>
                <a:sym typeface="Courier New"/>
              </a:rPr>
              <a:t>$ head new_file.txt</a:t>
            </a:r>
            <a:r>
              <a:rPr lang="en" b="0" i="0" u="none" strike="noStrike" cap="none" dirty="0">
                <a:solidFill>
                  <a:srgbClr val="000000"/>
                </a:solidFill>
                <a:highlight>
                  <a:schemeClr val="lt1"/>
                </a:highlight>
                <a:latin typeface="+mj-lt"/>
                <a:ea typeface="Courier New"/>
                <a:cs typeface="Courier New"/>
                <a:sym typeface="Courier New"/>
              </a:rPr>
              <a:t>          </a:t>
            </a:r>
            <a:r>
              <a:rPr lang="en" b="0" i="0" u="none" strike="noStrike" cap="none" dirty="0">
                <a:solidFill>
                  <a:srgbClr val="000000"/>
                </a:solidFill>
                <a:highlight>
                  <a:schemeClr val="lt2"/>
                </a:highlight>
                <a:latin typeface="+mj-lt"/>
                <a:ea typeface="Courier New"/>
                <a:cs typeface="Courier New"/>
                <a:sym typeface="Courier New"/>
              </a:rPr>
              <a:t>$ </a:t>
            </a:r>
            <a:r>
              <a:rPr lang="en" b="0" i="0" u="none" strike="noStrike" cap="none" dirty="0" smtClean="0">
                <a:solidFill>
                  <a:srgbClr val="000000"/>
                </a:solidFill>
                <a:highlight>
                  <a:schemeClr val="lt2"/>
                </a:highlight>
                <a:latin typeface="+mj-lt"/>
                <a:ea typeface="Courier New"/>
                <a:cs typeface="Courier New"/>
                <a:sym typeface="Courier New"/>
              </a:rPr>
              <a:t>tail </a:t>
            </a:r>
            <a:r>
              <a:rPr lang="en" b="0" i="0" u="none" strike="noStrike" cap="none" dirty="0">
                <a:solidFill>
                  <a:srgbClr val="000000"/>
                </a:solidFill>
                <a:highlight>
                  <a:schemeClr val="lt2"/>
                </a:highlight>
                <a:latin typeface="+mj-lt"/>
                <a:ea typeface="Courier New"/>
                <a:cs typeface="Courier New"/>
                <a:sym typeface="Courier New"/>
              </a:rPr>
              <a:t>new_file.txt</a:t>
            </a:r>
            <a:endParaRPr b="0" i="0" u="none" strike="noStrike" cap="none" dirty="0">
              <a:solidFill>
                <a:srgbClr val="292929"/>
              </a:solidFill>
              <a:highlight>
                <a:schemeClr val="lt1"/>
              </a:highlight>
              <a:latin typeface="+mj-lt"/>
              <a:ea typeface="Georgia"/>
              <a:cs typeface="Georgia"/>
              <a:sym typeface="Georgia"/>
            </a:endParaRPr>
          </a:p>
        </p:txBody>
      </p:sp>
    </p:spTree>
    <p:extLst>
      <p:ext uri="{BB962C8B-B14F-4D97-AF65-F5344CB8AC3E}">
        <p14:creationId xmlns:p14="http://schemas.microsoft.com/office/powerpoint/2010/main" val="1120697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6"/>
                                        </p:tgtEl>
                                        <p:attrNameLst>
                                          <p:attrName>style.visibility</p:attrName>
                                        </p:attrNameLst>
                                      </p:cBhvr>
                                      <p:to>
                                        <p:strVal val="visible"/>
                                      </p:to>
                                    </p:set>
                                    <p:animEffect transition="in" filter="fade">
                                      <p:cBhvr>
                                        <p:cTn id="7" dur="1000"/>
                                        <p:tgtEl>
                                          <p:spTgt spid="3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4"/>
                                        </p:tgtEl>
                                        <p:attrNameLst>
                                          <p:attrName>style.visibility</p:attrName>
                                        </p:attrNameLst>
                                      </p:cBhvr>
                                      <p:to>
                                        <p:strVal val="visible"/>
                                      </p:to>
                                    </p:set>
                                    <p:animEffect transition="in" filter="fade">
                                      <p:cBhvr>
                                        <p:cTn id="12" dur="1000"/>
                                        <p:tgtEl>
                                          <p:spTgt spid="34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7">
                                            <p:txEl>
                                              <p:pRg st="0" end="0"/>
                                            </p:txEl>
                                          </p:spTgt>
                                        </p:tgtEl>
                                        <p:attrNameLst>
                                          <p:attrName>style.visibility</p:attrName>
                                        </p:attrNameLst>
                                      </p:cBhvr>
                                      <p:to>
                                        <p:strVal val="visible"/>
                                      </p:to>
                                    </p:set>
                                    <p:animEffect transition="in" filter="fade">
                                      <p:cBhvr>
                                        <p:cTn id="17" dur="1000"/>
                                        <p:tgtEl>
                                          <p:spTgt spid="34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7">
                                            <p:txEl>
                                              <p:pRg st="1" end="1"/>
                                            </p:txEl>
                                          </p:spTgt>
                                        </p:tgtEl>
                                        <p:attrNameLst>
                                          <p:attrName>style.visibility</p:attrName>
                                        </p:attrNameLst>
                                      </p:cBhvr>
                                      <p:to>
                                        <p:strVal val="visible"/>
                                      </p:to>
                                    </p:set>
                                    <p:animEffect transition="in" filter="fade">
                                      <p:cBhvr>
                                        <p:cTn id="22" dur="1000"/>
                                        <p:tgtEl>
                                          <p:spTgt spid="34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7">
                                            <p:txEl>
                                              <p:pRg st="2" end="2"/>
                                            </p:txEl>
                                          </p:spTgt>
                                        </p:tgtEl>
                                        <p:attrNameLst>
                                          <p:attrName>style.visibility</p:attrName>
                                        </p:attrNameLst>
                                      </p:cBhvr>
                                      <p:to>
                                        <p:strVal val="visible"/>
                                      </p:to>
                                    </p:set>
                                    <p:animEffect transition="in" filter="fade">
                                      <p:cBhvr>
                                        <p:cTn id="27" dur="1000"/>
                                        <p:tgtEl>
                                          <p:spTgt spid="347">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7">
                                            <p:txEl>
                                              <p:pRg st="4" end="4"/>
                                            </p:txEl>
                                          </p:spTgt>
                                        </p:tgtEl>
                                        <p:attrNameLst>
                                          <p:attrName>style.visibility</p:attrName>
                                        </p:attrNameLst>
                                      </p:cBhvr>
                                      <p:to>
                                        <p:strVal val="visible"/>
                                      </p:to>
                                    </p:set>
                                    <p:animEffect transition="in" filter="fade">
                                      <p:cBhvr>
                                        <p:cTn id="32" dur="1000"/>
                                        <p:tgtEl>
                                          <p:spTgt spid="34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47">
                                            <p:txEl>
                                              <p:pRg st="5" end="5"/>
                                            </p:txEl>
                                          </p:spTgt>
                                        </p:tgtEl>
                                        <p:attrNameLst>
                                          <p:attrName>style.visibility</p:attrName>
                                        </p:attrNameLst>
                                      </p:cBhvr>
                                      <p:to>
                                        <p:strVal val="visible"/>
                                      </p:to>
                                    </p:set>
                                    <p:animEffect transition="in" filter="fade">
                                      <p:cBhvr>
                                        <p:cTn id="37" dur="1000"/>
                                        <p:tgtEl>
                                          <p:spTgt spid="347">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47">
                                            <p:txEl>
                                              <p:pRg st="7" end="7"/>
                                            </p:txEl>
                                          </p:spTgt>
                                        </p:tgtEl>
                                        <p:attrNameLst>
                                          <p:attrName>style.visibility</p:attrName>
                                        </p:attrNameLst>
                                      </p:cBhvr>
                                      <p:to>
                                        <p:strVal val="visible"/>
                                      </p:to>
                                    </p:set>
                                    <p:animEffect transition="in" filter="fade">
                                      <p:cBhvr>
                                        <p:cTn id="42" dur="1000"/>
                                        <p:tgtEl>
                                          <p:spTgt spid="34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47">
                                            <p:txEl>
                                              <p:pRg st="8" end="8"/>
                                            </p:txEl>
                                          </p:spTgt>
                                        </p:tgtEl>
                                        <p:attrNameLst>
                                          <p:attrName>style.visibility</p:attrName>
                                        </p:attrNameLst>
                                      </p:cBhvr>
                                      <p:to>
                                        <p:strVal val="visible"/>
                                      </p:to>
                                    </p:set>
                                    <p:animEffect transition="in" filter="fade">
                                      <p:cBhvr>
                                        <p:cTn id="47" dur="1000"/>
                                        <p:tgtEl>
                                          <p:spTgt spid="34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ge490a57b47_0_65"/>
          <p:cNvSpPr txBox="1"/>
          <p:nvPr/>
        </p:nvSpPr>
        <p:spPr>
          <a:xfrm>
            <a:off x="701550" y="1543376"/>
            <a:ext cx="7419300" cy="2325991"/>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 sz="1600" b="0" i="0" u="none" strike="noStrike" cap="none" dirty="0">
                <a:solidFill>
                  <a:srgbClr val="EF4F63"/>
                </a:solidFill>
                <a:latin typeface="+mj-lt"/>
                <a:ea typeface="Source Sans Pro"/>
                <a:cs typeface="Source Sans Pro"/>
                <a:sym typeface="Source Sans Pro"/>
              </a:rPr>
              <a:t>Commands</a:t>
            </a:r>
            <a:r>
              <a:rPr lang="en" sz="1600" b="0" i="0" u="none" strike="noStrike" cap="none" dirty="0">
                <a:solidFill>
                  <a:srgbClr val="000000"/>
                </a:solidFill>
                <a:latin typeface="+mj-lt"/>
                <a:ea typeface="Source Sans Pro"/>
                <a:cs typeface="Source Sans Pro"/>
                <a:sym typeface="Source Sans Pro"/>
              </a:rPr>
              <a:t/>
            </a:r>
            <a:br>
              <a:rPr lang="en" sz="1600" b="0" i="0" u="none" strike="noStrike" cap="none" dirty="0">
                <a:solidFill>
                  <a:srgbClr val="000000"/>
                </a:solidFill>
                <a:latin typeface="+mj-lt"/>
                <a:ea typeface="Source Sans Pro"/>
                <a:cs typeface="Source Sans Pro"/>
                <a:sym typeface="Source Sans Pro"/>
              </a:rPr>
            </a:br>
            <a:r>
              <a:rPr lang="en" sz="1400" b="1" i="0" u="none" strike="noStrike" cap="none" dirty="0">
                <a:solidFill>
                  <a:schemeClr val="dk1"/>
                </a:solidFill>
                <a:latin typeface="+mj-lt"/>
                <a:ea typeface="Roboto Mono"/>
                <a:cs typeface="Roboto Mono"/>
                <a:sym typeface="Roboto Mono"/>
              </a:rPr>
              <a:t>mv</a:t>
            </a:r>
            <a:r>
              <a:rPr lang="en" sz="1600" b="0" i="0" u="none" strike="noStrike" cap="none" dirty="0">
                <a:solidFill>
                  <a:schemeClr val="dk1"/>
                </a:solidFill>
                <a:latin typeface="+mj-lt"/>
                <a:ea typeface="Source Sans Pro"/>
                <a:cs typeface="Source Sans Pro"/>
                <a:sym typeface="Source Sans Pro"/>
              </a:rPr>
              <a:t>: </a:t>
            </a:r>
            <a:r>
              <a:rPr lang="en" sz="1400" b="0" i="0" u="none" strike="noStrike" cap="none" dirty="0">
                <a:solidFill>
                  <a:srgbClr val="292929"/>
                </a:solidFill>
                <a:highlight>
                  <a:schemeClr val="lt1"/>
                </a:highlight>
                <a:latin typeface="+mj-lt"/>
                <a:ea typeface="Georgia"/>
                <a:cs typeface="Georgia"/>
                <a:sym typeface="Georgia"/>
              </a:rPr>
              <a:t>we can </a:t>
            </a:r>
            <a:r>
              <a:rPr lang="en" sz="1400" b="1" i="0" u="none" strike="noStrike" cap="none" dirty="0">
                <a:solidFill>
                  <a:srgbClr val="292929"/>
                </a:solidFill>
                <a:highlight>
                  <a:schemeClr val="lt1"/>
                </a:highlight>
                <a:latin typeface="+mj-lt"/>
                <a:ea typeface="Georgia"/>
                <a:cs typeface="Georgia"/>
                <a:sym typeface="Georgia"/>
              </a:rPr>
              <a:t>m</a:t>
            </a:r>
            <a:r>
              <a:rPr lang="en" sz="1400" b="0" i="0" u="none" strike="noStrike" cap="none" dirty="0">
                <a:solidFill>
                  <a:srgbClr val="292929"/>
                </a:solidFill>
                <a:highlight>
                  <a:schemeClr val="lt1"/>
                </a:highlight>
                <a:latin typeface="+mj-lt"/>
                <a:ea typeface="Georgia"/>
                <a:cs typeface="Georgia"/>
                <a:sym typeface="Georgia"/>
              </a:rPr>
              <a:t>o</a:t>
            </a:r>
            <a:r>
              <a:rPr lang="en" sz="1400" b="1" i="0" u="none" strike="noStrike" cap="none" dirty="0">
                <a:solidFill>
                  <a:srgbClr val="292929"/>
                </a:solidFill>
                <a:highlight>
                  <a:schemeClr val="lt1"/>
                </a:highlight>
                <a:latin typeface="+mj-lt"/>
                <a:ea typeface="Georgia"/>
                <a:cs typeface="Georgia"/>
                <a:sym typeface="Georgia"/>
              </a:rPr>
              <a:t>v</a:t>
            </a:r>
            <a:r>
              <a:rPr lang="en" sz="1400" b="0" i="0" u="none" strike="noStrike" cap="none" dirty="0">
                <a:solidFill>
                  <a:srgbClr val="292929"/>
                </a:solidFill>
                <a:highlight>
                  <a:schemeClr val="lt1"/>
                </a:highlight>
                <a:latin typeface="+mj-lt"/>
                <a:ea typeface="Georgia"/>
                <a:cs typeface="Georgia"/>
                <a:sym typeface="Georgia"/>
              </a:rPr>
              <a:t>e files and folders using </a:t>
            </a:r>
            <a:r>
              <a:rPr lang="en" sz="1400" b="0" i="0" u="none" strike="noStrike" cap="none" dirty="0">
                <a:solidFill>
                  <a:schemeClr val="dk1"/>
                </a:solidFill>
                <a:highlight>
                  <a:schemeClr val="lt2"/>
                </a:highlight>
                <a:latin typeface="+mj-lt"/>
                <a:ea typeface="Roboto Mono"/>
                <a:cs typeface="Roboto Mono"/>
                <a:sym typeface="Roboto Mono"/>
              </a:rPr>
              <a:t>mv</a:t>
            </a:r>
            <a:r>
              <a:rPr lang="en" sz="1400" b="0" i="0" u="none" strike="noStrike" cap="none" dirty="0">
                <a:solidFill>
                  <a:srgbClr val="292929"/>
                </a:solidFill>
                <a:highlight>
                  <a:schemeClr val="lt1"/>
                </a:highlight>
                <a:latin typeface="+mj-lt"/>
                <a:ea typeface="Georgia"/>
                <a:cs typeface="Georgia"/>
                <a:sym typeface="Georgia"/>
              </a:rPr>
              <a:t> command. It takes two arguments: first path of file or folder </a:t>
            </a:r>
            <a:r>
              <a:rPr lang="en" sz="1400" b="0" i="0" u="none" strike="noStrike" cap="none" dirty="0" smtClean="0">
                <a:solidFill>
                  <a:srgbClr val="292929"/>
                </a:solidFill>
                <a:highlight>
                  <a:schemeClr val="lt1"/>
                </a:highlight>
                <a:latin typeface="+mj-lt"/>
                <a:ea typeface="Georgia"/>
                <a:cs typeface="Georgia"/>
                <a:sym typeface="Georgia"/>
              </a:rPr>
              <a:t>you want </a:t>
            </a:r>
            <a:r>
              <a:rPr lang="en" sz="1400" b="0" i="0" u="none" strike="noStrike" cap="none" dirty="0">
                <a:solidFill>
                  <a:srgbClr val="292929"/>
                </a:solidFill>
                <a:highlight>
                  <a:schemeClr val="lt1"/>
                </a:highlight>
                <a:latin typeface="+mj-lt"/>
                <a:ea typeface="Georgia"/>
                <a:cs typeface="Georgia"/>
                <a:sym typeface="Georgia"/>
              </a:rPr>
              <a:t>to move, second destination folder. It is also used to rename files and folders.</a:t>
            </a:r>
            <a:endParaRPr sz="1600" b="0" i="0" u="none" strike="noStrike" cap="none" dirty="0">
              <a:solidFill>
                <a:schemeClr val="dk1"/>
              </a:solidFill>
              <a:latin typeface="+mj-lt"/>
              <a:ea typeface="Source Sans Pro"/>
              <a:cs typeface="Source Sans Pro"/>
              <a:sym typeface="Source Sans Pro"/>
            </a:endParaRPr>
          </a:p>
          <a:p>
            <a:pPr marL="0" marR="0" lvl="0" indent="0" algn="l" rtl="0">
              <a:lnSpc>
                <a:spcPct val="115000"/>
              </a:lnSpc>
              <a:spcBef>
                <a:spcPts val="0"/>
              </a:spcBef>
              <a:spcAft>
                <a:spcPts val="0"/>
              </a:spcAft>
              <a:buClr>
                <a:srgbClr val="000000"/>
              </a:buClr>
              <a:buSzPts val="1100"/>
              <a:buFont typeface="Arial"/>
              <a:buNone/>
            </a:pPr>
            <a:r>
              <a:rPr lang="en" sz="1100" b="0" i="0" u="none" strike="noStrike" cap="none" dirty="0">
                <a:solidFill>
                  <a:srgbClr val="000000"/>
                </a:solidFill>
                <a:highlight>
                  <a:schemeClr val="lt1"/>
                </a:highlight>
                <a:latin typeface="+mj-lt"/>
                <a:ea typeface="Courier New"/>
                <a:cs typeface="Courier New"/>
                <a:sym typeface="Courier New"/>
              </a:rPr>
              <a:t>To move: </a:t>
            </a:r>
            <a:r>
              <a:rPr lang="en" sz="1100" b="0" i="0" u="none" strike="noStrike" cap="none" dirty="0">
                <a:solidFill>
                  <a:srgbClr val="000000"/>
                </a:solidFill>
                <a:highlight>
                  <a:schemeClr val="lt2"/>
                </a:highlight>
                <a:latin typeface="+mj-lt"/>
                <a:ea typeface="Courier New"/>
                <a:cs typeface="Courier New"/>
                <a:sym typeface="Courier New"/>
              </a:rPr>
              <a:t>$ mv my_file.txt destination 		</a:t>
            </a:r>
            <a:r>
              <a:rPr lang="en" sz="1100" b="0" i="0" u="none" strike="noStrike" cap="none" dirty="0">
                <a:solidFill>
                  <a:srgbClr val="000000"/>
                </a:solidFill>
                <a:highlight>
                  <a:schemeClr val="lt1"/>
                </a:highlight>
                <a:latin typeface="+mj-lt"/>
                <a:ea typeface="Courier New"/>
                <a:cs typeface="Courier New"/>
                <a:sym typeface="Courier New"/>
              </a:rPr>
              <a:t>To rename: </a:t>
            </a:r>
            <a:r>
              <a:rPr lang="en" sz="1100" b="0" i="0" u="none" strike="noStrike" cap="none" dirty="0">
                <a:solidFill>
                  <a:srgbClr val="000000"/>
                </a:solidFill>
                <a:highlight>
                  <a:schemeClr val="lt2"/>
                </a:highlight>
                <a:latin typeface="+mj-lt"/>
                <a:ea typeface="Courier New"/>
                <a:cs typeface="Courier New"/>
                <a:sym typeface="Courier New"/>
              </a:rPr>
              <a:t>$ mv my_file.txt new_name.txt</a:t>
            </a:r>
            <a:endParaRPr sz="1600" b="0" i="0" u="none" strike="noStrike" cap="none" dirty="0">
              <a:solidFill>
                <a:schemeClr val="dk1"/>
              </a:solidFill>
              <a:latin typeface="+mj-lt"/>
              <a:ea typeface="Roboto Mono"/>
              <a:cs typeface="Roboto Mono"/>
              <a:sym typeface="Roboto Mono"/>
            </a:endParaRPr>
          </a:p>
          <a:p>
            <a:pPr marL="0" marR="0" lvl="0" indent="0" algn="l" rtl="0">
              <a:lnSpc>
                <a:spcPct val="115000"/>
              </a:lnSpc>
              <a:spcBef>
                <a:spcPts val="0"/>
              </a:spcBef>
              <a:spcAft>
                <a:spcPts val="0"/>
              </a:spcAft>
              <a:buClr>
                <a:srgbClr val="000000"/>
              </a:buClr>
              <a:buSzPts val="900"/>
              <a:buFont typeface="Arial"/>
              <a:buNone/>
            </a:pPr>
            <a:r>
              <a:rPr lang="en" sz="900" b="0" i="0" u="none" strike="noStrike" cap="none" dirty="0">
                <a:solidFill>
                  <a:schemeClr val="dk1"/>
                </a:solidFill>
                <a:latin typeface="+mj-lt"/>
                <a:ea typeface="Roboto Mono"/>
                <a:cs typeface="Roboto Mono"/>
                <a:sym typeface="Roboto Mono"/>
              </a:rPr>
              <a:t> </a:t>
            </a:r>
            <a:endParaRPr sz="900" b="0" i="0" u="none" strike="noStrike" cap="none" dirty="0">
              <a:solidFill>
                <a:schemeClr val="dk1"/>
              </a:solidFill>
              <a:latin typeface="+mj-lt"/>
              <a:ea typeface="Roboto Mono"/>
              <a:cs typeface="Roboto Mono"/>
              <a:sym typeface="Roboto Mono"/>
            </a:endParaRPr>
          </a:p>
          <a:p>
            <a:pPr marL="0" marR="0" lvl="0" indent="0" algn="l" rtl="0">
              <a:lnSpc>
                <a:spcPct val="115000"/>
              </a:lnSpc>
              <a:spcBef>
                <a:spcPts val="0"/>
              </a:spcBef>
              <a:spcAft>
                <a:spcPts val="0"/>
              </a:spcAft>
              <a:buClr>
                <a:srgbClr val="000000"/>
              </a:buClr>
              <a:buSzPts val="1400"/>
              <a:buFont typeface="Arial"/>
              <a:buNone/>
            </a:pPr>
            <a:r>
              <a:rPr lang="en" sz="1400" b="1" i="0" u="none" strike="noStrike" cap="none" dirty="0">
                <a:solidFill>
                  <a:schemeClr val="dk1"/>
                </a:solidFill>
                <a:latin typeface="+mj-lt"/>
                <a:ea typeface="Roboto Mono"/>
                <a:cs typeface="Roboto Mono"/>
                <a:sym typeface="Roboto Mono"/>
              </a:rPr>
              <a:t>cp</a:t>
            </a:r>
            <a:r>
              <a:rPr lang="en" sz="1600" b="0" i="0" u="none" strike="noStrike" cap="none" dirty="0">
                <a:solidFill>
                  <a:srgbClr val="000000"/>
                </a:solidFill>
                <a:latin typeface="+mj-lt"/>
                <a:ea typeface="Source Sans Pro"/>
                <a:cs typeface="Source Sans Pro"/>
                <a:sym typeface="Source Sans Pro"/>
              </a:rPr>
              <a:t>: </a:t>
            </a:r>
            <a:r>
              <a:rPr lang="en" sz="1400" b="0" i="0" u="none" strike="noStrike" cap="none" dirty="0">
                <a:solidFill>
                  <a:srgbClr val="292929"/>
                </a:solidFill>
                <a:highlight>
                  <a:schemeClr val="lt1"/>
                </a:highlight>
                <a:latin typeface="+mj-lt"/>
                <a:ea typeface="Georgia"/>
                <a:cs typeface="Georgia"/>
                <a:sym typeface="Georgia"/>
              </a:rPr>
              <a:t>this command </a:t>
            </a:r>
            <a:r>
              <a:rPr lang="en" sz="1400" b="1" i="0" u="none" strike="noStrike" cap="none" dirty="0">
                <a:solidFill>
                  <a:srgbClr val="292929"/>
                </a:solidFill>
                <a:highlight>
                  <a:schemeClr val="lt1"/>
                </a:highlight>
                <a:latin typeface="+mj-lt"/>
                <a:ea typeface="Georgia"/>
                <a:cs typeface="Georgia"/>
                <a:sym typeface="Georgia"/>
              </a:rPr>
              <a:t>c</a:t>
            </a:r>
            <a:r>
              <a:rPr lang="en" sz="1400" b="0" i="0" u="none" strike="noStrike" cap="none" dirty="0">
                <a:solidFill>
                  <a:srgbClr val="292929"/>
                </a:solidFill>
                <a:highlight>
                  <a:schemeClr val="lt1"/>
                </a:highlight>
                <a:latin typeface="+mj-lt"/>
                <a:ea typeface="Georgia"/>
                <a:cs typeface="Georgia"/>
                <a:sym typeface="Georgia"/>
              </a:rPr>
              <a:t>o</a:t>
            </a:r>
            <a:r>
              <a:rPr lang="en" sz="1400" b="1" i="0" u="none" strike="noStrike" cap="none" dirty="0">
                <a:solidFill>
                  <a:srgbClr val="292929"/>
                </a:solidFill>
                <a:highlight>
                  <a:schemeClr val="lt1"/>
                </a:highlight>
                <a:latin typeface="+mj-lt"/>
                <a:ea typeface="Georgia"/>
                <a:cs typeface="Georgia"/>
                <a:sym typeface="Georgia"/>
              </a:rPr>
              <a:t>p</a:t>
            </a:r>
            <a:r>
              <a:rPr lang="en" sz="1400" b="0" i="0" u="none" strike="noStrike" cap="none" dirty="0">
                <a:solidFill>
                  <a:srgbClr val="292929"/>
                </a:solidFill>
                <a:highlight>
                  <a:schemeClr val="lt1"/>
                </a:highlight>
                <a:latin typeface="+mj-lt"/>
                <a:ea typeface="Georgia"/>
                <a:cs typeface="Georgia"/>
                <a:sym typeface="Georgia"/>
              </a:rPr>
              <a:t>ies files and folders from one location to another. It is used similar to </a:t>
            </a:r>
            <a:r>
              <a:rPr lang="en" sz="1400" b="0" i="0" u="none" strike="noStrike" cap="none" dirty="0">
                <a:solidFill>
                  <a:schemeClr val="dk1"/>
                </a:solidFill>
                <a:highlight>
                  <a:schemeClr val="lt2"/>
                </a:highlight>
                <a:latin typeface="+mj-lt"/>
                <a:ea typeface="Roboto Mono"/>
                <a:cs typeface="Roboto Mono"/>
                <a:sym typeface="Roboto Mono"/>
              </a:rPr>
              <a:t>mv</a:t>
            </a:r>
            <a:r>
              <a:rPr lang="en" sz="1400" b="0" i="0" u="none" strike="noStrike" cap="none" dirty="0">
                <a:solidFill>
                  <a:srgbClr val="292929"/>
                </a:solidFill>
                <a:highlight>
                  <a:schemeClr val="lt1"/>
                </a:highlight>
                <a:latin typeface="+mj-lt"/>
                <a:ea typeface="Georgia"/>
                <a:cs typeface="Georgia"/>
                <a:sym typeface="Georgia"/>
              </a:rPr>
              <a:t> command.</a:t>
            </a:r>
            <a:endParaRPr sz="1400" b="0" i="0" u="none" strike="noStrike" cap="none" dirty="0">
              <a:solidFill>
                <a:srgbClr val="000000"/>
              </a:solidFill>
              <a:latin typeface="+mj-lt"/>
              <a:ea typeface="Source Sans Pro"/>
              <a:cs typeface="Source Sans Pro"/>
              <a:sym typeface="Source Sans Pro"/>
            </a:endParaRPr>
          </a:p>
          <a:p>
            <a:pPr marL="0" marR="0" lvl="0" indent="0" algn="l" rtl="0">
              <a:lnSpc>
                <a:spcPct val="115000"/>
              </a:lnSpc>
              <a:spcBef>
                <a:spcPts val="0"/>
              </a:spcBef>
              <a:spcAft>
                <a:spcPts val="0"/>
              </a:spcAft>
              <a:buClr>
                <a:srgbClr val="000000"/>
              </a:buClr>
              <a:buSzPts val="1100"/>
              <a:buFont typeface="Arial"/>
              <a:buNone/>
            </a:pPr>
            <a:r>
              <a:rPr lang="en" sz="1100" b="0" i="0" u="none" strike="noStrike" cap="none" dirty="0">
                <a:solidFill>
                  <a:srgbClr val="000000"/>
                </a:solidFill>
                <a:highlight>
                  <a:schemeClr val="lt1"/>
                </a:highlight>
                <a:latin typeface="+mj-lt"/>
                <a:ea typeface="Courier New"/>
                <a:cs typeface="Courier New"/>
                <a:sym typeface="Courier New"/>
              </a:rPr>
              <a:t>To copy: </a:t>
            </a:r>
            <a:r>
              <a:rPr lang="en" sz="1100" b="0" i="0" u="none" strike="noStrike" cap="none" dirty="0">
                <a:solidFill>
                  <a:srgbClr val="000000"/>
                </a:solidFill>
                <a:highlight>
                  <a:schemeClr val="lt2"/>
                </a:highlight>
                <a:latin typeface="+mj-lt"/>
                <a:ea typeface="Courier New"/>
                <a:cs typeface="Courier New"/>
                <a:sym typeface="Courier New"/>
              </a:rPr>
              <a:t>$ cp my_file.txt </a:t>
            </a:r>
            <a:r>
              <a:rPr lang="en" sz="1100" b="0" i="0" u="none" strike="noStrike" cap="none" dirty="0" smtClean="0">
                <a:solidFill>
                  <a:srgbClr val="000000"/>
                </a:solidFill>
                <a:highlight>
                  <a:schemeClr val="lt2"/>
                </a:highlight>
                <a:latin typeface="+mj-lt"/>
                <a:ea typeface="Courier New"/>
                <a:cs typeface="Courier New"/>
                <a:sym typeface="Courier New"/>
              </a:rPr>
              <a:t>destination</a:t>
            </a:r>
            <a:endParaRPr sz="900" b="1" i="1" u="none" strike="noStrike" cap="none" dirty="0">
              <a:solidFill>
                <a:srgbClr val="000000"/>
              </a:solidFill>
              <a:highlight>
                <a:schemeClr val="lt2"/>
              </a:highlight>
              <a:latin typeface="+mj-lt"/>
              <a:ea typeface="Courier New"/>
              <a:cs typeface="Courier New"/>
              <a:sym typeface="Courier New"/>
            </a:endParaRPr>
          </a:p>
        </p:txBody>
      </p:sp>
      <p:sp>
        <p:nvSpPr>
          <p:cNvPr id="353" name="Google Shape;353;ge490a57b47_0_65"/>
          <p:cNvSpPr txBox="1"/>
          <p:nvPr/>
        </p:nvSpPr>
        <p:spPr>
          <a:xfrm>
            <a:off x="701550" y="918875"/>
            <a:ext cx="7861800" cy="74017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400"/>
              <a:buFont typeface="Arial"/>
              <a:buNone/>
            </a:pPr>
            <a:r>
              <a:rPr lang="en" sz="1400" b="0" i="0" u="none" strike="noStrike" cap="none" dirty="0">
                <a:solidFill>
                  <a:srgbClr val="292929"/>
                </a:solidFill>
                <a:highlight>
                  <a:srgbClr val="FFFFFF"/>
                </a:highlight>
                <a:latin typeface="+mj-lt"/>
                <a:ea typeface="Georgia"/>
                <a:cs typeface="Georgia"/>
                <a:sym typeface="Georgia"/>
              </a:rPr>
              <a:t>In this section </a:t>
            </a:r>
            <a:r>
              <a:rPr lang="en" sz="1400" b="0" i="0" u="none" strike="noStrike" cap="none" dirty="0" smtClean="0">
                <a:solidFill>
                  <a:srgbClr val="292929"/>
                </a:solidFill>
                <a:highlight>
                  <a:srgbClr val="FFFFFF"/>
                </a:highlight>
                <a:latin typeface="+mj-lt"/>
                <a:ea typeface="Georgia"/>
                <a:cs typeface="Georgia"/>
                <a:sym typeface="Georgia"/>
              </a:rPr>
              <a:t>we’ll </a:t>
            </a:r>
            <a:r>
              <a:rPr lang="en" sz="1400" b="0" i="0" u="none" strike="noStrike" cap="none" dirty="0">
                <a:solidFill>
                  <a:srgbClr val="292929"/>
                </a:solidFill>
                <a:highlight>
                  <a:srgbClr val="FFFFFF"/>
                </a:highlight>
                <a:latin typeface="+mj-lt"/>
                <a:ea typeface="Georgia"/>
                <a:cs typeface="Georgia"/>
                <a:sym typeface="Georgia"/>
              </a:rPr>
              <a:t>discuss moving, renaming, copying, and deleting files and folders</a:t>
            </a:r>
            <a:r>
              <a:rPr lang="en" sz="1400" b="0" i="0" u="none" strike="noStrike" cap="none" dirty="0">
                <a:solidFill>
                  <a:srgbClr val="000000"/>
                </a:solidFill>
                <a:latin typeface="+mj-lt"/>
                <a:sym typeface="Arial"/>
              </a:rPr>
              <a:t>.</a:t>
            </a:r>
            <a:endParaRPr sz="1400" b="0" i="0" u="none" strike="noStrike" cap="none" dirty="0">
              <a:solidFill>
                <a:srgbClr val="292929"/>
              </a:solidFill>
              <a:highlight>
                <a:srgbClr val="FFFFFF"/>
              </a:highlight>
              <a:latin typeface="+mj-lt"/>
              <a:ea typeface="Georgia"/>
              <a:cs typeface="Georgia"/>
              <a:sym typeface="Georgia"/>
            </a:endParaRPr>
          </a:p>
        </p:txBody>
      </p:sp>
      <p:sp>
        <p:nvSpPr>
          <p:cNvPr id="354" name="Google Shape;354;ge490a57b47_0_65"/>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6</a:t>
            </a:fld>
            <a:endParaRPr/>
          </a:p>
        </p:txBody>
      </p:sp>
      <p:sp>
        <p:nvSpPr>
          <p:cNvPr id="355" name="Google Shape;355;ge490a57b47_0_65"/>
          <p:cNvSpPr txBox="1">
            <a:spLocks noGrp="1"/>
          </p:cNvSpPr>
          <p:nvPr>
            <p:ph type="title"/>
          </p:nvPr>
        </p:nvSpPr>
        <p:spPr>
          <a:xfrm>
            <a:off x="701550" y="41362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endParaRPr sz="2700" b="1" dirty="0"/>
          </a:p>
          <a:p>
            <a:pPr marL="0" lvl="0" indent="0" algn="l" rtl="0">
              <a:lnSpc>
                <a:spcPct val="100000"/>
              </a:lnSpc>
              <a:spcBef>
                <a:spcPts val="0"/>
              </a:spcBef>
              <a:spcAft>
                <a:spcPts val="0"/>
              </a:spcAft>
              <a:buSzPts val="2000"/>
              <a:buNone/>
            </a:pPr>
            <a:r>
              <a:rPr lang="en" sz="2700" b="1" dirty="0"/>
              <a:t>Migration and Destruction</a:t>
            </a:r>
            <a:endParaRPr sz="27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5"/>
                                        </p:tgtEl>
                                        <p:attrNameLst>
                                          <p:attrName>style.visibility</p:attrName>
                                        </p:attrNameLst>
                                      </p:cBhvr>
                                      <p:to>
                                        <p:strVal val="visible"/>
                                      </p:to>
                                    </p:set>
                                    <p:animEffect transition="in" filter="fade">
                                      <p:cBhvr>
                                        <p:cTn id="7" dur="1000"/>
                                        <p:tgtEl>
                                          <p:spTgt spid="35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3"/>
                                        </p:tgtEl>
                                        <p:attrNameLst>
                                          <p:attrName>style.visibility</p:attrName>
                                        </p:attrNameLst>
                                      </p:cBhvr>
                                      <p:to>
                                        <p:strVal val="visible"/>
                                      </p:to>
                                    </p:set>
                                    <p:animEffect transition="in" filter="fade">
                                      <p:cBhvr>
                                        <p:cTn id="12" dur="1000"/>
                                        <p:tgtEl>
                                          <p:spTgt spid="35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2">
                                            <p:txEl>
                                              <p:pRg st="0" end="0"/>
                                            </p:txEl>
                                          </p:spTgt>
                                        </p:tgtEl>
                                        <p:attrNameLst>
                                          <p:attrName>style.visibility</p:attrName>
                                        </p:attrNameLst>
                                      </p:cBhvr>
                                      <p:to>
                                        <p:strVal val="visible"/>
                                      </p:to>
                                    </p:set>
                                    <p:animEffect transition="in" filter="fade">
                                      <p:cBhvr>
                                        <p:cTn id="17" dur="1000"/>
                                        <p:tgtEl>
                                          <p:spTgt spid="35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52">
                                            <p:txEl>
                                              <p:pRg st="1" end="1"/>
                                            </p:txEl>
                                          </p:spTgt>
                                        </p:tgtEl>
                                        <p:attrNameLst>
                                          <p:attrName>style.visibility</p:attrName>
                                        </p:attrNameLst>
                                      </p:cBhvr>
                                      <p:to>
                                        <p:strVal val="visible"/>
                                      </p:to>
                                    </p:set>
                                    <p:animEffect transition="in" filter="fade">
                                      <p:cBhvr>
                                        <p:cTn id="22" dur="1000"/>
                                        <p:tgtEl>
                                          <p:spTgt spid="35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2">
                                            <p:txEl>
                                              <p:pRg st="2" end="2"/>
                                            </p:txEl>
                                          </p:spTgt>
                                        </p:tgtEl>
                                        <p:attrNameLst>
                                          <p:attrName>style.visibility</p:attrName>
                                        </p:attrNameLst>
                                      </p:cBhvr>
                                      <p:to>
                                        <p:strVal val="visible"/>
                                      </p:to>
                                    </p:set>
                                    <p:animEffect transition="in" filter="fade">
                                      <p:cBhvr>
                                        <p:cTn id="27" dur="1000"/>
                                        <p:tgtEl>
                                          <p:spTgt spid="352">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2">
                                            <p:txEl>
                                              <p:pRg st="3" end="3"/>
                                            </p:txEl>
                                          </p:spTgt>
                                        </p:tgtEl>
                                        <p:attrNameLst>
                                          <p:attrName>style.visibility</p:attrName>
                                        </p:attrNameLst>
                                      </p:cBhvr>
                                      <p:to>
                                        <p:strVal val="visible"/>
                                      </p:to>
                                    </p:set>
                                    <p:animEffect transition="in" filter="fade">
                                      <p:cBhvr>
                                        <p:cTn id="32" dur="1000"/>
                                        <p:tgtEl>
                                          <p:spTgt spid="352">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52">
                                            <p:txEl>
                                              <p:pRg st="4" end="4"/>
                                            </p:txEl>
                                          </p:spTgt>
                                        </p:tgtEl>
                                        <p:attrNameLst>
                                          <p:attrName>style.visibility</p:attrName>
                                        </p:attrNameLst>
                                      </p:cBhvr>
                                      <p:to>
                                        <p:strVal val="visible"/>
                                      </p:to>
                                    </p:set>
                                    <p:animEffect transition="in" filter="fade">
                                      <p:cBhvr>
                                        <p:cTn id="37" dur="1000"/>
                                        <p:tgtEl>
                                          <p:spTgt spid="35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ge490a57b47_0_65"/>
          <p:cNvSpPr txBox="1"/>
          <p:nvPr/>
        </p:nvSpPr>
        <p:spPr>
          <a:xfrm>
            <a:off x="701550" y="1543376"/>
            <a:ext cx="7419300" cy="152961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 sz="1600" b="0" i="0" u="none" strike="noStrike" cap="none" dirty="0">
                <a:solidFill>
                  <a:srgbClr val="EF4F63"/>
                </a:solidFill>
                <a:latin typeface="+mj-lt"/>
                <a:ea typeface="Source Sans Pro"/>
                <a:cs typeface="Source Sans Pro"/>
                <a:sym typeface="Source Sans Pro"/>
              </a:rPr>
              <a:t>Commands</a:t>
            </a:r>
            <a:r>
              <a:rPr lang="en" sz="1600" b="0" i="0" u="none" strike="noStrike" cap="none" dirty="0">
                <a:solidFill>
                  <a:srgbClr val="000000"/>
                </a:solidFill>
                <a:latin typeface="+mj-lt"/>
                <a:ea typeface="Source Sans Pro"/>
                <a:cs typeface="Source Sans Pro"/>
                <a:sym typeface="Source Sans Pro"/>
              </a:rPr>
              <a:t/>
            </a:r>
            <a:br>
              <a:rPr lang="en" sz="1600" b="0" i="0" u="none" strike="noStrike" cap="none" dirty="0">
                <a:solidFill>
                  <a:srgbClr val="000000"/>
                </a:solidFill>
                <a:latin typeface="+mj-lt"/>
                <a:ea typeface="Source Sans Pro"/>
                <a:cs typeface="Source Sans Pro"/>
                <a:sym typeface="Source Sans Pro"/>
              </a:rPr>
            </a:br>
            <a:r>
              <a:rPr lang="en" sz="900" b="0" i="0" u="none" strike="noStrike" cap="none" dirty="0" smtClean="0">
                <a:solidFill>
                  <a:schemeClr val="dk1"/>
                </a:solidFill>
                <a:latin typeface="+mj-lt"/>
                <a:ea typeface="Roboto Mono"/>
                <a:cs typeface="Roboto Mono"/>
                <a:sym typeface="Roboto Mono"/>
              </a:rPr>
              <a:t> </a:t>
            </a:r>
            <a:endParaRPr sz="900" b="0" i="0" u="none" strike="noStrike" cap="none" dirty="0">
              <a:solidFill>
                <a:schemeClr val="dk1"/>
              </a:solidFill>
              <a:latin typeface="+mj-lt"/>
              <a:ea typeface="Roboto Mono"/>
              <a:cs typeface="Roboto Mono"/>
              <a:sym typeface="Roboto Mono"/>
            </a:endParaRPr>
          </a:p>
          <a:p>
            <a:pPr marL="0" marR="0" lvl="0" indent="0" algn="l" rtl="0">
              <a:lnSpc>
                <a:spcPct val="115000"/>
              </a:lnSpc>
              <a:spcBef>
                <a:spcPts val="0"/>
              </a:spcBef>
              <a:spcAft>
                <a:spcPts val="0"/>
              </a:spcAft>
              <a:buClr>
                <a:srgbClr val="000000"/>
              </a:buClr>
              <a:buSzPts val="1400"/>
              <a:buFont typeface="Arial"/>
              <a:buNone/>
            </a:pPr>
            <a:r>
              <a:rPr lang="en" sz="1400" b="1" i="0" u="none" strike="noStrike" cap="none" dirty="0">
                <a:solidFill>
                  <a:schemeClr val="dk1"/>
                </a:solidFill>
                <a:latin typeface="+mj-lt"/>
                <a:ea typeface="Roboto Mono"/>
                <a:cs typeface="Roboto Mono"/>
                <a:sym typeface="Roboto Mono"/>
              </a:rPr>
              <a:t>rm</a:t>
            </a:r>
            <a:r>
              <a:rPr lang="en" sz="1600" b="0" i="0" u="none" strike="noStrike" cap="none" dirty="0">
                <a:solidFill>
                  <a:srgbClr val="000000"/>
                </a:solidFill>
                <a:latin typeface="+mj-lt"/>
                <a:ea typeface="Source Sans Pro"/>
                <a:cs typeface="Source Sans Pro"/>
                <a:sym typeface="Source Sans Pro"/>
              </a:rPr>
              <a:t>: </a:t>
            </a:r>
            <a:r>
              <a:rPr lang="en" sz="1400" b="0" i="0" u="none" strike="noStrike" cap="none" dirty="0">
                <a:solidFill>
                  <a:srgbClr val="292929"/>
                </a:solidFill>
                <a:highlight>
                  <a:schemeClr val="lt1"/>
                </a:highlight>
                <a:latin typeface="+mj-lt"/>
                <a:ea typeface="Georgia"/>
                <a:cs typeface="Georgia"/>
                <a:sym typeface="Georgia"/>
              </a:rPr>
              <a:t>use </a:t>
            </a:r>
            <a:r>
              <a:rPr lang="en" sz="1400" b="0" i="0" u="none" strike="noStrike" cap="none" dirty="0">
                <a:solidFill>
                  <a:srgbClr val="292929"/>
                </a:solidFill>
                <a:highlight>
                  <a:schemeClr val="lt1"/>
                </a:highlight>
                <a:latin typeface="+mj-lt"/>
                <a:ea typeface="Roboto Mono"/>
                <a:cs typeface="Roboto Mono"/>
                <a:sym typeface="Roboto Mono"/>
              </a:rPr>
              <a:t>rm</a:t>
            </a:r>
            <a:r>
              <a:rPr lang="en" sz="1400" b="0" i="0" u="none" strike="noStrike" cap="none" dirty="0">
                <a:solidFill>
                  <a:srgbClr val="292929"/>
                </a:solidFill>
                <a:highlight>
                  <a:schemeClr val="lt1"/>
                </a:highlight>
                <a:latin typeface="+mj-lt"/>
                <a:ea typeface="Georgia"/>
                <a:cs typeface="Georgia"/>
                <a:sym typeface="Georgia"/>
              </a:rPr>
              <a:t> to remove files or folders. </a:t>
            </a:r>
            <a:r>
              <a:rPr lang="en" sz="1400" b="0" i="0" u="none" strike="noStrike" cap="none" dirty="0">
                <a:solidFill>
                  <a:srgbClr val="292929"/>
                </a:solidFill>
                <a:highlight>
                  <a:schemeClr val="lt1"/>
                </a:highlight>
                <a:latin typeface="+mj-lt"/>
                <a:ea typeface="Roboto Mono"/>
                <a:cs typeface="Roboto Mono"/>
                <a:sym typeface="Roboto Mono"/>
              </a:rPr>
              <a:t>rm</a:t>
            </a:r>
            <a:r>
              <a:rPr lang="en" sz="1400" b="0" i="0" u="none" strike="noStrike" cap="none" dirty="0">
                <a:solidFill>
                  <a:srgbClr val="292929"/>
                </a:solidFill>
                <a:highlight>
                  <a:schemeClr val="lt1"/>
                </a:highlight>
                <a:latin typeface="+mj-lt"/>
                <a:ea typeface="Georgia"/>
                <a:cs typeface="Georgia"/>
                <a:sym typeface="Georgia"/>
              </a:rPr>
              <a:t> only require path of file/directory.</a:t>
            </a:r>
            <a:endParaRPr sz="1100" b="0" i="0" u="none" strike="noStrike" cap="none" dirty="0">
              <a:solidFill>
                <a:srgbClr val="000000"/>
              </a:solidFill>
              <a:highlight>
                <a:schemeClr val="lt2"/>
              </a:highlight>
              <a:latin typeface="+mj-lt"/>
              <a:ea typeface="Courier New"/>
              <a:cs typeface="Courier New"/>
              <a:sym typeface="Courier New"/>
            </a:endParaRPr>
          </a:p>
          <a:p>
            <a:pPr marL="0" marR="0" lvl="0" indent="0" algn="l" rtl="0">
              <a:lnSpc>
                <a:spcPct val="115000"/>
              </a:lnSpc>
              <a:spcBef>
                <a:spcPts val="0"/>
              </a:spcBef>
              <a:spcAft>
                <a:spcPts val="0"/>
              </a:spcAft>
              <a:buClr>
                <a:srgbClr val="000000"/>
              </a:buClr>
              <a:buSzPts val="1100"/>
              <a:buFont typeface="Arial"/>
              <a:buNone/>
            </a:pPr>
            <a:r>
              <a:rPr lang="en" sz="1100" b="0" i="0" u="none" strike="noStrike" cap="none" dirty="0">
                <a:solidFill>
                  <a:srgbClr val="000000"/>
                </a:solidFill>
                <a:highlight>
                  <a:schemeClr val="lt1"/>
                </a:highlight>
                <a:latin typeface="+mj-lt"/>
                <a:ea typeface="Courier New"/>
                <a:cs typeface="Courier New"/>
                <a:sym typeface="Courier New"/>
              </a:rPr>
              <a:t>To remove file: </a:t>
            </a:r>
            <a:r>
              <a:rPr lang="en" sz="1100" b="0" i="0" u="none" strike="noStrike" cap="none" dirty="0">
                <a:solidFill>
                  <a:srgbClr val="000000"/>
                </a:solidFill>
                <a:highlight>
                  <a:schemeClr val="lt2"/>
                </a:highlight>
                <a:latin typeface="+mj-lt"/>
                <a:ea typeface="Courier New"/>
                <a:cs typeface="Courier New"/>
                <a:sym typeface="Courier New"/>
              </a:rPr>
              <a:t>$ rm destination/my_file.txt 		</a:t>
            </a:r>
            <a:r>
              <a:rPr lang="en" sz="1100" b="0" i="0" u="none" strike="noStrike" cap="none" dirty="0">
                <a:solidFill>
                  <a:srgbClr val="000000"/>
                </a:solidFill>
                <a:highlight>
                  <a:schemeClr val="lt1"/>
                </a:highlight>
                <a:latin typeface="+mj-lt"/>
                <a:ea typeface="Courier New"/>
                <a:cs typeface="Courier New"/>
                <a:sym typeface="Courier New"/>
              </a:rPr>
              <a:t>To remove folder: </a:t>
            </a:r>
            <a:r>
              <a:rPr lang="en" sz="1100" b="0" i="0" u="none" strike="noStrike" cap="none" dirty="0">
                <a:solidFill>
                  <a:srgbClr val="000000"/>
                </a:solidFill>
                <a:highlight>
                  <a:schemeClr val="lt2"/>
                </a:highlight>
                <a:latin typeface="+mj-lt"/>
                <a:ea typeface="Courier New"/>
                <a:cs typeface="Courier New"/>
                <a:sym typeface="Courier New"/>
              </a:rPr>
              <a:t>$ rm -r destination</a:t>
            </a:r>
            <a:endParaRPr sz="1100" b="0" i="0" u="none" strike="noStrike" cap="none" dirty="0">
              <a:solidFill>
                <a:srgbClr val="000000"/>
              </a:solidFill>
              <a:highlight>
                <a:schemeClr val="lt2"/>
              </a:highlight>
              <a:latin typeface="+mj-lt"/>
              <a:ea typeface="Courier New"/>
              <a:cs typeface="Courier New"/>
              <a:sym typeface="Courier New"/>
            </a:endParaRPr>
          </a:p>
          <a:p>
            <a:pPr marL="0" marR="0" lvl="0" indent="0" algn="l" rtl="0">
              <a:lnSpc>
                <a:spcPct val="115000"/>
              </a:lnSpc>
              <a:spcBef>
                <a:spcPts val="0"/>
              </a:spcBef>
              <a:spcAft>
                <a:spcPts val="0"/>
              </a:spcAft>
              <a:buClr>
                <a:srgbClr val="000000"/>
              </a:buClr>
              <a:buSzPts val="1200"/>
              <a:buFont typeface="Arial"/>
              <a:buNone/>
            </a:pPr>
            <a:endParaRPr lang="en" sz="1200" b="1" i="0" u="none" strike="noStrike" cap="none" dirty="0" smtClean="0">
              <a:solidFill>
                <a:srgbClr val="292929"/>
              </a:solidFill>
              <a:highlight>
                <a:schemeClr val="lt1"/>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1200"/>
              <a:buFont typeface="Arial"/>
              <a:buNone/>
            </a:pPr>
            <a:r>
              <a:rPr lang="en" sz="1200" b="1" i="0" u="none" strike="noStrike" cap="none" dirty="0" smtClean="0">
                <a:solidFill>
                  <a:srgbClr val="292929"/>
                </a:solidFill>
                <a:highlight>
                  <a:schemeClr val="lt1"/>
                </a:highlight>
                <a:latin typeface="+mj-lt"/>
                <a:ea typeface="Georgia"/>
                <a:cs typeface="Georgia"/>
                <a:sym typeface="Georgia"/>
              </a:rPr>
              <a:t>To </a:t>
            </a:r>
            <a:r>
              <a:rPr lang="en" sz="1200" b="1" i="0" u="none" strike="noStrike" cap="none" dirty="0">
                <a:solidFill>
                  <a:srgbClr val="292929"/>
                </a:solidFill>
                <a:highlight>
                  <a:schemeClr val="lt1"/>
                </a:highlight>
                <a:latin typeface="+mj-lt"/>
                <a:ea typeface="Georgia"/>
                <a:cs typeface="Georgia"/>
                <a:sym typeface="Georgia"/>
              </a:rPr>
              <a:t>remove directory, we add </a:t>
            </a:r>
            <a:r>
              <a:rPr lang="en" sz="1200" b="1" i="0" u="none" strike="noStrike" cap="none" dirty="0">
                <a:solidFill>
                  <a:srgbClr val="292929"/>
                </a:solidFill>
                <a:highlight>
                  <a:schemeClr val="lt2"/>
                </a:highlight>
                <a:latin typeface="+mj-lt"/>
                <a:ea typeface="Roboto Mono"/>
                <a:cs typeface="Roboto Mono"/>
                <a:sym typeface="Roboto Mono"/>
              </a:rPr>
              <a:t>-r</a:t>
            </a:r>
            <a:r>
              <a:rPr lang="en" sz="1200" b="1" i="0" u="none" strike="noStrike" cap="none" dirty="0">
                <a:solidFill>
                  <a:srgbClr val="292929"/>
                </a:solidFill>
                <a:highlight>
                  <a:schemeClr val="lt1"/>
                </a:highlight>
                <a:latin typeface="+mj-lt"/>
                <a:ea typeface="Georgia"/>
                <a:cs typeface="Georgia"/>
                <a:sym typeface="Georgia"/>
              </a:rPr>
              <a:t> option which is short for </a:t>
            </a:r>
            <a:r>
              <a:rPr lang="en" sz="1200" b="1" i="1" u="none" strike="noStrike" cap="none" dirty="0">
                <a:solidFill>
                  <a:srgbClr val="292929"/>
                </a:solidFill>
                <a:highlight>
                  <a:schemeClr val="lt1"/>
                </a:highlight>
                <a:latin typeface="+mj-lt"/>
                <a:ea typeface="Georgia"/>
                <a:cs typeface="Georgia"/>
                <a:sym typeface="Georgia"/>
              </a:rPr>
              <a:t>recursive.</a:t>
            </a:r>
            <a:endParaRPr sz="1400" b="0" i="0" u="none" strike="noStrike" cap="none" dirty="0">
              <a:solidFill>
                <a:srgbClr val="292929"/>
              </a:solidFill>
              <a:highlight>
                <a:schemeClr val="lt1"/>
              </a:highlight>
              <a:latin typeface="+mj-lt"/>
              <a:ea typeface="Georgia"/>
              <a:cs typeface="Georgia"/>
              <a:sym typeface="Georgia"/>
            </a:endParaRPr>
          </a:p>
        </p:txBody>
      </p:sp>
      <p:sp>
        <p:nvSpPr>
          <p:cNvPr id="353" name="Google Shape;353;ge490a57b47_0_65"/>
          <p:cNvSpPr txBox="1"/>
          <p:nvPr/>
        </p:nvSpPr>
        <p:spPr>
          <a:xfrm>
            <a:off x="701550" y="918875"/>
            <a:ext cx="7861800" cy="74017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400"/>
              <a:buFont typeface="Arial"/>
              <a:buNone/>
            </a:pPr>
            <a:r>
              <a:rPr lang="en" sz="1400" b="0" i="0" u="none" strike="noStrike" cap="none" dirty="0">
                <a:solidFill>
                  <a:srgbClr val="292929"/>
                </a:solidFill>
                <a:highlight>
                  <a:srgbClr val="FFFFFF"/>
                </a:highlight>
                <a:latin typeface="+mj-lt"/>
                <a:ea typeface="Georgia"/>
                <a:cs typeface="Georgia"/>
                <a:sym typeface="Georgia"/>
              </a:rPr>
              <a:t>In this section </a:t>
            </a:r>
            <a:r>
              <a:rPr lang="en" sz="1400" b="0" i="0" u="none" strike="noStrike" cap="none" dirty="0" smtClean="0">
                <a:solidFill>
                  <a:srgbClr val="292929"/>
                </a:solidFill>
                <a:highlight>
                  <a:srgbClr val="FFFFFF"/>
                </a:highlight>
                <a:latin typeface="+mj-lt"/>
                <a:ea typeface="Georgia"/>
                <a:cs typeface="Georgia"/>
                <a:sym typeface="Georgia"/>
              </a:rPr>
              <a:t>we’ll </a:t>
            </a:r>
            <a:r>
              <a:rPr lang="en" sz="1400" b="0" i="0" u="none" strike="noStrike" cap="none" dirty="0">
                <a:solidFill>
                  <a:srgbClr val="292929"/>
                </a:solidFill>
                <a:highlight>
                  <a:srgbClr val="FFFFFF"/>
                </a:highlight>
                <a:latin typeface="+mj-lt"/>
                <a:ea typeface="Georgia"/>
                <a:cs typeface="Georgia"/>
                <a:sym typeface="Georgia"/>
              </a:rPr>
              <a:t>discuss moving, renaming, copying, and deleting files and folders</a:t>
            </a:r>
            <a:r>
              <a:rPr lang="en" sz="1400" b="0" i="0" u="none" strike="noStrike" cap="none" dirty="0">
                <a:solidFill>
                  <a:srgbClr val="000000"/>
                </a:solidFill>
                <a:latin typeface="+mj-lt"/>
                <a:sym typeface="Arial"/>
              </a:rPr>
              <a:t>.</a:t>
            </a:r>
            <a:endParaRPr sz="1400" b="0" i="0" u="none" strike="noStrike" cap="none" dirty="0">
              <a:solidFill>
                <a:srgbClr val="292929"/>
              </a:solidFill>
              <a:highlight>
                <a:srgbClr val="FFFFFF"/>
              </a:highlight>
              <a:latin typeface="+mj-lt"/>
              <a:ea typeface="Georgia"/>
              <a:cs typeface="Georgia"/>
              <a:sym typeface="Georgia"/>
            </a:endParaRPr>
          </a:p>
        </p:txBody>
      </p:sp>
      <p:sp>
        <p:nvSpPr>
          <p:cNvPr id="354" name="Google Shape;354;ge490a57b47_0_65"/>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7</a:t>
            </a:fld>
            <a:endParaRPr/>
          </a:p>
        </p:txBody>
      </p:sp>
      <p:sp>
        <p:nvSpPr>
          <p:cNvPr id="355" name="Google Shape;355;ge490a57b47_0_65"/>
          <p:cNvSpPr txBox="1">
            <a:spLocks noGrp="1"/>
          </p:cNvSpPr>
          <p:nvPr>
            <p:ph type="title"/>
          </p:nvPr>
        </p:nvSpPr>
        <p:spPr>
          <a:xfrm>
            <a:off x="701550" y="388276"/>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endParaRPr sz="2700" b="1" dirty="0"/>
          </a:p>
          <a:p>
            <a:pPr marL="0" lvl="0" indent="0" algn="l" rtl="0">
              <a:lnSpc>
                <a:spcPct val="100000"/>
              </a:lnSpc>
              <a:spcBef>
                <a:spcPts val="0"/>
              </a:spcBef>
              <a:spcAft>
                <a:spcPts val="0"/>
              </a:spcAft>
              <a:buSzPts val="2000"/>
              <a:buNone/>
            </a:pPr>
            <a:r>
              <a:rPr lang="en" sz="2700" b="1" dirty="0"/>
              <a:t>Migration and Destruction</a:t>
            </a:r>
            <a:endParaRPr sz="2700" b="1" dirty="0"/>
          </a:p>
        </p:txBody>
      </p:sp>
    </p:spTree>
    <p:extLst>
      <p:ext uri="{BB962C8B-B14F-4D97-AF65-F5344CB8AC3E}">
        <p14:creationId xmlns:p14="http://schemas.microsoft.com/office/powerpoint/2010/main" val="1838830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5"/>
                                        </p:tgtEl>
                                        <p:attrNameLst>
                                          <p:attrName>style.visibility</p:attrName>
                                        </p:attrNameLst>
                                      </p:cBhvr>
                                      <p:to>
                                        <p:strVal val="visible"/>
                                      </p:to>
                                    </p:set>
                                    <p:animEffect transition="in" filter="fade">
                                      <p:cBhvr>
                                        <p:cTn id="7" dur="1000"/>
                                        <p:tgtEl>
                                          <p:spTgt spid="35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3"/>
                                        </p:tgtEl>
                                        <p:attrNameLst>
                                          <p:attrName>style.visibility</p:attrName>
                                        </p:attrNameLst>
                                      </p:cBhvr>
                                      <p:to>
                                        <p:strVal val="visible"/>
                                      </p:to>
                                    </p:set>
                                    <p:animEffect transition="in" filter="fade">
                                      <p:cBhvr>
                                        <p:cTn id="12" dur="1000"/>
                                        <p:tgtEl>
                                          <p:spTgt spid="35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2">
                                            <p:txEl>
                                              <p:pRg st="0" end="0"/>
                                            </p:txEl>
                                          </p:spTgt>
                                        </p:tgtEl>
                                        <p:attrNameLst>
                                          <p:attrName>style.visibility</p:attrName>
                                        </p:attrNameLst>
                                      </p:cBhvr>
                                      <p:to>
                                        <p:strVal val="visible"/>
                                      </p:to>
                                    </p:set>
                                    <p:animEffect transition="in" filter="fade">
                                      <p:cBhvr>
                                        <p:cTn id="17" dur="1000"/>
                                        <p:tgtEl>
                                          <p:spTgt spid="35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52">
                                            <p:txEl>
                                              <p:pRg st="1" end="1"/>
                                            </p:txEl>
                                          </p:spTgt>
                                        </p:tgtEl>
                                        <p:attrNameLst>
                                          <p:attrName>style.visibility</p:attrName>
                                        </p:attrNameLst>
                                      </p:cBhvr>
                                      <p:to>
                                        <p:strVal val="visible"/>
                                      </p:to>
                                    </p:set>
                                    <p:animEffect transition="in" filter="fade">
                                      <p:cBhvr>
                                        <p:cTn id="22" dur="1000"/>
                                        <p:tgtEl>
                                          <p:spTgt spid="35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2">
                                            <p:txEl>
                                              <p:pRg st="2" end="2"/>
                                            </p:txEl>
                                          </p:spTgt>
                                        </p:tgtEl>
                                        <p:attrNameLst>
                                          <p:attrName>style.visibility</p:attrName>
                                        </p:attrNameLst>
                                      </p:cBhvr>
                                      <p:to>
                                        <p:strVal val="visible"/>
                                      </p:to>
                                    </p:set>
                                    <p:animEffect transition="in" filter="fade">
                                      <p:cBhvr>
                                        <p:cTn id="27" dur="1000"/>
                                        <p:tgtEl>
                                          <p:spTgt spid="352">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2">
                                            <p:txEl>
                                              <p:pRg st="4" end="4"/>
                                            </p:txEl>
                                          </p:spTgt>
                                        </p:tgtEl>
                                        <p:attrNameLst>
                                          <p:attrName>style.visibility</p:attrName>
                                        </p:attrNameLst>
                                      </p:cBhvr>
                                      <p:to>
                                        <p:strVal val="visible"/>
                                      </p:to>
                                    </p:set>
                                    <p:animEffect transition="in" filter="fade">
                                      <p:cBhvr>
                                        <p:cTn id="32" dur="1000"/>
                                        <p:tgtEl>
                                          <p:spTgt spid="35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geda00f0913_0_130"/>
          <p:cNvSpPr txBox="1"/>
          <p:nvPr/>
        </p:nvSpPr>
        <p:spPr>
          <a:xfrm>
            <a:off x="740734" y="1661252"/>
            <a:ext cx="7938000" cy="1423436"/>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700"/>
              <a:buFont typeface="Arial"/>
              <a:buNone/>
            </a:pPr>
            <a:r>
              <a:rPr lang="en" sz="1700" b="0" i="0" u="none" strike="noStrike" cap="none" dirty="0">
                <a:solidFill>
                  <a:srgbClr val="EF4F63"/>
                </a:solidFill>
                <a:latin typeface="+mj-lt"/>
                <a:ea typeface="Source Sans Pro"/>
                <a:cs typeface="Source Sans Pro"/>
                <a:sym typeface="Source Sans Pro"/>
              </a:rPr>
              <a:t>Commands</a:t>
            </a:r>
            <a:r>
              <a:rPr lang="en" sz="1500" b="0" i="0" u="none" strike="noStrike" cap="none" dirty="0">
                <a:solidFill>
                  <a:srgbClr val="000000"/>
                </a:solidFill>
                <a:latin typeface="+mj-lt"/>
                <a:ea typeface="Source Sans Pro"/>
                <a:cs typeface="Source Sans Pro"/>
                <a:sym typeface="Source Sans Pro"/>
              </a:rPr>
              <a:t/>
            </a:r>
            <a:br>
              <a:rPr lang="en" sz="1500" b="0" i="0" u="none" strike="noStrike" cap="none" dirty="0">
                <a:solidFill>
                  <a:srgbClr val="000000"/>
                </a:solidFill>
                <a:latin typeface="+mj-lt"/>
                <a:ea typeface="Source Sans Pro"/>
                <a:cs typeface="Source Sans Pro"/>
                <a:sym typeface="Source Sans Pro"/>
              </a:rPr>
            </a:br>
            <a:r>
              <a:rPr lang="en" sz="1500" b="1" i="0" u="none" strike="noStrike" cap="none" dirty="0">
                <a:solidFill>
                  <a:srgbClr val="000000"/>
                </a:solidFill>
                <a:latin typeface="+mj-lt"/>
                <a:ea typeface="Georgia"/>
                <a:cs typeface="Georgia"/>
                <a:sym typeface="Georgia"/>
              </a:rPr>
              <a:t>Regular expression:</a:t>
            </a:r>
            <a:r>
              <a:rPr lang="en" sz="1500" b="0" i="0" u="none" strike="noStrike" cap="none" dirty="0">
                <a:solidFill>
                  <a:srgbClr val="000000"/>
                </a:solidFill>
                <a:latin typeface="+mj-lt"/>
                <a:ea typeface="Georgia"/>
                <a:cs typeface="Georgia"/>
                <a:sym typeface="Georgia"/>
              </a:rPr>
              <a:t> </a:t>
            </a:r>
            <a:r>
              <a:rPr lang="en" sz="1400" b="0" i="0" u="none" strike="noStrike" cap="none" dirty="0">
                <a:solidFill>
                  <a:srgbClr val="000000"/>
                </a:solidFill>
                <a:latin typeface="+mj-lt"/>
                <a:ea typeface="Georgia"/>
                <a:cs typeface="Georgia"/>
                <a:sym typeface="Georgia"/>
              </a:rPr>
              <a:t>String that define pattern in other strings.</a:t>
            </a:r>
            <a:endParaRPr sz="1400" b="0" i="0" u="none" strike="noStrike" cap="none" dirty="0">
              <a:solidFill>
                <a:srgbClr val="000000"/>
              </a:solidFill>
              <a:latin typeface="+mj-lt"/>
              <a:ea typeface="Georgia"/>
              <a:cs typeface="Georgia"/>
              <a:sym typeface="Georgia"/>
            </a:endParaRPr>
          </a:p>
          <a:p>
            <a:pPr marL="0" marR="0" lvl="0" indent="0" algn="l" rtl="0">
              <a:lnSpc>
                <a:spcPct val="115000"/>
              </a:lnSpc>
              <a:spcBef>
                <a:spcPts val="0"/>
              </a:spcBef>
              <a:spcAft>
                <a:spcPts val="0"/>
              </a:spcAft>
              <a:buClr>
                <a:srgbClr val="000000"/>
              </a:buClr>
              <a:buSzPts val="1300"/>
              <a:buFont typeface="Arial"/>
              <a:buNone/>
            </a:pPr>
            <a:r>
              <a:rPr lang="en" sz="1300" b="1" i="0" u="none" strike="noStrike" cap="none" dirty="0">
                <a:solidFill>
                  <a:schemeClr val="dk1"/>
                </a:solidFill>
                <a:latin typeface="+mj-lt"/>
                <a:ea typeface="Roboto Mono"/>
                <a:cs typeface="Roboto Mono"/>
                <a:sym typeface="Roboto Mono"/>
              </a:rPr>
              <a:t>grep</a:t>
            </a:r>
            <a:r>
              <a:rPr lang="en" sz="1500" b="0" i="0" u="none" strike="noStrike" cap="none" dirty="0">
                <a:solidFill>
                  <a:schemeClr val="dk1"/>
                </a:solidFill>
                <a:latin typeface="+mj-lt"/>
                <a:ea typeface="Source Sans Pro"/>
                <a:cs typeface="Source Sans Pro"/>
                <a:sym typeface="Source Sans Pro"/>
              </a:rPr>
              <a:t>: </a:t>
            </a:r>
            <a:r>
              <a:rPr lang="en" sz="1300" b="0" i="0" u="none" strike="noStrike" cap="none" dirty="0">
                <a:solidFill>
                  <a:srgbClr val="292929"/>
                </a:solidFill>
                <a:highlight>
                  <a:schemeClr val="lt1"/>
                </a:highlight>
                <a:latin typeface="+mj-lt"/>
                <a:ea typeface="Georgia"/>
                <a:cs typeface="Georgia"/>
                <a:sym typeface="Georgia"/>
              </a:rPr>
              <a:t>The simplest use of </a:t>
            </a:r>
            <a:r>
              <a:rPr lang="en" sz="1300" b="0" i="0" u="none" strike="noStrike" cap="none" dirty="0">
                <a:solidFill>
                  <a:schemeClr val="dk1"/>
                </a:solidFill>
                <a:latin typeface="+mj-lt"/>
                <a:ea typeface="Roboto Mono"/>
                <a:cs typeface="Roboto Mono"/>
                <a:sym typeface="Roboto Mono"/>
              </a:rPr>
              <a:t>grep</a:t>
            </a:r>
            <a:r>
              <a:rPr lang="en" sz="1300" b="0" i="0" u="none" strike="noStrike" cap="none" dirty="0">
                <a:solidFill>
                  <a:srgbClr val="292929"/>
                </a:solidFill>
                <a:highlight>
                  <a:schemeClr val="lt1"/>
                </a:highlight>
                <a:latin typeface="+mj-lt"/>
                <a:ea typeface="Georgia"/>
                <a:cs typeface="Georgia"/>
                <a:sym typeface="Georgia"/>
              </a:rPr>
              <a:t> requires two arguments: a regular expression and a text file of string to search. </a:t>
            </a:r>
            <a:endParaRPr sz="1500" b="0" i="0" u="none" strike="noStrike" cap="none" dirty="0">
              <a:solidFill>
                <a:schemeClr val="dk1"/>
              </a:solidFill>
              <a:latin typeface="+mj-lt"/>
              <a:ea typeface="Source Sans Pro"/>
              <a:cs typeface="Source Sans Pro"/>
              <a:sym typeface="Source Sans Pro"/>
            </a:endParaRPr>
          </a:p>
          <a:p>
            <a:pPr marL="0" marR="0" lvl="0" indent="0" algn="l" rtl="0">
              <a:lnSpc>
                <a:spcPct val="115000"/>
              </a:lnSpc>
              <a:spcBef>
                <a:spcPts val="0"/>
              </a:spcBef>
              <a:spcAft>
                <a:spcPts val="0"/>
              </a:spcAft>
              <a:buClr>
                <a:srgbClr val="000000"/>
              </a:buClr>
              <a:buSzPts val="1000"/>
              <a:buFont typeface="Arial"/>
              <a:buNone/>
            </a:pPr>
            <a:r>
              <a:rPr lang="en" sz="1000" b="0" i="0" u="none" strike="noStrike" cap="none" dirty="0">
                <a:solidFill>
                  <a:srgbClr val="000000"/>
                </a:solidFill>
                <a:highlight>
                  <a:schemeClr val="lt2"/>
                </a:highlight>
                <a:latin typeface="+mj-lt"/>
                <a:ea typeface="Courier New"/>
                <a:cs typeface="Courier New"/>
                <a:sym typeface="Courier New"/>
              </a:rPr>
              <a:t>$ grep </a:t>
            </a:r>
            <a:r>
              <a:rPr lang="en" sz="1000" b="0" i="0" u="none" strike="noStrike" cap="none" dirty="0">
                <a:solidFill>
                  <a:schemeClr val="dk1"/>
                </a:solidFill>
                <a:highlight>
                  <a:schemeClr val="lt2"/>
                </a:highlight>
                <a:latin typeface="+mj-lt"/>
                <a:ea typeface="Courier New"/>
                <a:cs typeface="Courier New"/>
                <a:sym typeface="Courier New"/>
              </a:rPr>
              <a:t>"</a:t>
            </a:r>
            <a:r>
              <a:rPr lang="en" sz="1000" b="0" i="0" u="none" strike="noStrike" cap="none" dirty="0">
                <a:solidFill>
                  <a:srgbClr val="000000"/>
                </a:solidFill>
                <a:highlight>
                  <a:schemeClr val="lt2"/>
                </a:highlight>
                <a:latin typeface="+mj-lt"/>
                <a:ea typeface="Courier New"/>
                <a:cs typeface="Courier New"/>
                <a:sym typeface="Courier New"/>
              </a:rPr>
              <a:t>x</a:t>
            </a:r>
            <a:r>
              <a:rPr lang="en" sz="1000" b="0" i="0" u="none" strike="noStrike" cap="none" dirty="0">
                <a:solidFill>
                  <a:schemeClr val="dk1"/>
                </a:solidFill>
                <a:highlight>
                  <a:schemeClr val="lt2"/>
                </a:highlight>
                <a:latin typeface="+mj-lt"/>
                <a:ea typeface="Courier New"/>
                <a:cs typeface="Courier New"/>
                <a:sym typeface="Courier New"/>
              </a:rPr>
              <a:t>" </a:t>
            </a:r>
            <a:r>
              <a:rPr lang="en" sz="1000" b="0" i="0" u="none" strike="noStrike" cap="none" dirty="0" smtClean="0">
                <a:solidFill>
                  <a:srgbClr val="000000"/>
                </a:solidFill>
                <a:highlight>
                  <a:schemeClr val="lt2"/>
                </a:highlight>
                <a:latin typeface="+mj-lt"/>
                <a:ea typeface="Courier New"/>
                <a:cs typeface="Courier New"/>
                <a:sym typeface="Courier New"/>
              </a:rPr>
              <a:t>my_file.txt</a:t>
            </a:r>
            <a:endParaRPr sz="1500" b="0" i="0" u="none" strike="noStrike" cap="none" dirty="0">
              <a:solidFill>
                <a:schemeClr val="dk1"/>
              </a:solidFill>
              <a:latin typeface="+mj-lt"/>
              <a:ea typeface="Roboto Mono"/>
              <a:cs typeface="Roboto Mono"/>
              <a:sym typeface="Roboto Mono"/>
            </a:endParaRPr>
          </a:p>
        </p:txBody>
      </p:sp>
      <p:sp>
        <p:nvSpPr>
          <p:cNvPr id="368" name="Google Shape;368;geda00f0913_0_130"/>
          <p:cNvSpPr txBox="1"/>
          <p:nvPr/>
        </p:nvSpPr>
        <p:spPr>
          <a:xfrm>
            <a:off x="778834" y="828671"/>
            <a:ext cx="7861800" cy="1023327"/>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500"/>
              <a:buFont typeface="Arial"/>
              <a:buNone/>
            </a:pPr>
            <a:r>
              <a:rPr lang="en" sz="1500" b="0" i="0" u="none" strike="noStrike" cap="none" dirty="0">
                <a:solidFill>
                  <a:srgbClr val="292929"/>
                </a:solidFill>
                <a:highlight>
                  <a:srgbClr val="FFFFFF"/>
                </a:highlight>
                <a:latin typeface="+mj-lt"/>
                <a:ea typeface="Georgia"/>
                <a:cs typeface="Georgia"/>
                <a:sym typeface="Georgia"/>
              </a:rPr>
              <a:t>The ability to search through files and folders can greatly improve your productivity using Unix.</a:t>
            </a:r>
            <a:endParaRPr sz="1500" b="0" i="0" u="none" strike="noStrike" cap="none" dirty="0">
              <a:solidFill>
                <a:srgbClr val="292929"/>
              </a:solidFill>
              <a:highlight>
                <a:srgbClr val="FFFFFF"/>
              </a:highlight>
              <a:latin typeface="+mj-lt"/>
              <a:ea typeface="Georgia"/>
              <a:cs typeface="Georgia"/>
              <a:sym typeface="Georgia"/>
            </a:endParaRPr>
          </a:p>
        </p:txBody>
      </p:sp>
      <p:sp>
        <p:nvSpPr>
          <p:cNvPr id="369" name="Google Shape;369;geda00f0913_0_130"/>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8</a:t>
            </a:fld>
            <a:endParaRPr/>
          </a:p>
        </p:txBody>
      </p:sp>
      <p:sp>
        <p:nvSpPr>
          <p:cNvPr id="370" name="Google Shape;370;geda00f0913_0_130"/>
          <p:cNvSpPr txBox="1">
            <a:spLocks noGrp="1"/>
          </p:cNvSpPr>
          <p:nvPr>
            <p:ph type="title"/>
          </p:nvPr>
        </p:nvSpPr>
        <p:spPr>
          <a:xfrm>
            <a:off x="832684" y="266771"/>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endParaRPr sz="2700" b="1" dirty="0"/>
          </a:p>
          <a:p>
            <a:pPr marL="0" lvl="0" indent="0" algn="l" rtl="0">
              <a:lnSpc>
                <a:spcPct val="100000"/>
              </a:lnSpc>
              <a:spcBef>
                <a:spcPts val="0"/>
              </a:spcBef>
              <a:spcAft>
                <a:spcPts val="0"/>
              </a:spcAft>
              <a:buSzPts val="2000"/>
              <a:buNone/>
            </a:pPr>
            <a:r>
              <a:rPr lang="en" sz="2700" b="1" dirty="0"/>
              <a:t>Search</a:t>
            </a:r>
            <a:endParaRPr sz="27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0"/>
                                        </p:tgtEl>
                                        <p:attrNameLst>
                                          <p:attrName>style.visibility</p:attrName>
                                        </p:attrNameLst>
                                      </p:cBhvr>
                                      <p:to>
                                        <p:strVal val="visible"/>
                                      </p:to>
                                    </p:set>
                                    <p:animEffect transition="in" filter="fade">
                                      <p:cBhvr>
                                        <p:cTn id="7" dur="1000"/>
                                        <p:tgtEl>
                                          <p:spTgt spid="3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8"/>
                                        </p:tgtEl>
                                        <p:attrNameLst>
                                          <p:attrName>style.visibility</p:attrName>
                                        </p:attrNameLst>
                                      </p:cBhvr>
                                      <p:to>
                                        <p:strVal val="visible"/>
                                      </p:to>
                                    </p:set>
                                    <p:animEffect transition="in" filter="fade">
                                      <p:cBhvr>
                                        <p:cTn id="12" dur="1000"/>
                                        <p:tgtEl>
                                          <p:spTgt spid="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geda00f0913_0_130"/>
          <p:cNvSpPr txBox="1"/>
          <p:nvPr/>
        </p:nvSpPr>
        <p:spPr>
          <a:xfrm>
            <a:off x="663325" y="974949"/>
            <a:ext cx="7938000" cy="319315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700"/>
              <a:buFont typeface="Arial"/>
              <a:buNone/>
            </a:pPr>
            <a:r>
              <a:rPr lang="en" sz="1700" b="0" i="0" u="none" strike="noStrike" cap="none" dirty="0">
                <a:solidFill>
                  <a:srgbClr val="EF4F63"/>
                </a:solidFill>
                <a:latin typeface="+mj-lt"/>
                <a:ea typeface="Source Sans Pro"/>
                <a:cs typeface="Source Sans Pro"/>
                <a:sym typeface="Source Sans Pro"/>
              </a:rPr>
              <a:t>Commands</a:t>
            </a:r>
            <a:r>
              <a:rPr lang="en" sz="1500" b="0" i="0" u="none" strike="noStrike" cap="none" dirty="0">
                <a:solidFill>
                  <a:srgbClr val="000000"/>
                </a:solidFill>
                <a:latin typeface="+mj-lt"/>
                <a:ea typeface="Source Sans Pro"/>
                <a:cs typeface="Source Sans Pro"/>
                <a:sym typeface="Source Sans Pro"/>
              </a:rPr>
              <a:t/>
            </a:r>
            <a:br>
              <a:rPr lang="en" sz="1500" b="0" i="0" u="none" strike="noStrike" cap="none" dirty="0">
                <a:solidFill>
                  <a:srgbClr val="000000"/>
                </a:solidFill>
                <a:latin typeface="+mj-lt"/>
                <a:ea typeface="Source Sans Pro"/>
                <a:cs typeface="Source Sans Pro"/>
                <a:sym typeface="Source Sans Pro"/>
              </a:rPr>
            </a:br>
            <a:r>
              <a:rPr lang="en" sz="600" b="0" i="0" u="none" strike="noStrike" cap="none" dirty="0" smtClean="0">
                <a:solidFill>
                  <a:srgbClr val="000000"/>
                </a:solidFill>
                <a:latin typeface="+mj-lt"/>
                <a:ea typeface="Source Sans Pro"/>
                <a:cs typeface="Source Sans Pro"/>
                <a:sym typeface="Source Sans Pro"/>
              </a:rPr>
              <a:t> </a:t>
            </a:r>
            <a:r>
              <a:rPr lang="en" sz="1500" b="0" i="0" u="none" strike="noStrike" cap="none" dirty="0">
                <a:solidFill>
                  <a:srgbClr val="000000"/>
                </a:solidFill>
                <a:latin typeface="+mj-lt"/>
                <a:ea typeface="Source Sans Pro"/>
                <a:cs typeface="Source Sans Pro"/>
                <a:sym typeface="Source Sans Pro"/>
              </a:rPr>
              <a:t/>
            </a:r>
            <a:br>
              <a:rPr lang="en" sz="1500" b="0" i="0" u="none" strike="noStrike" cap="none" dirty="0">
                <a:solidFill>
                  <a:srgbClr val="000000"/>
                </a:solidFill>
                <a:latin typeface="+mj-lt"/>
                <a:ea typeface="Source Sans Pro"/>
                <a:cs typeface="Source Sans Pro"/>
                <a:sym typeface="Source Sans Pro"/>
              </a:rPr>
            </a:br>
            <a:r>
              <a:rPr lang="en" sz="1500" b="1" i="0" u="none" strike="noStrike" cap="none" dirty="0">
                <a:solidFill>
                  <a:srgbClr val="000000"/>
                </a:solidFill>
                <a:latin typeface="+mj-lt"/>
                <a:ea typeface="Georgia"/>
                <a:cs typeface="Georgia"/>
                <a:sym typeface="Georgia"/>
              </a:rPr>
              <a:t>Metacharacters: </a:t>
            </a:r>
            <a:r>
              <a:rPr lang="en" sz="1400" b="0" i="0" u="none" strike="noStrike" cap="none" dirty="0">
                <a:solidFill>
                  <a:srgbClr val="000000"/>
                </a:solidFill>
                <a:latin typeface="+mj-lt"/>
                <a:ea typeface="Georgia"/>
                <a:cs typeface="Georgia"/>
                <a:sym typeface="Georgia"/>
              </a:rPr>
              <a:t>Characters that can be used to represent other </a:t>
            </a:r>
            <a:r>
              <a:rPr lang="en" sz="1400" b="0" i="0" u="none" strike="noStrike" cap="none" dirty="0" smtClean="0">
                <a:solidFill>
                  <a:srgbClr val="000000"/>
                </a:solidFill>
                <a:latin typeface="+mj-lt"/>
                <a:ea typeface="Georgia"/>
                <a:cs typeface="Georgia"/>
                <a:sym typeface="Georgia"/>
              </a:rPr>
              <a:t>characters.</a:t>
            </a:r>
            <a:endParaRPr lang="en" sz="1300" dirty="0">
              <a:solidFill>
                <a:schemeClr val="dk1"/>
              </a:solidFill>
              <a:latin typeface="+mj-lt"/>
              <a:ea typeface="Roboto Mono"/>
              <a:cs typeface="Georgia"/>
              <a:sym typeface="Roboto Mono"/>
            </a:endParaRPr>
          </a:p>
          <a:p>
            <a:pPr marL="0" marR="0" lvl="0" indent="0" algn="l" rtl="0">
              <a:lnSpc>
                <a:spcPct val="115000"/>
              </a:lnSpc>
              <a:spcBef>
                <a:spcPts val="0"/>
              </a:spcBef>
              <a:spcAft>
                <a:spcPts val="0"/>
              </a:spcAft>
              <a:buClr>
                <a:srgbClr val="000000"/>
              </a:buClr>
              <a:buSzPts val="1700"/>
              <a:buFont typeface="Arial"/>
              <a:buNone/>
            </a:pPr>
            <a:r>
              <a:rPr lang="en" sz="1300" b="0" i="0" u="none" strike="noStrike" cap="none" dirty="0" smtClean="0">
                <a:solidFill>
                  <a:schemeClr val="dk1"/>
                </a:solidFill>
                <a:latin typeface="+mj-lt"/>
                <a:ea typeface="Roboto Mono"/>
                <a:cs typeface="Roboto Mono"/>
                <a:sym typeface="Roboto Mono"/>
              </a:rPr>
              <a:t>egrep</a:t>
            </a:r>
            <a:r>
              <a:rPr lang="en" sz="1500" b="0" i="0" u="none" strike="noStrike" cap="none" dirty="0">
                <a:solidFill>
                  <a:srgbClr val="000000"/>
                </a:solidFill>
                <a:latin typeface="+mj-lt"/>
                <a:ea typeface="Source Sans Pro"/>
                <a:cs typeface="Source Sans Pro"/>
                <a:sym typeface="Source Sans Pro"/>
              </a:rPr>
              <a:t>: </a:t>
            </a:r>
            <a:r>
              <a:rPr lang="en" sz="1500" b="0" i="0" u="none" strike="noStrike" cap="none" dirty="0" smtClean="0">
                <a:solidFill>
                  <a:srgbClr val="000000"/>
                </a:solidFill>
                <a:latin typeface="+mj-lt"/>
                <a:ea typeface="Source Sans Pro"/>
                <a:cs typeface="Source Sans Pro"/>
                <a:sym typeface="Source Sans Pro"/>
              </a:rPr>
              <a:t>“.” (</a:t>
            </a:r>
            <a:r>
              <a:rPr lang="en" sz="1300" b="0" i="0" u="none" strike="noStrike" cap="none" dirty="0">
                <a:solidFill>
                  <a:srgbClr val="292929"/>
                </a:solidFill>
                <a:highlight>
                  <a:schemeClr val="lt1"/>
                </a:highlight>
                <a:latin typeface="+mj-lt"/>
                <a:ea typeface="Georgia"/>
                <a:cs typeface="Georgia"/>
                <a:sym typeface="Georgia"/>
              </a:rPr>
              <a:t>Period) metacharacter, which represent </a:t>
            </a:r>
            <a:r>
              <a:rPr lang="en" sz="1300" b="0" i="1" u="none" strike="noStrike" cap="none" dirty="0">
                <a:solidFill>
                  <a:srgbClr val="292929"/>
                </a:solidFill>
                <a:highlight>
                  <a:schemeClr val="lt1"/>
                </a:highlight>
                <a:latin typeface="+mj-lt"/>
                <a:ea typeface="Georgia"/>
                <a:cs typeface="Georgia"/>
                <a:sym typeface="Georgia"/>
              </a:rPr>
              <a:t>any</a:t>
            </a:r>
            <a:r>
              <a:rPr lang="en" sz="1300" b="0" i="0" u="none" strike="noStrike" cap="none" dirty="0">
                <a:solidFill>
                  <a:srgbClr val="292929"/>
                </a:solidFill>
                <a:highlight>
                  <a:schemeClr val="lt1"/>
                </a:highlight>
                <a:latin typeface="+mj-lt"/>
                <a:ea typeface="Georgia"/>
                <a:cs typeface="Georgia"/>
                <a:sym typeface="Georgia"/>
              </a:rPr>
              <a:t> character. </a:t>
            </a:r>
            <a:endParaRPr lang="en" sz="1300" b="0" i="0" u="none" strike="noStrike" cap="none" dirty="0" smtClean="0">
              <a:solidFill>
                <a:srgbClr val="292929"/>
              </a:solidFill>
              <a:highlight>
                <a:schemeClr val="lt1"/>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1700"/>
              <a:buFont typeface="Arial"/>
              <a:buNone/>
            </a:pPr>
            <a:endParaRPr lang="en" sz="1300" b="0" i="0" u="none" strike="noStrike" cap="none" dirty="0" smtClean="0">
              <a:solidFill>
                <a:srgbClr val="292929"/>
              </a:solidFill>
              <a:highlight>
                <a:schemeClr val="lt1"/>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1700"/>
              <a:buFont typeface="Arial"/>
              <a:buNone/>
            </a:pPr>
            <a:r>
              <a:rPr lang="en" sz="1300" b="0" i="0" u="none" strike="noStrike" cap="none" dirty="0" smtClean="0">
                <a:solidFill>
                  <a:srgbClr val="292929"/>
                </a:solidFill>
                <a:highlight>
                  <a:schemeClr val="lt1"/>
                </a:highlight>
                <a:latin typeface="+mj-lt"/>
                <a:ea typeface="Georgia"/>
                <a:cs typeface="Georgia"/>
                <a:sym typeface="Georgia"/>
              </a:rPr>
              <a:t>Quantifier </a:t>
            </a:r>
            <a:r>
              <a:rPr lang="en" sz="1300" b="0" i="0" u="none" strike="noStrike" cap="none" dirty="0">
                <a:solidFill>
                  <a:srgbClr val="292929"/>
                </a:solidFill>
                <a:highlight>
                  <a:schemeClr val="lt1"/>
                </a:highlight>
                <a:latin typeface="+mj-lt"/>
                <a:ea typeface="Georgia"/>
                <a:cs typeface="Georgia"/>
                <a:sym typeface="Georgia"/>
              </a:rPr>
              <a:t>“+” (plus) which represent one or more occurrence of the proceeding expression, e.g “</a:t>
            </a:r>
            <a:r>
              <a:rPr lang="en" sz="1300" b="1" i="0" u="none" strike="noStrike" cap="none" dirty="0">
                <a:solidFill>
                  <a:srgbClr val="292929"/>
                </a:solidFill>
                <a:highlight>
                  <a:schemeClr val="lt1"/>
                </a:highlight>
                <a:latin typeface="+mj-lt"/>
                <a:ea typeface="Georgia"/>
                <a:cs typeface="Georgia"/>
                <a:sym typeface="Georgia"/>
              </a:rPr>
              <a:t>s+as</a:t>
            </a:r>
            <a:r>
              <a:rPr lang="en" sz="1300" b="0" i="0" u="none" strike="noStrike" cap="none" dirty="0">
                <a:solidFill>
                  <a:srgbClr val="292929"/>
                </a:solidFill>
                <a:highlight>
                  <a:schemeClr val="lt1"/>
                </a:highlight>
                <a:latin typeface="+mj-lt"/>
                <a:ea typeface="Georgia"/>
                <a:cs typeface="Georgia"/>
                <a:sym typeface="Georgia"/>
              </a:rPr>
              <a:t>” means: one or more </a:t>
            </a:r>
            <a:r>
              <a:rPr lang="en" sz="1300" b="1" i="0" u="none" strike="noStrike" cap="none" dirty="0">
                <a:solidFill>
                  <a:srgbClr val="292929"/>
                </a:solidFill>
                <a:highlight>
                  <a:schemeClr val="lt1"/>
                </a:highlight>
                <a:latin typeface="+mj-lt"/>
                <a:ea typeface="Georgia"/>
                <a:cs typeface="Georgia"/>
                <a:sym typeface="Georgia"/>
              </a:rPr>
              <a:t>s</a:t>
            </a:r>
            <a:r>
              <a:rPr lang="en" sz="1300" b="0" i="0" u="none" strike="noStrike" cap="none" dirty="0">
                <a:solidFill>
                  <a:srgbClr val="292929"/>
                </a:solidFill>
                <a:highlight>
                  <a:schemeClr val="lt1"/>
                </a:highlight>
                <a:latin typeface="+mj-lt"/>
                <a:ea typeface="Georgia"/>
                <a:cs typeface="Georgia"/>
                <a:sym typeface="Georgia"/>
              </a:rPr>
              <a:t> followed by </a:t>
            </a:r>
            <a:r>
              <a:rPr lang="en" sz="1300" b="1" i="0" u="none" strike="noStrike" cap="none" dirty="0">
                <a:solidFill>
                  <a:srgbClr val="292929"/>
                </a:solidFill>
                <a:highlight>
                  <a:schemeClr val="lt1"/>
                </a:highlight>
                <a:latin typeface="+mj-lt"/>
                <a:ea typeface="Georgia"/>
                <a:cs typeface="Georgia"/>
                <a:sym typeface="Georgia"/>
              </a:rPr>
              <a:t>as</a:t>
            </a:r>
            <a:r>
              <a:rPr lang="en" sz="1300" b="0" i="0" u="none" strike="noStrike" cap="none" dirty="0">
                <a:solidFill>
                  <a:srgbClr val="292929"/>
                </a:solidFill>
                <a:highlight>
                  <a:schemeClr val="lt1"/>
                </a:highlight>
                <a:latin typeface="+mj-lt"/>
                <a:ea typeface="Georgia"/>
                <a:cs typeface="Georgia"/>
                <a:sym typeface="Georgia"/>
              </a:rPr>
              <a:t>. </a:t>
            </a:r>
            <a:endParaRPr lang="en" sz="1300" b="0" i="0" u="none" strike="noStrike" cap="none" dirty="0" smtClean="0">
              <a:solidFill>
                <a:srgbClr val="292929"/>
              </a:solidFill>
              <a:highlight>
                <a:schemeClr val="lt1"/>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1700"/>
              <a:buFont typeface="Arial"/>
              <a:buNone/>
            </a:pPr>
            <a:endParaRPr lang="en" sz="1300" dirty="0">
              <a:solidFill>
                <a:srgbClr val="292929"/>
              </a:solidFill>
              <a:highlight>
                <a:schemeClr val="lt1"/>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1700"/>
              <a:buFont typeface="Arial"/>
              <a:buNone/>
            </a:pPr>
            <a:r>
              <a:rPr lang="en" sz="1300" b="0" i="0" u="none" strike="noStrike" cap="none" dirty="0" smtClean="0">
                <a:solidFill>
                  <a:srgbClr val="292929"/>
                </a:solidFill>
                <a:highlight>
                  <a:schemeClr val="lt1"/>
                </a:highlight>
                <a:latin typeface="+mj-lt"/>
                <a:ea typeface="Georgia"/>
                <a:cs typeface="Georgia"/>
                <a:sym typeface="Georgia"/>
              </a:rPr>
              <a:t>“*” </a:t>
            </a:r>
            <a:r>
              <a:rPr lang="en" sz="1300" b="0" i="0" u="none" strike="noStrike" cap="none" dirty="0">
                <a:solidFill>
                  <a:srgbClr val="292929"/>
                </a:solidFill>
                <a:highlight>
                  <a:schemeClr val="lt1"/>
                </a:highlight>
                <a:latin typeface="+mj-lt"/>
                <a:ea typeface="Georgia"/>
                <a:cs typeface="Georgia"/>
                <a:sym typeface="Georgia"/>
              </a:rPr>
              <a:t>(star) zero or more occurrence of the proceeding expression.</a:t>
            </a:r>
            <a:endParaRPr sz="1300" b="0" i="0" u="none" strike="noStrike" cap="none" dirty="0">
              <a:solidFill>
                <a:srgbClr val="292929"/>
              </a:solidFill>
              <a:highlight>
                <a:schemeClr val="lt1"/>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1300"/>
              <a:buFont typeface="Arial"/>
              <a:buNone/>
            </a:pPr>
            <a:endParaRPr lang="en" sz="1300" b="0" i="0" u="none" strike="noStrike" cap="none" dirty="0" smtClean="0">
              <a:solidFill>
                <a:srgbClr val="292929"/>
              </a:solidFill>
              <a:highlight>
                <a:schemeClr val="lt1"/>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1300"/>
              <a:buFont typeface="Arial"/>
              <a:buNone/>
            </a:pPr>
            <a:r>
              <a:rPr lang="en" sz="1300" b="0" i="0" u="none" strike="noStrike" cap="none" dirty="0" smtClean="0">
                <a:solidFill>
                  <a:srgbClr val="292929"/>
                </a:solidFill>
                <a:highlight>
                  <a:schemeClr val="lt1"/>
                </a:highlight>
                <a:latin typeface="+mj-lt"/>
                <a:ea typeface="Georgia"/>
                <a:cs typeface="Georgia"/>
                <a:sym typeface="Georgia"/>
              </a:rPr>
              <a:t>You </a:t>
            </a:r>
            <a:r>
              <a:rPr lang="en" sz="1300" b="0" i="0" u="none" strike="noStrike" cap="none" dirty="0">
                <a:solidFill>
                  <a:srgbClr val="292929"/>
                </a:solidFill>
                <a:highlight>
                  <a:schemeClr val="lt1"/>
                </a:highlight>
                <a:latin typeface="+mj-lt"/>
                <a:ea typeface="Georgia"/>
                <a:cs typeface="Georgia"/>
                <a:sym typeface="Georgia"/>
              </a:rPr>
              <a:t>can specify occurrence beyond </a:t>
            </a:r>
            <a:r>
              <a:rPr lang="en" sz="1300" b="1" i="0" u="none" strike="noStrike" cap="none" dirty="0">
                <a:solidFill>
                  <a:srgbClr val="292929"/>
                </a:solidFill>
                <a:highlight>
                  <a:schemeClr val="lt1"/>
                </a:highlight>
                <a:latin typeface="+mj-lt"/>
                <a:ea typeface="Georgia"/>
                <a:cs typeface="Georgia"/>
                <a:sym typeface="Georgia"/>
              </a:rPr>
              <a:t>plus</a:t>
            </a:r>
            <a:r>
              <a:rPr lang="en" sz="1300" b="0" i="0" u="none" strike="noStrike" cap="none" dirty="0">
                <a:solidFill>
                  <a:srgbClr val="292929"/>
                </a:solidFill>
                <a:highlight>
                  <a:schemeClr val="lt1"/>
                </a:highlight>
                <a:latin typeface="+mj-lt"/>
                <a:ea typeface="Georgia"/>
                <a:cs typeface="Georgia"/>
                <a:sym typeface="Georgia"/>
              </a:rPr>
              <a:t> or </a:t>
            </a:r>
            <a:r>
              <a:rPr lang="en" sz="1300" b="1" i="0" u="none" strike="noStrike" cap="none" dirty="0">
                <a:solidFill>
                  <a:srgbClr val="292929"/>
                </a:solidFill>
                <a:highlight>
                  <a:schemeClr val="lt1"/>
                </a:highlight>
                <a:latin typeface="+mj-lt"/>
                <a:ea typeface="Georgia"/>
                <a:cs typeface="Georgia"/>
                <a:sym typeface="Georgia"/>
              </a:rPr>
              <a:t>star</a:t>
            </a:r>
            <a:r>
              <a:rPr lang="en" sz="1300" b="0" i="0" u="none" strike="noStrike" cap="none" dirty="0">
                <a:solidFill>
                  <a:srgbClr val="292929"/>
                </a:solidFill>
                <a:highlight>
                  <a:schemeClr val="lt1"/>
                </a:highlight>
                <a:latin typeface="+mj-lt"/>
                <a:ea typeface="Georgia"/>
                <a:cs typeface="Georgia"/>
                <a:sym typeface="Georgia"/>
              </a:rPr>
              <a:t> metacharacters by using </a:t>
            </a:r>
            <a:r>
              <a:rPr lang="en" sz="1300" b="0" i="1" u="none" strike="noStrike" cap="none" dirty="0">
                <a:solidFill>
                  <a:srgbClr val="292929"/>
                </a:solidFill>
                <a:highlight>
                  <a:schemeClr val="lt1"/>
                </a:highlight>
                <a:latin typeface="+mj-lt"/>
                <a:ea typeface="Georgia"/>
                <a:cs typeface="Georgia"/>
                <a:sym typeface="Georgia"/>
              </a:rPr>
              <a:t>curly</a:t>
            </a:r>
            <a:r>
              <a:rPr lang="en" sz="1300" b="0" i="0" u="none" strike="noStrike" cap="none" dirty="0">
                <a:solidFill>
                  <a:srgbClr val="292929"/>
                </a:solidFill>
                <a:highlight>
                  <a:schemeClr val="lt1"/>
                </a:highlight>
                <a:latin typeface="+mj-lt"/>
                <a:ea typeface="Georgia"/>
                <a:cs typeface="Georgia"/>
                <a:sym typeface="Georgia"/>
              </a:rPr>
              <a:t> brackets </a:t>
            </a:r>
            <a:r>
              <a:rPr lang="en" sz="1300" b="1" i="0" u="none" strike="noStrike" cap="none" dirty="0">
                <a:solidFill>
                  <a:srgbClr val="292929"/>
                </a:solidFill>
                <a:highlight>
                  <a:schemeClr val="lt1"/>
                </a:highlight>
                <a:latin typeface="+mj-lt"/>
                <a:ea typeface="Georgia"/>
                <a:cs typeface="Georgia"/>
                <a:sym typeface="Georgia"/>
              </a:rPr>
              <a:t>({ })</a:t>
            </a:r>
            <a:r>
              <a:rPr lang="en" sz="1300" b="0" i="0" u="none" strike="noStrike" cap="none" dirty="0">
                <a:solidFill>
                  <a:srgbClr val="292929"/>
                </a:solidFill>
                <a:highlight>
                  <a:schemeClr val="lt1"/>
                </a:highlight>
                <a:latin typeface="+mj-lt"/>
                <a:ea typeface="Georgia"/>
                <a:cs typeface="Georgia"/>
                <a:sym typeface="Georgia"/>
              </a:rPr>
              <a:t> to specify exact number of occurrence. To search for multiple number of occurrence we can specify that using </a:t>
            </a:r>
            <a:r>
              <a:rPr lang="en" sz="1300" b="1" i="0" u="none" strike="noStrike" cap="none" dirty="0">
                <a:solidFill>
                  <a:srgbClr val="292929"/>
                </a:solidFill>
                <a:highlight>
                  <a:schemeClr val="lt1"/>
                </a:highlight>
                <a:latin typeface="+mj-lt"/>
                <a:ea typeface="Georgia"/>
                <a:cs typeface="Georgia"/>
                <a:sym typeface="Georgia"/>
              </a:rPr>
              <a:t>comma</a:t>
            </a:r>
            <a:r>
              <a:rPr lang="en" sz="1300" b="0" i="0" u="none" strike="noStrike" cap="none" dirty="0">
                <a:solidFill>
                  <a:srgbClr val="292929"/>
                </a:solidFill>
                <a:highlight>
                  <a:schemeClr val="lt1"/>
                </a:highlight>
                <a:latin typeface="+mj-lt"/>
                <a:ea typeface="Georgia"/>
                <a:cs typeface="Georgia"/>
                <a:sym typeface="Georgia"/>
              </a:rPr>
              <a:t> in </a:t>
            </a:r>
            <a:r>
              <a:rPr lang="en" sz="1300" b="1" i="1" u="none" strike="noStrike" cap="none" dirty="0">
                <a:solidFill>
                  <a:srgbClr val="292929"/>
                </a:solidFill>
                <a:highlight>
                  <a:schemeClr val="lt1"/>
                </a:highlight>
                <a:latin typeface="+mj-lt"/>
                <a:ea typeface="Georgia"/>
                <a:cs typeface="Georgia"/>
                <a:sym typeface="Georgia"/>
              </a:rPr>
              <a:t>curly</a:t>
            </a:r>
            <a:r>
              <a:rPr lang="en" sz="1300" b="0" i="0" u="none" strike="noStrike" cap="none" dirty="0">
                <a:solidFill>
                  <a:srgbClr val="292929"/>
                </a:solidFill>
                <a:highlight>
                  <a:schemeClr val="lt1"/>
                </a:highlight>
                <a:latin typeface="+mj-lt"/>
                <a:ea typeface="Georgia"/>
                <a:cs typeface="Georgia"/>
                <a:sym typeface="Georgia"/>
              </a:rPr>
              <a:t> bracket.</a:t>
            </a:r>
            <a:endParaRPr sz="1300" b="0" i="0" u="none" strike="noStrike" cap="none" dirty="0">
              <a:solidFill>
                <a:srgbClr val="292929"/>
              </a:solidFill>
              <a:highlight>
                <a:schemeClr val="lt1"/>
              </a:highlight>
              <a:latin typeface="+mj-lt"/>
              <a:ea typeface="Georgia"/>
              <a:cs typeface="Georgia"/>
              <a:sym typeface="Georgia"/>
            </a:endParaRPr>
          </a:p>
        </p:txBody>
      </p:sp>
      <p:sp>
        <p:nvSpPr>
          <p:cNvPr id="369" name="Google Shape;369;geda00f0913_0_130"/>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9</a:t>
            </a:fld>
            <a:endParaRPr/>
          </a:p>
        </p:txBody>
      </p:sp>
      <p:sp>
        <p:nvSpPr>
          <p:cNvPr id="370" name="Google Shape;370;geda00f0913_0_130"/>
          <p:cNvSpPr txBox="1">
            <a:spLocks noGrp="1"/>
          </p:cNvSpPr>
          <p:nvPr>
            <p:ph type="title"/>
          </p:nvPr>
        </p:nvSpPr>
        <p:spPr>
          <a:xfrm>
            <a:off x="663325" y="413049"/>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endParaRPr sz="2700" b="1" dirty="0"/>
          </a:p>
          <a:p>
            <a:pPr marL="0" lvl="0" indent="0" algn="l" rtl="0">
              <a:lnSpc>
                <a:spcPct val="100000"/>
              </a:lnSpc>
              <a:spcBef>
                <a:spcPts val="0"/>
              </a:spcBef>
              <a:spcAft>
                <a:spcPts val="0"/>
              </a:spcAft>
              <a:buSzPts val="2000"/>
              <a:buNone/>
            </a:pPr>
            <a:r>
              <a:rPr lang="en" sz="2700" b="1" dirty="0"/>
              <a:t>Search</a:t>
            </a:r>
            <a:endParaRPr sz="2700" b="1" dirty="0"/>
          </a:p>
        </p:txBody>
      </p:sp>
    </p:spTree>
    <p:extLst>
      <p:ext uri="{BB962C8B-B14F-4D97-AF65-F5344CB8AC3E}">
        <p14:creationId xmlns:p14="http://schemas.microsoft.com/office/powerpoint/2010/main" val="1357394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0"/>
                                        </p:tgtEl>
                                        <p:attrNameLst>
                                          <p:attrName>style.visibility</p:attrName>
                                        </p:attrNameLst>
                                      </p:cBhvr>
                                      <p:to>
                                        <p:strVal val="visible"/>
                                      </p:to>
                                    </p:set>
                                    <p:animEffect transition="in" filter="fade">
                                      <p:cBhvr>
                                        <p:cTn id="7" dur="1000"/>
                                        <p:tgtEl>
                                          <p:spTgt spid="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ge7d5f60f8b_0_18"/>
          <p:cNvSpPr txBox="1"/>
          <p:nvPr/>
        </p:nvSpPr>
        <p:spPr>
          <a:xfrm>
            <a:off x="625225" y="734825"/>
            <a:ext cx="8088900" cy="3405517"/>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2300"/>
              <a:buFont typeface="Arial"/>
              <a:buNone/>
            </a:pPr>
            <a:r>
              <a:rPr lang="en" b="0" i="0" u="none" strike="noStrike" cap="none" dirty="0">
                <a:solidFill>
                  <a:srgbClr val="EF4F63"/>
                </a:solidFill>
                <a:latin typeface="+mj-lt"/>
                <a:ea typeface="Source Sans Pro"/>
                <a:cs typeface="Source Sans Pro"/>
                <a:sym typeface="Source Sans Pro"/>
              </a:rPr>
              <a:t>Commands</a:t>
            </a:r>
            <a:r>
              <a:rPr lang="en" b="0" i="0" u="none" strike="noStrike" cap="none" dirty="0">
                <a:solidFill>
                  <a:srgbClr val="000000"/>
                </a:solidFill>
                <a:latin typeface="+mj-lt"/>
                <a:ea typeface="Source Sans Pro"/>
                <a:cs typeface="Source Sans Pro"/>
                <a:sym typeface="Source Sans Pro"/>
              </a:rPr>
              <a:t/>
            </a:r>
            <a:br>
              <a:rPr lang="en" b="0" i="0" u="none" strike="noStrike" cap="none" dirty="0">
                <a:solidFill>
                  <a:srgbClr val="000000"/>
                </a:solidFill>
                <a:latin typeface="+mj-lt"/>
                <a:ea typeface="Source Sans Pro"/>
                <a:cs typeface="Source Sans Pro"/>
                <a:sym typeface="Source Sans Pro"/>
              </a:rPr>
            </a:br>
            <a:r>
              <a:rPr lang="en" b="1" i="0" u="none" strike="noStrike" cap="none" dirty="0">
                <a:solidFill>
                  <a:srgbClr val="000000"/>
                </a:solidFill>
                <a:latin typeface="+mj-lt"/>
                <a:ea typeface="Georgia"/>
                <a:cs typeface="Georgia"/>
                <a:sym typeface="Georgia"/>
              </a:rPr>
              <a:t>Metacharacters: </a:t>
            </a:r>
            <a:endParaRPr b="0" i="0" u="none" strike="noStrike" cap="none" dirty="0">
              <a:solidFill>
                <a:srgbClr val="292929"/>
              </a:solidFill>
              <a:highlight>
                <a:schemeClr val="lt1"/>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1700"/>
              <a:buFont typeface="Arial"/>
              <a:buNone/>
            </a:pPr>
            <a:r>
              <a:rPr lang="en" b="0" i="0" u="none" strike="noStrike" cap="none" dirty="0">
                <a:solidFill>
                  <a:srgbClr val="292929"/>
                </a:solidFill>
                <a:highlight>
                  <a:schemeClr val="lt1"/>
                </a:highlight>
                <a:latin typeface="+mj-lt"/>
                <a:ea typeface="Georgia"/>
                <a:cs typeface="Georgia"/>
                <a:sym typeface="Georgia"/>
              </a:rPr>
              <a:t>We can use </a:t>
            </a:r>
            <a:r>
              <a:rPr lang="en" b="1" i="0" u="none" strike="noStrike" cap="none" dirty="0">
                <a:solidFill>
                  <a:srgbClr val="292929"/>
                </a:solidFill>
                <a:highlight>
                  <a:schemeClr val="lt1"/>
                </a:highlight>
                <a:latin typeface="+mj-lt"/>
                <a:ea typeface="Georgia"/>
                <a:cs typeface="Georgia"/>
                <a:sym typeface="Georgia"/>
              </a:rPr>
              <a:t>capturing group</a:t>
            </a:r>
            <a:r>
              <a:rPr lang="en" b="0" i="0" u="none" strike="noStrike" cap="none" dirty="0">
                <a:solidFill>
                  <a:srgbClr val="292929"/>
                </a:solidFill>
                <a:highlight>
                  <a:schemeClr val="lt1"/>
                </a:highlight>
                <a:latin typeface="+mj-lt"/>
                <a:ea typeface="Georgia"/>
                <a:cs typeface="Georgia"/>
                <a:sym typeface="Georgia"/>
              </a:rPr>
              <a:t> to capture multiple occurence of a string using parentheses(</a:t>
            </a:r>
            <a:r>
              <a:rPr lang="en" b="0" i="0" u="none" strike="noStrike" cap="none" dirty="0">
                <a:solidFill>
                  <a:schemeClr val="dk1"/>
                </a:solidFill>
                <a:highlight>
                  <a:schemeClr val="lt1"/>
                </a:highlight>
                <a:latin typeface="+mj-lt"/>
                <a:ea typeface="Courier New"/>
                <a:cs typeface="Courier New"/>
                <a:sym typeface="Courier New"/>
              </a:rPr>
              <a:t>"</a:t>
            </a:r>
            <a:r>
              <a:rPr lang="en" b="0" i="0" u="none" strike="noStrike" cap="none" dirty="0">
                <a:solidFill>
                  <a:srgbClr val="292929"/>
                </a:solidFill>
                <a:highlight>
                  <a:schemeClr val="lt1"/>
                </a:highlight>
                <a:latin typeface="+mj-lt"/>
                <a:ea typeface="Georgia"/>
                <a:cs typeface="Georgia"/>
                <a:sym typeface="Georgia"/>
              </a:rPr>
              <a:t>( </a:t>
            </a:r>
            <a:r>
              <a:rPr lang="en" b="0" i="0" u="none" strike="noStrike" cap="none" dirty="0" smtClean="0">
                <a:solidFill>
                  <a:srgbClr val="292929"/>
                </a:solidFill>
                <a:highlight>
                  <a:schemeClr val="lt1"/>
                </a:highlight>
                <a:latin typeface="+mj-lt"/>
                <a:ea typeface="Georgia"/>
                <a:cs typeface="Georgia"/>
                <a:sym typeface="Georgia"/>
              </a:rPr>
              <a:t>)</a:t>
            </a:r>
            <a:r>
              <a:rPr lang="en" b="0" i="0" u="none" strike="noStrike" cap="none" dirty="0" smtClean="0">
                <a:solidFill>
                  <a:schemeClr val="dk1"/>
                </a:solidFill>
                <a:highlight>
                  <a:schemeClr val="lt1"/>
                </a:highlight>
                <a:latin typeface="+mj-lt"/>
                <a:ea typeface="Courier New"/>
                <a:cs typeface="Courier New"/>
                <a:sym typeface="Courier New"/>
              </a:rPr>
              <a:t>"</a:t>
            </a:r>
            <a:r>
              <a:rPr lang="en" b="0" i="0" u="none" strike="noStrike" cap="none" dirty="0" smtClean="0">
                <a:solidFill>
                  <a:srgbClr val="292929"/>
                </a:solidFill>
                <a:highlight>
                  <a:schemeClr val="lt1"/>
                </a:highlight>
                <a:latin typeface="+mj-lt"/>
                <a:ea typeface="Georgia"/>
                <a:cs typeface="Georgia"/>
                <a:sym typeface="Georgia"/>
              </a:rPr>
              <a:t>).</a:t>
            </a:r>
          </a:p>
          <a:p>
            <a:pPr marL="0" marR="0" lvl="0" indent="0" algn="l" rtl="0">
              <a:lnSpc>
                <a:spcPct val="115000"/>
              </a:lnSpc>
              <a:spcBef>
                <a:spcPts val="0"/>
              </a:spcBef>
              <a:spcAft>
                <a:spcPts val="0"/>
              </a:spcAft>
              <a:buClr>
                <a:srgbClr val="000000"/>
              </a:buClr>
              <a:buSzPts val="1700"/>
              <a:buFont typeface="Arial"/>
              <a:buNone/>
            </a:pPr>
            <a:endParaRPr b="0" i="0" u="none" strike="noStrike" cap="none" dirty="0">
              <a:solidFill>
                <a:srgbClr val="292929"/>
              </a:solidFill>
              <a:highlight>
                <a:schemeClr val="lt1"/>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1400"/>
              <a:buFont typeface="Arial"/>
              <a:buNone/>
            </a:pPr>
            <a:r>
              <a:rPr lang="en" b="0" i="0" u="none" strike="noStrike" cap="none" dirty="0">
                <a:solidFill>
                  <a:srgbClr val="000000"/>
                </a:solidFill>
                <a:highlight>
                  <a:schemeClr val="lt1"/>
                </a:highlight>
                <a:latin typeface="+mj-lt"/>
                <a:ea typeface="Courier New"/>
                <a:cs typeface="Courier New"/>
                <a:sym typeface="Courier New"/>
              </a:rPr>
              <a:t>period(.): </a:t>
            </a:r>
            <a:r>
              <a:rPr lang="en" b="0" i="0" u="none" strike="noStrike" cap="none" dirty="0">
                <a:solidFill>
                  <a:srgbClr val="000000"/>
                </a:solidFill>
                <a:highlight>
                  <a:schemeClr val="lt2"/>
                </a:highlight>
                <a:latin typeface="+mj-lt"/>
                <a:ea typeface="Courier New"/>
                <a:cs typeface="Courier New"/>
                <a:sym typeface="Courier New"/>
              </a:rPr>
              <a:t>$ egrep </a:t>
            </a:r>
            <a:r>
              <a:rPr lang="en" b="0" i="0" u="none" strike="noStrike" cap="none" dirty="0">
                <a:solidFill>
                  <a:schemeClr val="dk1"/>
                </a:solidFill>
                <a:highlight>
                  <a:schemeClr val="lt2"/>
                </a:highlight>
                <a:latin typeface="+mj-lt"/>
                <a:ea typeface="Courier New"/>
                <a:cs typeface="Courier New"/>
                <a:sym typeface="Courier New"/>
              </a:rPr>
              <a:t>"</a:t>
            </a:r>
            <a:r>
              <a:rPr lang="en" b="0" i="0" u="none" strike="noStrike" cap="none" dirty="0">
                <a:solidFill>
                  <a:srgbClr val="000000"/>
                </a:solidFill>
                <a:highlight>
                  <a:schemeClr val="lt2"/>
                </a:highlight>
                <a:latin typeface="+mj-lt"/>
                <a:ea typeface="Courier New"/>
                <a:cs typeface="Courier New"/>
                <a:sym typeface="Courier New"/>
              </a:rPr>
              <a:t>i.g</a:t>
            </a:r>
            <a:r>
              <a:rPr lang="en" b="0" i="0" u="none" strike="noStrike" cap="none" dirty="0">
                <a:solidFill>
                  <a:schemeClr val="dk1"/>
                </a:solidFill>
                <a:highlight>
                  <a:schemeClr val="lt2"/>
                </a:highlight>
                <a:latin typeface="+mj-lt"/>
                <a:ea typeface="Courier New"/>
                <a:cs typeface="Courier New"/>
                <a:sym typeface="Courier New"/>
              </a:rPr>
              <a:t>" my_file.txt</a:t>
            </a:r>
            <a:endParaRPr b="0" i="0" u="none" strike="noStrike" cap="none" dirty="0">
              <a:solidFill>
                <a:schemeClr val="dk1"/>
              </a:solidFill>
              <a:highlight>
                <a:schemeClr val="lt2"/>
              </a:highlight>
              <a:latin typeface="+mj-lt"/>
              <a:ea typeface="Courier New"/>
              <a:cs typeface="Courier New"/>
              <a:sym typeface="Courier New"/>
            </a:endParaRPr>
          </a:p>
          <a:p>
            <a:pPr marL="0" marR="0" lvl="0" indent="0" algn="l" rtl="0">
              <a:lnSpc>
                <a:spcPct val="115000"/>
              </a:lnSpc>
              <a:spcBef>
                <a:spcPts val="0"/>
              </a:spcBef>
              <a:spcAft>
                <a:spcPts val="0"/>
              </a:spcAft>
              <a:buClr>
                <a:srgbClr val="000000"/>
              </a:buClr>
              <a:buSzPts val="1400"/>
              <a:buFont typeface="Arial"/>
              <a:buNone/>
            </a:pPr>
            <a:endParaRPr lang="en" b="0" i="0" u="none" strike="noStrike" cap="none" dirty="0" smtClean="0">
              <a:solidFill>
                <a:srgbClr val="000000"/>
              </a:solidFill>
              <a:highlight>
                <a:schemeClr val="lt1"/>
              </a:highlight>
              <a:latin typeface="+mj-lt"/>
              <a:ea typeface="Courier New"/>
              <a:cs typeface="Courier New"/>
              <a:sym typeface="Courier New"/>
            </a:endParaRPr>
          </a:p>
          <a:p>
            <a:pPr marL="0" marR="0" lvl="0" indent="0" algn="l" rtl="0">
              <a:lnSpc>
                <a:spcPct val="115000"/>
              </a:lnSpc>
              <a:spcBef>
                <a:spcPts val="0"/>
              </a:spcBef>
              <a:spcAft>
                <a:spcPts val="0"/>
              </a:spcAft>
              <a:buClr>
                <a:srgbClr val="000000"/>
              </a:buClr>
              <a:buSzPts val="1400"/>
              <a:buFont typeface="Arial"/>
              <a:buNone/>
            </a:pPr>
            <a:r>
              <a:rPr lang="en" b="0" i="0" u="none" strike="noStrike" cap="none" dirty="0" smtClean="0">
                <a:solidFill>
                  <a:srgbClr val="000000"/>
                </a:solidFill>
                <a:highlight>
                  <a:schemeClr val="lt1"/>
                </a:highlight>
                <a:latin typeface="+mj-lt"/>
                <a:ea typeface="Courier New"/>
                <a:cs typeface="Courier New"/>
                <a:sym typeface="Courier New"/>
              </a:rPr>
              <a:t>plus</a:t>
            </a:r>
            <a:r>
              <a:rPr lang="en" b="0" i="0" u="none" strike="noStrike" cap="none" dirty="0">
                <a:solidFill>
                  <a:srgbClr val="000000"/>
                </a:solidFill>
                <a:highlight>
                  <a:schemeClr val="lt1"/>
                </a:highlight>
                <a:latin typeface="+mj-lt"/>
                <a:ea typeface="Courier New"/>
                <a:cs typeface="Courier New"/>
                <a:sym typeface="Courier New"/>
              </a:rPr>
              <a:t>(+): </a:t>
            </a:r>
            <a:r>
              <a:rPr lang="en" b="0" i="0" u="none" strike="noStrike" cap="none" dirty="0">
                <a:solidFill>
                  <a:srgbClr val="000000"/>
                </a:solidFill>
                <a:highlight>
                  <a:schemeClr val="lt2"/>
                </a:highlight>
                <a:latin typeface="+mj-lt"/>
                <a:ea typeface="Courier New"/>
                <a:cs typeface="Courier New"/>
                <a:sym typeface="Courier New"/>
              </a:rPr>
              <a:t>$ egrep </a:t>
            </a:r>
            <a:r>
              <a:rPr lang="en" b="0" i="0" u="none" strike="noStrike" cap="none" dirty="0">
                <a:solidFill>
                  <a:schemeClr val="dk1"/>
                </a:solidFill>
                <a:highlight>
                  <a:schemeClr val="lt2"/>
                </a:highlight>
                <a:latin typeface="+mj-lt"/>
                <a:ea typeface="Courier New"/>
                <a:cs typeface="Courier New"/>
                <a:sym typeface="Courier New"/>
              </a:rPr>
              <a:t>"</a:t>
            </a:r>
            <a:r>
              <a:rPr lang="en" b="0" i="0" u="none" strike="noStrike" cap="none" dirty="0">
                <a:solidFill>
                  <a:srgbClr val="000000"/>
                </a:solidFill>
                <a:highlight>
                  <a:schemeClr val="lt2"/>
                </a:highlight>
                <a:latin typeface="+mj-lt"/>
                <a:ea typeface="Courier New"/>
                <a:cs typeface="Courier New"/>
                <a:sym typeface="Courier New"/>
              </a:rPr>
              <a:t>s+as</a:t>
            </a:r>
            <a:r>
              <a:rPr lang="en" b="0" i="0" u="none" strike="noStrike" cap="none" dirty="0">
                <a:solidFill>
                  <a:schemeClr val="dk1"/>
                </a:solidFill>
                <a:highlight>
                  <a:schemeClr val="lt2"/>
                </a:highlight>
                <a:latin typeface="+mj-lt"/>
                <a:ea typeface="Courier New"/>
                <a:cs typeface="Courier New"/>
                <a:sym typeface="Courier New"/>
              </a:rPr>
              <a:t>" my_file.txt</a:t>
            </a:r>
            <a:endParaRPr b="0" i="0" u="none" strike="noStrike" cap="none" dirty="0">
              <a:solidFill>
                <a:schemeClr val="dk1"/>
              </a:solidFill>
              <a:highlight>
                <a:schemeClr val="lt2"/>
              </a:highlight>
              <a:latin typeface="+mj-lt"/>
              <a:ea typeface="Courier New"/>
              <a:cs typeface="Courier New"/>
              <a:sym typeface="Courier New"/>
            </a:endParaRPr>
          </a:p>
          <a:p>
            <a:pPr marL="0" marR="0" lvl="0" indent="0" algn="l" rtl="0">
              <a:lnSpc>
                <a:spcPct val="115000"/>
              </a:lnSpc>
              <a:spcBef>
                <a:spcPts val="0"/>
              </a:spcBef>
              <a:spcAft>
                <a:spcPts val="0"/>
              </a:spcAft>
              <a:buClr>
                <a:srgbClr val="000000"/>
              </a:buClr>
              <a:buSzPts val="1400"/>
              <a:buFont typeface="Arial"/>
              <a:buNone/>
            </a:pPr>
            <a:endParaRPr lang="en" b="0" i="0" u="none" strike="noStrike" cap="none" dirty="0" smtClean="0">
              <a:solidFill>
                <a:srgbClr val="000000"/>
              </a:solidFill>
              <a:highlight>
                <a:schemeClr val="lt1"/>
              </a:highlight>
              <a:latin typeface="+mj-lt"/>
              <a:ea typeface="Courier New"/>
              <a:cs typeface="Courier New"/>
              <a:sym typeface="Courier New"/>
            </a:endParaRPr>
          </a:p>
          <a:p>
            <a:pPr marL="0" marR="0" lvl="0" indent="0" algn="l" rtl="0">
              <a:lnSpc>
                <a:spcPct val="115000"/>
              </a:lnSpc>
              <a:spcBef>
                <a:spcPts val="0"/>
              </a:spcBef>
              <a:spcAft>
                <a:spcPts val="0"/>
              </a:spcAft>
              <a:buClr>
                <a:srgbClr val="000000"/>
              </a:buClr>
              <a:buSzPts val="1400"/>
              <a:buFont typeface="Arial"/>
              <a:buNone/>
            </a:pPr>
            <a:r>
              <a:rPr lang="en" b="0" i="0" u="none" strike="noStrike" cap="none" dirty="0" smtClean="0">
                <a:solidFill>
                  <a:srgbClr val="000000"/>
                </a:solidFill>
                <a:highlight>
                  <a:schemeClr val="lt1"/>
                </a:highlight>
                <a:latin typeface="+mj-lt"/>
                <a:ea typeface="Courier New"/>
                <a:cs typeface="Courier New"/>
                <a:sym typeface="Courier New"/>
              </a:rPr>
              <a:t>star</a:t>
            </a:r>
            <a:r>
              <a:rPr lang="en" b="0" i="0" u="none" strike="noStrike" cap="none" dirty="0">
                <a:solidFill>
                  <a:srgbClr val="000000"/>
                </a:solidFill>
                <a:highlight>
                  <a:schemeClr val="lt1"/>
                </a:highlight>
                <a:latin typeface="+mj-lt"/>
                <a:ea typeface="Courier New"/>
                <a:cs typeface="Courier New"/>
                <a:sym typeface="Courier New"/>
              </a:rPr>
              <a:t>(*): </a:t>
            </a:r>
            <a:r>
              <a:rPr lang="en" b="0" i="0" u="none" strike="noStrike" cap="none" dirty="0">
                <a:solidFill>
                  <a:srgbClr val="000000"/>
                </a:solidFill>
                <a:highlight>
                  <a:schemeClr val="lt2"/>
                </a:highlight>
                <a:latin typeface="+mj-lt"/>
                <a:ea typeface="Courier New"/>
                <a:cs typeface="Courier New"/>
                <a:sym typeface="Courier New"/>
              </a:rPr>
              <a:t>$ egrep </a:t>
            </a:r>
            <a:r>
              <a:rPr lang="en" b="0" i="0" u="none" strike="noStrike" cap="none" dirty="0">
                <a:solidFill>
                  <a:schemeClr val="dk1"/>
                </a:solidFill>
                <a:highlight>
                  <a:schemeClr val="lt2"/>
                </a:highlight>
                <a:latin typeface="+mj-lt"/>
                <a:ea typeface="Courier New"/>
                <a:cs typeface="Courier New"/>
                <a:sym typeface="Courier New"/>
              </a:rPr>
              <a:t>"</a:t>
            </a:r>
            <a:r>
              <a:rPr lang="en" b="0" i="0" u="none" strike="noStrike" cap="none" dirty="0">
                <a:solidFill>
                  <a:srgbClr val="000000"/>
                </a:solidFill>
                <a:highlight>
                  <a:schemeClr val="lt2"/>
                </a:highlight>
                <a:latin typeface="+mj-lt"/>
                <a:ea typeface="Courier New"/>
                <a:cs typeface="Courier New"/>
                <a:sym typeface="Courier New"/>
              </a:rPr>
              <a:t>s*as</a:t>
            </a:r>
            <a:r>
              <a:rPr lang="en" b="0" i="0" u="none" strike="noStrike" cap="none" dirty="0">
                <a:solidFill>
                  <a:schemeClr val="dk1"/>
                </a:solidFill>
                <a:highlight>
                  <a:schemeClr val="lt2"/>
                </a:highlight>
                <a:latin typeface="+mj-lt"/>
                <a:ea typeface="Courier New"/>
                <a:cs typeface="Courier New"/>
                <a:sym typeface="Courier New"/>
              </a:rPr>
              <a:t>" my_file.txt</a:t>
            </a:r>
            <a:endParaRPr b="0" i="0" u="none" strike="noStrike" cap="none" dirty="0">
              <a:solidFill>
                <a:schemeClr val="dk1"/>
              </a:solidFill>
              <a:highlight>
                <a:schemeClr val="lt2"/>
              </a:highlight>
              <a:latin typeface="+mj-lt"/>
              <a:ea typeface="Courier New"/>
              <a:cs typeface="Courier New"/>
              <a:sym typeface="Courier New"/>
            </a:endParaRPr>
          </a:p>
          <a:p>
            <a:pPr marL="0" marR="0" lvl="0" indent="0" algn="l" rtl="0">
              <a:lnSpc>
                <a:spcPct val="115000"/>
              </a:lnSpc>
              <a:spcBef>
                <a:spcPts val="0"/>
              </a:spcBef>
              <a:spcAft>
                <a:spcPts val="0"/>
              </a:spcAft>
              <a:buClr>
                <a:srgbClr val="000000"/>
              </a:buClr>
              <a:buSzPts val="1400"/>
              <a:buFont typeface="Arial"/>
              <a:buNone/>
            </a:pPr>
            <a:endParaRPr lang="en" b="0" i="0" u="none" strike="noStrike" cap="none" dirty="0" smtClean="0">
              <a:solidFill>
                <a:srgbClr val="000000"/>
              </a:solidFill>
              <a:highlight>
                <a:schemeClr val="lt1"/>
              </a:highlight>
              <a:latin typeface="+mj-lt"/>
              <a:ea typeface="Courier New"/>
              <a:cs typeface="Courier New"/>
              <a:sym typeface="Courier New"/>
            </a:endParaRPr>
          </a:p>
          <a:p>
            <a:pPr marL="0" marR="0" lvl="0" indent="0" algn="l" rtl="0">
              <a:lnSpc>
                <a:spcPct val="115000"/>
              </a:lnSpc>
              <a:spcBef>
                <a:spcPts val="0"/>
              </a:spcBef>
              <a:spcAft>
                <a:spcPts val="0"/>
              </a:spcAft>
              <a:buClr>
                <a:srgbClr val="000000"/>
              </a:buClr>
              <a:buSzPts val="1400"/>
              <a:buFont typeface="Arial"/>
              <a:buNone/>
            </a:pPr>
            <a:r>
              <a:rPr lang="en" b="0" i="0" u="none" strike="noStrike" cap="none" dirty="0" smtClean="0">
                <a:solidFill>
                  <a:srgbClr val="000000"/>
                </a:solidFill>
                <a:highlight>
                  <a:schemeClr val="lt1"/>
                </a:highlight>
                <a:latin typeface="+mj-lt"/>
                <a:ea typeface="Courier New"/>
                <a:cs typeface="Courier New"/>
                <a:sym typeface="Courier New"/>
              </a:rPr>
              <a:t>bracket</a:t>
            </a:r>
            <a:r>
              <a:rPr lang="en" b="0" i="0" u="none" strike="noStrike" cap="none" dirty="0">
                <a:solidFill>
                  <a:srgbClr val="000000"/>
                </a:solidFill>
                <a:highlight>
                  <a:schemeClr val="lt1"/>
                </a:highlight>
                <a:latin typeface="+mj-lt"/>
                <a:ea typeface="Courier New"/>
                <a:cs typeface="Courier New"/>
                <a:sym typeface="Courier New"/>
              </a:rPr>
              <a:t>({})single: </a:t>
            </a:r>
            <a:r>
              <a:rPr lang="en" b="0" i="0" u="none" strike="noStrike" cap="none" dirty="0">
                <a:solidFill>
                  <a:srgbClr val="000000"/>
                </a:solidFill>
                <a:highlight>
                  <a:schemeClr val="lt2"/>
                </a:highlight>
                <a:latin typeface="+mj-lt"/>
                <a:ea typeface="Courier New"/>
                <a:cs typeface="Courier New"/>
                <a:sym typeface="Courier New"/>
              </a:rPr>
              <a:t>$ egrep </a:t>
            </a:r>
            <a:r>
              <a:rPr lang="en" b="0" i="0" u="none" strike="noStrike" cap="none" dirty="0">
                <a:solidFill>
                  <a:schemeClr val="dk1"/>
                </a:solidFill>
                <a:highlight>
                  <a:schemeClr val="lt2"/>
                </a:highlight>
                <a:latin typeface="+mj-lt"/>
                <a:ea typeface="Courier New"/>
                <a:cs typeface="Courier New"/>
                <a:sym typeface="Courier New"/>
              </a:rPr>
              <a:t>"s{</a:t>
            </a:r>
            <a:r>
              <a:rPr lang="en" b="0" i="0" u="none" strike="noStrike" cap="none" dirty="0">
                <a:solidFill>
                  <a:srgbClr val="000000"/>
                </a:solidFill>
                <a:highlight>
                  <a:schemeClr val="lt2"/>
                </a:highlight>
                <a:latin typeface="+mj-lt"/>
                <a:ea typeface="Courier New"/>
                <a:cs typeface="Courier New"/>
                <a:sym typeface="Courier New"/>
              </a:rPr>
              <a:t>2}</a:t>
            </a:r>
            <a:r>
              <a:rPr lang="en" b="0" i="0" u="none" strike="noStrike" cap="none" dirty="0">
                <a:solidFill>
                  <a:schemeClr val="dk1"/>
                </a:solidFill>
                <a:highlight>
                  <a:schemeClr val="lt2"/>
                </a:highlight>
                <a:latin typeface="+mj-lt"/>
                <a:ea typeface="Courier New"/>
                <a:cs typeface="Courier New"/>
                <a:sym typeface="Courier New"/>
              </a:rPr>
              <a:t>" my_file.txt   multiple: </a:t>
            </a:r>
            <a:r>
              <a:rPr lang="en" b="0" i="0" u="none" strike="noStrike" cap="none" dirty="0">
                <a:solidFill>
                  <a:srgbClr val="000000"/>
                </a:solidFill>
                <a:highlight>
                  <a:schemeClr val="lt2"/>
                </a:highlight>
                <a:latin typeface="+mj-lt"/>
                <a:ea typeface="Courier New"/>
                <a:cs typeface="Courier New"/>
                <a:sym typeface="Courier New"/>
              </a:rPr>
              <a:t>$ egrep </a:t>
            </a:r>
            <a:r>
              <a:rPr lang="en" b="0" i="0" u="none" strike="noStrike" cap="none" dirty="0">
                <a:solidFill>
                  <a:schemeClr val="dk1"/>
                </a:solidFill>
                <a:highlight>
                  <a:schemeClr val="lt2"/>
                </a:highlight>
                <a:latin typeface="+mj-lt"/>
                <a:ea typeface="Courier New"/>
                <a:cs typeface="Courier New"/>
                <a:sym typeface="Courier New"/>
              </a:rPr>
              <a:t>"s{</a:t>
            </a:r>
            <a:r>
              <a:rPr lang="en" b="0" i="0" u="none" strike="noStrike" cap="none" dirty="0">
                <a:solidFill>
                  <a:srgbClr val="000000"/>
                </a:solidFill>
                <a:highlight>
                  <a:schemeClr val="lt2"/>
                </a:highlight>
                <a:latin typeface="+mj-lt"/>
                <a:ea typeface="Courier New"/>
                <a:cs typeface="Courier New"/>
                <a:sym typeface="Courier New"/>
              </a:rPr>
              <a:t>2,3}</a:t>
            </a:r>
            <a:r>
              <a:rPr lang="en" b="0" i="0" u="none" strike="noStrike" cap="none" dirty="0">
                <a:solidFill>
                  <a:schemeClr val="dk1"/>
                </a:solidFill>
                <a:highlight>
                  <a:schemeClr val="lt2"/>
                </a:highlight>
                <a:latin typeface="+mj-lt"/>
                <a:ea typeface="Courier New"/>
                <a:cs typeface="Courier New"/>
                <a:sym typeface="Courier New"/>
              </a:rPr>
              <a:t>" my_file.txt</a:t>
            </a:r>
            <a:endParaRPr b="0" i="0" u="none" strike="noStrike" cap="none" dirty="0">
              <a:solidFill>
                <a:schemeClr val="dk1"/>
              </a:solidFill>
              <a:highlight>
                <a:schemeClr val="lt2"/>
              </a:highlight>
              <a:latin typeface="+mj-lt"/>
              <a:ea typeface="Courier New"/>
              <a:cs typeface="Courier New"/>
              <a:sym typeface="Courier New"/>
            </a:endParaRPr>
          </a:p>
          <a:p>
            <a:pPr marL="0" marR="0" lvl="0" indent="0" algn="l" rtl="0">
              <a:lnSpc>
                <a:spcPct val="115000"/>
              </a:lnSpc>
              <a:spcBef>
                <a:spcPts val="0"/>
              </a:spcBef>
              <a:spcAft>
                <a:spcPts val="0"/>
              </a:spcAft>
              <a:buClr>
                <a:srgbClr val="000000"/>
              </a:buClr>
              <a:buSzPts val="1400"/>
              <a:buFont typeface="Arial"/>
              <a:buNone/>
            </a:pPr>
            <a:endParaRPr lang="en" b="0" i="0" u="none" strike="noStrike" cap="none" dirty="0" smtClean="0">
              <a:solidFill>
                <a:srgbClr val="000000"/>
              </a:solidFill>
              <a:highlight>
                <a:schemeClr val="lt1"/>
              </a:highlight>
              <a:latin typeface="+mj-lt"/>
              <a:ea typeface="Courier New"/>
              <a:cs typeface="Courier New"/>
              <a:sym typeface="Courier New"/>
            </a:endParaRPr>
          </a:p>
          <a:p>
            <a:pPr marL="0" marR="0" lvl="0" indent="0" algn="l" rtl="0">
              <a:lnSpc>
                <a:spcPct val="115000"/>
              </a:lnSpc>
              <a:spcBef>
                <a:spcPts val="0"/>
              </a:spcBef>
              <a:spcAft>
                <a:spcPts val="0"/>
              </a:spcAft>
              <a:buClr>
                <a:srgbClr val="000000"/>
              </a:buClr>
              <a:buSzPts val="1400"/>
              <a:buFont typeface="Arial"/>
              <a:buNone/>
            </a:pPr>
            <a:r>
              <a:rPr lang="en" b="0" i="0" u="none" strike="noStrike" cap="none" dirty="0" smtClean="0">
                <a:solidFill>
                  <a:srgbClr val="000000"/>
                </a:solidFill>
                <a:highlight>
                  <a:schemeClr val="lt1"/>
                </a:highlight>
                <a:latin typeface="+mj-lt"/>
                <a:ea typeface="Courier New"/>
                <a:cs typeface="Courier New"/>
                <a:sym typeface="Courier New"/>
              </a:rPr>
              <a:t>capturing </a:t>
            </a:r>
            <a:r>
              <a:rPr lang="en" b="0" i="0" u="none" strike="noStrike" cap="none" dirty="0">
                <a:solidFill>
                  <a:srgbClr val="000000"/>
                </a:solidFill>
                <a:highlight>
                  <a:schemeClr val="lt1"/>
                </a:highlight>
                <a:latin typeface="+mj-lt"/>
                <a:ea typeface="Courier New"/>
                <a:cs typeface="Courier New"/>
                <a:sym typeface="Courier New"/>
              </a:rPr>
              <a:t>group (</a:t>
            </a:r>
            <a:r>
              <a:rPr lang="en" b="0" i="0" u="none" strike="noStrike" cap="none" dirty="0">
                <a:solidFill>
                  <a:schemeClr val="dk1"/>
                </a:solidFill>
                <a:highlight>
                  <a:schemeClr val="lt1"/>
                </a:highlight>
                <a:latin typeface="+mj-lt"/>
                <a:ea typeface="Courier New"/>
                <a:cs typeface="Courier New"/>
                <a:sym typeface="Courier New"/>
              </a:rPr>
              <a:t>"( )"</a:t>
            </a:r>
            <a:r>
              <a:rPr lang="en" b="0" i="0" u="none" strike="noStrike" cap="none" dirty="0">
                <a:solidFill>
                  <a:srgbClr val="000000"/>
                </a:solidFill>
                <a:highlight>
                  <a:schemeClr val="lt1"/>
                </a:highlight>
                <a:latin typeface="+mj-lt"/>
                <a:ea typeface="Courier New"/>
                <a:cs typeface="Courier New"/>
                <a:sym typeface="Courier New"/>
              </a:rPr>
              <a:t>): </a:t>
            </a:r>
            <a:r>
              <a:rPr lang="en" b="0" i="0" u="none" strike="noStrike" cap="none" dirty="0">
                <a:solidFill>
                  <a:srgbClr val="000000"/>
                </a:solidFill>
                <a:highlight>
                  <a:schemeClr val="lt2"/>
                </a:highlight>
                <a:latin typeface="+mj-lt"/>
                <a:ea typeface="Courier New"/>
                <a:cs typeface="Courier New"/>
                <a:sym typeface="Courier New"/>
              </a:rPr>
              <a:t>$ egrep </a:t>
            </a:r>
            <a:r>
              <a:rPr lang="en" b="0" i="0" u="none" strike="noStrike" cap="none" dirty="0">
                <a:solidFill>
                  <a:schemeClr val="dk1"/>
                </a:solidFill>
                <a:highlight>
                  <a:schemeClr val="lt2"/>
                </a:highlight>
                <a:latin typeface="+mj-lt"/>
                <a:ea typeface="Courier New"/>
                <a:cs typeface="Courier New"/>
                <a:sym typeface="Courier New"/>
              </a:rPr>
              <a:t>"(</a:t>
            </a:r>
            <a:r>
              <a:rPr lang="en" b="0" i="0" u="none" strike="noStrike" cap="none" dirty="0">
                <a:solidFill>
                  <a:srgbClr val="000000"/>
                </a:solidFill>
                <a:highlight>
                  <a:schemeClr val="lt2"/>
                </a:highlight>
                <a:latin typeface="+mj-lt"/>
                <a:ea typeface="Courier New"/>
                <a:cs typeface="Courier New"/>
                <a:sym typeface="Courier New"/>
              </a:rPr>
              <a:t>iss){2}</a:t>
            </a:r>
            <a:r>
              <a:rPr lang="en" b="0" i="0" u="none" strike="noStrike" cap="none" dirty="0">
                <a:solidFill>
                  <a:schemeClr val="dk1"/>
                </a:solidFill>
                <a:highlight>
                  <a:schemeClr val="lt2"/>
                </a:highlight>
                <a:latin typeface="+mj-lt"/>
                <a:ea typeface="Courier New"/>
                <a:cs typeface="Courier New"/>
                <a:sym typeface="Courier New"/>
              </a:rPr>
              <a:t>" my_file.txt</a:t>
            </a:r>
            <a:endParaRPr b="0" i="0" u="none" strike="noStrike" cap="none" dirty="0">
              <a:solidFill>
                <a:srgbClr val="292929"/>
              </a:solidFill>
              <a:highlight>
                <a:schemeClr val="lt1"/>
              </a:highlight>
              <a:latin typeface="+mj-lt"/>
              <a:ea typeface="Georgia"/>
              <a:cs typeface="Georgia"/>
              <a:sym typeface="Georgia"/>
            </a:endParaRPr>
          </a:p>
        </p:txBody>
      </p:sp>
      <p:sp>
        <p:nvSpPr>
          <p:cNvPr id="376" name="Google Shape;376;ge7d5f60f8b_0_18"/>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10</a:t>
            </a:fld>
            <a:endParaRPr/>
          </a:p>
        </p:txBody>
      </p:sp>
      <p:sp>
        <p:nvSpPr>
          <p:cNvPr id="377" name="Google Shape;377;ge7d5f60f8b_0_18"/>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endParaRPr sz="2700" b="1"/>
          </a:p>
          <a:p>
            <a:pPr marL="0" lvl="0" indent="0" algn="l" rtl="0">
              <a:lnSpc>
                <a:spcPct val="100000"/>
              </a:lnSpc>
              <a:spcBef>
                <a:spcPts val="0"/>
              </a:spcBef>
              <a:spcAft>
                <a:spcPts val="0"/>
              </a:spcAft>
              <a:buSzPts val="2000"/>
              <a:buNone/>
            </a:pPr>
            <a:r>
              <a:rPr lang="en" sz="2700" b="1"/>
              <a:t>Search</a:t>
            </a:r>
            <a:endParaRPr sz="27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7"/>
                                        </p:tgtEl>
                                        <p:attrNameLst>
                                          <p:attrName>style.visibility</p:attrName>
                                        </p:attrNameLst>
                                      </p:cBhvr>
                                      <p:to>
                                        <p:strVal val="visible"/>
                                      </p:to>
                                    </p:set>
                                    <p:animEffect transition="in" filter="fade">
                                      <p:cBhvr>
                                        <p:cTn id="7" dur="1000"/>
                                        <p:tgtEl>
                                          <p:spTgt spid="37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5">
                                            <p:txEl>
                                              <p:pRg st="0" end="0"/>
                                            </p:txEl>
                                          </p:spTgt>
                                        </p:tgtEl>
                                        <p:attrNameLst>
                                          <p:attrName>style.visibility</p:attrName>
                                        </p:attrNameLst>
                                      </p:cBhvr>
                                      <p:to>
                                        <p:strVal val="visible"/>
                                      </p:to>
                                    </p:set>
                                    <p:animEffect transition="in" filter="fade">
                                      <p:cBhvr>
                                        <p:cTn id="12" dur="1000"/>
                                        <p:tgtEl>
                                          <p:spTgt spid="37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5">
                                            <p:txEl>
                                              <p:pRg st="1" end="1"/>
                                            </p:txEl>
                                          </p:spTgt>
                                        </p:tgtEl>
                                        <p:attrNameLst>
                                          <p:attrName>style.visibility</p:attrName>
                                        </p:attrNameLst>
                                      </p:cBhvr>
                                      <p:to>
                                        <p:strVal val="visible"/>
                                      </p:to>
                                    </p:set>
                                    <p:animEffect transition="in" filter="fade">
                                      <p:cBhvr>
                                        <p:cTn id="17" dur="1000"/>
                                        <p:tgtEl>
                                          <p:spTgt spid="37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5">
                                            <p:txEl>
                                              <p:pRg st="3" end="3"/>
                                            </p:txEl>
                                          </p:spTgt>
                                        </p:tgtEl>
                                        <p:attrNameLst>
                                          <p:attrName>style.visibility</p:attrName>
                                        </p:attrNameLst>
                                      </p:cBhvr>
                                      <p:to>
                                        <p:strVal val="visible"/>
                                      </p:to>
                                    </p:set>
                                    <p:animEffect transition="in" filter="fade">
                                      <p:cBhvr>
                                        <p:cTn id="22" dur="1000"/>
                                        <p:tgtEl>
                                          <p:spTgt spid="37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5">
                                            <p:txEl>
                                              <p:pRg st="5" end="5"/>
                                            </p:txEl>
                                          </p:spTgt>
                                        </p:tgtEl>
                                        <p:attrNameLst>
                                          <p:attrName>style.visibility</p:attrName>
                                        </p:attrNameLst>
                                      </p:cBhvr>
                                      <p:to>
                                        <p:strVal val="visible"/>
                                      </p:to>
                                    </p:set>
                                    <p:animEffect transition="in" filter="fade">
                                      <p:cBhvr>
                                        <p:cTn id="27" dur="1000"/>
                                        <p:tgtEl>
                                          <p:spTgt spid="37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5">
                                            <p:txEl>
                                              <p:pRg st="7" end="7"/>
                                            </p:txEl>
                                          </p:spTgt>
                                        </p:tgtEl>
                                        <p:attrNameLst>
                                          <p:attrName>style.visibility</p:attrName>
                                        </p:attrNameLst>
                                      </p:cBhvr>
                                      <p:to>
                                        <p:strVal val="visible"/>
                                      </p:to>
                                    </p:set>
                                    <p:animEffect transition="in" filter="fade">
                                      <p:cBhvr>
                                        <p:cTn id="32" dur="1000"/>
                                        <p:tgtEl>
                                          <p:spTgt spid="375">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75">
                                            <p:txEl>
                                              <p:pRg st="9" end="9"/>
                                            </p:txEl>
                                          </p:spTgt>
                                        </p:tgtEl>
                                        <p:attrNameLst>
                                          <p:attrName>style.visibility</p:attrName>
                                        </p:attrNameLst>
                                      </p:cBhvr>
                                      <p:to>
                                        <p:strVal val="visible"/>
                                      </p:to>
                                    </p:set>
                                    <p:animEffect transition="in" filter="fade">
                                      <p:cBhvr>
                                        <p:cTn id="37" dur="1000"/>
                                        <p:tgtEl>
                                          <p:spTgt spid="375">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75">
                                            <p:txEl>
                                              <p:pRg st="11" end="11"/>
                                            </p:txEl>
                                          </p:spTgt>
                                        </p:tgtEl>
                                        <p:attrNameLst>
                                          <p:attrName>style.visibility</p:attrName>
                                        </p:attrNameLst>
                                      </p:cBhvr>
                                      <p:to>
                                        <p:strVal val="visible"/>
                                      </p:to>
                                    </p:set>
                                    <p:animEffect transition="in" filter="fade">
                                      <p:cBhvr>
                                        <p:cTn id="42" dur="1000"/>
                                        <p:tgtEl>
                                          <p:spTgt spid="37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ge7d5f60f8b_0_43"/>
          <p:cNvSpPr txBox="1"/>
          <p:nvPr/>
        </p:nvSpPr>
        <p:spPr>
          <a:xfrm>
            <a:off x="701425" y="704904"/>
            <a:ext cx="7861800" cy="113874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1200"/>
              </a:spcBef>
              <a:spcAft>
                <a:spcPts val="1200"/>
              </a:spcAft>
              <a:buClr>
                <a:srgbClr val="000000"/>
              </a:buClr>
              <a:buSzPts val="1600"/>
              <a:buFont typeface="Arial"/>
              <a:buNone/>
            </a:pPr>
            <a:r>
              <a:rPr lang="en" b="0" i="0" u="none" strike="noStrike" cap="none" dirty="0">
                <a:solidFill>
                  <a:srgbClr val="292929"/>
                </a:solidFill>
                <a:highlight>
                  <a:srgbClr val="FFFFFF"/>
                </a:highlight>
                <a:latin typeface="+mj-lt"/>
                <a:ea typeface="Georgia"/>
                <a:cs typeface="Georgia"/>
                <a:sym typeface="Georgia"/>
              </a:rPr>
              <a:t>One of the most powerful features of the command line is skilled use of the pipe (|). The pipe allows us to take the output of a command, which would normally be printed to the console, and use it as the input to another command.</a:t>
            </a:r>
            <a:endParaRPr b="0" i="0" u="none" strike="noStrike" cap="none" dirty="0">
              <a:solidFill>
                <a:srgbClr val="292929"/>
              </a:solidFill>
              <a:highlight>
                <a:srgbClr val="FFFFFF"/>
              </a:highlight>
              <a:latin typeface="+mj-lt"/>
              <a:ea typeface="Georgia"/>
              <a:cs typeface="Georgia"/>
              <a:sym typeface="Georgia"/>
            </a:endParaRPr>
          </a:p>
        </p:txBody>
      </p:sp>
      <p:sp>
        <p:nvSpPr>
          <p:cNvPr id="391" name="Google Shape;391;ge7d5f60f8b_0_43"/>
          <p:cNvSpPr txBox="1"/>
          <p:nvPr/>
        </p:nvSpPr>
        <p:spPr>
          <a:xfrm>
            <a:off x="701425" y="1614589"/>
            <a:ext cx="7419300" cy="2909997"/>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800"/>
              <a:buFont typeface="Arial"/>
              <a:buNone/>
            </a:pPr>
            <a:r>
              <a:rPr lang="en" b="0" i="0" u="none" strike="noStrike" cap="none" dirty="0" smtClean="0">
                <a:solidFill>
                  <a:srgbClr val="EF4F63"/>
                </a:solidFill>
                <a:latin typeface="+mj-lt"/>
                <a:ea typeface="Source Sans Pro"/>
                <a:cs typeface="Source Sans Pro"/>
                <a:sym typeface="Source Sans Pro"/>
              </a:rPr>
              <a:t>Commands</a:t>
            </a:r>
            <a:endParaRPr b="0" i="0" u="none" strike="noStrike" cap="none" dirty="0">
              <a:solidFill>
                <a:srgbClr val="EF4F63"/>
              </a:solidFill>
              <a:latin typeface="+mj-lt"/>
              <a:ea typeface="Source Sans Pro"/>
              <a:cs typeface="Source Sans Pro"/>
              <a:sym typeface="Source Sans Pro"/>
            </a:endParaRPr>
          </a:p>
          <a:p>
            <a:pPr marL="0" marR="0" lvl="0" indent="0" algn="l" rtl="0">
              <a:lnSpc>
                <a:spcPct val="115000"/>
              </a:lnSpc>
              <a:spcBef>
                <a:spcPts val="0"/>
              </a:spcBef>
              <a:spcAft>
                <a:spcPts val="0"/>
              </a:spcAft>
              <a:buClr>
                <a:srgbClr val="000000"/>
              </a:buClr>
              <a:buSzPts val="1600"/>
              <a:buFont typeface="Arial"/>
              <a:buNone/>
            </a:pPr>
            <a:r>
              <a:rPr lang="en" b="0" i="0" u="none" strike="noStrike" cap="none" dirty="0">
                <a:solidFill>
                  <a:srgbClr val="292929"/>
                </a:solidFill>
                <a:highlight>
                  <a:schemeClr val="lt1"/>
                </a:highlight>
                <a:latin typeface="+mj-lt"/>
                <a:ea typeface="Georgia"/>
                <a:cs typeface="Georgia"/>
                <a:sym typeface="Georgia"/>
              </a:rPr>
              <a:t>Pipes can be used with multiple bash commands.</a:t>
            </a:r>
            <a:endParaRPr b="0" i="0" u="none" strike="noStrike" cap="none" dirty="0">
              <a:solidFill>
                <a:schemeClr val="dk1"/>
              </a:solidFill>
              <a:latin typeface="+mj-lt"/>
              <a:ea typeface="Source Sans Pro"/>
              <a:cs typeface="Source Sans Pro"/>
              <a:sym typeface="Source Sans Pro"/>
            </a:endParaRPr>
          </a:p>
          <a:p>
            <a:pPr marL="0" marR="0" lvl="0" indent="0" algn="l" rtl="0">
              <a:lnSpc>
                <a:spcPct val="115000"/>
              </a:lnSpc>
              <a:spcBef>
                <a:spcPts val="0"/>
              </a:spcBef>
              <a:spcAft>
                <a:spcPts val="0"/>
              </a:spcAft>
              <a:buClr>
                <a:srgbClr val="000000"/>
              </a:buClr>
              <a:buSzPts val="1000"/>
              <a:buFont typeface="Arial"/>
              <a:buNone/>
            </a:pPr>
            <a:r>
              <a:rPr lang="en" b="0" i="0" u="none" strike="noStrike" cap="none" dirty="0">
                <a:solidFill>
                  <a:srgbClr val="000000"/>
                </a:solidFill>
                <a:highlight>
                  <a:schemeClr val="lt2"/>
                </a:highlight>
                <a:latin typeface="+mj-lt"/>
                <a:ea typeface="Courier New"/>
                <a:cs typeface="Courier New"/>
                <a:sym typeface="Courier New"/>
              </a:rPr>
              <a:t> </a:t>
            </a:r>
            <a:endParaRPr b="0" i="0" u="none" strike="noStrike" cap="none" dirty="0">
              <a:solidFill>
                <a:srgbClr val="000000"/>
              </a:solidFill>
              <a:highlight>
                <a:schemeClr val="lt2"/>
              </a:highlight>
              <a:latin typeface="+mj-lt"/>
              <a:ea typeface="Courier New"/>
              <a:cs typeface="Courier New"/>
              <a:sym typeface="Courier New"/>
            </a:endParaRPr>
          </a:p>
          <a:p>
            <a:pPr marL="0" marR="0" lvl="0" indent="0" algn="l" rtl="0">
              <a:lnSpc>
                <a:spcPct val="115000"/>
              </a:lnSpc>
              <a:spcBef>
                <a:spcPts val="0"/>
              </a:spcBef>
              <a:spcAft>
                <a:spcPts val="0"/>
              </a:spcAft>
              <a:buClr>
                <a:srgbClr val="000000"/>
              </a:buClr>
              <a:buSzPts val="1600"/>
              <a:buFont typeface="Arial"/>
              <a:buNone/>
            </a:pPr>
            <a:r>
              <a:rPr lang="en" b="0" i="0" u="none" strike="noStrike" cap="none" dirty="0">
                <a:solidFill>
                  <a:srgbClr val="292929"/>
                </a:solidFill>
                <a:highlight>
                  <a:schemeClr val="lt1"/>
                </a:highlight>
                <a:latin typeface="+mj-lt"/>
                <a:ea typeface="Georgia"/>
                <a:cs typeface="Georgia"/>
                <a:sym typeface="Georgia"/>
              </a:rPr>
              <a:t>printing just 5 starting lines of a file: </a:t>
            </a:r>
            <a:endParaRPr b="0" i="0" u="none" strike="noStrike" cap="none" dirty="0">
              <a:solidFill>
                <a:srgbClr val="000000"/>
              </a:solidFill>
              <a:highlight>
                <a:schemeClr val="lt2"/>
              </a:highlight>
              <a:latin typeface="+mj-lt"/>
              <a:ea typeface="Courier New"/>
              <a:cs typeface="Courier New"/>
              <a:sym typeface="Courier New"/>
            </a:endParaRPr>
          </a:p>
          <a:p>
            <a:pPr marL="0" marR="0" lvl="0" indent="0" algn="l" rtl="0">
              <a:lnSpc>
                <a:spcPct val="115000"/>
              </a:lnSpc>
              <a:spcBef>
                <a:spcPts val="0"/>
              </a:spcBef>
              <a:spcAft>
                <a:spcPts val="0"/>
              </a:spcAft>
              <a:buClr>
                <a:srgbClr val="000000"/>
              </a:buClr>
              <a:buSzPts val="1300"/>
              <a:buFont typeface="Arial"/>
              <a:buNone/>
            </a:pPr>
            <a:r>
              <a:rPr lang="en" b="0" i="0" u="none" strike="noStrike" cap="none" dirty="0">
                <a:solidFill>
                  <a:srgbClr val="000000"/>
                </a:solidFill>
                <a:highlight>
                  <a:schemeClr val="lt2"/>
                </a:highlight>
                <a:latin typeface="+mj-lt"/>
                <a:ea typeface="Courier New"/>
                <a:cs typeface="Courier New"/>
                <a:sym typeface="Courier New"/>
              </a:rPr>
              <a:t>$ cat my_file.txt | head -n 5</a:t>
            </a:r>
            <a:endParaRPr b="0" i="0" u="none" strike="noStrike" cap="none" dirty="0">
              <a:solidFill>
                <a:srgbClr val="000000"/>
              </a:solidFill>
              <a:highlight>
                <a:schemeClr val="lt2"/>
              </a:highlight>
              <a:latin typeface="+mj-lt"/>
              <a:ea typeface="Courier New"/>
              <a:cs typeface="Courier New"/>
              <a:sym typeface="Courier New"/>
            </a:endParaRPr>
          </a:p>
          <a:p>
            <a:pPr marL="0" marR="0" lvl="0" indent="0" algn="l" rtl="0">
              <a:lnSpc>
                <a:spcPct val="115000"/>
              </a:lnSpc>
              <a:spcBef>
                <a:spcPts val="0"/>
              </a:spcBef>
              <a:spcAft>
                <a:spcPts val="0"/>
              </a:spcAft>
              <a:buClr>
                <a:srgbClr val="000000"/>
              </a:buClr>
              <a:buSzPts val="1000"/>
              <a:buFont typeface="Arial"/>
              <a:buNone/>
            </a:pPr>
            <a:r>
              <a:rPr lang="en" b="0" i="0" u="none" strike="noStrike" cap="none" dirty="0">
                <a:solidFill>
                  <a:srgbClr val="000000"/>
                </a:solidFill>
                <a:highlight>
                  <a:schemeClr val="lt2"/>
                </a:highlight>
                <a:latin typeface="+mj-lt"/>
                <a:ea typeface="Courier New"/>
                <a:cs typeface="Courier New"/>
                <a:sym typeface="Courier New"/>
              </a:rPr>
              <a:t> </a:t>
            </a:r>
            <a:endParaRPr b="0" i="0" u="none" strike="noStrike" cap="none" dirty="0">
              <a:solidFill>
                <a:srgbClr val="000000"/>
              </a:solidFill>
              <a:highlight>
                <a:schemeClr val="lt2"/>
              </a:highlight>
              <a:latin typeface="+mj-lt"/>
              <a:ea typeface="Courier New"/>
              <a:cs typeface="Courier New"/>
              <a:sym typeface="Courier New"/>
            </a:endParaRPr>
          </a:p>
          <a:p>
            <a:pPr marL="0" marR="0" lvl="0" indent="0" algn="l" rtl="0">
              <a:lnSpc>
                <a:spcPct val="115000"/>
              </a:lnSpc>
              <a:spcBef>
                <a:spcPts val="0"/>
              </a:spcBef>
              <a:spcAft>
                <a:spcPts val="0"/>
              </a:spcAft>
              <a:buClr>
                <a:srgbClr val="000000"/>
              </a:buClr>
              <a:buSzPts val="1600"/>
              <a:buFont typeface="Arial"/>
              <a:buNone/>
            </a:pPr>
            <a:r>
              <a:rPr lang="en" b="0" i="0" u="none" strike="noStrike" cap="none" dirty="0">
                <a:solidFill>
                  <a:srgbClr val="292929"/>
                </a:solidFill>
                <a:highlight>
                  <a:schemeClr val="lt1"/>
                </a:highlight>
                <a:latin typeface="+mj-lt"/>
                <a:ea typeface="Georgia"/>
                <a:cs typeface="Georgia"/>
                <a:sym typeface="Georgia"/>
              </a:rPr>
              <a:t>printing no of lines after applying regex on file: </a:t>
            </a:r>
            <a:endParaRPr b="0" i="0" u="none" strike="noStrike" cap="none" dirty="0">
              <a:solidFill>
                <a:srgbClr val="292929"/>
              </a:solidFill>
              <a:highlight>
                <a:schemeClr val="lt1"/>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1300"/>
              <a:buFont typeface="Arial"/>
              <a:buNone/>
            </a:pPr>
            <a:r>
              <a:rPr lang="en" b="0" i="0" u="none" strike="noStrike" cap="none" dirty="0">
                <a:solidFill>
                  <a:srgbClr val="000000"/>
                </a:solidFill>
                <a:highlight>
                  <a:schemeClr val="lt2"/>
                </a:highlight>
                <a:latin typeface="+mj-lt"/>
                <a:ea typeface="Courier New"/>
                <a:cs typeface="Courier New"/>
                <a:sym typeface="Courier New"/>
              </a:rPr>
              <a:t>$ grep </a:t>
            </a:r>
            <a:r>
              <a:rPr lang="en" b="0" i="0" u="none" strike="noStrike" cap="none" dirty="0">
                <a:solidFill>
                  <a:schemeClr val="dk1"/>
                </a:solidFill>
                <a:highlight>
                  <a:schemeClr val="lt2"/>
                </a:highlight>
                <a:latin typeface="+mj-lt"/>
                <a:ea typeface="Courier New"/>
                <a:cs typeface="Courier New"/>
                <a:sym typeface="Courier New"/>
              </a:rPr>
              <a:t>"x"</a:t>
            </a:r>
            <a:r>
              <a:rPr lang="en" b="0" i="0" u="none" strike="noStrike" cap="none" dirty="0">
                <a:solidFill>
                  <a:srgbClr val="000000"/>
                </a:solidFill>
                <a:highlight>
                  <a:schemeClr val="lt2"/>
                </a:highlight>
                <a:latin typeface="+mj-lt"/>
                <a:ea typeface="Courier New"/>
                <a:cs typeface="Courier New"/>
                <a:sym typeface="Courier New"/>
              </a:rPr>
              <a:t> my_file.txt | wc -l</a:t>
            </a:r>
            <a:endParaRPr b="0" i="0" u="none" strike="noStrike" cap="none" dirty="0">
              <a:solidFill>
                <a:srgbClr val="000000"/>
              </a:solidFill>
              <a:highlight>
                <a:schemeClr val="lt2"/>
              </a:highlight>
              <a:latin typeface="+mj-lt"/>
              <a:ea typeface="Courier New"/>
              <a:cs typeface="Courier New"/>
              <a:sym typeface="Courier New"/>
            </a:endParaRPr>
          </a:p>
          <a:p>
            <a:pPr marL="0" marR="0" lvl="0" indent="0" algn="l" rtl="0">
              <a:lnSpc>
                <a:spcPct val="115000"/>
              </a:lnSpc>
              <a:spcBef>
                <a:spcPts val="0"/>
              </a:spcBef>
              <a:spcAft>
                <a:spcPts val="0"/>
              </a:spcAft>
              <a:buClr>
                <a:srgbClr val="000000"/>
              </a:buClr>
              <a:buSzPts val="1000"/>
              <a:buFont typeface="Arial"/>
              <a:buNone/>
            </a:pPr>
            <a:r>
              <a:rPr lang="en" b="0" i="0" u="none" strike="noStrike" cap="none" dirty="0">
                <a:solidFill>
                  <a:srgbClr val="000000"/>
                </a:solidFill>
                <a:highlight>
                  <a:schemeClr val="lt2"/>
                </a:highlight>
                <a:latin typeface="+mj-lt"/>
                <a:ea typeface="Courier New"/>
                <a:cs typeface="Courier New"/>
                <a:sym typeface="Courier New"/>
              </a:rPr>
              <a:t> </a:t>
            </a:r>
            <a:endParaRPr b="0" i="0" u="none" strike="noStrike" cap="none" dirty="0">
              <a:solidFill>
                <a:srgbClr val="000000"/>
              </a:solidFill>
              <a:highlight>
                <a:schemeClr val="lt2"/>
              </a:highlight>
              <a:latin typeface="+mj-lt"/>
              <a:ea typeface="Courier New"/>
              <a:cs typeface="Courier New"/>
              <a:sym typeface="Courier New"/>
            </a:endParaRPr>
          </a:p>
          <a:p>
            <a:pPr marL="0" marR="0" lvl="0" indent="0" algn="l" rtl="0">
              <a:lnSpc>
                <a:spcPct val="115000"/>
              </a:lnSpc>
              <a:spcBef>
                <a:spcPts val="0"/>
              </a:spcBef>
              <a:spcAft>
                <a:spcPts val="0"/>
              </a:spcAft>
              <a:buClr>
                <a:srgbClr val="000000"/>
              </a:buClr>
              <a:buSzPts val="1600"/>
              <a:buFont typeface="Arial"/>
              <a:buNone/>
            </a:pPr>
            <a:r>
              <a:rPr lang="en" b="0" i="0" u="none" strike="noStrike" cap="none" dirty="0">
                <a:solidFill>
                  <a:srgbClr val="292929"/>
                </a:solidFill>
                <a:highlight>
                  <a:schemeClr val="lt1"/>
                </a:highlight>
                <a:latin typeface="+mj-lt"/>
                <a:ea typeface="Georgia"/>
                <a:cs typeface="Georgia"/>
                <a:sym typeface="Georgia"/>
              </a:rPr>
              <a:t>list files and folder then applying regex and then printing last few lies: </a:t>
            </a:r>
            <a:endParaRPr b="0" i="0" u="none" strike="noStrike" cap="none" dirty="0">
              <a:solidFill>
                <a:srgbClr val="000000"/>
              </a:solidFill>
              <a:highlight>
                <a:schemeClr val="lt1"/>
              </a:highlight>
              <a:latin typeface="+mj-lt"/>
              <a:ea typeface="Courier New"/>
              <a:cs typeface="Courier New"/>
              <a:sym typeface="Courier New"/>
            </a:endParaRPr>
          </a:p>
          <a:p>
            <a:pPr marL="0" marR="0" lvl="0" indent="0" algn="l" rtl="0">
              <a:lnSpc>
                <a:spcPct val="115000"/>
              </a:lnSpc>
              <a:spcBef>
                <a:spcPts val="0"/>
              </a:spcBef>
              <a:spcAft>
                <a:spcPts val="0"/>
              </a:spcAft>
              <a:buClr>
                <a:srgbClr val="000000"/>
              </a:buClr>
              <a:buSzPts val="1300"/>
              <a:buFont typeface="Arial"/>
              <a:buNone/>
            </a:pPr>
            <a:r>
              <a:rPr lang="en" b="0" i="0" u="none" strike="noStrike" cap="none" dirty="0">
                <a:solidFill>
                  <a:srgbClr val="000000"/>
                </a:solidFill>
                <a:highlight>
                  <a:schemeClr val="lt2"/>
                </a:highlight>
                <a:latin typeface="+mj-lt"/>
                <a:ea typeface="Courier New"/>
                <a:cs typeface="Courier New"/>
                <a:sym typeface="Courier New"/>
              </a:rPr>
              <a:t>$ ls -la | </a:t>
            </a:r>
            <a:r>
              <a:rPr lang="en" b="0" i="0" u="none" strike="noStrike" cap="none" dirty="0">
                <a:solidFill>
                  <a:schemeClr val="dk1"/>
                </a:solidFill>
                <a:highlight>
                  <a:schemeClr val="lt2"/>
                </a:highlight>
                <a:latin typeface="+mj-lt"/>
                <a:ea typeface="Courier New"/>
                <a:cs typeface="Courier New"/>
                <a:sym typeface="Courier New"/>
              </a:rPr>
              <a:t>grep</a:t>
            </a:r>
            <a:r>
              <a:rPr lang="en" b="0" i="0" u="none" strike="noStrike" cap="none" dirty="0">
                <a:solidFill>
                  <a:srgbClr val="000000"/>
                </a:solidFill>
                <a:highlight>
                  <a:schemeClr val="lt2"/>
                </a:highlight>
                <a:latin typeface="+mj-lt"/>
                <a:ea typeface="Courier New"/>
                <a:cs typeface="Courier New"/>
                <a:sym typeface="Courier New"/>
              </a:rPr>
              <a:t> </a:t>
            </a:r>
            <a:r>
              <a:rPr lang="en" b="0" i="0" u="none" strike="noStrike" cap="none" dirty="0">
                <a:solidFill>
                  <a:schemeClr val="dk1"/>
                </a:solidFill>
                <a:highlight>
                  <a:schemeClr val="lt2"/>
                </a:highlight>
                <a:latin typeface="+mj-lt"/>
                <a:ea typeface="Courier New"/>
                <a:cs typeface="Courier New"/>
                <a:sym typeface="Courier New"/>
              </a:rPr>
              <a:t>"FEB"</a:t>
            </a:r>
            <a:r>
              <a:rPr lang="en" b="0" i="0" u="none" strike="noStrike" cap="none" dirty="0">
                <a:solidFill>
                  <a:srgbClr val="000000"/>
                </a:solidFill>
                <a:highlight>
                  <a:schemeClr val="lt2"/>
                </a:highlight>
                <a:latin typeface="+mj-lt"/>
                <a:ea typeface="Courier New"/>
                <a:cs typeface="Courier New"/>
                <a:sym typeface="Courier New"/>
              </a:rPr>
              <a:t> | less</a:t>
            </a:r>
            <a:endParaRPr b="0" i="0" u="none" strike="noStrike" cap="none" dirty="0">
              <a:solidFill>
                <a:srgbClr val="292929"/>
              </a:solidFill>
              <a:highlight>
                <a:schemeClr val="lt1"/>
              </a:highlight>
              <a:latin typeface="+mj-lt"/>
              <a:ea typeface="Georgia"/>
              <a:cs typeface="Georgia"/>
              <a:sym typeface="Georgia"/>
            </a:endParaRPr>
          </a:p>
        </p:txBody>
      </p:sp>
      <p:sp>
        <p:nvSpPr>
          <p:cNvPr id="392" name="Google Shape;392;ge7d5f60f8b_0_43"/>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11</a:t>
            </a:fld>
            <a:endParaRPr/>
          </a:p>
        </p:txBody>
      </p:sp>
      <p:sp>
        <p:nvSpPr>
          <p:cNvPr id="393" name="Google Shape;393;ge7d5f60f8b_0_43"/>
          <p:cNvSpPr txBox="1">
            <a:spLocks noGrp="1"/>
          </p:cNvSpPr>
          <p:nvPr>
            <p:ph type="title"/>
          </p:nvPr>
        </p:nvSpPr>
        <p:spPr>
          <a:xfrm>
            <a:off x="701425" y="356975"/>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endParaRPr sz="2700" b="1" dirty="0"/>
          </a:p>
          <a:p>
            <a:pPr marL="0" lvl="0" indent="0" algn="l" rtl="0">
              <a:lnSpc>
                <a:spcPct val="100000"/>
              </a:lnSpc>
              <a:spcBef>
                <a:spcPts val="0"/>
              </a:spcBef>
              <a:spcAft>
                <a:spcPts val="0"/>
              </a:spcAft>
              <a:buSzPts val="2000"/>
              <a:buNone/>
            </a:pPr>
            <a:r>
              <a:rPr lang="en" sz="2700" b="1" dirty="0"/>
              <a:t>Pipes	</a:t>
            </a:r>
            <a:endParaRPr sz="27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93"/>
                                        </p:tgtEl>
                                        <p:attrNameLst>
                                          <p:attrName>style.visibility</p:attrName>
                                        </p:attrNameLst>
                                      </p:cBhvr>
                                      <p:to>
                                        <p:strVal val="visible"/>
                                      </p:to>
                                    </p:set>
                                    <p:animEffect transition="in" filter="fade">
                                      <p:cBhvr>
                                        <p:cTn id="7" dur="1000"/>
                                        <p:tgtEl>
                                          <p:spTgt spid="39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0"/>
                                        </p:tgtEl>
                                        <p:attrNameLst>
                                          <p:attrName>style.visibility</p:attrName>
                                        </p:attrNameLst>
                                      </p:cBhvr>
                                      <p:to>
                                        <p:strVal val="visible"/>
                                      </p:to>
                                    </p:set>
                                    <p:animEffect transition="in" filter="fade">
                                      <p:cBhvr>
                                        <p:cTn id="12" dur="1000"/>
                                        <p:tgtEl>
                                          <p:spTgt spid="39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1">
                                            <p:txEl>
                                              <p:pRg st="0" end="0"/>
                                            </p:txEl>
                                          </p:spTgt>
                                        </p:tgtEl>
                                        <p:attrNameLst>
                                          <p:attrName>style.visibility</p:attrName>
                                        </p:attrNameLst>
                                      </p:cBhvr>
                                      <p:to>
                                        <p:strVal val="visible"/>
                                      </p:to>
                                    </p:set>
                                    <p:animEffect transition="in" filter="fade">
                                      <p:cBhvr>
                                        <p:cTn id="17" dur="1000"/>
                                        <p:tgtEl>
                                          <p:spTgt spid="39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1">
                                            <p:txEl>
                                              <p:pRg st="1" end="1"/>
                                            </p:txEl>
                                          </p:spTgt>
                                        </p:tgtEl>
                                        <p:attrNameLst>
                                          <p:attrName>style.visibility</p:attrName>
                                        </p:attrNameLst>
                                      </p:cBhvr>
                                      <p:to>
                                        <p:strVal val="visible"/>
                                      </p:to>
                                    </p:set>
                                    <p:animEffect transition="in" filter="fade">
                                      <p:cBhvr>
                                        <p:cTn id="22" dur="1000"/>
                                        <p:tgtEl>
                                          <p:spTgt spid="39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91">
                                            <p:txEl>
                                              <p:pRg st="2" end="2"/>
                                            </p:txEl>
                                          </p:spTgt>
                                        </p:tgtEl>
                                        <p:attrNameLst>
                                          <p:attrName>style.visibility</p:attrName>
                                        </p:attrNameLst>
                                      </p:cBhvr>
                                      <p:to>
                                        <p:strVal val="visible"/>
                                      </p:to>
                                    </p:set>
                                    <p:animEffect transition="in" filter="fade">
                                      <p:cBhvr>
                                        <p:cTn id="27" dur="1000"/>
                                        <p:tgtEl>
                                          <p:spTgt spid="391">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91">
                                            <p:txEl>
                                              <p:pRg st="3" end="3"/>
                                            </p:txEl>
                                          </p:spTgt>
                                        </p:tgtEl>
                                        <p:attrNameLst>
                                          <p:attrName>style.visibility</p:attrName>
                                        </p:attrNameLst>
                                      </p:cBhvr>
                                      <p:to>
                                        <p:strVal val="visible"/>
                                      </p:to>
                                    </p:set>
                                    <p:animEffect transition="in" filter="fade">
                                      <p:cBhvr>
                                        <p:cTn id="32" dur="1000"/>
                                        <p:tgtEl>
                                          <p:spTgt spid="391">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91">
                                            <p:txEl>
                                              <p:pRg st="4" end="4"/>
                                            </p:txEl>
                                          </p:spTgt>
                                        </p:tgtEl>
                                        <p:attrNameLst>
                                          <p:attrName>style.visibility</p:attrName>
                                        </p:attrNameLst>
                                      </p:cBhvr>
                                      <p:to>
                                        <p:strVal val="visible"/>
                                      </p:to>
                                    </p:set>
                                    <p:animEffect transition="in" filter="fade">
                                      <p:cBhvr>
                                        <p:cTn id="37" dur="1000"/>
                                        <p:tgtEl>
                                          <p:spTgt spid="391">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91">
                                            <p:txEl>
                                              <p:pRg st="5" end="5"/>
                                            </p:txEl>
                                          </p:spTgt>
                                        </p:tgtEl>
                                        <p:attrNameLst>
                                          <p:attrName>style.visibility</p:attrName>
                                        </p:attrNameLst>
                                      </p:cBhvr>
                                      <p:to>
                                        <p:strVal val="visible"/>
                                      </p:to>
                                    </p:set>
                                    <p:animEffect transition="in" filter="fade">
                                      <p:cBhvr>
                                        <p:cTn id="42" dur="1000"/>
                                        <p:tgtEl>
                                          <p:spTgt spid="391">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91">
                                            <p:txEl>
                                              <p:pRg st="6" end="6"/>
                                            </p:txEl>
                                          </p:spTgt>
                                        </p:tgtEl>
                                        <p:attrNameLst>
                                          <p:attrName>style.visibility</p:attrName>
                                        </p:attrNameLst>
                                      </p:cBhvr>
                                      <p:to>
                                        <p:strVal val="visible"/>
                                      </p:to>
                                    </p:set>
                                    <p:animEffect transition="in" filter="fade">
                                      <p:cBhvr>
                                        <p:cTn id="47" dur="1000"/>
                                        <p:tgtEl>
                                          <p:spTgt spid="391">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91">
                                            <p:txEl>
                                              <p:pRg st="7" end="7"/>
                                            </p:txEl>
                                          </p:spTgt>
                                        </p:tgtEl>
                                        <p:attrNameLst>
                                          <p:attrName>style.visibility</p:attrName>
                                        </p:attrNameLst>
                                      </p:cBhvr>
                                      <p:to>
                                        <p:strVal val="visible"/>
                                      </p:to>
                                    </p:set>
                                    <p:animEffect transition="in" filter="fade">
                                      <p:cBhvr>
                                        <p:cTn id="52" dur="1000"/>
                                        <p:tgtEl>
                                          <p:spTgt spid="391">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91">
                                            <p:txEl>
                                              <p:pRg st="8" end="8"/>
                                            </p:txEl>
                                          </p:spTgt>
                                        </p:tgtEl>
                                        <p:attrNameLst>
                                          <p:attrName>style.visibility</p:attrName>
                                        </p:attrNameLst>
                                      </p:cBhvr>
                                      <p:to>
                                        <p:strVal val="visible"/>
                                      </p:to>
                                    </p:set>
                                    <p:animEffect transition="in" filter="fade">
                                      <p:cBhvr>
                                        <p:cTn id="57" dur="1000"/>
                                        <p:tgtEl>
                                          <p:spTgt spid="391">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91">
                                            <p:txEl>
                                              <p:pRg st="9" end="9"/>
                                            </p:txEl>
                                          </p:spTgt>
                                        </p:tgtEl>
                                        <p:attrNameLst>
                                          <p:attrName>style.visibility</p:attrName>
                                        </p:attrNameLst>
                                      </p:cBhvr>
                                      <p:to>
                                        <p:strVal val="visible"/>
                                      </p:to>
                                    </p:set>
                                    <p:animEffect transition="in" filter="fade">
                                      <p:cBhvr>
                                        <p:cTn id="62" dur="1000"/>
                                        <p:tgtEl>
                                          <p:spTgt spid="391">
                                            <p:txEl>
                                              <p:pRg st="9"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91">
                                            <p:txEl>
                                              <p:pRg st="10" end="10"/>
                                            </p:txEl>
                                          </p:spTgt>
                                        </p:tgtEl>
                                        <p:attrNameLst>
                                          <p:attrName>style.visibility</p:attrName>
                                        </p:attrNameLst>
                                      </p:cBhvr>
                                      <p:to>
                                        <p:strVal val="visible"/>
                                      </p:to>
                                    </p:set>
                                    <p:animEffect transition="in" filter="fade">
                                      <p:cBhvr>
                                        <p:cTn id="67" dur="1000"/>
                                        <p:tgtEl>
                                          <p:spTgt spid="39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9" name="Google Shape;449;ge6b864656b_0_2"/>
          <p:cNvSpPr txBox="1"/>
          <p:nvPr/>
        </p:nvSpPr>
        <p:spPr>
          <a:xfrm>
            <a:off x="701425" y="949017"/>
            <a:ext cx="7861800" cy="3157757"/>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en" b="1" i="0" u="none" strike="noStrike" cap="none" dirty="0">
                <a:solidFill>
                  <a:srgbClr val="EF4F63"/>
                </a:solidFill>
                <a:latin typeface="+mj-lt"/>
                <a:ea typeface="Source Sans Pro"/>
                <a:cs typeface="Source Sans Pro"/>
                <a:sym typeface="Source Sans Pro"/>
              </a:rPr>
              <a:t>What is Cron Job?</a:t>
            </a:r>
            <a:r>
              <a:rPr lang="en" b="0" i="0" u="none" strike="noStrike" cap="none" dirty="0">
                <a:solidFill>
                  <a:srgbClr val="292929"/>
                </a:solidFill>
                <a:highlight>
                  <a:srgbClr val="FFFFFF"/>
                </a:highlight>
                <a:latin typeface="+mj-lt"/>
                <a:ea typeface="Georgia"/>
                <a:cs typeface="Georgia"/>
                <a:sym typeface="Georgia"/>
              </a:rPr>
              <a:t/>
            </a:r>
            <a:br>
              <a:rPr lang="en" b="0" i="0" u="none" strike="noStrike" cap="none" dirty="0">
                <a:solidFill>
                  <a:srgbClr val="292929"/>
                </a:solidFill>
                <a:highlight>
                  <a:srgbClr val="FFFFFF"/>
                </a:highlight>
                <a:latin typeface="+mj-lt"/>
                <a:ea typeface="Georgia"/>
                <a:cs typeface="Georgia"/>
                <a:sym typeface="Georgia"/>
              </a:rPr>
            </a:br>
            <a:r>
              <a:rPr lang="en" b="0" i="1" u="none" strike="noStrike" cap="none" dirty="0">
                <a:solidFill>
                  <a:srgbClr val="292929"/>
                </a:solidFill>
                <a:highlight>
                  <a:srgbClr val="FFFFFF"/>
                </a:highlight>
                <a:latin typeface="+mj-lt"/>
                <a:ea typeface="Georgia"/>
                <a:cs typeface="Georgia"/>
                <a:sym typeface="Georgia"/>
              </a:rPr>
              <a:t>Cron</a:t>
            </a:r>
            <a:r>
              <a:rPr lang="en" b="0" i="0" u="none" strike="noStrike" cap="none" dirty="0">
                <a:solidFill>
                  <a:srgbClr val="292929"/>
                </a:solidFill>
                <a:highlight>
                  <a:srgbClr val="FFFFFF"/>
                </a:highlight>
                <a:latin typeface="+mj-lt"/>
                <a:ea typeface="Georgia"/>
                <a:cs typeface="Georgia"/>
                <a:sym typeface="Georgia"/>
              </a:rPr>
              <a:t> is a scheduling daemon that executes tasks at specified intervals. These tasks are called </a:t>
            </a:r>
            <a:r>
              <a:rPr lang="en" b="0" i="1" u="none" strike="noStrike" cap="none" dirty="0">
                <a:solidFill>
                  <a:srgbClr val="292929"/>
                </a:solidFill>
                <a:highlight>
                  <a:srgbClr val="FFFFFF"/>
                </a:highlight>
                <a:latin typeface="+mj-lt"/>
                <a:ea typeface="Georgia"/>
                <a:cs typeface="Georgia"/>
                <a:sym typeface="Georgia"/>
              </a:rPr>
              <a:t>cron jobs</a:t>
            </a:r>
            <a:r>
              <a:rPr lang="en" b="0" i="0" u="none" strike="noStrike" cap="none" dirty="0">
                <a:solidFill>
                  <a:srgbClr val="292929"/>
                </a:solidFill>
                <a:highlight>
                  <a:srgbClr val="FFFFFF"/>
                </a:highlight>
                <a:latin typeface="+mj-lt"/>
                <a:ea typeface="Georgia"/>
                <a:cs typeface="Georgia"/>
                <a:sym typeface="Georgia"/>
              </a:rPr>
              <a:t> and are mostly used to automate system maintenance or administration</a:t>
            </a:r>
            <a:r>
              <a:rPr lang="en" b="0" i="0" u="none" strike="noStrike" cap="none" dirty="0" smtClean="0">
                <a:solidFill>
                  <a:srgbClr val="292929"/>
                </a:solidFill>
                <a:highlight>
                  <a:srgbClr val="FFFFFF"/>
                </a:highlight>
                <a:latin typeface="+mj-lt"/>
                <a:ea typeface="Georgia"/>
                <a:cs typeface="Georgia"/>
                <a:sym typeface="Georgia"/>
              </a:rPr>
              <a:t>.</a:t>
            </a:r>
          </a:p>
          <a:p>
            <a:pPr marL="0" marR="0" lvl="0" indent="0" algn="l" rtl="0">
              <a:lnSpc>
                <a:spcPct val="115000"/>
              </a:lnSpc>
              <a:spcBef>
                <a:spcPts val="0"/>
              </a:spcBef>
              <a:spcAft>
                <a:spcPts val="0"/>
              </a:spcAft>
              <a:buClr>
                <a:srgbClr val="000000"/>
              </a:buClr>
              <a:buSzPts val="1400"/>
              <a:buFont typeface="Arial"/>
              <a:buNone/>
            </a:pPr>
            <a:endParaRPr lang="en" dirty="0">
              <a:solidFill>
                <a:srgbClr val="292929"/>
              </a:solidFill>
              <a:highlight>
                <a:srgbClr val="FFFFFF"/>
              </a:highlight>
              <a:latin typeface="+mj-lt"/>
              <a:ea typeface="Georgia"/>
              <a:cs typeface="Georgia"/>
              <a:sym typeface="Georgia"/>
            </a:endParaRPr>
          </a:p>
          <a:p>
            <a:pPr lvl="0">
              <a:lnSpc>
                <a:spcPct val="115000"/>
              </a:lnSpc>
              <a:buSzPts val="1400"/>
            </a:pPr>
            <a:r>
              <a:rPr lang="en-US" b="1" dirty="0">
                <a:solidFill>
                  <a:srgbClr val="EF4F63"/>
                </a:solidFill>
                <a:latin typeface="+mj-lt"/>
                <a:ea typeface="Source Sans Pro"/>
                <a:cs typeface="Source Sans Pro"/>
                <a:sym typeface="Source Sans Pro"/>
              </a:rPr>
              <a:t>Why </a:t>
            </a:r>
            <a:r>
              <a:rPr lang="en-US" b="1" dirty="0" smtClean="0">
                <a:solidFill>
                  <a:srgbClr val="EF4F63"/>
                </a:solidFill>
                <a:latin typeface="+mj-lt"/>
                <a:ea typeface="Source Sans Pro"/>
                <a:cs typeface="Source Sans Pro"/>
                <a:sym typeface="Source Sans Pro"/>
              </a:rPr>
              <a:t>do we use </a:t>
            </a:r>
            <a:r>
              <a:rPr lang="en-US" b="1" dirty="0" err="1">
                <a:solidFill>
                  <a:srgbClr val="EF4F63"/>
                </a:solidFill>
                <a:latin typeface="+mj-lt"/>
                <a:ea typeface="Source Sans Pro"/>
                <a:cs typeface="Source Sans Pro"/>
                <a:sym typeface="Source Sans Pro"/>
              </a:rPr>
              <a:t>Cron</a:t>
            </a:r>
            <a:r>
              <a:rPr lang="en-US" b="1" dirty="0">
                <a:solidFill>
                  <a:srgbClr val="EF4F63"/>
                </a:solidFill>
                <a:latin typeface="+mj-lt"/>
                <a:ea typeface="Source Sans Pro"/>
                <a:cs typeface="Source Sans Pro"/>
                <a:sym typeface="Source Sans Pro"/>
              </a:rPr>
              <a:t> Job?</a:t>
            </a:r>
            <a:endParaRPr lang="en-US" b="1" dirty="0">
              <a:solidFill>
                <a:srgbClr val="222222"/>
              </a:solidFill>
              <a:highlight>
                <a:srgbClr val="FFFFFF"/>
              </a:highlight>
              <a:latin typeface="+mj-lt"/>
              <a:ea typeface="Source Sans Pro"/>
              <a:cs typeface="Source Sans Pro"/>
              <a:sym typeface="Source Sans Pro"/>
            </a:endParaRPr>
          </a:p>
          <a:p>
            <a:pPr marL="457200" lvl="0" indent="-314325">
              <a:lnSpc>
                <a:spcPct val="115000"/>
              </a:lnSpc>
              <a:buClr>
                <a:srgbClr val="222222"/>
              </a:buClr>
              <a:buSzPts val="1350"/>
              <a:buFont typeface="Source Sans Pro"/>
              <a:buChar char="●"/>
            </a:pPr>
            <a:r>
              <a:rPr lang="en-US" dirty="0">
                <a:solidFill>
                  <a:srgbClr val="292929"/>
                </a:solidFill>
                <a:highlight>
                  <a:srgbClr val="FFFFFF"/>
                </a:highlight>
                <a:latin typeface="+mj-lt"/>
                <a:ea typeface="Georgia"/>
                <a:cs typeface="Georgia"/>
                <a:sym typeface="Georgia"/>
              </a:rPr>
              <a:t>Helps OS to take a scheduled backup of log files or database.</a:t>
            </a:r>
          </a:p>
          <a:p>
            <a:pPr marL="457200" lvl="0" indent="-314325">
              <a:lnSpc>
                <a:spcPct val="115000"/>
              </a:lnSpc>
              <a:buClr>
                <a:srgbClr val="222222"/>
              </a:buClr>
              <a:buSzPts val="1350"/>
              <a:buFont typeface="Source Sans Pro"/>
              <a:buChar char="●"/>
            </a:pPr>
            <a:r>
              <a:rPr lang="en-US" dirty="0">
                <a:solidFill>
                  <a:srgbClr val="292929"/>
                </a:solidFill>
                <a:highlight>
                  <a:srgbClr val="FFFFFF"/>
                </a:highlight>
                <a:latin typeface="+mj-lt"/>
                <a:ea typeface="Georgia"/>
                <a:cs typeface="Georgia"/>
                <a:sym typeface="Georgia"/>
              </a:rPr>
              <a:t>Delete old log files</a:t>
            </a:r>
          </a:p>
          <a:p>
            <a:pPr marL="457200" lvl="0" indent="-314325">
              <a:lnSpc>
                <a:spcPct val="115000"/>
              </a:lnSpc>
              <a:buClr>
                <a:srgbClr val="222222"/>
              </a:buClr>
              <a:buSzPts val="1350"/>
              <a:buFont typeface="Source Sans Pro"/>
              <a:buChar char="●"/>
            </a:pPr>
            <a:r>
              <a:rPr lang="en-US" dirty="0">
                <a:solidFill>
                  <a:srgbClr val="292929"/>
                </a:solidFill>
                <a:highlight>
                  <a:srgbClr val="FFFFFF"/>
                </a:highlight>
                <a:latin typeface="+mj-lt"/>
                <a:ea typeface="Georgia"/>
                <a:cs typeface="Georgia"/>
                <a:sym typeface="Georgia"/>
              </a:rPr>
              <a:t>Archive and purge database tables</a:t>
            </a:r>
          </a:p>
          <a:p>
            <a:pPr marL="457200" lvl="0" indent="-314325">
              <a:lnSpc>
                <a:spcPct val="115000"/>
              </a:lnSpc>
              <a:buClr>
                <a:srgbClr val="222222"/>
              </a:buClr>
              <a:buSzPts val="1350"/>
              <a:buFont typeface="Source Sans Pro"/>
              <a:buChar char="●"/>
            </a:pPr>
            <a:r>
              <a:rPr lang="en-US" dirty="0">
                <a:solidFill>
                  <a:srgbClr val="292929"/>
                </a:solidFill>
                <a:highlight>
                  <a:srgbClr val="FFFFFF"/>
                </a:highlight>
                <a:latin typeface="+mj-lt"/>
                <a:ea typeface="Georgia"/>
                <a:cs typeface="Georgia"/>
                <a:sym typeface="Georgia"/>
              </a:rPr>
              <a:t>Send out any notification email such as Newsletters, Password expiration email</a:t>
            </a:r>
          </a:p>
          <a:p>
            <a:pPr marL="457200" lvl="0" indent="-314325">
              <a:lnSpc>
                <a:spcPct val="115000"/>
              </a:lnSpc>
              <a:buClr>
                <a:srgbClr val="222222"/>
              </a:buClr>
              <a:buSzPts val="1350"/>
              <a:buFont typeface="Source Sans Pro"/>
              <a:buChar char="●"/>
            </a:pPr>
            <a:r>
              <a:rPr lang="en-US" dirty="0">
                <a:solidFill>
                  <a:srgbClr val="292929"/>
                </a:solidFill>
                <a:highlight>
                  <a:srgbClr val="FFFFFF"/>
                </a:highlight>
                <a:latin typeface="+mj-lt"/>
                <a:ea typeface="Georgia"/>
                <a:cs typeface="Georgia"/>
                <a:sym typeface="Georgia"/>
              </a:rPr>
              <a:t>Regular clean-up of cached data</a:t>
            </a:r>
          </a:p>
          <a:p>
            <a:pPr marL="457200" lvl="0" indent="-314325">
              <a:lnSpc>
                <a:spcPct val="115000"/>
              </a:lnSpc>
              <a:buClr>
                <a:srgbClr val="222222"/>
              </a:buClr>
              <a:buSzPts val="1350"/>
              <a:buFont typeface="Source Sans Pro"/>
              <a:buChar char="●"/>
            </a:pPr>
            <a:r>
              <a:rPr lang="en-US" dirty="0" err="1">
                <a:solidFill>
                  <a:srgbClr val="292929"/>
                </a:solidFill>
                <a:highlight>
                  <a:srgbClr val="FFFFFF"/>
                </a:highlight>
                <a:latin typeface="+mj-lt"/>
                <a:ea typeface="Georgia"/>
                <a:cs typeface="Georgia"/>
                <a:sym typeface="Georgia"/>
              </a:rPr>
              <a:t>Crontab</a:t>
            </a:r>
            <a:r>
              <a:rPr lang="en-US" dirty="0">
                <a:solidFill>
                  <a:srgbClr val="292929"/>
                </a:solidFill>
                <a:highlight>
                  <a:srgbClr val="FFFFFF"/>
                </a:highlight>
                <a:latin typeface="+mj-lt"/>
                <a:ea typeface="Georgia"/>
                <a:cs typeface="Georgia"/>
                <a:sym typeface="Georgia"/>
              </a:rPr>
              <a:t> is an ideal option to automate Unix jobs.</a:t>
            </a:r>
          </a:p>
          <a:p>
            <a:pPr marL="457200" lvl="0" indent="-314325">
              <a:lnSpc>
                <a:spcPct val="115000"/>
              </a:lnSpc>
              <a:buClr>
                <a:srgbClr val="222222"/>
              </a:buClr>
              <a:buSzPts val="1350"/>
              <a:buFont typeface="Source Sans Pro"/>
              <a:buChar char="●"/>
            </a:pPr>
            <a:r>
              <a:rPr lang="en-US" dirty="0">
                <a:solidFill>
                  <a:srgbClr val="292929"/>
                </a:solidFill>
                <a:highlight>
                  <a:srgbClr val="FFFFFF"/>
                </a:highlight>
                <a:latin typeface="+mj-lt"/>
                <a:ea typeface="Georgia"/>
                <a:cs typeface="Georgia"/>
                <a:sym typeface="Georgia"/>
              </a:rPr>
              <a:t>It is used to automate system </a:t>
            </a:r>
            <a:r>
              <a:rPr lang="en-US" dirty="0" smtClean="0">
                <a:solidFill>
                  <a:srgbClr val="292929"/>
                </a:solidFill>
                <a:highlight>
                  <a:srgbClr val="FFFFFF"/>
                </a:highlight>
                <a:latin typeface="+mj-lt"/>
                <a:ea typeface="Georgia"/>
                <a:cs typeface="Georgia"/>
                <a:sym typeface="Georgia"/>
              </a:rPr>
              <a:t>maintenance</a:t>
            </a:r>
            <a:endParaRPr lang="en-US" i="1" dirty="0">
              <a:solidFill>
                <a:srgbClr val="292929"/>
              </a:solidFill>
              <a:highlight>
                <a:srgbClr val="FFFFFF"/>
              </a:highlight>
              <a:latin typeface="+mj-lt"/>
              <a:ea typeface="Georgia"/>
              <a:cs typeface="Georgia"/>
              <a:sym typeface="Georgia"/>
            </a:endParaRPr>
          </a:p>
        </p:txBody>
      </p:sp>
      <p:sp>
        <p:nvSpPr>
          <p:cNvPr id="450" name="Google Shape;450;ge6b864656b_0_2"/>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12</a:t>
            </a:fld>
            <a:endParaRPr/>
          </a:p>
        </p:txBody>
      </p:sp>
      <p:sp>
        <p:nvSpPr>
          <p:cNvPr id="451" name="Google Shape;451;ge6b864656b_0_2"/>
          <p:cNvSpPr txBox="1">
            <a:spLocks noGrp="1"/>
          </p:cNvSpPr>
          <p:nvPr>
            <p:ph type="title"/>
          </p:nvPr>
        </p:nvSpPr>
        <p:spPr>
          <a:xfrm>
            <a:off x="701425" y="290038"/>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800" b="1" dirty="0">
                <a:ea typeface="Source Sans Pro"/>
                <a:cs typeface="Source Sans Pro"/>
                <a:sym typeface="Source Sans Pro"/>
              </a:rPr>
              <a:t>Crontab in Linux</a:t>
            </a:r>
            <a:endParaRPr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51"/>
                                        </p:tgtEl>
                                        <p:attrNameLst>
                                          <p:attrName>style.visibility</p:attrName>
                                        </p:attrNameLst>
                                      </p:cBhvr>
                                      <p:to>
                                        <p:strVal val="visible"/>
                                      </p:to>
                                    </p:set>
                                    <p:animEffect transition="in" filter="fade">
                                      <p:cBhvr>
                                        <p:cTn id="7" dur="1000"/>
                                        <p:tgtEl>
                                          <p:spTgt spid="45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9"/>
                                        </p:tgtEl>
                                        <p:attrNameLst>
                                          <p:attrName>style.visibility</p:attrName>
                                        </p:attrNameLst>
                                      </p:cBhvr>
                                      <p:to>
                                        <p:strVal val="visible"/>
                                      </p:to>
                                    </p:set>
                                    <p:animEffect transition="in" filter="fade">
                                      <p:cBhvr>
                                        <p:cTn id="12" dur="1000"/>
                                        <p:tgtEl>
                                          <p:spTgt spid="4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ge6b864656b_0_2"/>
          <p:cNvSpPr txBox="1"/>
          <p:nvPr/>
        </p:nvSpPr>
        <p:spPr>
          <a:xfrm>
            <a:off x="701425" y="1102052"/>
            <a:ext cx="7861800" cy="2414477"/>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en" b="1" i="0" u="none" strike="noStrike" cap="none" dirty="0">
                <a:solidFill>
                  <a:srgbClr val="EF4F63"/>
                </a:solidFill>
                <a:latin typeface="+mj-lt"/>
                <a:ea typeface="Source Sans Pro"/>
                <a:cs typeface="Source Sans Pro"/>
                <a:sym typeface="Source Sans Pro"/>
              </a:rPr>
              <a:t>What is crontab file</a:t>
            </a:r>
            <a:r>
              <a:rPr lang="en" b="1" i="0" u="none" strike="noStrike" cap="none" dirty="0" smtClean="0">
                <a:solidFill>
                  <a:srgbClr val="EF4F63"/>
                </a:solidFill>
                <a:latin typeface="+mj-lt"/>
                <a:ea typeface="Source Sans Pro"/>
                <a:cs typeface="Source Sans Pro"/>
                <a:sym typeface="Source Sans Pro"/>
              </a:rPr>
              <a:t>?</a:t>
            </a:r>
          </a:p>
          <a:p>
            <a:pPr marL="0" marR="0" lvl="0" indent="0" algn="l" rtl="0">
              <a:lnSpc>
                <a:spcPct val="115000"/>
              </a:lnSpc>
              <a:spcBef>
                <a:spcPts val="0"/>
              </a:spcBef>
              <a:spcAft>
                <a:spcPts val="0"/>
              </a:spcAft>
              <a:buClr>
                <a:srgbClr val="000000"/>
              </a:buClr>
              <a:buSzPts val="1400"/>
              <a:buFont typeface="Arial"/>
              <a:buNone/>
            </a:pPr>
            <a:endParaRPr b="1" i="0" u="none" strike="noStrike" cap="none" dirty="0">
              <a:solidFill>
                <a:srgbClr val="222222"/>
              </a:solidFill>
              <a:highlight>
                <a:srgbClr val="FFFFFF"/>
              </a:highlight>
              <a:latin typeface="+mj-lt"/>
              <a:ea typeface="Source Sans Pro"/>
              <a:cs typeface="Source Sans Pro"/>
              <a:sym typeface="Source Sans Pro"/>
            </a:endParaRPr>
          </a:p>
          <a:p>
            <a:pPr marL="0" marR="0" lvl="0" indent="0" algn="l" rtl="0">
              <a:lnSpc>
                <a:spcPct val="115000"/>
              </a:lnSpc>
              <a:spcBef>
                <a:spcPts val="0"/>
              </a:spcBef>
              <a:spcAft>
                <a:spcPts val="0"/>
              </a:spcAft>
              <a:buClr>
                <a:srgbClr val="000000"/>
              </a:buClr>
              <a:buSzPts val="1200"/>
              <a:buFont typeface="Arial"/>
              <a:buNone/>
            </a:pPr>
            <a:r>
              <a:rPr lang="en" b="0" i="1" u="none" strike="noStrike" cap="none" dirty="0">
                <a:solidFill>
                  <a:srgbClr val="292929"/>
                </a:solidFill>
                <a:highlight>
                  <a:srgbClr val="FFFFFF"/>
                </a:highlight>
                <a:latin typeface="+mj-lt"/>
                <a:ea typeface="Georgia"/>
                <a:cs typeface="Georgia"/>
                <a:sym typeface="Georgia"/>
              </a:rPr>
              <a:t>Crontab</a:t>
            </a:r>
            <a:r>
              <a:rPr lang="en" b="0" i="0" u="none" strike="noStrike" cap="none" dirty="0">
                <a:solidFill>
                  <a:srgbClr val="292929"/>
                </a:solidFill>
                <a:highlight>
                  <a:srgbClr val="FFFFFF"/>
                </a:highlight>
                <a:latin typeface="+mj-lt"/>
                <a:ea typeface="Georgia"/>
                <a:cs typeface="Georgia"/>
                <a:sym typeface="Georgia"/>
              </a:rPr>
              <a:t> (cron table) is a text file that specifies the schedule of cron jobs. There are two types of crontab files. The system-wide crontab files and individual user crontab files.</a:t>
            </a:r>
            <a:endParaRPr b="0" i="0" u="none" strike="noStrike" cap="none" dirty="0">
              <a:solidFill>
                <a:srgbClr val="292929"/>
              </a:solidFill>
              <a:highlight>
                <a:srgbClr val="FFFFFF"/>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1200"/>
              <a:buFont typeface="Arial"/>
              <a:buNone/>
            </a:pPr>
            <a:r>
              <a:rPr lang="en" b="0" i="0" u="none" strike="noStrike" cap="none" dirty="0">
                <a:solidFill>
                  <a:srgbClr val="292929"/>
                </a:solidFill>
                <a:highlight>
                  <a:srgbClr val="FFFFFF"/>
                </a:highlight>
                <a:latin typeface="+mj-lt"/>
                <a:ea typeface="Georgia"/>
                <a:cs typeface="Georgia"/>
                <a:sym typeface="Georgia"/>
              </a:rPr>
              <a:t>Although you can edit the user crontab files manually, it is recommended to use the </a:t>
            </a:r>
            <a:r>
              <a:rPr lang="en" b="0" i="0" u="none" strike="noStrike" cap="none" dirty="0">
                <a:solidFill>
                  <a:srgbClr val="292929"/>
                </a:solidFill>
                <a:highlight>
                  <a:schemeClr val="lt2"/>
                </a:highlight>
                <a:latin typeface="+mj-lt"/>
                <a:ea typeface="Roboto Mono"/>
                <a:cs typeface="Roboto Mono"/>
                <a:sym typeface="Roboto Mono"/>
              </a:rPr>
              <a:t>crontab</a:t>
            </a:r>
            <a:r>
              <a:rPr lang="en" b="0" i="0" u="none" strike="noStrike" cap="none" dirty="0">
                <a:solidFill>
                  <a:srgbClr val="292929"/>
                </a:solidFill>
                <a:highlight>
                  <a:srgbClr val="FFFFFF"/>
                </a:highlight>
                <a:latin typeface="+mj-lt"/>
                <a:ea typeface="Georgia"/>
                <a:cs typeface="Georgia"/>
                <a:sym typeface="Georgia"/>
              </a:rPr>
              <a:t> command</a:t>
            </a:r>
            <a:r>
              <a:rPr lang="en" b="0" i="0" u="none" strike="noStrike" cap="none" dirty="0" smtClean="0">
                <a:solidFill>
                  <a:srgbClr val="292929"/>
                </a:solidFill>
                <a:highlight>
                  <a:srgbClr val="FFFFFF"/>
                </a:highlight>
                <a:latin typeface="+mj-lt"/>
                <a:ea typeface="Georgia"/>
                <a:cs typeface="Georgia"/>
                <a:sym typeface="Georgia"/>
              </a:rPr>
              <a:t>.</a:t>
            </a:r>
          </a:p>
          <a:p>
            <a:pPr marL="0" marR="0" lvl="0" indent="0" algn="l" rtl="0">
              <a:lnSpc>
                <a:spcPct val="115000"/>
              </a:lnSpc>
              <a:spcBef>
                <a:spcPts val="0"/>
              </a:spcBef>
              <a:spcAft>
                <a:spcPts val="0"/>
              </a:spcAft>
              <a:buClr>
                <a:srgbClr val="000000"/>
              </a:buClr>
              <a:buSzPts val="1200"/>
              <a:buFont typeface="Arial"/>
              <a:buNone/>
            </a:pPr>
            <a:endParaRPr b="0" i="0" u="none" strike="noStrike" cap="none" dirty="0">
              <a:solidFill>
                <a:srgbClr val="292929"/>
              </a:solidFill>
              <a:highlight>
                <a:srgbClr val="FFFFFF"/>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1200"/>
              <a:buFont typeface="Arial"/>
              <a:buNone/>
            </a:pPr>
            <a:r>
              <a:rPr lang="en" b="0" i="0" u="none" strike="noStrike" cap="none" dirty="0">
                <a:solidFill>
                  <a:srgbClr val="292929"/>
                </a:solidFill>
                <a:highlight>
                  <a:srgbClr val="FFFFFF"/>
                </a:highlight>
                <a:latin typeface="+mj-lt"/>
                <a:ea typeface="Georgia"/>
                <a:cs typeface="Georgia"/>
                <a:sym typeface="Georgia"/>
              </a:rPr>
              <a:t>The </a:t>
            </a:r>
            <a:r>
              <a:rPr lang="en" b="0" i="0" u="none" strike="noStrike" cap="none" dirty="0">
                <a:solidFill>
                  <a:srgbClr val="292929"/>
                </a:solidFill>
                <a:highlight>
                  <a:schemeClr val="lt2"/>
                </a:highlight>
                <a:latin typeface="+mj-lt"/>
                <a:ea typeface="Roboto Mono"/>
                <a:cs typeface="Roboto Mono"/>
                <a:sym typeface="Roboto Mono"/>
              </a:rPr>
              <a:t>/etc/crontab</a:t>
            </a:r>
            <a:r>
              <a:rPr lang="en" b="0" i="0" u="none" strike="noStrike" cap="none" dirty="0">
                <a:solidFill>
                  <a:srgbClr val="292929"/>
                </a:solidFill>
                <a:highlight>
                  <a:srgbClr val="FFFFFF"/>
                </a:highlight>
                <a:latin typeface="+mj-lt"/>
                <a:ea typeface="Georgia"/>
                <a:cs typeface="Georgia"/>
                <a:sym typeface="Georgia"/>
              </a:rPr>
              <a:t> file and the scripts inside the </a:t>
            </a:r>
            <a:r>
              <a:rPr lang="en" b="0" i="0" u="none" strike="noStrike" cap="none" dirty="0">
                <a:solidFill>
                  <a:srgbClr val="292929"/>
                </a:solidFill>
                <a:highlight>
                  <a:schemeClr val="lt2"/>
                </a:highlight>
                <a:latin typeface="+mj-lt"/>
                <a:ea typeface="Roboto Mono"/>
                <a:cs typeface="Roboto Mono"/>
                <a:sym typeface="Roboto Mono"/>
              </a:rPr>
              <a:t>/etc/cron.d</a:t>
            </a:r>
            <a:r>
              <a:rPr lang="en" b="0" i="0" u="none" strike="noStrike" cap="none" dirty="0">
                <a:solidFill>
                  <a:srgbClr val="292929"/>
                </a:solidFill>
                <a:highlight>
                  <a:srgbClr val="FFFFFF"/>
                </a:highlight>
                <a:latin typeface="+mj-lt"/>
                <a:ea typeface="Georgia"/>
                <a:cs typeface="Georgia"/>
                <a:sym typeface="Georgia"/>
              </a:rPr>
              <a:t> directory are system-wide crontab files that can be edited only by the system administrators.</a:t>
            </a:r>
            <a:endParaRPr b="0" i="0" u="none" strike="noStrike" cap="none" dirty="0">
              <a:solidFill>
                <a:srgbClr val="292929"/>
              </a:solidFill>
              <a:highlight>
                <a:srgbClr val="FFFFFF"/>
              </a:highlight>
              <a:latin typeface="+mj-lt"/>
              <a:ea typeface="Georgia"/>
              <a:cs typeface="Georgia"/>
              <a:sym typeface="Georgia"/>
            </a:endParaRPr>
          </a:p>
        </p:txBody>
      </p:sp>
      <p:sp>
        <p:nvSpPr>
          <p:cNvPr id="450" name="Google Shape;450;ge6b864656b_0_2"/>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13</a:t>
            </a:fld>
            <a:endParaRPr/>
          </a:p>
        </p:txBody>
      </p:sp>
      <p:sp>
        <p:nvSpPr>
          <p:cNvPr id="451" name="Google Shape;451;ge6b864656b_0_2"/>
          <p:cNvSpPr txBox="1">
            <a:spLocks noGrp="1"/>
          </p:cNvSpPr>
          <p:nvPr>
            <p:ph type="title"/>
          </p:nvPr>
        </p:nvSpPr>
        <p:spPr>
          <a:xfrm>
            <a:off x="701425" y="4374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800" b="1" dirty="0">
                <a:latin typeface="Source Sans Pro"/>
                <a:ea typeface="Source Sans Pro"/>
                <a:cs typeface="Source Sans Pro"/>
                <a:sym typeface="Source Sans Pro"/>
              </a:rPr>
              <a:t>Crontab in Linux</a:t>
            </a:r>
            <a:endParaRPr sz="2800" b="1" dirty="0"/>
          </a:p>
        </p:txBody>
      </p:sp>
    </p:spTree>
    <p:extLst>
      <p:ext uri="{BB962C8B-B14F-4D97-AF65-F5344CB8AC3E}">
        <p14:creationId xmlns:p14="http://schemas.microsoft.com/office/powerpoint/2010/main" val="1908060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51"/>
                                        </p:tgtEl>
                                        <p:attrNameLst>
                                          <p:attrName>style.visibility</p:attrName>
                                        </p:attrNameLst>
                                      </p:cBhvr>
                                      <p:to>
                                        <p:strVal val="visible"/>
                                      </p:to>
                                    </p:set>
                                    <p:animEffect transition="in" filter="fade">
                                      <p:cBhvr>
                                        <p:cTn id="7" dur="1000"/>
                                        <p:tgtEl>
                                          <p:spTgt spid="45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8"/>
                                        </p:tgtEl>
                                        <p:attrNameLst>
                                          <p:attrName>style.visibility</p:attrName>
                                        </p:attrNameLst>
                                      </p:cBhvr>
                                      <p:to>
                                        <p:strVal val="visible"/>
                                      </p:to>
                                    </p:set>
                                    <p:animEffect transition="in" filter="fade">
                                      <p:cBhvr>
                                        <p:cTn id="12" dur="1000"/>
                                        <p:tgtEl>
                                          <p:spTgt spid="4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ge6b864656b_0_25"/>
          <p:cNvSpPr txBox="1"/>
          <p:nvPr/>
        </p:nvSpPr>
        <p:spPr>
          <a:xfrm>
            <a:off x="701425" y="637925"/>
            <a:ext cx="7861800" cy="64476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en" sz="1400" b="0" i="0" u="none" strike="noStrike" cap="none" dirty="0">
                <a:solidFill>
                  <a:srgbClr val="EF4F63"/>
                </a:solidFill>
                <a:latin typeface="+mj-lt"/>
                <a:ea typeface="Source Sans Pro"/>
                <a:cs typeface="Source Sans Pro"/>
                <a:sym typeface="Source Sans Pro"/>
              </a:rPr>
              <a:t>Crontab Syntax and Operators</a:t>
            </a:r>
            <a:r>
              <a:rPr lang="en" sz="1200" b="0" i="0" u="none" strike="noStrike" cap="none" dirty="0">
                <a:solidFill>
                  <a:srgbClr val="292929"/>
                </a:solidFill>
                <a:highlight>
                  <a:srgbClr val="FFFFFF"/>
                </a:highlight>
                <a:latin typeface="+mj-lt"/>
                <a:ea typeface="Georgia"/>
                <a:cs typeface="Georgia"/>
                <a:sym typeface="Georgia"/>
              </a:rPr>
              <a:t/>
            </a:r>
            <a:br>
              <a:rPr lang="en" sz="1200" b="0" i="0" u="none" strike="noStrike" cap="none" dirty="0">
                <a:solidFill>
                  <a:srgbClr val="292929"/>
                </a:solidFill>
                <a:highlight>
                  <a:srgbClr val="FFFFFF"/>
                </a:highlight>
                <a:latin typeface="+mj-lt"/>
                <a:ea typeface="Georgia"/>
                <a:cs typeface="Georgia"/>
                <a:sym typeface="Georgia"/>
              </a:rPr>
            </a:br>
            <a:r>
              <a:rPr lang="en" sz="1200" b="0" i="0" u="none" strike="noStrike" cap="none" dirty="0">
                <a:solidFill>
                  <a:srgbClr val="292929"/>
                </a:solidFill>
                <a:highlight>
                  <a:srgbClr val="FFFFFF"/>
                </a:highlight>
                <a:latin typeface="+mj-lt"/>
                <a:ea typeface="Georgia"/>
                <a:cs typeface="Georgia"/>
                <a:sym typeface="Georgia"/>
              </a:rPr>
              <a:t>Each line in the user </a:t>
            </a:r>
            <a:r>
              <a:rPr lang="en" sz="1200" b="0" i="1" u="none" strike="noStrike" cap="none" dirty="0">
                <a:solidFill>
                  <a:srgbClr val="292929"/>
                </a:solidFill>
                <a:highlight>
                  <a:srgbClr val="FFFFFF"/>
                </a:highlight>
                <a:latin typeface="+mj-lt"/>
                <a:ea typeface="Georgia"/>
                <a:cs typeface="Georgia"/>
                <a:sym typeface="Georgia"/>
              </a:rPr>
              <a:t>crontab</a:t>
            </a:r>
            <a:r>
              <a:rPr lang="en" sz="1200" b="0" i="0" u="none" strike="noStrike" cap="none" dirty="0">
                <a:solidFill>
                  <a:srgbClr val="292929"/>
                </a:solidFill>
                <a:highlight>
                  <a:srgbClr val="FFFFFF"/>
                </a:highlight>
                <a:latin typeface="+mj-lt"/>
                <a:ea typeface="Georgia"/>
                <a:cs typeface="Georgia"/>
                <a:sym typeface="Georgia"/>
              </a:rPr>
              <a:t> file contains six fields separated by a space followed by the command to be run.</a:t>
            </a:r>
            <a:endParaRPr sz="1200" b="0" i="0" u="none" strike="noStrike" cap="none" dirty="0">
              <a:solidFill>
                <a:srgbClr val="292929"/>
              </a:solidFill>
              <a:highlight>
                <a:srgbClr val="FFFFFF"/>
              </a:highlight>
              <a:latin typeface="+mj-lt"/>
              <a:ea typeface="Georgia"/>
              <a:cs typeface="Georgia"/>
              <a:sym typeface="Georgia"/>
            </a:endParaRPr>
          </a:p>
        </p:txBody>
      </p:sp>
      <p:sp>
        <p:nvSpPr>
          <p:cNvPr id="458" name="Google Shape;458;ge6b864656b_0_25"/>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14</a:t>
            </a:fld>
            <a:endParaRPr/>
          </a:p>
        </p:txBody>
      </p:sp>
      <p:sp>
        <p:nvSpPr>
          <p:cNvPr id="459" name="Google Shape;459;ge6b864656b_0_25"/>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1900" b="1">
                <a:latin typeface="Source Sans Pro"/>
                <a:ea typeface="Source Sans Pro"/>
                <a:cs typeface="Source Sans Pro"/>
                <a:sym typeface="Source Sans Pro"/>
              </a:rPr>
              <a:t>Crontab in Linux</a:t>
            </a:r>
            <a:endParaRPr sz="2800" b="1"/>
          </a:p>
        </p:txBody>
      </p:sp>
      <p:sp>
        <p:nvSpPr>
          <p:cNvPr id="460" name="Google Shape;460;ge6b864656b_0_25"/>
          <p:cNvSpPr/>
          <p:nvPr/>
        </p:nvSpPr>
        <p:spPr>
          <a:xfrm>
            <a:off x="797225" y="1293475"/>
            <a:ext cx="7323600" cy="12735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1800"/>
              </a:spcBef>
              <a:spcAft>
                <a:spcPts val="1800"/>
              </a:spcAft>
              <a:buClr>
                <a:srgbClr val="000000"/>
              </a:buClr>
              <a:buSzPts val="1000"/>
              <a:buFont typeface="Arial"/>
              <a:buNone/>
            </a:pPr>
            <a:r>
              <a:rPr lang="en" sz="1000" b="0" i="0" u="none" strike="noStrike" cap="none">
                <a:solidFill>
                  <a:schemeClr val="dk1"/>
                </a:solidFill>
                <a:latin typeface="Source Sans Pro"/>
                <a:ea typeface="Source Sans Pro"/>
                <a:cs typeface="Source Sans Pro"/>
                <a:sym typeface="Source Sans Pro"/>
              </a:rPr>
              <a:t>* * * * * command(s)</a:t>
            </a:r>
            <a:br>
              <a:rPr lang="en" sz="1000" b="0" i="0" u="none" strike="noStrike" cap="none">
                <a:solidFill>
                  <a:schemeClr val="dk1"/>
                </a:solidFill>
                <a:latin typeface="Source Sans Pro"/>
                <a:ea typeface="Source Sans Pro"/>
                <a:cs typeface="Source Sans Pro"/>
                <a:sym typeface="Source Sans Pro"/>
              </a:rPr>
            </a:br>
            <a:r>
              <a:rPr lang="en" sz="1000" b="0" i="0" u="none" strike="noStrike" cap="none">
                <a:solidFill>
                  <a:schemeClr val="dk1"/>
                </a:solidFill>
                <a:latin typeface="Source Sans Pro"/>
                <a:ea typeface="Source Sans Pro"/>
                <a:cs typeface="Source Sans Pro"/>
                <a:sym typeface="Source Sans Pro"/>
              </a:rPr>
              <a:t>|  |  |  |  |</a:t>
            </a:r>
            <a:br>
              <a:rPr lang="en" sz="1000" b="0" i="0" u="none" strike="noStrike" cap="none">
                <a:solidFill>
                  <a:schemeClr val="dk1"/>
                </a:solidFill>
                <a:latin typeface="Source Sans Pro"/>
                <a:ea typeface="Source Sans Pro"/>
                <a:cs typeface="Source Sans Pro"/>
                <a:sym typeface="Source Sans Pro"/>
              </a:rPr>
            </a:br>
            <a:r>
              <a:rPr lang="en" sz="1000" b="0" i="0" u="none" strike="noStrike" cap="none">
                <a:solidFill>
                  <a:schemeClr val="dk1"/>
                </a:solidFill>
                <a:latin typeface="Source Sans Pro"/>
                <a:ea typeface="Source Sans Pro"/>
                <a:cs typeface="Source Sans Pro"/>
                <a:sym typeface="Source Sans Pro"/>
              </a:rPr>
              <a:t>|  |  |  |  </a:t>
            </a:r>
            <a:r>
              <a:rPr lang="en" sz="1200" b="0" i="0" u="none" strike="noStrike" cap="none">
                <a:solidFill>
                  <a:schemeClr val="dk1"/>
                </a:solidFill>
                <a:latin typeface="Source Sans Pro"/>
                <a:ea typeface="Source Sans Pro"/>
                <a:cs typeface="Source Sans Pro"/>
                <a:sym typeface="Source Sans Pro"/>
              </a:rPr>
              <a:t>ⳑ</a:t>
            </a:r>
            <a:r>
              <a:rPr lang="en" sz="1000" b="0" i="0" u="none" strike="noStrike" cap="none">
                <a:solidFill>
                  <a:schemeClr val="dk1"/>
                </a:solidFill>
                <a:latin typeface="Source Sans Pro"/>
                <a:ea typeface="Source Sans Pro"/>
                <a:cs typeface="Source Sans Pro"/>
                <a:sym typeface="Source Sans Pro"/>
              </a:rPr>
              <a:t>---- Day of week (0 - 7) (Sunday=0 or 7)</a:t>
            </a:r>
            <a:br>
              <a:rPr lang="en" sz="1000" b="0" i="0" u="none" strike="noStrike" cap="none">
                <a:solidFill>
                  <a:schemeClr val="dk1"/>
                </a:solidFill>
                <a:latin typeface="Source Sans Pro"/>
                <a:ea typeface="Source Sans Pro"/>
                <a:cs typeface="Source Sans Pro"/>
                <a:sym typeface="Source Sans Pro"/>
              </a:rPr>
            </a:br>
            <a:r>
              <a:rPr lang="en" sz="1000" b="0" i="0" u="none" strike="noStrike" cap="none">
                <a:solidFill>
                  <a:schemeClr val="dk1"/>
                </a:solidFill>
                <a:latin typeface="Source Sans Pro"/>
                <a:ea typeface="Source Sans Pro"/>
                <a:cs typeface="Source Sans Pro"/>
                <a:sym typeface="Source Sans Pro"/>
              </a:rPr>
              <a:t>|  |  |  </a:t>
            </a:r>
            <a:r>
              <a:rPr lang="en" sz="1200" b="0" i="0" u="none" strike="noStrike" cap="none">
                <a:solidFill>
                  <a:schemeClr val="dk1"/>
                </a:solidFill>
                <a:latin typeface="Source Sans Pro"/>
                <a:ea typeface="Source Sans Pro"/>
                <a:cs typeface="Source Sans Pro"/>
                <a:sym typeface="Source Sans Pro"/>
              </a:rPr>
              <a:t>ⳑ</a:t>
            </a:r>
            <a:r>
              <a:rPr lang="en" sz="1000" b="0" i="0" u="none" strike="noStrike" cap="none">
                <a:solidFill>
                  <a:schemeClr val="dk1"/>
                </a:solidFill>
                <a:latin typeface="Source Sans Pro"/>
                <a:ea typeface="Source Sans Pro"/>
                <a:cs typeface="Source Sans Pro"/>
                <a:sym typeface="Source Sans Pro"/>
              </a:rPr>
              <a:t>------ Month (1 - 12)</a:t>
            </a:r>
            <a:br>
              <a:rPr lang="en" sz="1000" b="0" i="0" u="none" strike="noStrike" cap="none">
                <a:solidFill>
                  <a:schemeClr val="dk1"/>
                </a:solidFill>
                <a:latin typeface="Source Sans Pro"/>
                <a:ea typeface="Source Sans Pro"/>
                <a:cs typeface="Source Sans Pro"/>
                <a:sym typeface="Source Sans Pro"/>
              </a:rPr>
            </a:br>
            <a:r>
              <a:rPr lang="en" sz="1000" b="0" i="0" u="none" strike="noStrike" cap="none">
                <a:solidFill>
                  <a:schemeClr val="dk1"/>
                </a:solidFill>
                <a:latin typeface="Source Sans Pro"/>
                <a:ea typeface="Source Sans Pro"/>
                <a:cs typeface="Source Sans Pro"/>
                <a:sym typeface="Source Sans Pro"/>
              </a:rPr>
              <a:t>|  |  </a:t>
            </a:r>
            <a:r>
              <a:rPr lang="en" sz="1200" b="0" i="0" u="none" strike="noStrike" cap="none">
                <a:solidFill>
                  <a:schemeClr val="dk1"/>
                </a:solidFill>
                <a:latin typeface="Source Sans Pro"/>
                <a:ea typeface="Source Sans Pro"/>
                <a:cs typeface="Source Sans Pro"/>
                <a:sym typeface="Source Sans Pro"/>
              </a:rPr>
              <a:t>ⳑ</a:t>
            </a:r>
            <a:r>
              <a:rPr lang="en" sz="1000" b="0" i="0" u="none" strike="noStrike" cap="none">
                <a:solidFill>
                  <a:schemeClr val="dk1"/>
                </a:solidFill>
                <a:latin typeface="Source Sans Pro"/>
                <a:ea typeface="Source Sans Pro"/>
                <a:cs typeface="Source Sans Pro"/>
                <a:sym typeface="Source Sans Pro"/>
              </a:rPr>
              <a:t>-------- Day of month (1 - 31)</a:t>
            </a:r>
            <a:br>
              <a:rPr lang="en" sz="1000" b="0" i="0" u="none" strike="noStrike" cap="none">
                <a:solidFill>
                  <a:schemeClr val="dk1"/>
                </a:solidFill>
                <a:latin typeface="Source Sans Pro"/>
                <a:ea typeface="Source Sans Pro"/>
                <a:cs typeface="Source Sans Pro"/>
                <a:sym typeface="Source Sans Pro"/>
              </a:rPr>
            </a:br>
            <a:r>
              <a:rPr lang="en" sz="1000" b="0" i="0" u="none" strike="noStrike" cap="none">
                <a:solidFill>
                  <a:schemeClr val="dk1"/>
                </a:solidFill>
                <a:latin typeface="Source Sans Pro"/>
                <a:ea typeface="Source Sans Pro"/>
                <a:cs typeface="Source Sans Pro"/>
                <a:sym typeface="Source Sans Pro"/>
              </a:rPr>
              <a:t>|  </a:t>
            </a:r>
            <a:r>
              <a:rPr lang="en" sz="1200" b="0" i="0" u="none" strike="noStrike" cap="none">
                <a:solidFill>
                  <a:schemeClr val="dk1"/>
                </a:solidFill>
                <a:latin typeface="Source Sans Pro"/>
                <a:ea typeface="Source Sans Pro"/>
                <a:cs typeface="Source Sans Pro"/>
                <a:sym typeface="Source Sans Pro"/>
              </a:rPr>
              <a:t>ⳑ</a:t>
            </a:r>
            <a:r>
              <a:rPr lang="en" sz="1000" b="0" i="0" u="none" strike="noStrike" cap="none">
                <a:solidFill>
                  <a:schemeClr val="dk1"/>
                </a:solidFill>
                <a:latin typeface="Source Sans Pro"/>
                <a:ea typeface="Source Sans Pro"/>
                <a:cs typeface="Source Sans Pro"/>
                <a:sym typeface="Source Sans Pro"/>
              </a:rPr>
              <a:t>---------- Hour (0 - 23)</a:t>
            </a:r>
            <a:br>
              <a:rPr lang="en" sz="1000" b="0" i="0" u="none" strike="noStrike" cap="none">
                <a:solidFill>
                  <a:schemeClr val="dk1"/>
                </a:solidFill>
                <a:latin typeface="Source Sans Pro"/>
                <a:ea typeface="Source Sans Pro"/>
                <a:cs typeface="Source Sans Pro"/>
                <a:sym typeface="Source Sans Pro"/>
              </a:rPr>
            </a:br>
            <a:r>
              <a:rPr lang="en" sz="1200" b="0" i="0" u="none" strike="noStrike" cap="none">
                <a:solidFill>
                  <a:schemeClr val="dk1"/>
                </a:solidFill>
                <a:latin typeface="Source Sans Pro"/>
                <a:ea typeface="Source Sans Pro"/>
                <a:cs typeface="Source Sans Pro"/>
                <a:sym typeface="Source Sans Pro"/>
              </a:rPr>
              <a:t>ⳑ</a:t>
            </a:r>
            <a:r>
              <a:rPr lang="en" sz="1000" b="0" i="0" u="none" strike="noStrike" cap="none">
                <a:solidFill>
                  <a:schemeClr val="dk1"/>
                </a:solidFill>
                <a:latin typeface="Source Sans Pro"/>
                <a:ea typeface="Source Sans Pro"/>
                <a:cs typeface="Source Sans Pro"/>
                <a:sym typeface="Source Sans Pro"/>
              </a:rPr>
              <a:t>------------ Minute (0 - 59)</a:t>
            </a:r>
            <a:endParaRPr sz="1300" b="0" i="0" u="none" strike="noStrike" cap="none">
              <a:solidFill>
                <a:srgbClr val="000000"/>
              </a:solidFill>
              <a:latin typeface="Arial"/>
              <a:ea typeface="Arial"/>
              <a:cs typeface="Arial"/>
              <a:sym typeface="Arial"/>
            </a:endParaRPr>
          </a:p>
        </p:txBody>
      </p:sp>
      <p:sp>
        <p:nvSpPr>
          <p:cNvPr id="461" name="Google Shape;461;ge6b864656b_0_25"/>
          <p:cNvSpPr/>
          <p:nvPr/>
        </p:nvSpPr>
        <p:spPr>
          <a:xfrm>
            <a:off x="797225" y="3298675"/>
            <a:ext cx="7323600" cy="12735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1800"/>
              </a:spcBef>
              <a:spcAft>
                <a:spcPts val="1800"/>
              </a:spcAft>
              <a:buClr>
                <a:srgbClr val="000000"/>
              </a:buClr>
              <a:buSzPts val="1050"/>
              <a:buFont typeface="Arial"/>
              <a:buNone/>
            </a:pPr>
            <a:r>
              <a:rPr lang="en" sz="1050" b="0" i="0" u="none" strike="noStrike" cap="none">
                <a:solidFill>
                  <a:srgbClr val="3B3835"/>
                </a:solidFill>
                <a:latin typeface="Roboto"/>
                <a:ea typeface="Roboto"/>
                <a:cs typeface="Roboto"/>
                <a:sym typeface="Roboto"/>
              </a:rPr>
              <a:t>● </a:t>
            </a:r>
            <a:r>
              <a:rPr lang="en" sz="1000" b="0" i="0" u="none" strike="noStrike" cap="none">
                <a:solidFill>
                  <a:schemeClr val="dk1"/>
                </a:solidFill>
                <a:latin typeface="Source Sans Pro"/>
                <a:ea typeface="Source Sans Pro"/>
                <a:cs typeface="Source Sans Pro"/>
                <a:sym typeface="Source Sans Pro"/>
              </a:rPr>
              <a:t>@reboot: Run once, at startup</a:t>
            </a:r>
            <a:br>
              <a:rPr lang="en" sz="1000" b="0" i="0" u="none" strike="noStrike" cap="none">
                <a:solidFill>
                  <a:schemeClr val="dk1"/>
                </a:solidFill>
                <a:latin typeface="Source Sans Pro"/>
                <a:ea typeface="Source Sans Pro"/>
                <a:cs typeface="Source Sans Pro"/>
                <a:sym typeface="Source Sans Pro"/>
              </a:rPr>
            </a:br>
            <a:r>
              <a:rPr lang="en" sz="1000" b="0" i="0" u="none" strike="noStrike" cap="none">
                <a:solidFill>
                  <a:schemeClr val="dk1"/>
                </a:solidFill>
                <a:latin typeface="Source Sans Pro"/>
                <a:ea typeface="Source Sans Pro"/>
                <a:cs typeface="Source Sans Pro"/>
                <a:sym typeface="Source Sans Pro"/>
              </a:rPr>
              <a:t>● @yearly: Run once a year, i.e. "0 0 1 1 *". </a:t>
            </a:r>
            <a:br>
              <a:rPr lang="en" sz="1000" b="0" i="0" u="none" strike="noStrike" cap="none">
                <a:solidFill>
                  <a:schemeClr val="dk1"/>
                </a:solidFill>
                <a:latin typeface="Source Sans Pro"/>
                <a:ea typeface="Source Sans Pro"/>
                <a:cs typeface="Source Sans Pro"/>
                <a:sym typeface="Source Sans Pro"/>
              </a:rPr>
            </a:br>
            <a:r>
              <a:rPr lang="en" sz="1000" b="0" i="0" u="none" strike="noStrike" cap="none">
                <a:solidFill>
                  <a:schemeClr val="dk1"/>
                </a:solidFill>
                <a:latin typeface="Source Sans Pro"/>
                <a:ea typeface="Source Sans Pro"/>
                <a:cs typeface="Source Sans Pro"/>
                <a:sym typeface="Source Sans Pro"/>
              </a:rPr>
              <a:t>● @annually: Run once a year, i.e. "0 0 1 1 *".</a:t>
            </a:r>
            <a:br>
              <a:rPr lang="en" sz="1000" b="0" i="0" u="none" strike="noStrike" cap="none">
                <a:solidFill>
                  <a:schemeClr val="dk1"/>
                </a:solidFill>
                <a:latin typeface="Source Sans Pro"/>
                <a:ea typeface="Source Sans Pro"/>
                <a:cs typeface="Source Sans Pro"/>
                <a:sym typeface="Source Sans Pro"/>
              </a:rPr>
            </a:br>
            <a:r>
              <a:rPr lang="en" sz="1000" b="0" i="0" u="none" strike="noStrike" cap="none">
                <a:solidFill>
                  <a:schemeClr val="dk1"/>
                </a:solidFill>
                <a:latin typeface="Source Sans Pro"/>
                <a:ea typeface="Source Sans Pro"/>
                <a:cs typeface="Source Sans Pro"/>
                <a:sym typeface="Source Sans Pro"/>
              </a:rPr>
              <a:t>● @monthly: Run once a month, i.e. "0 0 1 * *".</a:t>
            </a:r>
            <a:br>
              <a:rPr lang="en" sz="1000" b="0" i="0" u="none" strike="noStrike" cap="none">
                <a:solidFill>
                  <a:schemeClr val="dk1"/>
                </a:solidFill>
                <a:latin typeface="Source Sans Pro"/>
                <a:ea typeface="Source Sans Pro"/>
                <a:cs typeface="Source Sans Pro"/>
                <a:sym typeface="Source Sans Pro"/>
              </a:rPr>
            </a:br>
            <a:r>
              <a:rPr lang="en" sz="1000" b="0" i="0" u="none" strike="noStrike" cap="none">
                <a:solidFill>
                  <a:schemeClr val="dk1"/>
                </a:solidFill>
                <a:latin typeface="Source Sans Pro"/>
                <a:ea typeface="Source Sans Pro"/>
                <a:cs typeface="Source Sans Pro"/>
                <a:sym typeface="Source Sans Pro"/>
              </a:rPr>
              <a:t>● @weekly: Run once a week, i.e. "0 0 * * 0".</a:t>
            </a:r>
            <a:br>
              <a:rPr lang="en" sz="1000" b="0" i="0" u="none" strike="noStrike" cap="none">
                <a:solidFill>
                  <a:schemeClr val="dk1"/>
                </a:solidFill>
                <a:latin typeface="Source Sans Pro"/>
                <a:ea typeface="Source Sans Pro"/>
                <a:cs typeface="Source Sans Pro"/>
                <a:sym typeface="Source Sans Pro"/>
              </a:rPr>
            </a:br>
            <a:r>
              <a:rPr lang="en" sz="1000" b="0" i="0" u="none" strike="noStrike" cap="none">
                <a:solidFill>
                  <a:schemeClr val="dk1"/>
                </a:solidFill>
                <a:latin typeface="Source Sans Pro"/>
                <a:ea typeface="Source Sans Pro"/>
                <a:cs typeface="Source Sans Pro"/>
                <a:sym typeface="Source Sans Pro"/>
              </a:rPr>
              <a:t>● @daily: Run once a day, i.e. "0 0 * * *".</a:t>
            </a:r>
            <a:br>
              <a:rPr lang="en" sz="1000" b="0" i="0" u="none" strike="noStrike" cap="none">
                <a:solidFill>
                  <a:schemeClr val="dk1"/>
                </a:solidFill>
                <a:latin typeface="Source Sans Pro"/>
                <a:ea typeface="Source Sans Pro"/>
                <a:cs typeface="Source Sans Pro"/>
                <a:sym typeface="Source Sans Pro"/>
              </a:rPr>
            </a:br>
            <a:r>
              <a:rPr lang="en" sz="1000" b="0" i="0" u="none" strike="noStrike" cap="none">
                <a:solidFill>
                  <a:schemeClr val="dk1"/>
                </a:solidFill>
                <a:latin typeface="Source Sans Pro"/>
                <a:ea typeface="Source Sans Pro"/>
                <a:cs typeface="Source Sans Pro"/>
                <a:sym typeface="Source Sans Pro"/>
              </a:rPr>
              <a:t>● @hourly: Run once an hour, i.e. "0 * * * *".</a:t>
            </a:r>
            <a:endParaRPr sz="1000" b="0" i="0" u="none" strike="noStrike" cap="none">
              <a:solidFill>
                <a:schemeClr val="dk1"/>
              </a:solidFill>
              <a:latin typeface="Source Sans Pro"/>
              <a:ea typeface="Source Sans Pro"/>
              <a:cs typeface="Source Sans Pro"/>
              <a:sym typeface="Source Sans Pro"/>
            </a:endParaRPr>
          </a:p>
        </p:txBody>
      </p:sp>
      <p:sp>
        <p:nvSpPr>
          <p:cNvPr id="462" name="Google Shape;462;ge6b864656b_0_25"/>
          <p:cNvSpPr txBox="1"/>
          <p:nvPr/>
        </p:nvSpPr>
        <p:spPr>
          <a:xfrm>
            <a:off x="701425" y="2511025"/>
            <a:ext cx="7703100" cy="857127"/>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en" sz="1400" b="0" i="0" u="none" strike="noStrike" cap="none" dirty="0">
                <a:solidFill>
                  <a:srgbClr val="EF4F63"/>
                </a:solidFill>
                <a:latin typeface="+mj-lt"/>
                <a:ea typeface="Source Sans Pro"/>
                <a:cs typeface="Source Sans Pro"/>
                <a:sym typeface="Source Sans Pro"/>
              </a:rPr>
              <a:t>Predefined Macros</a:t>
            </a:r>
            <a:endParaRPr sz="1400" b="0" i="0" u="none" strike="noStrike" cap="none" dirty="0">
              <a:solidFill>
                <a:srgbClr val="EF4F63"/>
              </a:solidFill>
              <a:latin typeface="+mj-lt"/>
              <a:ea typeface="Source Sans Pro"/>
              <a:cs typeface="Source Sans Pro"/>
              <a:sym typeface="Source Sans Pro"/>
            </a:endParaRPr>
          </a:p>
          <a:p>
            <a:pPr marL="0" marR="0" lvl="0" indent="0" algn="l" rtl="0">
              <a:lnSpc>
                <a:spcPct val="115000"/>
              </a:lnSpc>
              <a:spcBef>
                <a:spcPts val="0"/>
              </a:spcBef>
              <a:spcAft>
                <a:spcPts val="0"/>
              </a:spcAft>
              <a:buClr>
                <a:srgbClr val="000000"/>
              </a:buClr>
              <a:buSzPts val="1200"/>
              <a:buFont typeface="Arial"/>
              <a:buNone/>
            </a:pPr>
            <a:r>
              <a:rPr lang="en" sz="1200" b="0" i="0" u="none" strike="noStrike" cap="none" dirty="0">
                <a:solidFill>
                  <a:srgbClr val="292929"/>
                </a:solidFill>
                <a:highlight>
                  <a:schemeClr val="lt1"/>
                </a:highlight>
                <a:latin typeface="+mj-lt"/>
                <a:ea typeface="Georgia"/>
                <a:cs typeface="Georgia"/>
                <a:sym typeface="Georgia"/>
              </a:rPr>
              <a:t>Instead of typing those 5 parameters, we can save time and improve readability by using one of the Predefined Macros:</a:t>
            </a:r>
            <a:endParaRPr sz="1200" b="0" i="0" u="none" strike="noStrike" cap="none" dirty="0">
              <a:solidFill>
                <a:srgbClr val="292929"/>
              </a:solidFill>
              <a:highlight>
                <a:schemeClr val="lt1"/>
              </a:highlight>
              <a:latin typeface="+mj-lt"/>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59"/>
                                        </p:tgtEl>
                                        <p:attrNameLst>
                                          <p:attrName>style.visibility</p:attrName>
                                        </p:attrNameLst>
                                      </p:cBhvr>
                                      <p:to>
                                        <p:strVal val="visible"/>
                                      </p:to>
                                    </p:set>
                                    <p:animEffect transition="in" filter="fade">
                                      <p:cBhvr>
                                        <p:cTn id="7" dur="1000"/>
                                        <p:tgtEl>
                                          <p:spTgt spid="45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7"/>
                                        </p:tgtEl>
                                        <p:attrNameLst>
                                          <p:attrName>style.visibility</p:attrName>
                                        </p:attrNameLst>
                                      </p:cBhvr>
                                      <p:to>
                                        <p:strVal val="visible"/>
                                      </p:to>
                                    </p:set>
                                    <p:animEffect transition="in" filter="fade">
                                      <p:cBhvr>
                                        <p:cTn id="12" dur="1000"/>
                                        <p:tgtEl>
                                          <p:spTgt spid="45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60"/>
                                        </p:tgtEl>
                                        <p:attrNameLst>
                                          <p:attrName>style.visibility</p:attrName>
                                        </p:attrNameLst>
                                      </p:cBhvr>
                                      <p:to>
                                        <p:strVal val="visible"/>
                                      </p:to>
                                    </p:set>
                                    <p:animEffect transition="in" filter="fade">
                                      <p:cBhvr>
                                        <p:cTn id="17" dur="1000"/>
                                        <p:tgtEl>
                                          <p:spTgt spid="46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62"/>
                                        </p:tgtEl>
                                        <p:attrNameLst>
                                          <p:attrName>style.visibility</p:attrName>
                                        </p:attrNameLst>
                                      </p:cBhvr>
                                      <p:to>
                                        <p:strVal val="visible"/>
                                      </p:to>
                                    </p:set>
                                    <p:animEffect transition="in" filter="fade">
                                      <p:cBhvr>
                                        <p:cTn id="22" dur="1000"/>
                                        <p:tgtEl>
                                          <p:spTgt spid="46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61">
                                            <p:txEl>
                                              <p:pRg st="0" end="0"/>
                                            </p:txEl>
                                          </p:spTgt>
                                        </p:tgtEl>
                                        <p:attrNameLst>
                                          <p:attrName>style.visibility</p:attrName>
                                        </p:attrNameLst>
                                      </p:cBhvr>
                                      <p:to>
                                        <p:strVal val="visible"/>
                                      </p:to>
                                    </p:set>
                                    <p:animEffect transition="in" filter="fade">
                                      <p:cBhvr>
                                        <p:cTn id="27" dur="1000"/>
                                        <p:tgtEl>
                                          <p:spTgt spid="46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ge6b864656b_0_62"/>
          <p:cNvSpPr txBox="1"/>
          <p:nvPr/>
        </p:nvSpPr>
        <p:spPr>
          <a:xfrm>
            <a:off x="701284" y="1046634"/>
            <a:ext cx="7861800" cy="927916"/>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 sz="1600" b="0" i="0" u="none" strike="noStrike" cap="none" dirty="0">
                <a:solidFill>
                  <a:srgbClr val="EF4F63"/>
                </a:solidFill>
                <a:latin typeface="+mj-lt"/>
                <a:ea typeface="Source Sans Pro"/>
                <a:cs typeface="Source Sans Pro"/>
                <a:sym typeface="Source Sans Pro"/>
              </a:rPr>
              <a:t>Crontab Special Characters</a:t>
            </a:r>
            <a:r>
              <a:rPr lang="en" sz="1400" b="0" i="0" u="none" strike="noStrike" cap="none" dirty="0">
                <a:solidFill>
                  <a:srgbClr val="292929"/>
                </a:solidFill>
                <a:highlight>
                  <a:srgbClr val="FFFFFF"/>
                </a:highlight>
                <a:latin typeface="+mj-lt"/>
                <a:ea typeface="Georgia"/>
                <a:cs typeface="Georgia"/>
                <a:sym typeface="Georgia"/>
              </a:rPr>
              <a:t/>
            </a:r>
            <a:br>
              <a:rPr lang="en" sz="1400" b="0" i="0" u="none" strike="noStrike" cap="none" dirty="0">
                <a:solidFill>
                  <a:srgbClr val="292929"/>
                </a:solidFill>
                <a:highlight>
                  <a:srgbClr val="FFFFFF"/>
                </a:highlight>
                <a:latin typeface="+mj-lt"/>
                <a:ea typeface="Georgia"/>
                <a:cs typeface="Georgia"/>
                <a:sym typeface="Georgia"/>
              </a:rPr>
            </a:br>
            <a:r>
              <a:rPr lang="en" sz="1300" b="0" i="0" u="none" strike="noStrike" cap="none" dirty="0">
                <a:solidFill>
                  <a:srgbClr val="292929"/>
                </a:solidFill>
                <a:highlight>
                  <a:schemeClr val="lt1"/>
                </a:highlight>
                <a:latin typeface="+mj-lt"/>
                <a:ea typeface="Georgia"/>
                <a:cs typeface="Georgia"/>
                <a:sym typeface="Georgia"/>
              </a:rPr>
              <a:t>The first five fields may contain one or more values, separated by a comma or a range of values separated by a hyphen.</a:t>
            </a:r>
            <a:endParaRPr sz="1400" b="0" i="0" u="none" strike="noStrike" cap="none" dirty="0">
              <a:solidFill>
                <a:srgbClr val="292929"/>
              </a:solidFill>
              <a:highlight>
                <a:srgbClr val="FFFFFF"/>
              </a:highlight>
              <a:latin typeface="+mj-lt"/>
              <a:ea typeface="Georgia"/>
              <a:cs typeface="Georgia"/>
              <a:sym typeface="Georgia"/>
            </a:endParaRPr>
          </a:p>
        </p:txBody>
      </p:sp>
      <p:sp>
        <p:nvSpPr>
          <p:cNvPr id="468" name="Google Shape;468;ge6b864656b_0_62"/>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15</a:t>
            </a:fld>
            <a:endParaRPr/>
          </a:p>
        </p:txBody>
      </p:sp>
      <p:sp>
        <p:nvSpPr>
          <p:cNvPr id="469" name="Google Shape;469;ge6b864656b_0_62"/>
          <p:cNvSpPr txBox="1">
            <a:spLocks noGrp="1"/>
          </p:cNvSpPr>
          <p:nvPr>
            <p:ph type="title"/>
          </p:nvPr>
        </p:nvSpPr>
        <p:spPr>
          <a:xfrm>
            <a:off x="701284" y="436463"/>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800" b="1" dirty="0">
                <a:ea typeface="Source Sans Pro"/>
                <a:cs typeface="Source Sans Pro"/>
                <a:sym typeface="Source Sans Pro"/>
              </a:rPr>
              <a:t>Crontab in Linux</a:t>
            </a:r>
            <a:endParaRPr sz="2800" b="1" dirty="0"/>
          </a:p>
        </p:txBody>
      </p:sp>
      <p:sp>
        <p:nvSpPr>
          <p:cNvPr id="470" name="Google Shape;470;ge6b864656b_0_62"/>
          <p:cNvSpPr txBox="1"/>
          <p:nvPr/>
        </p:nvSpPr>
        <p:spPr>
          <a:xfrm>
            <a:off x="701284" y="2071092"/>
            <a:ext cx="8251800" cy="1423436"/>
          </a:xfrm>
          <a:prstGeom prst="rect">
            <a:avLst/>
          </a:prstGeom>
          <a:noFill/>
          <a:ln>
            <a:noFill/>
          </a:ln>
        </p:spPr>
        <p:txBody>
          <a:bodyPr spcFirstLastPara="1" wrap="square" lIns="91425" tIns="91425" rIns="91425" bIns="91425" anchor="t" anchorCtr="0">
            <a:spAutoFit/>
          </a:bodyPr>
          <a:lstStyle/>
          <a:p>
            <a:pPr marL="457200" marR="0" lvl="0" indent="-327025" algn="l" rtl="0">
              <a:lnSpc>
                <a:spcPct val="115000"/>
              </a:lnSpc>
              <a:spcBef>
                <a:spcPts val="0"/>
              </a:spcBef>
              <a:spcAft>
                <a:spcPts val="0"/>
              </a:spcAft>
              <a:buClr>
                <a:schemeClr val="dk1"/>
              </a:buClr>
              <a:buSzPts val="1550"/>
              <a:buFont typeface="Roboto"/>
              <a:buChar char="●"/>
            </a:pPr>
            <a:r>
              <a:rPr lang="en" sz="1400" b="0" i="0" u="none" strike="noStrike" cap="none" dirty="0">
                <a:solidFill>
                  <a:srgbClr val="292929"/>
                </a:solidFill>
                <a:highlight>
                  <a:schemeClr val="lt2"/>
                </a:highlight>
                <a:latin typeface="+mj-lt"/>
                <a:ea typeface="Georgia"/>
                <a:cs typeface="Georgia"/>
                <a:sym typeface="Georgia"/>
              </a:rPr>
              <a:t>*</a:t>
            </a:r>
            <a:r>
              <a:rPr lang="en" sz="1400" b="0" i="0" u="none" strike="noStrike" cap="none" dirty="0">
                <a:solidFill>
                  <a:srgbClr val="292929"/>
                </a:solidFill>
                <a:highlight>
                  <a:srgbClr val="FFFFFF"/>
                </a:highlight>
                <a:latin typeface="+mj-lt"/>
                <a:ea typeface="Georgia"/>
                <a:cs typeface="Georgia"/>
                <a:sym typeface="Georgia"/>
              </a:rPr>
              <a:t> - The asterisk operator means any value or always. If you have the asterisk symbol in the Hour field, it means the task will be performed each hour</a:t>
            </a:r>
            <a:r>
              <a:rPr lang="en" sz="1400" b="0" i="0" u="none" strike="noStrike" cap="none" dirty="0" smtClean="0">
                <a:solidFill>
                  <a:srgbClr val="292929"/>
                </a:solidFill>
                <a:highlight>
                  <a:srgbClr val="FFFFFF"/>
                </a:highlight>
                <a:latin typeface="+mj-lt"/>
                <a:ea typeface="Georgia"/>
                <a:cs typeface="Georgia"/>
                <a:sym typeface="Georgia"/>
              </a:rPr>
              <a:t>.</a:t>
            </a:r>
          </a:p>
          <a:p>
            <a:pPr marL="130175" marR="0" lvl="0" algn="l" rtl="0">
              <a:lnSpc>
                <a:spcPct val="115000"/>
              </a:lnSpc>
              <a:spcBef>
                <a:spcPts val="0"/>
              </a:spcBef>
              <a:spcAft>
                <a:spcPts val="0"/>
              </a:spcAft>
              <a:buClr>
                <a:schemeClr val="dk1"/>
              </a:buClr>
              <a:buSzPts val="1550"/>
            </a:pPr>
            <a:endParaRPr sz="1400" b="0" i="0" u="none" strike="noStrike" cap="none" dirty="0">
              <a:solidFill>
                <a:srgbClr val="292929"/>
              </a:solidFill>
              <a:highlight>
                <a:srgbClr val="FFFFFF"/>
              </a:highlight>
              <a:latin typeface="+mj-lt"/>
              <a:ea typeface="Georgia"/>
              <a:cs typeface="Georgia"/>
              <a:sym typeface="Georgia"/>
            </a:endParaRPr>
          </a:p>
          <a:p>
            <a:pPr marL="457200" marR="0" lvl="0" indent="-327025" algn="l" rtl="0">
              <a:lnSpc>
                <a:spcPct val="115000"/>
              </a:lnSpc>
              <a:spcBef>
                <a:spcPts val="0"/>
              </a:spcBef>
              <a:spcAft>
                <a:spcPts val="0"/>
              </a:spcAft>
              <a:buClr>
                <a:schemeClr val="dk1"/>
              </a:buClr>
              <a:buSzPts val="1550"/>
              <a:buFont typeface="Roboto"/>
              <a:buChar char="●"/>
            </a:pPr>
            <a:r>
              <a:rPr lang="en" sz="1400" b="0" i="0" u="none" strike="noStrike" cap="none" dirty="0">
                <a:solidFill>
                  <a:srgbClr val="292929"/>
                </a:solidFill>
                <a:highlight>
                  <a:schemeClr val="lt2"/>
                </a:highlight>
                <a:latin typeface="+mj-lt"/>
                <a:ea typeface="Georgia"/>
                <a:cs typeface="Georgia"/>
                <a:sym typeface="Georgia"/>
              </a:rPr>
              <a:t>,</a:t>
            </a:r>
            <a:r>
              <a:rPr lang="en" sz="1400" b="0" i="0" u="none" strike="noStrike" cap="none" dirty="0">
                <a:solidFill>
                  <a:srgbClr val="292929"/>
                </a:solidFill>
                <a:highlight>
                  <a:schemeClr val="lt1"/>
                </a:highlight>
                <a:latin typeface="+mj-lt"/>
                <a:ea typeface="Georgia"/>
                <a:cs typeface="Georgia"/>
                <a:sym typeface="Georgia"/>
              </a:rPr>
              <a:t> - </a:t>
            </a:r>
            <a:r>
              <a:rPr lang="en" sz="1400" b="0" i="0" u="none" strike="noStrike" cap="none" dirty="0">
                <a:solidFill>
                  <a:srgbClr val="292929"/>
                </a:solidFill>
                <a:highlight>
                  <a:srgbClr val="FFFFFF"/>
                </a:highlight>
                <a:latin typeface="+mj-lt"/>
                <a:ea typeface="Georgia"/>
                <a:cs typeface="Georgia"/>
                <a:sym typeface="Georgia"/>
              </a:rPr>
              <a:t>The comma operator allows you to specify a list of values for repetition. For example, if you have</a:t>
            </a:r>
            <a:r>
              <a:rPr lang="en" sz="1400" b="0" i="0" u="none" strike="noStrike" cap="none" dirty="0">
                <a:solidFill>
                  <a:srgbClr val="292929"/>
                </a:solidFill>
                <a:highlight>
                  <a:schemeClr val="lt2"/>
                </a:highlight>
                <a:latin typeface="+mj-lt"/>
                <a:ea typeface="Georgia"/>
                <a:cs typeface="Georgia"/>
                <a:sym typeface="Georgia"/>
              </a:rPr>
              <a:t> 1,3,5</a:t>
            </a:r>
            <a:r>
              <a:rPr lang="en" sz="1400" b="0" i="0" u="none" strike="noStrike" cap="none" dirty="0">
                <a:solidFill>
                  <a:srgbClr val="292929"/>
                </a:solidFill>
                <a:highlight>
                  <a:srgbClr val="FFFFFF"/>
                </a:highlight>
                <a:latin typeface="+mj-lt"/>
                <a:ea typeface="Georgia"/>
                <a:cs typeface="Georgia"/>
                <a:sym typeface="Georgia"/>
              </a:rPr>
              <a:t> in the Hour field, the task will run at 1 am, 3 am and 5 am</a:t>
            </a:r>
            <a:r>
              <a:rPr lang="en" sz="1400" b="0" i="0" u="none" strike="noStrike" cap="none" dirty="0" smtClean="0">
                <a:solidFill>
                  <a:srgbClr val="292929"/>
                </a:solidFill>
                <a:highlight>
                  <a:srgbClr val="FFFFFF"/>
                </a:highlight>
                <a:latin typeface="+mj-lt"/>
                <a:ea typeface="Georgia"/>
                <a:cs typeface="Georgia"/>
                <a:sym typeface="Georgia"/>
              </a:rPr>
              <a:t>.</a:t>
            </a:r>
            <a:endParaRPr sz="1400" b="0" i="0" u="none" strike="noStrike" cap="none" dirty="0">
              <a:solidFill>
                <a:srgbClr val="292929"/>
              </a:solidFill>
              <a:highlight>
                <a:srgbClr val="FFFFFF"/>
              </a:highlight>
              <a:latin typeface="+mj-lt"/>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69"/>
                                        </p:tgtEl>
                                        <p:attrNameLst>
                                          <p:attrName>style.visibility</p:attrName>
                                        </p:attrNameLst>
                                      </p:cBhvr>
                                      <p:to>
                                        <p:strVal val="visible"/>
                                      </p:to>
                                    </p:set>
                                    <p:animEffect transition="in" filter="fade">
                                      <p:cBhvr>
                                        <p:cTn id="7" dur="1000"/>
                                        <p:tgtEl>
                                          <p:spTgt spid="46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67"/>
                                        </p:tgtEl>
                                        <p:attrNameLst>
                                          <p:attrName>style.visibility</p:attrName>
                                        </p:attrNameLst>
                                      </p:cBhvr>
                                      <p:to>
                                        <p:strVal val="visible"/>
                                      </p:to>
                                    </p:set>
                                    <p:animEffect transition="in" filter="fade">
                                      <p:cBhvr>
                                        <p:cTn id="12" dur="1000"/>
                                        <p:tgtEl>
                                          <p:spTgt spid="46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0">
                                            <p:txEl>
                                              <p:pRg st="0" end="0"/>
                                            </p:txEl>
                                          </p:spTgt>
                                        </p:tgtEl>
                                        <p:attrNameLst>
                                          <p:attrName>style.visibility</p:attrName>
                                        </p:attrNameLst>
                                      </p:cBhvr>
                                      <p:to>
                                        <p:strVal val="visible"/>
                                      </p:to>
                                    </p:set>
                                    <p:animEffect transition="in" filter="fade">
                                      <p:cBhvr>
                                        <p:cTn id="17" dur="1000"/>
                                        <p:tgtEl>
                                          <p:spTgt spid="47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0">
                                            <p:txEl>
                                              <p:pRg st="2" end="2"/>
                                            </p:txEl>
                                          </p:spTgt>
                                        </p:tgtEl>
                                        <p:attrNameLst>
                                          <p:attrName>style.visibility</p:attrName>
                                        </p:attrNameLst>
                                      </p:cBhvr>
                                      <p:to>
                                        <p:strVal val="visible"/>
                                      </p:to>
                                    </p:set>
                                    <p:animEffect transition="in" filter="fade">
                                      <p:cBhvr>
                                        <p:cTn id="22" dur="1000"/>
                                        <p:tgtEl>
                                          <p:spTgt spid="47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ge6b864656b_0_62"/>
          <p:cNvSpPr txBox="1"/>
          <p:nvPr/>
        </p:nvSpPr>
        <p:spPr>
          <a:xfrm>
            <a:off x="701425" y="637925"/>
            <a:ext cx="7861800" cy="927916"/>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 sz="1600" b="0" i="0" u="none" strike="noStrike" cap="none" dirty="0">
                <a:solidFill>
                  <a:srgbClr val="EF4F63"/>
                </a:solidFill>
                <a:latin typeface="+mj-lt"/>
                <a:ea typeface="Source Sans Pro"/>
                <a:cs typeface="Source Sans Pro"/>
                <a:sym typeface="Source Sans Pro"/>
              </a:rPr>
              <a:t>Crontab Special Characters</a:t>
            </a:r>
            <a:r>
              <a:rPr lang="en" sz="1400" b="0" i="0" u="none" strike="noStrike" cap="none" dirty="0">
                <a:solidFill>
                  <a:srgbClr val="292929"/>
                </a:solidFill>
                <a:highlight>
                  <a:srgbClr val="FFFFFF"/>
                </a:highlight>
                <a:latin typeface="+mj-lt"/>
                <a:ea typeface="Georgia"/>
                <a:cs typeface="Georgia"/>
                <a:sym typeface="Georgia"/>
              </a:rPr>
              <a:t/>
            </a:r>
            <a:br>
              <a:rPr lang="en" sz="1400" b="0" i="0" u="none" strike="noStrike" cap="none" dirty="0">
                <a:solidFill>
                  <a:srgbClr val="292929"/>
                </a:solidFill>
                <a:highlight>
                  <a:srgbClr val="FFFFFF"/>
                </a:highlight>
                <a:latin typeface="+mj-lt"/>
                <a:ea typeface="Georgia"/>
                <a:cs typeface="Georgia"/>
                <a:sym typeface="Georgia"/>
              </a:rPr>
            </a:br>
            <a:r>
              <a:rPr lang="en" sz="1300" b="0" i="0" u="none" strike="noStrike" cap="none" dirty="0">
                <a:solidFill>
                  <a:srgbClr val="292929"/>
                </a:solidFill>
                <a:highlight>
                  <a:schemeClr val="lt1"/>
                </a:highlight>
                <a:latin typeface="+mj-lt"/>
                <a:ea typeface="Georgia"/>
                <a:cs typeface="Georgia"/>
                <a:sym typeface="Georgia"/>
              </a:rPr>
              <a:t>The first five fields may contain one or more values, separated by a comma or a range of values separated by a hyphen.</a:t>
            </a:r>
            <a:endParaRPr sz="1400" b="0" i="0" u="none" strike="noStrike" cap="none" dirty="0">
              <a:solidFill>
                <a:srgbClr val="292929"/>
              </a:solidFill>
              <a:highlight>
                <a:srgbClr val="FFFFFF"/>
              </a:highlight>
              <a:latin typeface="+mj-lt"/>
              <a:ea typeface="Georgia"/>
              <a:cs typeface="Georgia"/>
              <a:sym typeface="Georgia"/>
            </a:endParaRPr>
          </a:p>
        </p:txBody>
      </p:sp>
      <p:sp>
        <p:nvSpPr>
          <p:cNvPr id="468" name="Google Shape;468;ge6b864656b_0_62"/>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16</a:t>
            </a:fld>
            <a:endParaRPr/>
          </a:p>
        </p:txBody>
      </p:sp>
      <p:sp>
        <p:nvSpPr>
          <p:cNvPr id="469" name="Google Shape;469;ge6b864656b_0_62"/>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800" b="1" dirty="0">
                <a:ea typeface="Source Sans Pro"/>
                <a:cs typeface="Source Sans Pro"/>
                <a:sym typeface="Source Sans Pro"/>
              </a:rPr>
              <a:t>Crontab in Linux</a:t>
            </a:r>
            <a:endParaRPr sz="2800" b="1" dirty="0"/>
          </a:p>
        </p:txBody>
      </p:sp>
      <p:sp>
        <p:nvSpPr>
          <p:cNvPr id="470" name="Google Shape;470;ge6b864656b_0_62"/>
          <p:cNvSpPr txBox="1"/>
          <p:nvPr/>
        </p:nvSpPr>
        <p:spPr>
          <a:xfrm>
            <a:off x="701425" y="1552325"/>
            <a:ext cx="8251800" cy="1918957"/>
          </a:xfrm>
          <a:prstGeom prst="rect">
            <a:avLst/>
          </a:prstGeom>
          <a:noFill/>
          <a:ln>
            <a:noFill/>
          </a:ln>
        </p:spPr>
        <p:txBody>
          <a:bodyPr spcFirstLastPara="1" wrap="square" lIns="91425" tIns="91425" rIns="91425" bIns="91425" anchor="t" anchorCtr="0">
            <a:spAutoFit/>
          </a:bodyPr>
          <a:lstStyle/>
          <a:p>
            <a:pPr marL="457200" marR="0" lvl="0" indent="-327025" algn="l" rtl="0">
              <a:lnSpc>
                <a:spcPct val="115000"/>
              </a:lnSpc>
              <a:spcBef>
                <a:spcPts val="0"/>
              </a:spcBef>
              <a:spcAft>
                <a:spcPts val="0"/>
              </a:spcAft>
              <a:buClr>
                <a:schemeClr val="dk1"/>
              </a:buClr>
              <a:buSzPts val="1550"/>
              <a:buFont typeface="Roboto"/>
              <a:buChar char="●"/>
            </a:pPr>
            <a:r>
              <a:rPr lang="en" sz="1400" b="0" i="0" u="none" strike="noStrike" cap="none" dirty="0" smtClean="0">
                <a:solidFill>
                  <a:srgbClr val="292929"/>
                </a:solidFill>
                <a:highlight>
                  <a:schemeClr val="lt2"/>
                </a:highlight>
                <a:latin typeface="+mj-lt"/>
                <a:ea typeface="Georgia"/>
                <a:cs typeface="Georgia"/>
                <a:sym typeface="Georgia"/>
              </a:rPr>
              <a:t>-</a:t>
            </a:r>
            <a:r>
              <a:rPr lang="en" sz="1400" b="0" i="0" u="none" strike="noStrike" cap="none" dirty="0" smtClean="0">
                <a:solidFill>
                  <a:srgbClr val="292929"/>
                </a:solidFill>
                <a:highlight>
                  <a:schemeClr val="lt1"/>
                </a:highlight>
                <a:latin typeface="+mj-lt"/>
                <a:ea typeface="Georgia"/>
                <a:cs typeface="Georgia"/>
                <a:sym typeface="Georgia"/>
              </a:rPr>
              <a:t> </a:t>
            </a:r>
            <a:r>
              <a:rPr lang="en" sz="1400" b="0" i="0" u="none" strike="noStrike" cap="none" dirty="0">
                <a:solidFill>
                  <a:srgbClr val="292929"/>
                </a:solidFill>
                <a:highlight>
                  <a:schemeClr val="lt1"/>
                </a:highlight>
                <a:latin typeface="+mj-lt"/>
                <a:ea typeface="Georgia"/>
                <a:cs typeface="Georgia"/>
                <a:sym typeface="Georgia"/>
              </a:rPr>
              <a:t>- </a:t>
            </a:r>
            <a:r>
              <a:rPr lang="en" sz="1400" b="0" i="0" u="none" strike="noStrike" cap="none" dirty="0">
                <a:solidFill>
                  <a:srgbClr val="292929"/>
                </a:solidFill>
                <a:highlight>
                  <a:srgbClr val="FFFFFF"/>
                </a:highlight>
                <a:latin typeface="+mj-lt"/>
                <a:ea typeface="Georgia"/>
                <a:cs typeface="Georgia"/>
                <a:sym typeface="Georgia"/>
              </a:rPr>
              <a:t>The hyphen operator allows you to specify a range of values. If you have </a:t>
            </a:r>
            <a:r>
              <a:rPr lang="en" sz="1400" b="0" i="0" u="none" strike="noStrike" cap="none" dirty="0">
                <a:solidFill>
                  <a:srgbClr val="292929"/>
                </a:solidFill>
                <a:highlight>
                  <a:schemeClr val="lt2"/>
                </a:highlight>
                <a:latin typeface="+mj-lt"/>
                <a:ea typeface="Georgia"/>
                <a:cs typeface="Georgia"/>
                <a:sym typeface="Georgia"/>
              </a:rPr>
              <a:t>1-5</a:t>
            </a:r>
            <a:r>
              <a:rPr lang="en" sz="1400" b="0" i="0" u="none" strike="noStrike" cap="none" dirty="0">
                <a:solidFill>
                  <a:srgbClr val="292929"/>
                </a:solidFill>
                <a:highlight>
                  <a:srgbClr val="FFFFFF"/>
                </a:highlight>
                <a:latin typeface="+mj-lt"/>
                <a:ea typeface="Georgia"/>
                <a:cs typeface="Georgia"/>
                <a:sym typeface="Georgia"/>
              </a:rPr>
              <a:t> in the Day of week field, the task will run every weekday (From Monday to Friday</a:t>
            </a:r>
            <a:r>
              <a:rPr lang="en" sz="1400" b="0" i="0" u="none" strike="noStrike" cap="none" dirty="0" smtClean="0">
                <a:solidFill>
                  <a:srgbClr val="292929"/>
                </a:solidFill>
                <a:highlight>
                  <a:srgbClr val="FFFFFF"/>
                </a:highlight>
                <a:latin typeface="+mj-lt"/>
                <a:ea typeface="Georgia"/>
                <a:cs typeface="Georgia"/>
                <a:sym typeface="Georgia"/>
              </a:rPr>
              <a:t>).</a:t>
            </a:r>
          </a:p>
          <a:p>
            <a:pPr marL="130175" marR="0" lvl="0" algn="l" rtl="0">
              <a:lnSpc>
                <a:spcPct val="115000"/>
              </a:lnSpc>
              <a:spcBef>
                <a:spcPts val="0"/>
              </a:spcBef>
              <a:spcAft>
                <a:spcPts val="0"/>
              </a:spcAft>
              <a:buClr>
                <a:schemeClr val="dk1"/>
              </a:buClr>
              <a:buSzPts val="1550"/>
            </a:pPr>
            <a:endParaRPr sz="1400" b="0" i="0" u="none" strike="noStrike" cap="none" dirty="0">
              <a:solidFill>
                <a:srgbClr val="292929"/>
              </a:solidFill>
              <a:highlight>
                <a:srgbClr val="FFFFFF"/>
              </a:highlight>
              <a:latin typeface="+mj-lt"/>
              <a:ea typeface="Georgia"/>
              <a:cs typeface="Georgia"/>
              <a:sym typeface="Georgia"/>
            </a:endParaRPr>
          </a:p>
          <a:p>
            <a:pPr marL="457200" marR="0" lvl="0" indent="-327025" algn="l" rtl="0">
              <a:lnSpc>
                <a:spcPct val="115000"/>
              </a:lnSpc>
              <a:spcBef>
                <a:spcPts val="0"/>
              </a:spcBef>
              <a:spcAft>
                <a:spcPts val="0"/>
              </a:spcAft>
              <a:buClr>
                <a:schemeClr val="dk1"/>
              </a:buClr>
              <a:buSzPts val="1550"/>
              <a:buFont typeface="Roboto"/>
              <a:buChar char="●"/>
            </a:pPr>
            <a:r>
              <a:rPr lang="en" sz="1400" b="0" i="0" u="none" strike="noStrike" cap="none" dirty="0">
                <a:solidFill>
                  <a:srgbClr val="292929"/>
                </a:solidFill>
                <a:highlight>
                  <a:schemeClr val="lt2"/>
                </a:highlight>
                <a:latin typeface="+mj-lt"/>
                <a:ea typeface="Georgia"/>
                <a:cs typeface="Georgia"/>
                <a:sym typeface="Georgia"/>
              </a:rPr>
              <a:t>/</a:t>
            </a:r>
            <a:r>
              <a:rPr lang="en" sz="1400" b="0" i="0" u="none" strike="noStrike" cap="none" dirty="0">
                <a:solidFill>
                  <a:srgbClr val="292929"/>
                </a:solidFill>
                <a:highlight>
                  <a:schemeClr val="lt1"/>
                </a:highlight>
                <a:latin typeface="+mj-lt"/>
                <a:ea typeface="Georgia"/>
                <a:cs typeface="Georgia"/>
                <a:sym typeface="Georgia"/>
              </a:rPr>
              <a:t> - </a:t>
            </a:r>
            <a:r>
              <a:rPr lang="en" sz="1400" b="0" i="0" u="none" strike="noStrike" cap="none" dirty="0">
                <a:solidFill>
                  <a:srgbClr val="292929"/>
                </a:solidFill>
                <a:highlight>
                  <a:srgbClr val="FFFFFF"/>
                </a:highlight>
                <a:latin typeface="+mj-lt"/>
                <a:ea typeface="Georgia"/>
                <a:cs typeface="Georgia"/>
                <a:sym typeface="Georgia"/>
              </a:rPr>
              <a:t>The slash operator allows you to specify values that will be repeated over a certain interval between them. For example, if you have </a:t>
            </a:r>
            <a:r>
              <a:rPr lang="en" sz="1400" b="0" i="0" u="none" strike="noStrike" cap="none" dirty="0">
                <a:solidFill>
                  <a:srgbClr val="292929"/>
                </a:solidFill>
                <a:highlight>
                  <a:schemeClr val="lt2"/>
                </a:highlight>
                <a:latin typeface="+mj-lt"/>
                <a:ea typeface="Georgia"/>
                <a:cs typeface="Georgia"/>
                <a:sym typeface="Georgia"/>
              </a:rPr>
              <a:t>*/4</a:t>
            </a:r>
            <a:r>
              <a:rPr lang="en" sz="1400" b="0" i="0" u="none" strike="noStrike" cap="none" dirty="0">
                <a:solidFill>
                  <a:srgbClr val="292929"/>
                </a:solidFill>
                <a:highlight>
                  <a:srgbClr val="FFFFFF"/>
                </a:highlight>
                <a:latin typeface="+mj-lt"/>
                <a:ea typeface="Georgia"/>
                <a:cs typeface="Georgia"/>
                <a:sym typeface="Georgia"/>
              </a:rPr>
              <a:t> in the Hour field, it means the action will be performed every four hours. It is same as specifying </a:t>
            </a:r>
            <a:r>
              <a:rPr lang="en" sz="1400" b="0" i="0" u="none" strike="noStrike" cap="none" dirty="0">
                <a:solidFill>
                  <a:srgbClr val="292929"/>
                </a:solidFill>
                <a:highlight>
                  <a:schemeClr val="lt2"/>
                </a:highlight>
                <a:latin typeface="+mj-lt"/>
                <a:ea typeface="Georgia"/>
                <a:cs typeface="Georgia"/>
                <a:sym typeface="Georgia"/>
              </a:rPr>
              <a:t>0,4,8,12,16,20</a:t>
            </a:r>
            <a:r>
              <a:rPr lang="en" sz="1400" b="0" i="0" u="none" strike="noStrike" cap="none" dirty="0">
                <a:solidFill>
                  <a:srgbClr val="292929"/>
                </a:solidFill>
                <a:highlight>
                  <a:srgbClr val="FFFFFF"/>
                </a:highlight>
                <a:latin typeface="+mj-lt"/>
                <a:ea typeface="Georgia"/>
                <a:cs typeface="Georgia"/>
                <a:sym typeface="Georgia"/>
              </a:rPr>
              <a:t>. Instead of asterisk before the slash operator, you can also use a range of values, </a:t>
            </a:r>
            <a:r>
              <a:rPr lang="en" sz="1400" b="0" i="0" u="none" strike="noStrike" cap="none" dirty="0">
                <a:solidFill>
                  <a:srgbClr val="292929"/>
                </a:solidFill>
                <a:highlight>
                  <a:schemeClr val="lt2"/>
                </a:highlight>
                <a:latin typeface="+mj-lt"/>
                <a:ea typeface="Georgia"/>
                <a:cs typeface="Georgia"/>
                <a:sym typeface="Georgia"/>
              </a:rPr>
              <a:t>1-30/10</a:t>
            </a:r>
            <a:r>
              <a:rPr lang="en" sz="1400" b="0" i="0" u="none" strike="noStrike" cap="none" dirty="0">
                <a:solidFill>
                  <a:srgbClr val="292929"/>
                </a:solidFill>
                <a:highlight>
                  <a:srgbClr val="FFFFFF"/>
                </a:highlight>
                <a:latin typeface="+mj-lt"/>
                <a:ea typeface="Georgia"/>
                <a:cs typeface="Georgia"/>
                <a:sym typeface="Georgia"/>
              </a:rPr>
              <a:t> means the same as </a:t>
            </a:r>
            <a:r>
              <a:rPr lang="en" sz="1400" b="0" i="0" u="none" strike="noStrike" cap="none" dirty="0">
                <a:solidFill>
                  <a:srgbClr val="292929"/>
                </a:solidFill>
                <a:highlight>
                  <a:schemeClr val="lt2"/>
                </a:highlight>
                <a:latin typeface="+mj-lt"/>
                <a:ea typeface="Georgia"/>
                <a:cs typeface="Georgia"/>
                <a:sym typeface="Georgia"/>
              </a:rPr>
              <a:t>1,11,21</a:t>
            </a:r>
            <a:r>
              <a:rPr lang="en" sz="1400" b="0" i="0" u="none" strike="noStrike" cap="none" dirty="0">
                <a:solidFill>
                  <a:srgbClr val="292929"/>
                </a:solidFill>
                <a:highlight>
                  <a:srgbClr val="FFFFFF"/>
                </a:highlight>
                <a:latin typeface="+mj-lt"/>
                <a:ea typeface="Georgia"/>
                <a:cs typeface="Georgia"/>
                <a:sym typeface="Georgia"/>
              </a:rPr>
              <a:t>.</a:t>
            </a:r>
            <a:endParaRPr sz="1400" b="0" i="0" u="none" strike="noStrike" cap="none" dirty="0">
              <a:solidFill>
                <a:srgbClr val="292929"/>
              </a:solidFill>
              <a:highlight>
                <a:srgbClr val="FFFFFF"/>
              </a:highlight>
              <a:latin typeface="+mj-lt"/>
              <a:ea typeface="Georgia"/>
              <a:cs typeface="Georgia"/>
              <a:sym typeface="Georgia"/>
            </a:endParaRPr>
          </a:p>
        </p:txBody>
      </p:sp>
    </p:spTree>
    <p:extLst>
      <p:ext uri="{BB962C8B-B14F-4D97-AF65-F5344CB8AC3E}">
        <p14:creationId xmlns:p14="http://schemas.microsoft.com/office/powerpoint/2010/main" val="1227377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69"/>
                                        </p:tgtEl>
                                        <p:attrNameLst>
                                          <p:attrName>style.visibility</p:attrName>
                                        </p:attrNameLst>
                                      </p:cBhvr>
                                      <p:to>
                                        <p:strVal val="visible"/>
                                      </p:to>
                                    </p:set>
                                    <p:animEffect transition="in" filter="fade">
                                      <p:cBhvr>
                                        <p:cTn id="7" dur="1000"/>
                                        <p:tgtEl>
                                          <p:spTgt spid="46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67"/>
                                        </p:tgtEl>
                                        <p:attrNameLst>
                                          <p:attrName>style.visibility</p:attrName>
                                        </p:attrNameLst>
                                      </p:cBhvr>
                                      <p:to>
                                        <p:strVal val="visible"/>
                                      </p:to>
                                    </p:set>
                                    <p:animEffect transition="in" filter="fade">
                                      <p:cBhvr>
                                        <p:cTn id="12" dur="1000"/>
                                        <p:tgtEl>
                                          <p:spTgt spid="46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0">
                                            <p:txEl>
                                              <p:pRg st="0" end="0"/>
                                            </p:txEl>
                                          </p:spTgt>
                                        </p:tgtEl>
                                        <p:attrNameLst>
                                          <p:attrName>style.visibility</p:attrName>
                                        </p:attrNameLst>
                                      </p:cBhvr>
                                      <p:to>
                                        <p:strVal val="visible"/>
                                      </p:to>
                                    </p:set>
                                    <p:animEffect transition="in" filter="fade">
                                      <p:cBhvr>
                                        <p:cTn id="17" dur="1000"/>
                                        <p:tgtEl>
                                          <p:spTgt spid="47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0">
                                            <p:txEl>
                                              <p:pRg st="2" end="2"/>
                                            </p:txEl>
                                          </p:spTgt>
                                        </p:tgtEl>
                                        <p:attrNameLst>
                                          <p:attrName>style.visibility</p:attrName>
                                        </p:attrNameLst>
                                      </p:cBhvr>
                                      <p:to>
                                        <p:strVal val="visible"/>
                                      </p:to>
                                    </p:set>
                                    <p:animEffect transition="in" filter="fade">
                                      <p:cBhvr>
                                        <p:cTn id="22" dur="1000"/>
                                        <p:tgtEl>
                                          <p:spTgt spid="47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ge6b864656b_0_72"/>
          <p:cNvSpPr txBox="1"/>
          <p:nvPr/>
        </p:nvSpPr>
        <p:spPr>
          <a:xfrm>
            <a:off x="425000" y="2004225"/>
            <a:ext cx="8451900" cy="1777379"/>
          </a:xfrm>
          <a:prstGeom prst="rect">
            <a:avLst/>
          </a:prstGeom>
          <a:noFill/>
          <a:ln>
            <a:noFill/>
          </a:ln>
        </p:spPr>
        <p:txBody>
          <a:bodyPr spcFirstLastPara="1" wrap="square" lIns="91425" tIns="91425" rIns="91425" bIns="91425" anchor="t" anchorCtr="0">
            <a:spAutoFit/>
          </a:bodyPr>
          <a:lstStyle/>
          <a:p>
            <a:pPr marL="457200" marR="0" lvl="0" indent="-314325" algn="l" rtl="0">
              <a:lnSpc>
                <a:spcPct val="115000"/>
              </a:lnSpc>
              <a:spcBef>
                <a:spcPts val="0"/>
              </a:spcBef>
              <a:spcAft>
                <a:spcPts val="0"/>
              </a:spcAft>
              <a:buClr>
                <a:schemeClr val="dk1"/>
              </a:buClr>
              <a:buSzPts val="1350"/>
              <a:buFont typeface="Roboto"/>
              <a:buChar char="●"/>
            </a:pPr>
            <a:r>
              <a:rPr lang="en" sz="1300" b="0" i="0" u="none" strike="noStrike" cap="none" dirty="0">
                <a:solidFill>
                  <a:srgbClr val="292929"/>
                </a:solidFill>
                <a:highlight>
                  <a:schemeClr val="lt2"/>
                </a:highlight>
                <a:latin typeface="+mj-lt"/>
                <a:ea typeface="Roboto Mono"/>
                <a:cs typeface="Roboto Mono"/>
                <a:sym typeface="Roboto Mono"/>
              </a:rPr>
              <a:t>crontab -e</a:t>
            </a:r>
            <a:r>
              <a:rPr lang="en" sz="1500" b="0" i="0" u="none" strike="noStrike" cap="none" dirty="0">
                <a:solidFill>
                  <a:srgbClr val="292929"/>
                </a:solidFill>
                <a:highlight>
                  <a:srgbClr val="FFFFFF"/>
                </a:highlight>
                <a:latin typeface="+mj-lt"/>
                <a:ea typeface="Georgia"/>
                <a:cs typeface="Georgia"/>
                <a:sym typeface="Georgia"/>
              </a:rPr>
              <a:t> - Edit crontab file, or create one if it doesn’t already exist.</a:t>
            </a:r>
            <a:endParaRPr sz="1500" b="0" i="0" u="none" strike="noStrike" cap="none" dirty="0">
              <a:solidFill>
                <a:srgbClr val="292929"/>
              </a:solidFill>
              <a:highlight>
                <a:srgbClr val="FFFFFF"/>
              </a:highlight>
              <a:latin typeface="+mj-lt"/>
              <a:ea typeface="Georgia"/>
              <a:cs typeface="Georgia"/>
              <a:sym typeface="Georgia"/>
            </a:endParaRPr>
          </a:p>
          <a:p>
            <a:pPr marL="457200" marR="0" lvl="0" indent="-314325" algn="l" rtl="0">
              <a:lnSpc>
                <a:spcPct val="115000"/>
              </a:lnSpc>
              <a:spcBef>
                <a:spcPts val="0"/>
              </a:spcBef>
              <a:spcAft>
                <a:spcPts val="0"/>
              </a:spcAft>
              <a:buClr>
                <a:schemeClr val="dk1"/>
              </a:buClr>
              <a:buSzPts val="1350"/>
              <a:buFont typeface="Roboto"/>
              <a:buChar char="●"/>
            </a:pPr>
            <a:r>
              <a:rPr lang="en" sz="1300" b="0" i="0" u="none" strike="noStrike" cap="none" dirty="0">
                <a:solidFill>
                  <a:srgbClr val="292929"/>
                </a:solidFill>
                <a:highlight>
                  <a:schemeClr val="lt2"/>
                </a:highlight>
                <a:latin typeface="+mj-lt"/>
                <a:ea typeface="Roboto Mono"/>
                <a:cs typeface="Roboto Mono"/>
                <a:sym typeface="Roboto Mono"/>
              </a:rPr>
              <a:t>crontab -l</a:t>
            </a:r>
            <a:r>
              <a:rPr lang="en" sz="1500" b="0" i="0" u="none" strike="noStrike" cap="none" dirty="0">
                <a:solidFill>
                  <a:srgbClr val="292929"/>
                </a:solidFill>
                <a:highlight>
                  <a:srgbClr val="FFFFFF"/>
                </a:highlight>
                <a:latin typeface="+mj-lt"/>
                <a:ea typeface="Georgia"/>
                <a:cs typeface="Georgia"/>
                <a:sym typeface="Georgia"/>
              </a:rPr>
              <a:t> - Display crontab file contents.</a:t>
            </a:r>
            <a:endParaRPr sz="1500" b="0" i="0" u="none" strike="noStrike" cap="none" dirty="0">
              <a:solidFill>
                <a:srgbClr val="292929"/>
              </a:solidFill>
              <a:highlight>
                <a:srgbClr val="FFFFFF"/>
              </a:highlight>
              <a:latin typeface="+mj-lt"/>
              <a:ea typeface="Georgia"/>
              <a:cs typeface="Georgia"/>
              <a:sym typeface="Georgia"/>
            </a:endParaRPr>
          </a:p>
          <a:p>
            <a:pPr marL="457200" marR="0" lvl="0" indent="-314325" algn="l" rtl="0">
              <a:lnSpc>
                <a:spcPct val="115000"/>
              </a:lnSpc>
              <a:spcBef>
                <a:spcPts val="0"/>
              </a:spcBef>
              <a:spcAft>
                <a:spcPts val="0"/>
              </a:spcAft>
              <a:buClr>
                <a:schemeClr val="dk1"/>
              </a:buClr>
              <a:buSzPts val="1350"/>
              <a:buFont typeface="Roboto"/>
              <a:buChar char="●"/>
            </a:pPr>
            <a:r>
              <a:rPr lang="en" sz="1300" b="0" i="0" u="none" strike="noStrike" cap="none" dirty="0">
                <a:solidFill>
                  <a:srgbClr val="292929"/>
                </a:solidFill>
                <a:highlight>
                  <a:schemeClr val="lt2"/>
                </a:highlight>
                <a:latin typeface="+mj-lt"/>
                <a:ea typeface="Roboto Mono"/>
                <a:cs typeface="Roboto Mono"/>
                <a:sym typeface="Roboto Mono"/>
              </a:rPr>
              <a:t>crontab -r</a:t>
            </a:r>
            <a:r>
              <a:rPr lang="en" sz="1500" b="0" i="0" u="none" strike="noStrike" cap="none" dirty="0">
                <a:solidFill>
                  <a:srgbClr val="292929"/>
                </a:solidFill>
                <a:highlight>
                  <a:srgbClr val="FFFFFF"/>
                </a:highlight>
                <a:latin typeface="+mj-lt"/>
                <a:ea typeface="Georgia"/>
                <a:cs typeface="Georgia"/>
                <a:sym typeface="Georgia"/>
              </a:rPr>
              <a:t> - Remove your current crontab file.</a:t>
            </a:r>
            <a:endParaRPr sz="1500" b="0" i="0" u="none" strike="noStrike" cap="none" dirty="0">
              <a:solidFill>
                <a:srgbClr val="292929"/>
              </a:solidFill>
              <a:highlight>
                <a:srgbClr val="FFFFFF"/>
              </a:highlight>
              <a:latin typeface="+mj-lt"/>
              <a:ea typeface="Georgia"/>
              <a:cs typeface="Georgia"/>
              <a:sym typeface="Georgia"/>
            </a:endParaRPr>
          </a:p>
          <a:p>
            <a:pPr marL="457200" marR="0" lvl="0" indent="-314325" algn="l" rtl="0">
              <a:lnSpc>
                <a:spcPct val="115000"/>
              </a:lnSpc>
              <a:spcBef>
                <a:spcPts val="0"/>
              </a:spcBef>
              <a:spcAft>
                <a:spcPts val="0"/>
              </a:spcAft>
              <a:buClr>
                <a:schemeClr val="dk1"/>
              </a:buClr>
              <a:buSzPts val="1350"/>
              <a:buFont typeface="Roboto"/>
              <a:buChar char="●"/>
            </a:pPr>
            <a:r>
              <a:rPr lang="en" sz="1300" b="0" i="0" u="none" strike="noStrike" cap="none" dirty="0">
                <a:solidFill>
                  <a:srgbClr val="292929"/>
                </a:solidFill>
                <a:highlight>
                  <a:schemeClr val="lt2"/>
                </a:highlight>
                <a:latin typeface="+mj-lt"/>
                <a:ea typeface="Roboto Mono"/>
                <a:cs typeface="Roboto Mono"/>
                <a:sym typeface="Roboto Mono"/>
              </a:rPr>
              <a:t>crontab -i</a:t>
            </a:r>
            <a:r>
              <a:rPr lang="en" sz="1500" b="0" i="0" u="none" strike="noStrike" cap="none" dirty="0">
                <a:solidFill>
                  <a:srgbClr val="292929"/>
                </a:solidFill>
                <a:highlight>
                  <a:srgbClr val="FFFFFF"/>
                </a:highlight>
                <a:latin typeface="+mj-lt"/>
                <a:ea typeface="Georgia"/>
                <a:cs typeface="Georgia"/>
                <a:sym typeface="Georgia"/>
              </a:rPr>
              <a:t> - Remove your current crontab file with a prompt before removal.</a:t>
            </a:r>
            <a:endParaRPr sz="1500" b="0" i="0" u="none" strike="noStrike" cap="none" dirty="0">
              <a:solidFill>
                <a:srgbClr val="292929"/>
              </a:solidFill>
              <a:highlight>
                <a:srgbClr val="FFFFFF"/>
              </a:highlight>
              <a:latin typeface="+mj-lt"/>
              <a:ea typeface="Georgia"/>
              <a:cs typeface="Georgia"/>
              <a:sym typeface="Georgia"/>
            </a:endParaRPr>
          </a:p>
          <a:p>
            <a:pPr marL="457200" marR="0" lvl="0" indent="-314325" algn="l" rtl="0">
              <a:lnSpc>
                <a:spcPct val="115000"/>
              </a:lnSpc>
              <a:spcBef>
                <a:spcPts val="0"/>
              </a:spcBef>
              <a:spcAft>
                <a:spcPts val="0"/>
              </a:spcAft>
              <a:buClr>
                <a:schemeClr val="dk1"/>
              </a:buClr>
              <a:buSzPts val="1350"/>
              <a:buFont typeface="Roboto"/>
              <a:buChar char="●"/>
            </a:pPr>
            <a:r>
              <a:rPr lang="en" sz="1300" b="0" i="0" u="none" strike="noStrike" cap="none" dirty="0">
                <a:solidFill>
                  <a:srgbClr val="292929"/>
                </a:solidFill>
                <a:highlight>
                  <a:schemeClr val="lt2"/>
                </a:highlight>
                <a:latin typeface="+mj-lt"/>
                <a:ea typeface="Roboto Mono"/>
                <a:cs typeface="Roboto Mono"/>
                <a:sym typeface="Roboto Mono"/>
              </a:rPr>
              <a:t>crontab -u &lt;username&gt;</a:t>
            </a:r>
            <a:r>
              <a:rPr lang="en" sz="1500" b="0" i="0" u="none" strike="noStrike" cap="none" dirty="0">
                <a:solidFill>
                  <a:srgbClr val="292929"/>
                </a:solidFill>
                <a:highlight>
                  <a:srgbClr val="FFFFFF"/>
                </a:highlight>
                <a:latin typeface="+mj-lt"/>
                <a:ea typeface="Georgia"/>
                <a:cs typeface="Georgia"/>
                <a:sym typeface="Georgia"/>
              </a:rPr>
              <a:t> - Edit other user crontab file. This option requires system administrator privileges.</a:t>
            </a:r>
            <a:endParaRPr sz="1500" b="0" i="0" u="none" strike="noStrike" cap="none" dirty="0">
              <a:solidFill>
                <a:srgbClr val="292929"/>
              </a:solidFill>
              <a:highlight>
                <a:srgbClr val="FFFFFF"/>
              </a:highlight>
              <a:latin typeface="+mj-lt"/>
              <a:ea typeface="Georgia"/>
              <a:cs typeface="Georgia"/>
              <a:sym typeface="Georgia"/>
            </a:endParaRPr>
          </a:p>
        </p:txBody>
      </p:sp>
      <p:sp>
        <p:nvSpPr>
          <p:cNvPr id="476" name="Google Shape;476;ge6b864656b_0_72"/>
          <p:cNvSpPr txBox="1"/>
          <p:nvPr/>
        </p:nvSpPr>
        <p:spPr>
          <a:xfrm>
            <a:off x="549025" y="637925"/>
            <a:ext cx="7861800" cy="131725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700"/>
              <a:buFont typeface="Arial"/>
              <a:buNone/>
            </a:pPr>
            <a:r>
              <a:rPr lang="en" sz="1700" b="0" i="0" u="none" strike="noStrike" cap="none" dirty="0">
                <a:solidFill>
                  <a:srgbClr val="EF4F63"/>
                </a:solidFill>
                <a:latin typeface="+mj-lt"/>
                <a:ea typeface="Source Sans Pro"/>
                <a:cs typeface="Source Sans Pro"/>
                <a:sym typeface="Source Sans Pro"/>
              </a:rPr>
              <a:t>Linux Crontab Command</a:t>
            </a:r>
            <a:endParaRPr sz="1700" b="0" i="0" u="none" strike="noStrike" cap="none" dirty="0">
              <a:solidFill>
                <a:srgbClr val="EF4F63"/>
              </a:solidFill>
              <a:latin typeface="+mj-lt"/>
              <a:ea typeface="Source Sans Pro"/>
              <a:cs typeface="Source Sans Pro"/>
              <a:sym typeface="Source Sans Pro"/>
            </a:endParaRPr>
          </a:p>
          <a:p>
            <a:pPr marL="0" marR="0" lvl="0" indent="0" algn="l" rtl="0">
              <a:lnSpc>
                <a:spcPct val="115000"/>
              </a:lnSpc>
              <a:spcBef>
                <a:spcPts val="0"/>
              </a:spcBef>
              <a:spcAft>
                <a:spcPts val="0"/>
              </a:spcAft>
              <a:buClr>
                <a:srgbClr val="000000"/>
              </a:buClr>
              <a:buSzPts val="500"/>
              <a:buFont typeface="Arial"/>
              <a:buNone/>
            </a:pPr>
            <a:r>
              <a:rPr lang="en" sz="500" b="0" i="0" u="none" strike="noStrike" cap="none" dirty="0">
                <a:solidFill>
                  <a:srgbClr val="292929"/>
                </a:solidFill>
                <a:highlight>
                  <a:srgbClr val="FFFFFF"/>
                </a:highlight>
                <a:latin typeface="+mj-lt"/>
                <a:ea typeface="Georgia"/>
                <a:cs typeface="Georgia"/>
                <a:sym typeface="Georgia"/>
              </a:rPr>
              <a:t> </a:t>
            </a:r>
            <a:r>
              <a:rPr lang="en" sz="1500" b="0" i="0" u="none" strike="noStrike" cap="none" dirty="0">
                <a:solidFill>
                  <a:srgbClr val="292929"/>
                </a:solidFill>
                <a:highlight>
                  <a:srgbClr val="FFFFFF"/>
                </a:highlight>
                <a:latin typeface="+mj-lt"/>
                <a:ea typeface="Georgia"/>
                <a:cs typeface="Georgia"/>
                <a:sym typeface="Georgia"/>
              </a:rPr>
              <a:t/>
            </a:r>
            <a:br>
              <a:rPr lang="en" sz="1500" b="0" i="0" u="none" strike="noStrike" cap="none" dirty="0">
                <a:solidFill>
                  <a:srgbClr val="292929"/>
                </a:solidFill>
                <a:highlight>
                  <a:srgbClr val="FFFFFF"/>
                </a:highlight>
                <a:latin typeface="+mj-lt"/>
                <a:ea typeface="Georgia"/>
                <a:cs typeface="Georgia"/>
                <a:sym typeface="Georgia"/>
              </a:rPr>
            </a:br>
            <a:r>
              <a:rPr lang="en" sz="1400" b="0" i="0" u="none" strike="noStrike" cap="none" dirty="0">
                <a:solidFill>
                  <a:srgbClr val="292929"/>
                </a:solidFill>
                <a:highlight>
                  <a:schemeClr val="lt1"/>
                </a:highlight>
                <a:latin typeface="+mj-lt"/>
                <a:ea typeface="Georgia"/>
                <a:cs typeface="Georgia"/>
                <a:sym typeface="Georgia"/>
              </a:rPr>
              <a:t>The </a:t>
            </a:r>
            <a:r>
              <a:rPr lang="en" sz="1200" b="0" i="0" u="none" strike="noStrike" cap="none" dirty="0">
                <a:solidFill>
                  <a:srgbClr val="292929"/>
                </a:solidFill>
                <a:highlight>
                  <a:schemeClr val="lt2"/>
                </a:highlight>
                <a:latin typeface="+mj-lt"/>
                <a:ea typeface="Roboto Mono"/>
                <a:cs typeface="Roboto Mono"/>
                <a:sym typeface="Roboto Mono"/>
              </a:rPr>
              <a:t>crontab</a:t>
            </a:r>
            <a:r>
              <a:rPr lang="en" sz="1400" b="0" i="0" u="none" strike="noStrike" cap="none" dirty="0">
                <a:solidFill>
                  <a:srgbClr val="292929"/>
                </a:solidFill>
                <a:highlight>
                  <a:schemeClr val="lt1"/>
                </a:highlight>
                <a:latin typeface="+mj-lt"/>
                <a:ea typeface="Georgia"/>
                <a:cs typeface="Georgia"/>
                <a:sym typeface="Georgia"/>
              </a:rPr>
              <a:t> command allows you to install, view, or open a crontab file for editing. The crontab command opens the crontab file using the editor specified by the </a:t>
            </a:r>
            <a:r>
              <a:rPr lang="en" sz="1200" b="0" i="0" u="none" strike="noStrike" cap="none" dirty="0">
                <a:solidFill>
                  <a:srgbClr val="292929"/>
                </a:solidFill>
                <a:highlight>
                  <a:schemeClr val="lt2"/>
                </a:highlight>
                <a:latin typeface="+mj-lt"/>
                <a:ea typeface="Roboto Mono"/>
                <a:cs typeface="Roboto Mono"/>
                <a:sym typeface="Roboto Mono"/>
              </a:rPr>
              <a:t>VISUAL</a:t>
            </a:r>
            <a:r>
              <a:rPr lang="en" sz="1400" b="0" i="0" u="none" strike="noStrike" cap="none" dirty="0">
                <a:solidFill>
                  <a:srgbClr val="292929"/>
                </a:solidFill>
                <a:highlight>
                  <a:schemeClr val="lt1"/>
                </a:highlight>
                <a:latin typeface="+mj-lt"/>
                <a:ea typeface="Georgia"/>
                <a:cs typeface="Georgia"/>
                <a:sym typeface="Georgia"/>
              </a:rPr>
              <a:t> or </a:t>
            </a:r>
            <a:r>
              <a:rPr lang="en" sz="1200" b="0" i="0" u="none" strike="noStrike" cap="none" dirty="0">
                <a:solidFill>
                  <a:srgbClr val="292929"/>
                </a:solidFill>
                <a:highlight>
                  <a:schemeClr val="lt2"/>
                </a:highlight>
                <a:latin typeface="+mj-lt"/>
                <a:ea typeface="Roboto Mono"/>
                <a:cs typeface="Roboto Mono"/>
                <a:sym typeface="Roboto Mono"/>
              </a:rPr>
              <a:t>EDITOR</a:t>
            </a:r>
            <a:r>
              <a:rPr lang="en" sz="1400" b="0" i="0" u="none" strike="noStrike" cap="none" dirty="0">
                <a:solidFill>
                  <a:srgbClr val="292929"/>
                </a:solidFill>
                <a:highlight>
                  <a:schemeClr val="lt1"/>
                </a:highlight>
                <a:latin typeface="+mj-lt"/>
                <a:ea typeface="Georgia"/>
                <a:cs typeface="Georgia"/>
                <a:sym typeface="Georgia"/>
              </a:rPr>
              <a:t> environment variables.</a:t>
            </a:r>
            <a:endParaRPr sz="1400" b="0" i="0" u="none" strike="noStrike" cap="none" dirty="0">
              <a:solidFill>
                <a:srgbClr val="292929"/>
              </a:solidFill>
              <a:highlight>
                <a:schemeClr val="lt1"/>
              </a:highlight>
              <a:latin typeface="+mj-lt"/>
              <a:ea typeface="Georgia"/>
              <a:cs typeface="Georgia"/>
              <a:sym typeface="Georgia"/>
            </a:endParaRPr>
          </a:p>
        </p:txBody>
      </p:sp>
      <p:sp>
        <p:nvSpPr>
          <p:cNvPr id="477" name="Google Shape;477;ge6b864656b_0_72"/>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17</a:t>
            </a:fld>
            <a:endParaRPr/>
          </a:p>
        </p:txBody>
      </p:sp>
      <p:sp>
        <p:nvSpPr>
          <p:cNvPr id="478" name="Google Shape;478;ge6b864656b_0_72"/>
          <p:cNvSpPr txBox="1">
            <a:spLocks noGrp="1"/>
          </p:cNvSpPr>
          <p:nvPr>
            <p:ph type="title"/>
          </p:nvPr>
        </p:nvSpPr>
        <p:spPr>
          <a:xfrm>
            <a:off x="549150" y="2088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1800" b="1">
                <a:latin typeface="Source Sans Pro"/>
                <a:ea typeface="Source Sans Pro"/>
                <a:cs typeface="Source Sans Pro"/>
                <a:sym typeface="Source Sans Pro"/>
              </a:rPr>
              <a:t>Scheduling Cron jobs: Linux</a:t>
            </a:r>
            <a:endParaRPr sz="2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78"/>
                                        </p:tgtEl>
                                        <p:attrNameLst>
                                          <p:attrName>style.visibility</p:attrName>
                                        </p:attrNameLst>
                                      </p:cBhvr>
                                      <p:to>
                                        <p:strVal val="visible"/>
                                      </p:to>
                                    </p:set>
                                    <p:animEffect transition="in" filter="fade">
                                      <p:cBhvr>
                                        <p:cTn id="7" dur="1000"/>
                                        <p:tgtEl>
                                          <p:spTgt spid="4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6"/>
                                        </p:tgtEl>
                                        <p:attrNameLst>
                                          <p:attrName>style.visibility</p:attrName>
                                        </p:attrNameLst>
                                      </p:cBhvr>
                                      <p:to>
                                        <p:strVal val="visible"/>
                                      </p:to>
                                    </p:set>
                                    <p:animEffect transition="in" filter="fade">
                                      <p:cBhvr>
                                        <p:cTn id="12" dur="1000"/>
                                        <p:tgtEl>
                                          <p:spTgt spid="47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5">
                                            <p:txEl>
                                              <p:pRg st="0" end="0"/>
                                            </p:txEl>
                                          </p:spTgt>
                                        </p:tgtEl>
                                        <p:attrNameLst>
                                          <p:attrName>style.visibility</p:attrName>
                                        </p:attrNameLst>
                                      </p:cBhvr>
                                      <p:to>
                                        <p:strVal val="visible"/>
                                      </p:to>
                                    </p:set>
                                    <p:animEffect transition="in" filter="fade">
                                      <p:cBhvr>
                                        <p:cTn id="17" dur="1000"/>
                                        <p:tgtEl>
                                          <p:spTgt spid="47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5">
                                            <p:txEl>
                                              <p:pRg st="1" end="1"/>
                                            </p:txEl>
                                          </p:spTgt>
                                        </p:tgtEl>
                                        <p:attrNameLst>
                                          <p:attrName>style.visibility</p:attrName>
                                        </p:attrNameLst>
                                      </p:cBhvr>
                                      <p:to>
                                        <p:strVal val="visible"/>
                                      </p:to>
                                    </p:set>
                                    <p:animEffect transition="in" filter="fade">
                                      <p:cBhvr>
                                        <p:cTn id="22" dur="1000"/>
                                        <p:tgtEl>
                                          <p:spTgt spid="47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75">
                                            <p:txEl>
                                              <p:pRg st="2" end="2"/>
                                            </p:txEl>
                                          </p:spTgt>
                                        </p:tgtEl>
                                        <p:attrNameLst>
                                          <p:attrName>style.visibility</p:attrName>
                                        </p:attrNameLst>
                                      </p:cBhvr>
                                      <p:to>
                                        <p:strVal val="visible"/>
                                      </p:to>
                                    </p:set>
                                    <p:animEffect transition="in" filter="fade">
                                      <p:cBhvr>
                                        <p:cTn id="27" dur="1000"/>
                                        <p:tgtEl>
                                          <p:spTgt spid="475">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75">
                                            <p:txEl>
                                              <p:pRg st="3" end="3"/>
                                            </p:txEl>
                                          </p:spTgt>
                                        </p:tgtEl>
                                        <p:attrNameLst>
                                          <p:attrName>style.visibility</p:attrName>
                                        </p:attrNameLst>
                                      </p:cBhvr>
                                      <p:to>
                                        <p:strVal val="visible"/>
                                      </p:to>
                                    </p:set>
                                    <p:animEffect transition="in" filter="fade">
                                      <p:cBhvr>
                                        <p:cTn id="32" dur="1000"/>
                                        <p:tgtEl>
                                          <p:spTgt spid="475">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75">
                                            <p:txEl>
                                              <p:pRg st="4" end="4"/>
                                            </p:txEl>
                                          </p:spTgt>
                                        </p:tgtEl>
                                        <p:attrNameLst>
                                          <p:attrName>style.visibility</p:attrName>
                                        </p:attrNameLst>
                                      </p:cBhvr>
                                      <p:to>
                                        <p:strVal val="visible"/>
                                      </p:to>
                                    </p:set>
                                    <p:animEffect transition="in" filter="fade">
                                      <p:cBhvr>
                                        <p:cTn id="37" dur="1000"/>
                                        <p:tgtEl>
                                          <p:spTgt spid="47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geda00f0913_0_150"/>
          <p:cNvSpPr txBox="1"/>
          <p:nvPr/>
        </p:nvSpPr>
        <p:spPr>
          <a:xfrm>
            <a:off x="549025" y="1704725"/>
            <a:ext cx="7956300" cy="2733026"/>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700"/>
              <a:buFont typeface="Arial"/>
              <a:buNone/>
            </a:pPr>
            <a:r>
              <a:rPr lang="en" sz="1700" b="0" i="0" u="none" strike="noStrike" cap="none" dirty="0">
                <a:solidFill>
                  <a:srgbClr val="EF4F63"/>
                </a:solidFill>
                <a:latin typeface="+mj-lt"/>
                <a:ea typeface="Source Sans Pro"/>
                <a:cs typeface="Source Sans Pro"/>
                <a:sym typeface="Source Sans Pro"/>
              </a:rPr>
              <a:t>Crontab Restrictions</a:t>
            </a:r>
            <a:r>
              <a:rPr lang="en" sz="1500" b="0" i="0" u="none" strike="noStrike" cap="none" dirty="0">
                <a:solidFill>
                  <a:srgbClr val="292929"/>
                </a:solidFill>
                <a:highlight>
                  <a:srgbClr val="FFFFFF"/>
                </a:highlight>
                <a:latin typeface="+mj-lt"/>
                <a:ea typeface="Georgia"/>
                <a:cs typeface="Georgia"/>
                <a:sym typeface="Georgia"/>
              </a:rPr>
              <a:t/>
            </a:r>
            <a:br>
              <a:rPr lang="en" sz="1500" b="0" i="0" u="none" strike="noStrike" cap="none" dirty="0">
                <a:solidFill>
                  <a:srgbClr val="292929"/>
                </a:solidFill>
                <a:highlight>
                  <a:srgbClr val="FFFFFF"/>
                </a:highlight>
                <a:latin typeface="+mj-lt"/>
                <a:ea typeface="Georgia"/>
                <a:cs typeface="Georgia"/>
                <a:sym typeface="Georgia"/>
              </a:rPr>
            </a:br>
            <a:r>
              <a:rPr lang="en" sz="1400" b="0" i="0" u="none" strike="noStrike" cap="none" dirty="0">
                <a:solidFill>
                  <a:srgbClr val="292929"/>
                </a:solidFill>
                <a:highlight>
                  <a:schemeClr val="lt1"/>
                </a:highlight>
                <a:latin typeface="+mj-lt"/>
                <a:ea typeface="Georgia"/>
                <a:cs typeface="Georgia"/>
                <a:sym typeface="Georgia"/>
              </a:rPr>
              <a:t>The </a:t>
            </a:r>
            <a:r>
              <a:rPr lang="en" sz="1200" b="0" i="0" u="none" strike="noStrike" cap="none" dirty="0">
                <a:solidFill>
                  <a:srgbClr val="292929"/>
                </a:solidFill>
                <a:highlight>
                  <a:schemeClr val="lt2"/>
                </a:highlight>
                <a:latin typeface="+mj-lt"/>
                <a:ea typeface="Roboto Mono"/>
                <a:cs typeface="Roboto Mono"/>
                <a:sym typeface="Roboto Mono"/>
              </a:rPr>
              <a:t>/etc/cron.deny</a:t>
            </a:r>
            <a:r>
              <a:rPr lang="en" sz="1400" b="0" i="0" u="none" strike="noStrike" cap="none" dirty="0">
                <a:solidFill>
                  <a:srgbClr val="292929"/>
                </a:solidFill>
                <a:highlight>
                  <a:schemeClr val="lt1"/>
                </a:highlight>
                <a:latin typeface="+mj-lt"/>
                <a:ea typeface="Georgia"/>
                <a:cs typeface="Georgia"/>
                <a:sym typeface="Georgia"/>
              </a:rPr>
              <a:t> and</a:t>
            </a:r>
            <a:r>
              <a:rPr lang="en" sz="1200" b="0" i="0" u="none" strike="noStrike" cap="none" dirty="0">
                <a:solidFill>
                  <a:srgbClr val="292929"/>
                </a:solidFill>
                <a:highlight>
                  <a:schemeClr val="lt2"/>
                </a:highlight>
                <a:latin typeface="+mj-lt"/>
                <a:ea typeface="Roboto Mono"/>
                <a:cs typeface="Roboto Mono"/>
                <a:sym typeface="Roboto Mono"/>
              </a:rPr>
              <a:t> /etc/cron.allow</a:t>
            </a:r>
            <a:r>
              <a:rPr lang="en" sz="1400" b="0" i="0" u="none" strike="noStrike" cap="none" dirty="0">
                <a:solidFill>
                  <a:srgbClr val="292929"/>
                </a:solidFill>
                <a:highlight>
                  <a:schemeClr val="lt1"/>
                </a:highlight>
                <a:latin typeface="+mj-lt"/>
                <a:ea typeface="Georgia"/>
                <a:cs typeface="Georgia"/>
                <a:sym typeface="Georgia"/>
              </a:rPr>
              <a:t> files allows you to control which users have access to the crontab command. The files consist of a list of usernames, one user name per line.</a:t>
            </a:r>
            <a:endParaRPr sz="1400" b="0" i="0" u="none" strike="noStrike" cap="none" dirty="0">
              <a:solidFill>
                <a:srgbClr val="292929"/>
              </a:solidFill>
              <a:highlight>
                <a:schemeClr val="lt1"/>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500"/>
              <a:buFont typeface="Arial"/>
              <a:buNone/>
            </a:pPr>
            <a:r>
              <a:rPr lang="en" sz="500" b="0" i="0" u="none" strike="noStrike" cap="none" dirty="0">
                <a:solidFill>
                  <a:srgbClr val="292929"/>
                </a:solidFill>
                <a:highlight>
                  <a:schemeClr val="lt1"/>
                </a:highlight>
                <a:latin typeface="+mj-lt"/>
                <a:ea typeface="Georgia"/>
                <a:cs typeface="Georgia"/>
                <a:sym typeface="Georgia"/>
              </a:rPr>
              <a:t> </a:t>
            </a:r>
            <a:r>
              <a:rPr lang="en" sz="1400" b="0" i="0" u="none" strike="noStrike" cap="none" dirty="0">
                <a:solidFill>
                  <a:srgbClr val="292929"/>
                </a:solidFill>
                <a:highlight>
                  <a:schemeClr val="lt1"/>
                </a:highlight>
                <a:latin typeface="+mj-lt"/>
                <a:ea typeface="Georgia"/>
                <a:cs typeface="Georgia"/>
                <a:sym typeface="Georgia"/>
              </a:rPr>
              <a:t/>
            </a:r>
            <a:br>
              <a:rPr lang="en" sz="1400" b="0" i="0" u="none" strike="noStrike" cap="none" dirty="0">
                <a:solidFill>
                  <a:srgbClr val="292929"/>
                </a:solidFill>
                <a:highlight>
                  <a:schemeClr val="lt1"/>
                </a:highlight>
                <a:latin typeface="+mj-lt"/>
                <a:ea typeface="Georgia"/>
                <a:cs typeface="Georgia"/>
                <a:sym typeface="Georgia"/>
              </a:rPr>
            </a:br>
            <a:r>
              <a:rPr lang="en" sz="1400" b="0" i="0" u="none" strike="noStrike" cap="none" dirty="0">
                <a:solidFill>
                  <a:srgbClr val="292929"/>
                </a:solidFill>
                <a:highlight>
                  <a:schemeClr val="lt1"/>
                </a:highlight>
                <a:latin typeface="+mj-lt"/>
                <a:ea typeface="Georgia"/>
                <a:cs typeface="Georgia"/>
                <a:sym typeface="Georgia"/>
              </a:rPr>
              <a:t>By default, only the </a:t>
            </a:r>
            <a:r>
              <a:rPr lang="en" sz="1200" b="0" i="0" u="none" strike="noStrike" cap="none" dirty="0">
                <a:solidFill>
                  <a:srgbClr val="292929"/>
                </a:solidFill>
                <a:highlight>
                  <a:schemeClr val="lt2"/>
                </a:highlight>
                <a:latin typeface="+mj-lt"/>
                <a:ea typeface="Roboto Mono"/>
                <a:cs typeface="Roboto Mono"/>
                <a:sym typeface="Roboto Mono"/>
              </a:rPr>
              <a:t>/etc/cron.deny</a:t>
            </a:r>
            <a:r>
              <a:rPr lang="en" sz="1400" b="0" i="0" u="none" strike="noStrike" cap="none" dirty="0">
                <a:solidFill>
                  <a:srgbClr val="292929"/>
                </a:solidFill>
                <a:highlight>
                  <a:schemeClr val="lt1"/>
                </a:highlight>
                <a:latin typeface="+mj-lt"/>
                <a:ea typeface="Georgia"/>
                <a:cs typeface="Georgia"/>
                <a:sym typeface="Georgia"/>
              </a:rPr>
              <a:t> file exists and is empty, which means that all users can use the crontab command. If you want to deny access to the crontab commands to a specific user, add the username to this file.</a:t>
            </a:r>
            <a:endParaRPr sz="1400" b="0" i="0" u="none" strike="noStrike" cap="none" dirty="0">
              <a:solidFill>
                <a:srgbClr val="292929"/>
              </a:solidFill>
              <a:highlight>
                <a:schemeClr val="lt1"/>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500"/>
              <a:buFont typeface="Arial"/>
              <a:buNone/>
            </a:pPr>
            <a:r>
              <a:rPr lang="en" sz="500" b="0" i="0" u="none" strike="noStrike" cap="none" dirty="0">
                <a:solidFill>
                  <a:srgbClr val="292929"/>
                </a:solidFill>
                <a:highlight>
                  <a:schemeClr val="lt1"/>
                </a:highlight>
                <a:latin typeface="+mj-lt"/>
                <a:ea typeface="Georgia"/>
                <a:cs typeface="Georgia"/>
                <a:sym typeface="Georgia"/>
              </a:rPr>
              <a:t> </a:t>
            </a:r>
            <a:r>
              <a:rPr lang="en" sz="1400" b="0" i="0" u="none" strike="noStrike" cap="none" dirty="0">
                <a:solidFill>
                  <a:srgbClr val="292929"/>
                </a:solidFill>
                <a:highlight>
                  <a:schemeClr val="lt1"/>
                </a:highlight>
                <a:latin typeface="+mj-lt"/>
                <a:ea typeface="Georgia"/>
                <a:cs typeface="Georgia"/>
                <a:sym typeface="Georgia"/>
              </a:rPr>
              <a:t/>
            </a:r>
            <a:br>
              <a:rPr lang="en" sz="1400" b="0" i="0" u="none" strike="noStrike" cap="none" dirty="0">
                <a:solidFill>
                  <a:srgbClr val="292929"/>
                </a:solidFill>
                <a:highlight>
                  <a:schemeClr val="lt1"/>
                </a:highlight>
                <a:latin typeface="+mj-lt"/>
                <a:ea typeface="Georgia"/>
                <a:cs typeface="Georgia"/>
                <a:sym typeface="Georgia"/>
              </a:rPr>
            </a:br>
            <a:r>
              <a:rPr lang="en" sz="1400" b="0" i="0" u="none" strike="noStrike" cap="none" dirty="0">
                <a:solidFill>
                  <a:srgbClr val="292929"/>
                </a:solidFill>
                <a:highlight>
                  <a:schemeClr val="lt1"/>
                </a:highlight>
                <a:latin typeface="+mj-lt"/>
                <a:ea typeface="Georgia"/>
                <a:cs typeface="Georgia"/>
                <a:sym typeface="Georgia"/>
              </a:rPr>
              <a:t>If the </a:t>
            </a:r>
            <a:r>
              <a:rPr lang="en" sz="1200" b="0" i="0" u="none" strike="noStrike" cap="none" dirty="0">
                <a:solidFill>
                  <a:srgbClr val="292929"/>
                </a:solidFill>
                <a:highlight>
                  <a:schemeClr val="lt2"/>
                </a:highlight>
                <a:latin typeface="+mj-lt"/>
                <a:ea typeface="Roboto Mono"/>
                <a:cs typeface="Roboto Mono"/>
                <a:sym typeface="Roboto Mono"/>
              </a:rPr>
              <a:t>/etc/cron.allow</a:t>
            </a:r>
            <a:r>
              <a:rPr lang="en" sz="1400" b="0" i="0" u="none" strike="noStrike" cap="none" dirty="0">
                <a:solidFill>
                  <a:srgbClr val="292929"/>
                </a:solidFill>
                <a:highlight>
                  <a:schemeClr val="lt1"/>
                </a:highlight>
                <a:latin typeface="+mj-lt"/>
                <a:ea typeface="Georgia"/>
                <a:cs typeface="Georgia"/>
                <a:sym typeface="Georgia"/>
              </a:rPr>
              <a:t> file exists only the users who are listed in this file can use the crontab command.</a:t>
            </a:r>
            <a:br>
              <a:rPr lang="en" sz="1400" b="0" i="0" u="none" strike="noStrike" cap="none" dirty="0">
                <a:solidFill>
                  <a:srgbClr val="292929"/>
                </a:solidFill>
                <a:highlight>
                  <a:schemeClr val="lt1"/>
                </a:highlight>
                <a:latin typeface="+mj-lt"/>
                <a:ea typeface="Georgia"/>
                <a:cs typeface="Georgia"/>
                <a:sym typeface="Georgia"/>
              </a:rPr>
            </a:br>
            <a:r>
              <a:rPr lang="en" sz="500" b="0" i="0" u="none" strike="noStrike" cap="none" dirty="0">
                <a:solidFill>
                  <a:srgbClr val="292929"/>
                </a:solidFill>
                <a:highlight>
                  <a:schemeClr val="lt1"/>
                </a:highlight>
                <a:latin typeface="+mj-lt"/>
                <a:ea typeface="Georgia"/>
                <a:cs typeface="Georgia"/>
                <a:sym typeface="Georgia"/>
              </a:rPr>
              <a:t> </a:t>
            </a:r>
            <a:endParaRPr sz="1400" b="0" i="0" u="none" strike="noStrike" cap="none" dirty="0">
              <a:solidFill>
                <a:srgbClr val="292929"/>
              </a:solidFill>
              <a:highlight>
                <a:schemeClr val="lt1"/>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1400"/>
              <a:buFont typeface="Arial"/>
              <a:buNone/>
            </a:pPr>
            <a:r>
              <a:rPr lang="en" sz="1400" b="0" i="0" u="none" strike="noStrike" cap="none" dirty="0">
                <a:solidFill>
                  <a:srgbClr val="292929"/>
                </a:solidFill>
                <a:highlight>
                  <a:schemeClr val="lt1"/>
                </a:highlight>
                <a:latin typeface="+mj-lt"/>
                <a:ea typeface="Georgia"/>
                <a:cs typeface="Georgia"/>
                <a:sym typeface="Georgia"/>
              </a:rPr>
              <a:t>If neither of the files exists, only the users with administrative privileges can use the crontab command.</a:t>
            </a:r>
            <a:endParaRPr sz="1200" b="0" i="0" u="none" strike="noStrike" cap="none" dirty="0">
              <a:solidFill>
                <a:srgbClr val="292929"/>
              </a:solidFill>
              <a:highlight>
                <a:schemeClr val="lt2"/>
              </a:highlight>
              <a:latin typeface="+mj-lt"/>
              <a:ea typeface="Roboto Mono"/>
              <a:cs typeface="Roboto Mono"/>
              <a:sym typeface="Roboto Mono"/>
            </a:endParaRPr>
          </a:p>
        </p:txBody>
      </p:sp>
      <p:sp>
        <p:nvSpPr>
          <p:cNvPr id="484" name="Google Shape;484;geda00f0913_0_150"/>
          <p:cNvSpPr txBox="1"/>
          <p:nvPr/>
        </p:nvSpPr>
        <p:spPr>
          <a:xfrm>
            <a:off x="549025" y="637925"/>
            <a:ext cx="7861800" cy="927916"/>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 sz="1600" b="0" i="0" u="none" strike="noStrike" cap="none" dirty="0">
                <a:solidFill>
                  <a:srgbClr val="EF4F63"/>
                </a:solidFill>
                <a:latin typeface="+mj-lt"/>
                <a:ea typeface="Source Sans Pro"/>
                <a:cs typeface="Source Sans Pro"/>
                <a:sym typeface="Source Sans Pro"/>
              </a:rPr>
              <a:t>Linux Crontab Command</a:t>
            </a:r>
            <a:r>
              <a:rPr lang="en" sz="1400" b="0" i="0" u="none" strike="noStrike" cap="none" dirty="0">
                <a:solidFill>
                  <a:srgbClr val="292929"/>
                </a:solidFill>
                <a:highlight>
                  <a:srgbClr val="FFFFFF"/>
                </a:highlight>
                <a:latin typeface="+mj-lt"/>
                <a:ea typeface="Georgia"/>
                <a:cs typeface="Georgia"/>
                <a:sym typeface="Georgia"/>
              </a:rPr>
              <a:t/>
            </a:r>
            <a:br>
              <a:rPr lang="en" sz="1400" b="0" i="0" u="none" strike="noStrike" cap="none" dirty="0">
                <a:solidFill>
                  <a:srgbClr val="292929"/>
                </a:solidFill>
                <a:highlight>
                  <a:srgbClr val="FFFFFF"/>
                </a:highlight>
                <a:latin typeface="+mj-lt"/>
                <a:ea typeface="Georgia"/>
                <a:cs typeface="Georgia"/>
                <a:sym typeface="Georgia"/>
              </a:rPr>
            </a:br>
            <a:r>
              <a:rPr lang="en" sz="1300" b="0" i="0" u="none" strike="noStrike" cap="none" dirty="0">
                <a:solidFill>
                  <a:srgbClr val="292929"/>
                </a:solidFill>
                <a:highlight>
                  <a:schemeClr val="lt1"/>
                </a:highlight>
                <a:latin typeface="+mj-lt"/>
                <a:ea typeface="Georgia"/>
                <a:cs typeface="Georgia"/>
                <a:sym typeface="Georgia"/>
              </a:rPr>
              <a:t>The </a:t>
            </a:r>
            <a:r>
              <a:rPr lang="en" sz="1100" b="0" i="0" u="none" strike="noStrike" cap="none" dirty="0">
                <a:solidFill>
                  <a:srgbClr val="292929"/>
                </a:solidFill>
                <a:highlight>
                  <a:schemeClr val="lt2"/>
                </a:highlight>
                <a:latin typeface="+mj-lt"/>
                <a:ea typeface="Roboto Mono"/>
                <a:cs typeface="Roboto Mono"/>
                <a:sym typeface="Roboto Mono"/>
              </a:rPr>
              <a:t>crontab</a:t>
            </a:r>
            <a:r>
              <a:rPr lang="en" sz="1300" b="0" i="0" u="none" strike="noStrike" cap="none" dirty="0">
                <a:solidFill>
                  <a:srgbClr val="292929"/>
                </a:solidFill>
                <a:highlight>
                  <a:schemeClr val="lt1"/>
                </a:highlight>
                <a:latin typeface="+mj-lt"/>
                <a:ea typeface="Georgia"/>
                <a:cs typeface="Georgia"/>
                <a:sym typeface="Georgia"/>
              </a:rPr>
              <a:t> command allows you to install, view, or open a crontab file for editing. The crontab command opens the crontab file using the editor specified by the </a:t>
            </a:r>
            <a:r>
              <a:rPr lang="en" sz="1100" b="0" i="0" u="none" strike="noStrike" cap="none" dirty="0">
                <a:solidFill>
                  <a:srgbClr val="292929"/>
                </a:solidFill>
                <a:highlight>
                  <a:schemeClr val="lt2"/>
                </a:highlight>
                <a:latin typeface="+mj-lt"/>
                <a:ea typeface="Roboto Mono"/>
                <a:cs typeface="Roboto Mono"/>
                <a:sym typeface="Roboto Mono"/>
              </a:rPr>
              <a:t>VISUAL</a:t>
            </a:r>
            <a:r>
              <a:rPr lang="en" sz="1300" b="0" i="0" u="none" strike="noStrike" cap="none" dirty="0">
                <a:solidFill>
                  <a:srgbClr val="292929"/>
                </a:solidFill>
                <a:highlight>
                  <a:schemeClr val="lt1"/>
                </a:highlight>
                <a:latin typeface="+mj-lt"/>
                <a:ea typeface="Georgia"/>
                <a:cs typeface="Georgia"/>
                <a:sym typeface="Georgia"/>
              </a:rPr>
              <a:t> or </a:t>
            </a:r>
            <a:r>
              <a:rPr lang="en" sz="1100" b="0" i="0" u="none" strike="noStrike" cap="none" dirty="0">
                <a:solidFill>
                  <a:srgbClr val="292929"/>
                </a:solidFill>
                <a:highlight>
                  <a:schemeClr val="lt2"/>
                </a:highlight>
                <a:latin typeface="+mj-lt"/>
                <a:ea typeface="Roboto Mono"/>
                <a:cs typeface="Roboto Mono"/>
                <a:sym typeface="Roboto Mono"/>
              </a:rPr>
              <a:t>EDITOR</a:t>
            </a:r>
            <a:r>
              <a:rPr lang="en" sz="1300" b="0" i="0" u="none" strike="noStrike" cap="none" dirty="0">
                <a:solidFill>
                  <a:srgbClr val="292929"/>
                </a:solidFill>
                <a:highlight>
                  <a:schemeClr val="lt1"/>
                </a:highlight>
                <a:latin typeface="+mj-lt"/>
                <a:ea typeface="Georgia"/>
                <a:cs typeface="Georgia"/>
                <a:sym typeface="Georgia"/>
              </a:rPr>
              <a:t> environment variables.</a:t>
            </a:r>
            <a:endParaRPr sz="1300" b="0" i="0" u="none" strike="noStrike" cap="none" dirty="0">
              <a:solidFill>
                <a:srgbClr val="292929"/>
              </a:solidFill>
              <a:highlight>
                <a:schemeClr val="lt1"/>
              </a:highlight>
              <a:latin typeface="+mj-lt"/>
              <a:ea typeface="Georgia"/>
              <a:cs typeface="Georgia"/>
              <a:sym typeface="Georgia"/>
            </a:endParaRPr>
          </a:p>
        </p:txBody>
      </p:sp>
      <p:sp>
        <p:nvSpPr>
          <p:cNvPr id="485" name="Google Shape;485;geda00f0913_0_150"/>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18</a:t>
            </a:fld>
            <a:endParaRPr/>
          </a:p>
        </p:txBody>
      </p:sp>
      <p:sp>
        <p:nvSpPr>
          <p:cNvPr id="486" name="Google Shape;486;geda00f0913_0_150"/>
          <p:cNvSpPr txBox="1">
            <a:spLocks noGrp="1"/>
          </p:cNvSpPr>
          <p:nvPr>
            <p:ph type="title"/>
          </p:nvPr>
        </p:nvSpPr>
        <p:spPr>
          <a:xfrm>
            <a:off x="549150" y="2088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1800" b="1">
                <a:latin typeface="Source Sans Pro"/>
                <a:ea typeface="Source Sans Pro"/>
                <a:cs typeface="Source Sans Pro"/>
                <a:sym typeface="Source Sans Pro"/>
              </a:rPr>
              <a:t>Scheduling Cron jobs: Linux</a:t>
            </a:r>
            <a:endParaRPr sz="2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86"/>
                                        </p:tgtEl>
                                        <p:attrNameLst>
                                          <p:attrName>style.visibility</p:attrName>
                                        </p:attrNameLst>
                                      </p:cBhvr>
                                      <p:to>
                                        <p:strVal val="visible"/>
                                      </p:to>
                                    </p:set>
                                    <p:animEffect transition="in" filter="fade">
                                      <p:cBhvr>
                                        <p:cTn id="7" dur="1000"/>
                                        <p:tgtEl>
                                          <p:spTgt spid="4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4"/>
                                        </p:tgtEl>
                                        <p:attrNameLst>
                                          <p:attrName>style.visibility</p:attrName>
                                        </p:attrNameLst>
                                      </p:cBhvr>
                                      <p:to>
                                        <p:strVal val="visible"/>
                                      </p:to>
                                    </p:set>
                                    <p:animEffect transition="in" filter="fade">
                                      <p:cBhvr>
                                        <p:cTn id="12" dur="1000"/>
                                        <p:tgtEl>
                                          <p:spTgt spid="48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83"/>
                                        </p:tgtEl>
                                        <p:attrNameLst>
                                          <p:attrName>style.visibility</p:attrName>
                                        </p:attrNameLst>
                                      </p:cBhvr>
                                      <p:to>
                                        <p:strVal val="visible"/>
                                      </p:to>
                                    </p:set>
                                    <p:animEffect transition="in" filter="fade">
                                      <p:cBhvr>
                                        <p:cTn id="17" dur="1000"/>
                                        <p:tgtEl>
                                          <p:spTgt spid="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ge95ccabe2c_0_4"/>
          <p:cNvSpPr/>
          <p:nvPr/>
        </p:nvSpPr>
        <p:spPr>
          <a:xfrm>
            <a:off x="1362200" y="1459925"/>
            <a:ext cx="6491400" cy="3936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1800"/>
              </a:spcBef>
              <a:spcAft>
                <a:spcPts val="1800"/>
              </a:spcAft>
              <a:buClr>
                <a:srgbClr val="000000"/>
              </a:buClr>
              <a:buSzPts val="1100"/>
              <a:buFont typeface="Arial"/>
              <a:buNone/>
            </a:pPr>
            <a:r>
              <a:rPr lang="en" sz="1100" b="0" i="0" u="none" strike="noStrike" cap="none">
                <a:solidFill>
                  <a:schemeClr val="dk1"/>
                </a:solidFill>
                <a:latin typeface="Roboto Mono"/>
                <a:ea typeface="Roboto Mono"/>
                <a:cs typeface="Roboto Mono"/>
                <a:sym typeface="Roboto Mono"/>
              </a:rPr>
              <a:t>0 15 * * 1-5 command</a:t>
            </a:r>
            <a:endParaRPr sz="1100" b="0" i="0" u="none" strike="noStrike" cap="none">
              <a:solidFill>
                <a:schemeClr val="dk1"/>
              </a:solidFill>
              <a:latin typeface="Roboto Mono"/>
              <a:ea typeface="Roboto Mono"/>
              <a:cs typeface="Roboto Mono"/>
              <a:sym typeface="Roboto Mono"/>
            </a:endParaRPr>
          </a:p>
        </p:txBody>
      </p:sp>
      <p:sp>
        <p:nvSpPr>
          <p:cNvPr id="492" name="Google Shape;492;ge95ccabe2c_0_4"/>
          <p:cNvSpPr txBox="1"/>
          <p:nvPr/>
        </p:nvSpPr>
        <p:spPr>
          <a:xfrm>
            <a:off x="755700" y="1100675"/>
            <a:ext cx="8251800" cy="36249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00000"/>
              </a:lnSpc>
              <a:spcBef>
                <a:spcPts val="0"/>
              </a:spcBef>
              <a:spcAft>
                <a:spcPts val="0"/>
              </a:spcAft>
              <a:buClr>
                <a:schemeClr val="dk1"/>
              </a:buClr>
              <a:buSzPts val="1350"/>
              <a:buFont typeface="Roboto"/>
              <a:buChar char="●"/>
            </a:pPr>
            <a:r>
              <a:rPr lang="en" sz="1100" b="0" i="0" u="none" strike="noStrike" cap="none" dirty="0">
                <a:solidFill>
                  <a:srgbClr val="292929"/>
                </a:solidFill>
                <a:highlight>
                  <a:srgbClr val="FFFFFF"/>
                </a:highlight>
                <a:latin typeface="+mj-lt"/>
                <a:ea typeface="Georgia"/>
                <a:cs typeface="Georgia"/>
                <a:sym typeface="Georgia"/>
              </a:rPr>
              <a:t>Run a command at 15:00 on every day from Monday through Friday:</a:t>
            </a:r>
            <a:endParaRPr sz="1100" b="0" i="0" u="none" strike="noStrike" cap="none" dirty="0">
              <a:solidFill>
                <a:srgbClr val="292929"/>
              </a:solidFill>
              <a:highlight>
                <a:srgbClr val="FFFFFF"/>
              </a:highlight>
              <a:latin typeface="+mj-lt"/>
              <a:ea typeface="Georgia"/>
              <a:cs typeface="Georgia"/>
              <a:sym typeface="Georgia"/>
            </a:endParaRPr>
          </a:p>
          <a:p>
            <a:pPr marL="457200" marR="0" lvl="0" indent="0" algn="l" rtl="0">
              <a:lnSpc>
                <a:spcPct val="100000"/>
              </a:lnSpc>
              <a:spcBef>
                <a:spcPts val="1200"/>
              </a:spcBef>
              <a:spcAft>
                <a:spcPts val="0"/>
              </a:spcAft>
              <a:buClr>
                <a:srgbClr val="000000"/>
              </a:buClr>
              <a:buSzPts val="1100"/>
              <a:buFont typeface="Arial"/>
              <a:buNone/>
            </a:pPr>
            <a:endParaRPr sz="1100" b="0" i="0" u="none" strike="noStrike" cap="none" dirty="0">
              <a:solidFill>
                <a:srgbClr val="292929"/>
              </a:solidFill>
              <a:highlight>
                <a:srgbClr val="FFFFFF"/>
              </a:highlight>
              <a:latin typeface="+mj-lt"/>
              <a:ea typeface="Georgia"/>
              <a:cs typeface="Georgia"/>
              <a:sym typeface="Georgia"/>
            </a:endParaRPr>
          </a:p>
          <a:p>
            <a:pPr marL="457200" marR="0" lvl="0" indent="-314325" algn="l" rtl="0">
              <a:lnSpc>
                <a:spcPct val="100000"/>
              </a:lnSpc>
              <a:spcBef>
                <a:spcPts val="1200"/>
              </a:spcBef>
              <a:spcAft>
                <a:spcPts val="0"/>
              </a:spcAft>
              <a:buClr>
                <a:schemeClr val="dk1"/>
              </a:buClr>
              <a:buSzPts val="1350"/>
              <a:buFont typeface="Roboto"/>
              <a:buChar char="●"/>
            </a:pPr>
            <a:r>
              <a:rPr lang="en" sz="1100" b="0" i="0" u="none" strike="noStrike" cap="none" dirty="0">
                <a:solidFill>
                  <a:srgbClr val="292929"/>
                </a:solidFill>
                <a:highlight>
                  <a:srgbClr val="FFFFFF"/>
                </a:highlight>
                <a:latin typeface="+mj-lt"/>
                <a:ea typeface="Georgia"/>
                <a:cs typeface="Georgia"/>
                <a:sym typeface="Georgia"/>
              </a:rPr>
              <a:t>Run two commands every Monday at 3PM (use the operator &amp;&amp; between the commands):</a:t>
            </a:r>
            <a:endParaRPr sz="1100" b="0" i="0" u="none" strike="noStrike" cap="none" dirty="0">
              <a:solidFill>
                <a:srgbClr val="292929"/>
              </a:solidFill>
              <a:highlight>
                <a:srgbClr val="FFFFFF"/>
              </a:highlight>
              <a:latin typeface="+mj-lt"/>
              <a:ea typeface="Georgia"/>
              <a:cs typeface="Georgia"/>
              <a:sym typeface="Georgia"/>
            </a:endParaRPr>
          </a:p>
          <a:p>
            <a:pPr marL="457200" marR="0" lvl="0" indent="0" algn="l" rtl="0">
              <a:lnSpc>
                <a:spcPct val="100000"/>
              </a:lnSpc>
              <a:spcBef>
                <a:spcPts val="1200"/>
              </a:spcBef>
              <a:spcAft>
                <a:spcPts val="0"/>
              </a:spcAft>
              <a:buClr>
                <a:srgbClr val="000000"/>
              </a:buClr>
              <a:buSzPts val="1100"/>
              <a:buFont typeface="Arial"/>
              <a:buNone/>
            </a:pPr>
            <a:endParaRPr sz="1100" b="0" i="0" u="none" strike="noStrike" cap="none" dirty="0">
              <a:solidFill>
                <a:srgbClr val="292929"/>
              </a:solidFill>
              <a:highlight>
                <a:srgbClr val="FFFFFF"/>
              </a:highlight>
              <a:latin typeface="+mj-lt"/>
              <a:ea typeface="Georgia"/>
              <a:cs typeface="Georgia"/>
              <a:sym typeface="Georgia"/>
            </a:endParaRPr>
          </a:p>
          <a:p>
            <a:pPr marL="457200" marR="0" lvl="0" indent="-314325" algn="l" rtl="0">
              <a:lnSpc>
                <a:spcPct val="100000"/>
              </a:lnSpc>
              <a:spcBef>
                <a:spcPts val="1200"/>
              </a:spcBef>
              <a:spcAft>
                <a:spcPts val="0"/>
              </a:spcAft>
              <a:buClr>
                <a:schemeClr val="dk1"/>
              </a:buClr>
              <a:buSzPts val="1350"/>
              <a:buFont typeface="Roboto"/>
              <a:buChar char="●"/>
            </a:pPr>
            <a:r>
              <a:rPr lang="en" sz="1100" b="0" i="0" u="none" strike="noStrike" cap="none" dirty="0">
                <a:solidFill>
                  <a:srgbClr val="292929"/>
                </a:solidFill>
                <a:highlight>
                  <a:srgbClr val="FFFFFF"/>
                </a:highlight>
                <a:latin typeface="+mj-lt"/>
                <a:ea typeface="Georgia"/>
                <a:cs typeface="Georgia"/>
                <a:sym typeface="Georgia"/>
              </a:rPr>
              <a:t>Run a PHP script every 2 minutes and write the output to a file:</a:t>
            </a:r>
            <a:endParaRPr sz="1100" b="0" i="0" u="none" strike="noStrike" cap="none" dirty="0">
              <a:solidFill>
                <a:srgbClr val="292929"/>
              </a:solidFill>
              <a:highlight>
                <a:srgbClr val="FFFFFF"/>
              </a:highlight>
              <a:latin typeface="+mj-lt"/>
              <a:ea typeface="Georgia"/>
              <a:cs typeface="Georgia"/>
              <a:sym typeface="Georgia"/>
            </a:endParaRPr>
          </a:p>
          <a:p>
            <a:pPr marL="457200" marR="0" lvl="0" indent="0" algn="l" rtl="0">
              <a:lnSpc>
                <a:spcPct val="100000"/>
              </a:lnSpc>
              <a:spcBef>
                <a:spcPts val="1200"/>
              </a:spcBef>
              <a:spcAft>
                <a:spcPts val="0"/>
              </a:spcAft>
              <a:buClr>
                <a:srgbClr val="000000"/>
              </a:buClr>
              <a:buSzPts val="1100"/>
              <a:buFont typeface="Arial"/>
              <a:buNone/>
            </a:pPr>
            <a:endParaRPr sz="1100" b="0" i="0" u="none" strike="noStrike" cap="none" dirty="0">
              <a:solidFill>
                <a:srgbClr val="292929"/>
              </a:solidFill>
              <a:highlight>
                <a:srgbClr val="FFFFFF"/>
              </a:highlight>
              <a:latin typeface="+mj-lt"/>
              <a:ea typeface="Georgia"/>
              <a:cs typeface="Georgia"/>
              <a:sym typeface="Georgia"/>
            </a:endParaRPr>
          </a:p>
          <a:p>
            <a:pPr marL="457200" marR="0" lvl="0" indent="-314325" algn="l" rtl="0">
              <a:lnSpc>
                <a:spcPct val="100000"/>
              </a:lnSpc>
              <a:spcBef>
                <a:spcPts val="1200"/>
              </a:spcBef>
              <a:spcAft>
                <a:spcPts val="0"/>
              </a:spcAft>
              <a:buClr>
                <a:schemeClr val="dk1"/>
              </a:buClr>
              <a:buSzPts val="1350"/>
              <a:buFont typeface="Roboto"/>
              <a:buChar char="●"/>
            </a:pPr>
            <a:r>
              <a:rPr lang="en" sz="1100" b="0" i="0" u="none" strike="noStrike" cap="none" dirty="0">
                <a:solidFill>
                  <a:srgbClr val="292929"/>
                </a:solidFill>
                <a:highlight>
                  <a:srgbClr val="FFFFFF"/>
                </a:highlight>
                <a:latin typeface="+mj-lt"/>
                <a:ea typeface="Georgia"/>
                <a:cs typeface="Georgia"/>
                <a:sym typeface="Georgia"/>
              </a:rPr>
              <a:t>Run the a script at 9:15pm, on the 1st and 15th of every month:</a:t>
            </a:r>
            <a:endParaRPr sz="1100" b="0" i="0" u="none" strike="noStrike" cap="none" dirty="0">
              <a:solidFill>
                <a:srgbClr val="292929"/>
              </a:solidFill>
              <a:highlight>
                <a:srgbClr val="FFFFFF"/>
              </a:highlight>
              <a:latin typeface="+mj-lt"/>
              <a:ea typeface="Georgia"/>
              <a:cs typeface="Georgia"/>
              <a:sym typeface="Georgia"/>
            </a:endParaRPr>
          </a:p>
          <a:p>
            <a:pPr marL="457200" marR="0" lvl="0" indent="0" algn="l" rtl="0">
              <a:lnSpc>
                <a:spcPct val="100000"/>
              </a:lnSpc>
              <a:spcBef>
                <a:spcPts val="1200"/>
              </a:spcBef>
              <a:spcAft>
                <a:spcPts val="0"/>
              </a:spcAft>
              <a:buClr>
                <a:srgbClr val="000000"/>
              </a:buClr>
              <a:buSzPts val="1100"/>
              <a:buFont typeface="Arial"/>
              <a:buNone/>
            </a:pPr>
            <a:endParaRPr sz="1100" b="0" i="0" u="none" strike="noStrike" cap="none" dirty="0">
              <a:solidFill>
                <a:srgbClr val="292929"/>
              </a:solidFill>
              <a:highlight>
                <a:srgbClr val="FFFFFF"/>
              </a:highlight>
              <a:latin typeface="+mj-lt"/>
              <a:ea typeface="Georgia"/>
              <a:cs typeface="Georgia"/>
              <a:sym typeface="Georgia"/>
            </a:endParaRPr>
          </a:p>
          <a:p>
            <a:pPr marL="457200" marR="0" lvl="0" indent="-314325" algn="l" rtl="0">
              <a:lnSpc>
                <a:spcPct val="100000"/>
              </a:lnSpc>
              <a:spcBef>
                <a:spcPts val="1200"/>
              </a:spcBef>
              <a:spcAft>
                <a:spcPts val="0"/>
              </a:spcAft>
              <a:buClr>
                <a:schemeClr val="dk1"/>
              </a:buClr>
              <a:buSzPts val="1350"/>
              <a:buFont typeface="Roboto"/>
              <a:buChar char="●"/>
            </a:pPr>
            <a:r>
              <a:rPr lang="en" sz="1100" b="0" i="0" u="none" strike="noStrike" cap="none" dirty="0">
                <a:solidFill>
                  <a:srgbClr val="292929"/>
                </a:solidFill>
                <a:highlight>
                  <a:srgbClr val="FFFFFF"/>
                </a:highlight>
                <a:latin typeface="+mj-lt"/>
                <a:ea typeface="Georgia"/>
                <a:cs typeface="Georgia"/>
                <a:sym typeface="Georgia"/>
              </a:rPr>
              <a:t>Run a script on the first Monday of each month, at 7 a.m.</a:t>
            </a:r>
            <a:endParaRPr sz="1100" b="0" i="0" u="none" strike="noStrike" cap="none" dirty="0">
              <a:solidFill>
                <a:srgbClr val="292929"/>
              </a:solidFill>
              <a:highlight>
                <a:srgbClr val="FFFFFF"/>
              </a:highlight>
              <a:latin typeface="+mj-lt"/>
              <a:ea typeface="Georgia"/>
              <a:cs typeface="Georgia"/>
              <a:sym typeface="Georgia"/>
            </a:endParaRPr>
          </a:p>
          <a:p>
            <a:pPr marL="457200" marR="0" lvl="0" indent="0" algn="l" rtl="0">
              <a:lnSpc>
                <a:spcPct val="100000"/>
              </a:lnSpc>
              <a:spcBef>
                <a:spcPts val="1200"/>
              </a:spcBef>
              <a:spcAft>
                <a:spcPts val="0"/>
              </a:spcAft>
              <a:buClr>
                <a:srgbClr val="000000"/>
              </a:buClr>
              <a:buSzPts val="1100"/>
              <a:buFont typeface="Arial"/>
              <a:buNone/>
            </a:pPr>
            <a:endParaRPr sz="1100" b="0" i="0" u="none" strike="noStrike" cap="none" dirty="0">
              <a:solidFill>
                <a:srgbClr val="000000"/>
              </a:solidFill>
              <a:latin typeface="+mj-lt"/>
              <a:sym typeface="Arial"/>
            </a:endParaRPr>
          </a:p>
          <a:p>
            <a:pPr marL="457200" marR="0" lvl="0" indent="0" algn="l" rtl="0">
              <a:lnSpc>
                <a:spcPct val="100000"/>
              </a:lnSpc>
              <a:spcBef>
                <a:spcPts val="0"/>
              </a:spcBef>
              <a:spcAft>
                <a:spcPts val="1200"/>
              </a:spcAft>
              <a:buClr>
                <a:srgbClr val="000000"/>
              </a:buClr>
              <a:buSzPts val="1100"/>
              <a:buFont typeface="Arial"/>
              <a:buNone/>
            </a:pPr>
            <a:endParaRPr sz="1100" b="0" i="0" u="none" strike="noStrike" cap="none" dirty="0">
              <a:solidFill>
                <a:srgbClr val="292929"/>
              </a:solidFill>
              <a:highlight>
                <a:srgbClr val="FFFFFF"/>
              </a:highlight>
              <a:latin typeface="+mj-lt"/>
              <a:ea typeface="Georgia"/>
              <a:cs typeface="Georgia"/>
              <a:sym typeface="Georgia"/>
            </a:endParaRPr>
          </a:p>
        </p:txBody>
      </p:sp>
      <p:sp>
        <p:nvSpPr>
          <p:cNvPr id="493" name="Google Shape;493;ge95ccabe2c_0_4"/>
          <p:cNvSpPr txBox="1"/>
          <p:nvPr/>
        </p:nvSpPr>
        <p:spPr>
          <a:xfrm>
            <a:off x="701425" y="637925"/>
            <a:ext cx="7861800" cy="62706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en" sz="1400" b="0" i="0" u="none" strike="noStrike" cap="none" dirty="0">
                <a:solidFill>
                  <a:srgbClr val="EF4F63"/>
                </a:solidFill>
                <a:latin typeface="+mj-lt"/>
                <a:ea typeface="Source Sans Pro"/>
                <a:cs typeface="Source Sans Pro"/>
                <a:sym typeface="Source Sans Pro"/>
              </a:rPr>
              <a:t>Cron jobs Examples</a:t>
            </a:r>
            <a:r>
              <a:rPr lang="en" sz="1200" b="0" i="0" u="none" strike="noStrike" cap="none" dirty="0">
                <a:solidFill>
                  <a:srgbClr val="292929"/>
                </a:solidFill>
                <a:highlight>
                  <a:srgbClr val="FFFFFF"/>
                </a:highlight>
                <a:latin typeface="+mj-lt"/>
                <a:ea typeface="Georgia"/>
                <a:cs typeface="Georgia"/>
                <a:sym typeface="Georgia"/>
              </a:rPr>
              <a:t/>
            </a:r>
            <a:br>
              <a:rPr lang="en" sz="1200" b="0" i="0" u="none" strike="noStrike" cap="none" dirty="0">
                <a:solidFill>
                  <a:srgbClr val="292929"/>
                </a:solidFill>
                <a:highlight>
                  <a:srgbClr val="FFFFFF"/>
                </a:highlight>
                <a:latin typeface="+mj-lt"/>
                <a:ea typeface="Georgia"/>
                <a:cs typeface="Georgia"/>
                <a:sym typeface="Georgia"/>
              </a:rPr>
            </a:br>
            <a:r>
              <a:rPr lang="en" sz="1100" b="0" i="0" u="none" strike="noStrike" cap="none" dirty="0">
                <a:solidFill>
                  <a:srgbClr val="292929"/>
                </a:solidFill>
                <a:highlight>
                  <a:schemeClr val="lt1"/>
                </a:highlight>
                <a:latin typeface="+mj-lt"/>
                <a:ea typeface="Georgia"/>
                <a:cs typeface="Georgia"/>
                <a:sym typeface="Georgia"/>
              </a:rPr>
              <a:t>The Below are some cron job examples that show how to schedule a task to run on different time periods.</a:t>
            </a:r>
            <a:r>
              <a:rPr lang="en" sz="1100" b="0" i="0" u="sng" strike="noStrike" cap="none" dirty="0">
                <a:solidFill>
                  <a:schemeClr val="hlink"/>
                </a:solidFill>
                <a:highlight>
                  <a:schemeClr val="lt1"/>
                </a:highlight>
                <a:latin typeface="+mj-lt"/>
                <a:ea typeface="Georgia"/>
                <a:cs typeface="Georgia"/>
                <a:sym typeface="Georgia"/>
                <a:hlinkClick r:id="rId3"/>
              </a:rPr>
              <a:t>[1]</a:t>
            </a:r>
            <a:endParaRPr sz="900" b="0" i="0" u="none" strike="noStrike" cap="none" dirty="0">
              <a:solidFill>
                <a:srgbClr val="292929"/>
              </a:solidFill>
              <a:highlight>
                <a:schemeClr val="lt2"/>
              </a:highlight>
              <a:latin typeface="+mj-lt"/>
              <a:ea typeface="Roboto Mono"/>
              <a:cs typeface="Roboto Mono"/>
              <a:sym typeface="Roboto Mono"/>
            </a:endParaRPr>
          </a:p>
        </p:txBody>
      </p:sp>
      <p:sp>
        <p:nvSpPr>
          <p:cNvPr id="494" name="Google Shape;494;ge95ccabe2c_0_4"/>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19</a:t>
            </a:fld>
            <a:endParaRPr/>
          </a:p>
        </p:txBody>
      </p:sp>
      <p:sp>
        <p:nvSpPr>
          <p:cNvPr id="495" name="Google Shape;495;ge95ccabe2c_0_4"/>
          <p:cNvSpPr txBox="1">
            <a:spLocks noGrp="1"/>
          </p:cNvSpPr>
          <p:nvPr>
            <p:ph type="title"/>
          </p:nvPr>
        </p:nvSpPr>
        <p:spPr>
          <a:xfrm>
            <a:off x="549150" y="2088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2400" b="1" dirty="0">
                <a:ea typeface="Source Sans Pro"/>
                <a:cs typeface="Source Sans Pro"/>
                <a:sym typeface="Source Sans Pro"/>
              </a:rPr>
              <a:t>Scheduling Cron jobs: Linux</a:t>
            </a:r>
            <a:endParaRPr sz="2400" b="1" dirty="0"/>
          </a:p>
        </p:txBody>
      </p:sp>
      <p:sp>
        <p:nvSpPr>
          <p:cNvPr id="496" name="Google Shape;496;ge95ccabe2c_0_4"/>
          <p:cNvSpPr/>
          <p:nvPr/>
        </p:nvSpPr>
        <p:spPr>
          <a:xfrm>
            <a:off x="1306782" y="2089069"/>
            <a:ext cx="6491400" cy="3174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1800"/>
              </a:spcBef>
              <a:spcAft>
                <a:spcPts val="1800"/>
              </a:spcAft>
              <a:buClr>
                <a:srgbClr val="000000"/>
              </a:buClr>
              <a:buSzPts val="1100"/>
              <a:buFont typeface="Arial"/>
              <a:buNone/>
            </a:pPr>
            <a:r>
              <a:rPr lang="en" sz="1100" b="0" i="0" u="none" strike="noStrike" cap="none" dirty="0">
                <a:solidFill>
                  <a:schemeClr val="dk1"/>
                </a:solidFill>
                <a:latin typeface="Roboto Mono"/>
                <a:ea typeface="Roboto Mono"/>
                <a:cs typeface="Roboto Mono"/>
                <a:sym typeface="Roboto Mono"/>
              </a:rPr>
              <a:t>0 15 * * Mon command1 &amp;&amp; command2</a:t>
            </a:r>
            <a:endParaRPr sz="1000" b="0" i="0" u="none" strike="noStrike" cap="none" dirty="0">
              <a:solidFill>
                <a:schemeClr val="dk1"/>
              </a:solidFill>
              <a:latin typeface="Source Sans Pro"/>
              <a:ea typeface="Source Sans Pro"/>
              <a:cs typeface="Source Sans Pro"/>
              <a:sym typeface="Source Sans Pro"/>
            </a:endParaRPr>
          </a:p>
        </p:txBody>
      </p:sp>
      <p:sp>
        <p:nvSpPr>
          <p:cNvPr id="497" name="Google Shape;497;ge95ccabe2c_0_4"/>
          <p:cNvSpPr/>
          <p:nvPr/>
        </p:nvSpPr>
        <p:spPr>
          <a:xfrm>
            <a:off x="1306782" y="2710519"/>
            <a:ext cx="6491400" cy="3174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1800"/>
              </a:spcBef>
              <a:spcAft>
                <a:spcPts val="1800"/>
              </a:spcAft>
              <a:buClr>
                <a:srgbClr val="000000"/>
              </a:buClr>
              <a:buSzPts val="1100"/>
              <a:buFont typeface="Arial"/>
              <a:buNone/>
            </a:pPr>
            <a:r>
              <a:rPr lang="en" sz="1100" b="0" i="0" u="none" strike="noStrike" cap="none" dirty="0">
                <a:solidFill>
                  <a:schemeClr val="dk1"/>
                </a:solidFill>
                <a:latin typeface="Roboto Mono"/>
                <a:ea typeface="Roboto Mono"/>
                <a:cs typeface="Roboto Mono"/>
                <a:sym typeface="Roboto Mono"/>
              </a:rPr>
              <a:t>*/2 * * * * /usr/bin/php /path/to/script.php &gt;&gt; /var/log/script.log</a:t>
            </a:r>
            <a:endParaRPr sz="1000" b="0" i="0" u="none" strike="noStrike" cap="none" dirty="0">
              <a:solidFill>
                <a:schemeClr val="dk1"/>
              </a:solidFill>
              <a:latin typeface="Source Sans Pro"/>
              <a:ea typeface="Source Sans Pro"/>
              <a:cs typeface="Source Sans Pro"/>
              <a:sym typeface="Source Sans Pro"/>
            </a:endParaRPr>
          </a:p>
        </p:txBody>
      </p:sp>
      <p:sp>
        <p:nvSpPr>
          <p:cNvPr id="498" name="Google Shape;498;ge95ccabe2c_0_4"/>
          <p:cNvSpPr/>
          <p:nvPr/>
        </p:nvSpPr>
        <p:spPr>
          <a:xfrm>
            <a:off x="1306782" y="4005121"/>
            <a:ext cx="6491400" cy="3174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1800"/>
              </a:spcBef>
              <a:spcAft>
                <a:spcPts val="1800"/>
              </a:spcAft>
              <a:buClr>
                <a:srgbClr val="000000"/>
              </a:buClr>
              <a:buSzPts val="1100"/>
              <a:buFont typeface="Arial"/>
              <a:buNone/>
            </a:pPr>
            <a:r>
              <a:rPr lang="en" sz="1100" b="0" i="0" u="none" strike="noStrike" cap="none" dirty="0">
                <a:solidFill>
                  <a:schemeClr val="dk1"/>
                </a:solidFill>
                <a:latin typeface="Roboto Mono"/>
                <a:ea typeface="Roboto Mono"/>
                <a:cs typeface="Roboto Mono"/>
                <a:sym typeface="Roboto Mono"/>
              </a:rPr>
              <a:t>0 7 * * 7 [ $(date +\%d) -le 07 ] &amp;&amp; /run/your/script</a:t>
            </a:r>
            <a:endParaRPr sz="1100" b="0" i="0" u="none" strike="noStrike" cap="none" dirty="0">
              <a:solidFill>
                <a:schemeClr val="dk1"/>
              </a:solidFill>
              <a:latin typeface="Roboto Mono"/>
              <a:ea typeface="Roboto Mono"/>
              <a:cs typeface="Roboto Mono"/>
              <a:sym typeface="Roboto Mono"/>
            </a:endParaRPr>
          </a:p>
        </p:txBody>
      </p:sp>
      <p:sp>
        <p:nvSpPr>
          <p:cNvPr id="499" name="Google Shape;499;ge95ccabe2c_0_4"/>
          <p:cNvSpPr/>
          <p:nvPr/>
        </p:nvSpPr>
        <p:spPr>
          <a:xfrm>
            <a:off x="1306782" y="3357820"/>
            <a:ext cx="6491400" cy="3174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1800"/>
              </a:spcBef>
              <a:spcAft>
                <a:spcPts val="1800"/>
              </a:spcAft>
              <a:buClr>
                <a:srgbClr val="000000"/>
              </a:buClr>
              <a:buSzPts val="1100"/>
              <a:buFont typeface="Arial"/>
              <a:buNone/>
            </a:pPr>
            <a:r>
              <a:rPr lang="en" sz="1100" b="0" i="0" u="none" strike="noStrike" cap="none" dirty="0">
                <a:solidFill>
                  <a:schemeClr val="dk1"/>
                </a:solidFill>
                <a:latin typeface="Roboto Mono"/>
                <a:ea typeface="Roboto Mono"/>
                <a:cs typeface="Roboto Mono"/>
                <a:sym typeface="Roboto Mono"/>
              </a:rPr>
              <a:t>15 9 1,15 * * /path/to/script.sh</a:t>
            </a:r>
            <a:endParaRPr sz="1000" b="0" i="0" u="none" strike="noStrike" cap="none" dirty="0">
              <a:solidFill>
                <a:schemeClr val="dk1"/>
              </a:solidFill>
              <a:latin typeface="Source Sans Pro"/>
              <a:ea typeface="Source Sans Pro"/>
              <a:cs typeface="Source Sans Pro"/>
              <a:sym typeface="Source Sans Pr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95"/>
                                        </p:tgtEl>
                                        <p:attrNameLst>
                                          <p:attrName>style.visibility</p:attrName>
                                        </p:attrNameLst>
                                      </p:cBhvr>
                                      <p:to>
                                        <p:strVal val="visible"/>
                                      </p:to>
                                    </p:set>
                                    <p:animEffect transition="in" filter="fade">
                                      <p:cBhvr>
                                        <p:cTn id="7" dur="1000"/>
                                        <p:tgtEl>
                                          <p:spTgt spid="49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93"/>
                                        </p:tgtEl>
                                        <p:attrNameLst>
                                          <p:attrName>style.visibility</p:attrName>
                                        </p:attrNameLst>
                                      </p:cBhvr>
                                      <p:to>
                                        <p:strVal val="visible"/>
                                      </p:to>
                                    </p:set>
                                    <p:animEffect transition="in" filter="fade">
                                      <p:cBhvr>
                                        <p:cTn id="12" dur="1000"/>
                                        <p:tgtEl>
                                          <p:spTgt spid="49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92">
                                            <p:txEl>
                                              <p:pRg st="0" end="0"/>
                                            </p:txEl>
                                          </p:spTgt>
                                        </p:tgtEl>
                                        <p:attrNameLst>
                                          <p:attrName>style.visibility</p:attrName>
                                        </p:attrNameLst>
                                      </p:cBhvr>
                                      <p:to>
                                        <p:strVal val="visible"/>
                                      </p:to>
                                    </p:set>
                                    <p:animEffect transition="in" filter="fade">
                                      <p:cBhvr>
                                        <p:cTn id="17" dur="1000"/>
                                        <p:tgtEl>
                                          <p:spTgt spid="49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92">
                                            <p:txEl>
                                              <p:pRg st="1" end="1"/>
                                            </p:txEl>
                                          </p:spTgt>
                                        </p:tgtEl>
                                        <p:attrNameLst>
                                          <p:attrName>style.visibility</p:attrName>
                                        </p:attrNameLst>
                                      </p:cBhvr>
                                      <p:to>
                                        <p:strVal val="visible"/>
                                      </p:to>
                                    </p:set>
                                    <p:animEffect transition="in" filter="fade">
                                      <p:cBhvr>
                                        <p:cTn id="22" dur="1000"/>
                                        <p:tgtEl>
                                          <p:spTgt spid="49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92">
                                            <p:txEl>
                                              <p:pRg st="2" end="2"/>
                                            </p:txEl>
                                          </p:spTgt>
                                        </p:tgtEl>
                                        <p:attrNameLst>
                                          <p:attrName>style.visibility</p:attrName>
                                        </p:attrNameLst>
                                      </p:cBhvr>
                                      <p:to>
                                        <p:strVal val="visible"/>
                                      </p:to>
                                    </p:set>
                                    <p:animEffect transition="in" filter="fade">
                                      <p:cBhvr>
                                        <p:cTn id="27" dur="1000"/>
                                        <p:tgtEl>
                                          <p:spTgt spid="492">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92">
                                            <p:txEl>
                                              <p:pRg st="3" end="3"/>
                                            </p:txEl>
                                          </p:spTgt>
                                        </p:tgtEl>
                                        <p:attrNameLst>
                                          <p:attrName>style.visibility</p:attrName>
                                        </p:attrNameLst>
                                      </p:cBhvr>
                                      <p:to>
                                        <p:strVal val="visible"/>
                                      </p:to>
                                    </p:set>
                                    <p:animEffect transition="in" filter="fade">
                                      <p:cBhvr>
                                        <p:cTn id="32" dur="1000"/>
                                        <p:tgtEl>
                                          <p:spTgt spid="492">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92">
                                            <p:txEl>
                                              <p:pRg st="4" end="4"/>
                                            </p:txEl>
                                          </p:spTgt>
                                        </p:tgtEl>
                                        <p:attrNameLst>
                                          <p:attrName>style.visibility</p:attrName>
                                        </p:attrNameLst>
                                      </p:cBhvr>
                                      <p:to>
                                        <p:strVal val="visible"/>
                                      </p:to>
                                    </p:set>
                                    <p:animEffect transition="in" filter="fade">
                                      <p:cBhvr>
                                        <p:cTn id="37" dur="1000"/>
                                        <p:tgtEl>
                                          <p:spTgt spid="492">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92">
                                            <p:txEl>
                                              <p:pRg st="5" end="5"/>
                                            </p:txEl>
                                          </p:spTgt>
                                        </p:tgtEl>
                                        <p:attrNameLst>
                                          <p:attrName>style.visibility</p:attrName>
                                        </p:attrNameLst>
                                      </p:cBhvr>
                                      <p:to>
                                        <p:strVal val="visible"/>
                                      </p:to>
                                    </p:set>
                                    <p:animEffect transition="in" filter="fade">
                                      <p:cBhvr>
                                        <p:cTn id="42" dur="1000"/>
                                        <p:tgtEl>
                                          <p:spTgt spid="492">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92">
                                            <p:txEl>
                                              <p:pRg st="6" end="6"/>
                                            </p:txEl>
                                          </p:spTgt>
                                        </p:tgtEl>
                                        <p:attrNameLst>
                                          <p:attrName>style.visibility</p:attrName>
                                        </p:attrNameLst>
                                      </p:cBhvr>
                                      <p:to>
                                        <p:strVal val="visible"/>
                                      </p:to>
                                    </p:set>
                                    <p:animEffect transition="in" filter="fade">
                                      <p:cBhvr>
                                        <p:cTn id="47" dur="1000"/>
                                        <p:tgtEl>
                                          <p:spTgt spid="492">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92">
                                            <p:txEl>
                                              <p:pRg st="7" end="7"/>
                                            </p:txEl>
                                          </p:spTgt>
                                        </p:tgtEl>
                                        <p:attrNameLst>
                                          <p:attrName>style.visibility</p:attrName>
                                        </p:attrNameLst>
                                      </p:cBhvr>
                                      <p:to>
                                        <p:strVal val="visible"/>
                                      </p:to>
                                    </p:set>
                                    <p:animEffect transition="in" filter="fade">
                                      <p:cBhvr>
                                        <p:cTn id="52" dur="1000"/>
                                        <p:tgtEl>
                                          <p:spTgt spid="492">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92">
                                            <p:txEl>
                                              <p:pRg st="8" end="8"/>
                                            </p:txEl>
                                          </p:spTgt>
                                        </p:tgtEl>
                                        <p:attrNameLst>
                                          <p:attrName>style.visibility</p:attrName>
                                        </p:attrNameLst>
                                      </p:cBhvr>
                                      <p:to>
                                        <p:strVal val="visible"/>
                                      </p:to>
                                    </p:set>
                                    <p:animEffect transition="in" filter="fade">
                                      <p:cBhvr>
                                        <p:cTn id="57" dur="1000"/>
                                        <p:tgtEl>
                                          <p:spTgt spid="492">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92">
                                            <p:txEl>
                                              <p:pRg st="9" end="9"/>
                                            </p:txEl>
                                          </p:spTgt>
                                        </p:tgtEl>
                                        <p:attrNameLst>
                                          <p:attrName>style.visibility</p:attrName>
                                        </p:attrNameLst>
                                      </p:cBhvr>
                                      <p:to>
                                        <p:strVal val="visible"/>
                                      </p:to>
                                    </p:set>
                                    <p:animEffect transition="in" filter="fade">
                                      <p:cBhvr>
                                        <p:cTn id="62" dur="1000"/>
                                        <p:tgtEl>
                                          <p:spTgt spid="492">
                                            <p:txEl>
                                              <p:pRg st="9"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92">
                                            <p:txEl>
                                              <p:pRg st="10" end="10"/>
                                            </p:txEl>
                                          </p:spTgt>
                                        </p:tgtEl>
                                        <p:attrNameLst>
                                          <p:attrName>style.visibility</p:attrName>
                                        </p:attrNameLst>
                                      </p:cBhvr>
                                      <p:to>
                                        <p:strVal val="visible"/>
                                      </p:to>
                                    </p:set>
                                    <p:animEffect transition="in" filter="fade">
                                      <p:cBhvr>
                                        <p:cTn id="67" dur="1000"/>
                                        <p:tgtEl>
                                          <p:spTgt spid="49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geda00f0913_0_0"/>
          <p:cNvSpPr txBox="1"/>
          <p:nvPr/>
        </p:nvSpPr>
        <p:spPr>
          <a:xfrm>
            <a:off x="701425" y="637925"/>
            <a:ext cx="7861800" cy="128185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700"/>
              <a:buFont typeface="Arial"/>
              <a:buNone/>
            </a:pPr>
            <a:r>
              <a:rPr lang="en" sz="1700" b="0" i="0" u="none" strike="noStrike" cap="none" dirty="0">
                <a:solidFill>
                  <a:srgbClr val="EF4F63"/>
                </a:solidFill>
                <a:latin typeface="+mj-lt"/>
                <a:ea typeface="Source Sans Pro"/>
                <a:cs typeface="Source Sans Pro"/>
                <a:sym typeface="Source Sans Pro"/>
              </a:rPr>
              <a:t>What is Task Scheduler?</a:t>
            </a:r>
            <a:r>
              <a:rPr lang="en" sz="1500" b="0" i="0" u="none" strike="noStrike" cap="none" dirty="0">
                <a:solidFill>
                  <a:srgbClr val="292929"/>
                </a:solidFill>
                <a:highlight>
                  <a:srgbClr val="FFFFFF"/>
                </a:highlight>
                <a:latin typeface="+mj-lt"/>
                <a:ea typeface="Georgia"/>
                <a:cs typeface="Georgia"/>
                <a:sym typeface="Georgia"/>
              </a:rPr>
              <a:t/>
            </a:r>
            <a:br>
              <a:rPr lang="en" sz="1500" b="0" i="0" u="none" strike="noStrike" cap="none" dirty="0">
                <a:solidFill>
                  <a:srgbClr val="292929"/>
                </a:solidFill>
                <a:highlight>
                  <a:srgbClr val="FFFFFF"/>
                </a:highlight>
                <a:latin typeface="+mj-lt"/>
                <a:ea typeface="Georgia"/>
                <a:cs typeface="Georgia"/>
                <a:sym typeface="Georgia"/>
              </a:rPr>
            </a:br>
            <a:r>
              <a:rPr lang="en" sz="1500" b="0" i="0" u="none" strike="noStrike" cap="none" dirty="0">
                <a:solidFill>
                  <a:srgbClr val="292929"/>
                </a:solidFill>
                <a:highlight>
                  <a:srgbClr val="FFFFFF"/>
                </a:highlight>
                <a:latin typeface="+mj-lt"/>
                <a:ea typeface="Georgia"/>
                <a:cs typeface="Georgia"/>
                <a:sym typeface="Georgia"/>
              </a:rPr>
              <a:t>On Windows 10, Task Scheduler is a tool that allows you to create and run virtually any task automatically. You can start applications, run commands, and execute scripts at a particular day and time, or you can also trigger tasks when a specific event occurs.</a:t>
            </a:r>
            <a:endParaRPr sz="1500" b="0" i="0" u="none" strike="noStrike" cap="none" dirty="0">
              <a:solidFill>
                <a:srgbClr val="292929"/>
              </a:solidFill>
              <a:highlight>
                <a:srgbClr val="FFFFFF"/>
              </a:highlight>
              <a:latin typeface="+mj-lt"/>
              <a:ea typeface="Georgia"/>
              <a:cs typeface="Georgia"/>
              <a:sym typeface="Georgia"/>
            </a:endParaRPr>
          </a:p>
        </p:txBody>
      </p:sp>
      <p:sp>
        <p:nvSpPr>
          <p:cNvPr id="505" name="Google Shape;505;geda00f0913_0_0"/>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20</a:t>
            </a:fld>
            <a:endParaRPr/>
          </a:p>
        </p:txBody>
      </p:sp>
      <p:sp>
        <p:nvSpPr>
          <p:cNvPr id="506" name="Google Shape;506;geda00f0913_0_0"/>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1900" b="1">
                <a:latin typeface="Source Sans Pro"/>
                <a:ea typeface="Source Sans Pro"/>
                <a:cs typeface="Source Sans Pro"/>
                <a:sym typeface="Source Sans Pro"/>
              </a:rPr>
              <a:t>Windows Task Scheduler</a:t>
            </a:r>
            <a:endParaRPr sz="2800" b="1"/>
          </a:p>
        </p:txBody>
      </p:sp>
      <p:sp>
        <p:nvSpPr>
          <p:cNvPr id="507" name="Google Shape;507;geda00f0913_0_0"/>
          <p:cNvSpPr txBox="1"/>
          <p:nvPr/>
        </p:nvSpPr>
        <p:spPr>
          <a:xfrm>
            <a:off x="701425" y="1857125"/>
            <a:ext cx="7861800" cy="1589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700"/>
              <a:buFont typeface="Arial"/>
              <a:buNone/>
            </a:pPr>
            <a:r>
              <a:rPr lang="en" sz="1700" b="0" i="0" u="none" strike="noStrike" cap="none" dirty="0">
                <a:solidFill>
                  <a:srgbClr val="EF4F63"/>
                </a:solidFill>
                <a:latin typeface="+mj-lt"/>
                <a:ea typeface="Source Sans Pro"/>
                <a:cs typeface="Source Sans Pro"/>
                <a:sym typeface="Source Sans Pro"/>
              </a:rPr>
              <a:t>Why use Task Scheduler?</a:t>
            </a:r>
            <a:endParaRPr sz="1650" b="0" i="0" u="none" strike="noStrike" cap="none" dirty="0">
              <a:solidFill>
                <a:srgbClr val="222222"/>
              </a:solidFill>
              <a:highlight>
                <a:srgbClr val="FFFFFF"/>
              </a:highlight>
              <a:latin typeface="+mj-lt"/>
              <a:ea typeface="Source Sans Pro"/>
              <a:cs typeface="Source Sans Pro"/>
              <a:sym typeface="Source Sans Pro"/>
            </a:endParaRPr>
          </a:p>
          <a:p>
            <a:pPr marL="457200" marR="0" lvl="0" indent="-333375" algn="l" rtl="0">
              <a:lnSpc>
                <a:spcPct val="115000"/>
              </a:lnSpc>
              <a:spcBef>
                <a:spcPts val="0"/>
              </a:spcBef>
              <a:spcAft>
                <a:spcPts val="0"/>
              </a:spcAft>
              <a:buClr>
                <a:srgbClr val="222222"/>
              </a:buClr>
              <a:buSzPts val="1650"/>
              <a:buFont typeface="Source Sans Pro"/>
              <a:buChar char="●"/>
            </a:pPr>
            <a:r>
              <a:rPr lang="en" sz="1500" b="0" i="0" u="none" strike="noStrike" cap="none" dirty="0">
                <a:solidFill>
                  <a:srgbClr val="292929"/>
                </a:solidFill>
                <a:highlight>
                  <a:srgbClr val="FFFFFF"/>
                </a:highlight>
                <a:latin typeface="+mj-lt"/>
                <a:ea typeface="Georgia"/>
                <a:cs typeface="Georgia"/>
                <a:sym typeface="Georgia"/>
              </a:rPr>
              <a:t>Helps OS to take a scheduled backup of log files or database.</a:t>
            </a:r>
            <a:endParaRPr sz="1500" b="0" i="0" u="none" strike="noStrike" cap="none" dirty="0">
              <a:solidFill>
                <a:srgbClr val="292929"/>
              </a:solidFill>
              <a:highlight>
                <a:srgbClr val="FFFFFF"/>
              </a:highlight>
              <a:latin typeface="+mj-lt"/>
              <a:ea typeface="Georgia"/>
              <a:cs typeface="Georgia"/>
              <a:sym typeface="Georgia"/>
            </a:endParaRPr>
          </a:p>
          <a:p>
            <a:pPr marL="457200" marR="0" lvl="0" indent="-323850" algn="l" rtl="0">
              <a:lnSpc>
                <a:spcPct val="115000"/>
              </a:lnSpc>
              <a:spcBef>
                <a:spcPts val="0"/>
              </a:spcBef>
              <a:spcAft>
                <a:spcPts val="0"/>
              </a:spcAft>
              <a:buClr>
                <a:srgbClr val="292929"/>
              </a:buClr>
              <a:buSzPts val="1500"/>
              <a:buFont typeface="Georgia"/>
              <a:buChar char="●"/>
            </a:pPr>
            <a:r>
              <a:rPr lang="en" sz="1500" b="0" i="0" u="none" strike="noStrike" cap="none" dirty="0">
                <a:solidFill>
                  <a:srgbClr val="292929"/>
                </a:solidFill>
                <a:highlight>
                  <a:schemeClr val="lt1"/>
                </a:highlight>
                <a:latin typeface="+mj-lt"/>
                <a:ea typeface="Georgia"/>
                <a:cs typeface="Georgia"/>
                <a:sym typeface="Georgia"/>
              </a:rPr>
              <a:t>Run system tasks such as disk defragmentation, disk cleanup, and updates</a:t>
            </a:r>
            <a:endParaRPr sz="1500" b="0" i="0" u="none" strike="noStrike" cap="none" dirty="0">
              <a:solidFill>
                <a:srgbClr val="292929"/>
              </a:solidFill>
              <a:highlight>
                <a:srgbClr val="FFFFFF"/>
              </a:highlight>
              <a:latin typeface="+mj-lt"/>
              <a:ea typeface="Georgia"/>
              <a:cs typeface="Georgia"/>
              <a:sym typeface="Georgia"/>
            </a:endParaRPr>
          </a:p>
          <a:p>
            <a:pPr marL="457200" marR="0" lvl="0" indent="-333375" algn="l" rtl="0">
              <a:lnSpc>
                <a:spcPct val="115000"/>
              </a:lnSpc>
              <a:spcBef>
                <a:spcPts val="0"/>
              </a:spcBef>
              <a:spcAft>
                <a:spcPts val="0"/>
              </a:spcAft>
              <a:buClr>
                <a:srgbClr val="222222"/>
              </a:buClr>
              <a:buSzPts val="1650"/>
              <a:buFont typeface="Source Sans Pro"/>
              <a:buChar char="●"/>
            </a:pPr>
            <a:r>
              <a:rPr lang="en" sz="1500" b="0" i="0" u="none" strike="noStrike" cap="none" dirty="0">
                <a:solidFill>
                  <a:srgbClr val="292929"/>
                </a:solidFill>
                <a:highlight>
                  <a:srgbClr val="FFFFFF"/>
                </a:highlight>
                <a:latin typeface="+mj-lt"/>
                <a:ea typeface="Georgia"/>
                <a:cs typeface="Georgia"/>
                <a:sym typeface="Georgia"/>
              </a:rPr>
              <a:t>Send out any notification email such as Newsletters, Password expiration email</a:t>
            </a:r>
            <a:endParaRPr sz="1500" b="0" i="0" u="none" strike="noStrike" cap="none" dirty="0">
              <a:solidFill>
                <a:srgbClr val="292929"/>
              </a:solidFill>
              <a:highlight>
                <a:srgbClr val="FFFFFF"/>
              </a:highlight>
              <a:latin typeface="+mj-lt"/>
              <a:ea typeface="Georgia"/>
              <a:cs typeface="Georgia"/>
              <a:sym typeface="Georgia"/>
            </a:endParaRPr>
          </a:p>
          <a:p>
            <a:pPr marL="457200" marR="0" lvl="0" indent="-333375" algn="l" rtl="0">
              <a:lnSpc>
                <a:spcPct val="115000"/>
              </a:lnSpc>
              <a:spcBef>
                <a:spcPts val="0"/>
              </a:spcBef>
              <a:spcAft>
                <a:spcPts val="0"/>
              </a:spcAft>
              <a:buClr>
                <a:srgbClr val="222222"/>
              </a:buClr>
              <a:buSzPts val="1650"/>
              <a:buFont typeface="Source Sans Pro"/>
              <a:buChar char="●"/>
            </a:pPr>
            <a:r>
              <a:rPr lang="en" sz="1500" b="0" i="0" u="none" strike="noStrike" cap="none" dirty="0">
                <a:solidFill>
                  <a:srgbClr val="292929"/>
                </a:solidFill>
                <a:highlight>
                  <a:srgbClr val="FFFFFF"/>
                </a:highlight>
                <a:latin typeface="+mj-lt"/>
                <a:ea typeface="Georgia"/>
                <a:cs typeface="Georgia"/>
                <a:sym typeface="Georgia"/>
              </a:rPr>
              <a:t>It is used to automate system maintenance</a:t>
            </a:r>
            <a:endParaRPr sz="1500" b="0" i="1" u="none" strike="noStrike" cap="none" dirty="0">
              <a:solidFill>
                <a:srgbClr val="292929"/>
              </a:solidFill>
              <a:highlight>
                <a:srgbClr val="FFFFFF"/>
              </a:highlight>
              <a:latin typeface="+mj-lt"/>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06"/>
                                        </p:tgtEl>
                                        <p:attrNameLst>
                                          <p:attrName>style.visibility</p:attrName>
                                        </p:attrNameLst>
                                      </p:cBhvr>
                                      <p:to>
                                        <p:strVal val="visible"/>
                                      </p:to>
                                    </p:set>
                                    <p:animEffect transition="in" filter="fade">
                                      <p:cBhvr>
                                        <p:cTn id="7" dur="1000"/>
                                        <p:tgtEl>
                                          <p:spTgt spid="506"/>
                                        </p:tgtEl>
                                      </p:cBhvr>
                                    </p:animEffect>
                                  </p:childTnLst>
                                </p:cTn>
                              </p:par>
                              <p:par>
                                <p:cTn id="8" presetID="10" presetClass="entr" presetSubtype="0" fill="hold" nodeType="withEffect">
                                  <p:stCondLst>
                                    <p:cond delay="0"/>
                                  </p:stCondLst>
                                  <p:childTnLst>
                                    <p:set>
                                      <p:cBhvr>
                                        <p:cTn id="9" dur="1" fill="hold">
                                          <p:stCondLst>
                                            <p:cond delay="0"/>
                                          </p:stCondLst>
                                        </p:cTn>
                                        <p:tgtEl>
                                          <p:spTgt spid="504"/>
                                        </p:tgtEl>
                                        <p:attrNameLst>
                                          <p:attrName>style.visibility</p:attrName>
                                        </p:attrNameLst>
                                      </p:cBhvr>
                                      <p:to>
                                        <p:strVal val="visible"/>
                                      </p:to>
                                    </p:set>
                                    <p:animEffect transition="in" filter="fade">
                                      <p:cBhvr>
                                        <p:cTn id="10" dur="1000"/>
                                        <p:tgtEl>
                                          <p:spTgt spid="5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geda00f0913_0_10"/>
          <p:cNvSpPr txBox="1"/>
          <p:nvPr/>
        </p:nvSpPr>
        <p:spPr>
          <a:xfrm>
            <a:off x="625225" y="637925"/>
            <a:ext cx="7861800" cy="13407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500"/>
              <a:buFont typeface="Arial"/>
              <a:buNone/>
            </a:pPr>
            <a:r>
              <a:rPr lang="en" sz="1500" b="0" i="0" u="none" strike="noStrike" cap="none">
                <a:solidFill>
                  <a:srgbClr val="EF4F63"/>
                </a:solidFill>
                <a:latin typeface="Source Sans Pro"/>
                <a:ea typeface="Source Sans Pro"/>
                <a:cs typeface="Source Sans Pro"/>
                <a:sym typeface="Source Sans Pro"/>
              </a:rPr>
              <a:t>Create a basic task using Task Scheduler</a:t>
            </a:r>
            <a:endParaRPr sz="1300" b="0" i="0" u="none" strike="noStrike" cap="none">
              <a:solidFill>
                <a:srgbClr val="292929"/>
              </a:solidFill>
              <a:highlight>
                <a:srgbClr val="FFFFFF"/>
              </a:highlight>
              <a:latin typeface="Georgia"/>
              <a:ea typeface="Georgia"/>
              <a:cs typeface="Georgia"/>
              <a:sym typeface="Georgia"/>
            </a:endParaRPr>
          </a:p>
          <a:p>
            <a:pPr marL="0" marR="0" lvl="0" indent="0" algn="l" rtl="0">
              <a:lnSpc>
                <a:spcPct val="115000"/>
              </a:lnSpc>
              <a:spcBef>
                <a:spcPts val="0"/>
              </a:spcBef>
              <a:spcAft>
                <a:spcPts val="0"/>
              </a:spcAft>
              <a:buClr>
                <a:srgbClr val="000000"/>
              </a:buClr>
              <a:buSzPts val="1300"/>
              <a:buFont typeface="Arial"/>
              <a:buNone/>
            </a:pPr>
            <a:r>
              <a:rPr lang="en" sz="1300" b="0" i="0" u="none" strike="noStrike" cap="none">
                <a:solidFill>
                  <a:srgbClr val="292929"/>
                </a:solidFill>
                <a:highlight>
                  <a:srgbClr val="FFFFFF"/>
                </a:highlight>
                <a:latin typeface="Georgia"/>
                <a:ea typeface="Georgia"/>
                <a:cs typeface="Georgia"/>
                <a:sym typeface="Georgia"/>
              </a:rPr>
              <a:t>To create a task using basic settings on Windows 10, use these steps:</a:t>
            </a:r>
            <a:endParaRPr sz="1300" b="0" i="0" u="none" strike="noStrike" cap="none">
              <a:solidFill>
                <a:srgbClr val="292929"/>
              </a:solidFill>
              <a:highlight>
                <a:srgbClr val="FFFFFF"/>
              </a:highlight>
              <a:latin typeface="Georgia"/>
              <a:ea typeface="Georgia"/>
              <a:cs typeface="Georgia"/>
              <a:sym typeface="Georgia"/>
            </a:endParaRPr>
          </a:p>
          <a:p>
            <a:pPr marL="457200" marR="0" lvl="0" indent="-311150" algn="l" rtl="0">
              <a:lnSpc>
                <a:spcPct val="115000"/>
              </a:lnSpc>
              <a:spcBef>
                <a:spcPts val="0"/>
              </a:spcBef>
              <a:spcAft>
                <a:spcPts val="0"/>
              </a:spcAft>
              <a:buClr>
                <a:srgbClr val="292929"/>
              </a:buClr>
              <a:buSzPts val="1300"/>
              <a:buFont typeface="Georgia"/>
              <a:buChar char="●"/>
            </a:pPr>
            <a:r>
              <a:rPr lang="en" sz="1300" b="0" i="0" u="none" strike="noStrike" cap="none">
                <a:solidFill>
                  <a:srgbClr val="292929"/>
                </a:solidFill>
                <a:highlight>
                  <a:srgbClr val="FFFFFF"/>
                </a:highlight>
                <a:latin typeface="Georgia"/>
                <a:ea typeface="Georgia"/>
                <a:cs typeface="Georgia"/>
                <a:sym typeface="Georgia"/>
              </a:rPr>
              <a:t>Open Start.</a:t>
            </a:r>
            <a:endParaRPr sz="1300" b="0" i="0" u="none" strike="noStrike" cap="none">
              <a:solidFill>
                <a:srgbClr val="292929"/>
              </a:solidFill>
              <a:highlight>
                <a:srgbClr val="FFFFFF"/>
              </a:highlight>
              <a:latin typeface="Georgia"/>
              <a:ea typeface="Georgia"/>
              <a:cs typeface="Georgia"/>
              <a:sym typeface="Georgia"/>
            </a:endParaRPr>
          </a:p>
          <a:p>
            <a:pPr marL="457200" marR="0" lvl="0" indent="-311150" algn="l" rtl="0">
              <a:lnSpc>
                <a:spcPct val="115000"/>
              </a:lnSpc>
              <a:spcBef>
                <a:spcPts val="0"/>
              </a:spcBef>
              <a:spcAft>
                <a:spcPts val="0"/>
              </a:spcAft>
              <a:buClr>
                <a:srgbClr val="292929"/>
              </a:buClr>
              <a:buSzPts val="1300"/>
              <a:buFont typeface="Georgia"/>
              <a:buChar char="●"/>
            </a:pPr>
            <a:r>
              <a:rPr lang="en" sz="1300" b="0" i="0" u="none" strike="noStrike" cap="none">
                <a:solidFill>
                  <a:srgbClr val="292929"/>
                </a:solidFill>
                <a:highlight>
                  <a:srgbClr val="FFFFFF"/>
                </a:highlight>
                <a:latin typeface="Georgia"/>
                <a:ea typeface="Georgia"/>
                <a:cs typeface="Georgia"/>
                <a:sym typeface="Georgia"/>
              </a:rPr>
              <a:t>Search for Task Scheduler, and click the top result to open the experience.</a:t>
            </a:r>
            <a:endParaRPr sz="1300" b="0" i="0" u="none" strike="noStrike" cap="none">
              <a:solidFill>
                <a:srgbClr val="292929"/>
              </a:solidFill>
              <a:highlight>
                <a:srgbClr val="FFFFFF"/>
              </a:highlight>
              <a:latin typeface="Georgia"/>
              <a:ea typeface="Georgia"/>
              <a:cs typeface="Georgia"/>
              <a:sym typeface="Georgia"/>
            </a:endParaRPr>
          </a:p>
          <a:p>
            <a:pPr marL="457200" marR="0" lvl="0" indent="-311150" algn="l" rtl="0">
              <a:lnSpc>
                <a:spcPct val="115000"/>
              </a:lnSpc>
              <a:spcBef>
                <a:spcPts val="0"/>
              </a:spcBef>
              <a:spcAft>
                <a:spcPts val="0"/>
              </a:spcAft>
              <a:buClr>
                <a:srgbClr val="292929"/>
              </a:buClr>
              <a:buSzPts val="1300"/>
              <a:buFont typeface="Georgia"/>
              <a:buChar char="●"/>
            </a:pPr>
            <a:r>
              <a:rPr lang="en" sz="1300" b="0" i="0" u="none" strike="noStrike" cap="none">
                <a:solidFill>
                  <a:srgbClr val="292929"/>
                </a:solidFill>
                <a:highlight>
                  <a:srgbClr val="FFFFFF"/>
                </a:highlight>
                <a:latin typeface="Georgia"/>
                <a:ea typeface="Georgia"/>
                <a:cs typeface="Georgia"/>
                <a:sym typeface="Georgia"/>
              </a:rPr>
              <a:t>Right-click the "Task Scheduler Library" branch, and select the New Folder option.</a:t>
            </a:r>
            <a:endParaRPr sz="1300" b="0" i="0" u="none" strike="noStrike" cap="none">
              <a:solidFill>
                <a:srgbClr val="292929"/>
              </a:solidFill>
              <a:highlight>
                <a:srgbClr val="FFFFFF"/>
              </a:highlight>
              <a:latin typeface="Georgia"/>
              <a:ea typeface="Georgia"/>
              <a:cs typeface="Georgia"/>
              <a:sym typeface="Georgia"/>
            </a:endParaRPr>
          </a:p>
        </p:txBody>
      </p:sp>
      <p:sp>
        <p:nvSpPr>
          <p:cNvPr id="513" name="Google Shape;513;geda00f0913_0_10"/>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21</a:t>
            </a:fld>
            <a:endParaRPr/>
          </a:p>
        </p:txBody>
      </p:sp>
      <p:sp>
        <p:nvSpPr>
          <p:cNvPr id="514" name="Google Shape;514;geda00f0913_0_10"/>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1900" b="1">
                <a:latin typeface="Source Sans Pro"/>
                <a:ea typeface="Source Sans Pro"/>
                <a:cs typeface="Source Sans Pro"/>
                <a:sym typeface="Source Sans Pro"/>
              </a:rPr>
              <a:t>Windows Task Scheduler</a:t>
            </a:r>
            <a:endParaRPr sz="2800" b="1"/>
          </a:p>
        </p:txBody>
      </p:sp>
      <p:pic>
        <p:nvPicPr>
          <p:cNvPr id="515" name="Google Shape;515;geda00f0913_0_10"/>
          <p:cNvPicPr preferRelativeResize="0"/>
          <p:nvPr/>
        </p:nvPicPr>
        <p:blipFill rotWithShape="1">
          <a:blip r:embed="rId3">
            <a:alphaModFix/>
          </a:blip>
          <a:srcRect/>
          <a:stretch/>
        </p:blipFill>
        <p:spPr>
          <a:xfrm>
            <a:off x="1325200" y="1902425"/>
            <a:ext cx="5041700" cy="2751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14"/>
                                        </p:tgtEl>
                                        <p:attrNameLst>
                                          <p:attrName>style.visibility</p:attrName>
                                        </p:attrNameLst>
                                      </p:cBhvr>
                                      <p:to>
                                        <p:strVal val="visible"/>
                                      </p:to>
                                    </p:set>
                                    <p:animEffect transition="in" filter="fade">
                                      <p:cBhvr>
                                        <p:cTn id="7" dur="1000"/>
                                        <p:tgtEl>
                                          <p:spTgt spid="5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2">
                                            <p:txEl>
                                              <p:pRg st="0" end="0"/>
                                            </p:txEl>
                                          </p:spTgt>
                                        </p:tgtEl>
                                        <p:attrNameLst>
                                          <p:attrName>style.visibility</p:attrName>
                                        </p:attrNameLst>
                                      </p:cBhvr>
                                      <p:to>
                                        <p:strVal val="visible"/>
                                      </p:to>
                                    </p:set>
                                    <p:animEffect transition="in" filter="fade">
                                      <p:cBhvr>
                                        <p:cTn id="12" dur="1000"/>
                                        <p:tgtEl>
                                          <p:spTgt spid="51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12">
                                            <p:txEl>
                                              <p:pRg st="1" end="1"/>
                                            </p:txEl>
                                          </p:spTgt>
                                        </p:tgtEl>
                                        <p:attrNameLst>
                                          <p:attrName>style.visibility</p:attrName>
                                        </p:attrNameLst>
                                      </p:cBhvr>
                                      <p:to>
                                        <p:strVal val="visible"/>
                                      </p:to>
                                    </p:set>
                                    <p:animEffect transition="in" filter="fade">
                                      <p:cBhvr>
                                        <p:cTn id="17" dur="1000"/>
                                        <p:tgtEl>
                                          <p:spTgt spid="51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12">
                                            <p:txEl>
                                              <p:pRg st="2" end="2"/>
                                            </p:txEl>
                                          </p:spTgt>
                                        </p:tgtEl>
                                        <p:attrNameLst>
                                          <p:attrName>style.visibility</p:attrName>
                                        </p:attrNameLst>
                                      </p:cBhvr>
                                      <p:to>
                                        <p:strVal val="visible"/>
                                      </p:to>
                                    </p:set>
                                    <p:animEffect transition="in" filter="fade">
                                      <p:cBhvr>
                                        <p:cTn id="22" dur="1000"/>
                                        <p:tgtEl>
                                          <p:spTgt spid="51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12">
                                            <p:txEl>
                                              <p:pRg st="3" end="3"/>
                                            </p:txEl>
                                          </p:spTgt>
                                        </p:tgtEl>
                                        <p:attrNameLst>
                                          <p:attrName>style.visibility</p:attrName>
                                        </p:attrNameLst>
                                      </p:cBhvr>
                                      <p:to>
                                        <p:strVal val="visible"/>
                                      </p:to>
                                    </p:set>
                                    <p:animEffect transition="in" filter="fade">
                                      <p:cBhvr>
                                        <p:cTn id="27" dur="1000"/>
                                        <p:tgtEl>
                                          <p:spTgt spid="51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12">
                                            <p:txEl>
                                              <p:pRg st="4" end="4"/>
                                            </p:txEl>
                                          </p:spTgt>
                                        </p:tgtEl>
                                        <p:attrNameLst>
                                          <p:attrName>style.visibility</p:attrName>
                                        </p:attrNameLst>
                                      </p:cBhvr>
                                      <p:to>
                                        <p:strVal val="visible"/>
                                      </p:to>
                                    </p:set>
                                    <p:animEffect transition="in" filter="fade">
                                      <p:cBhvr>
                                        <p:cTn id="32" dur="1000"/>
                                        <p:tgtEl>
                                          <p:spTgt spid="51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15"/>
                                        </p:tgtEl>
                                        <p:attrNameLst>
                                          <p:attrName>style.visibility</p:attrName>
                                        </p:attrNameLst>
                                      </p:cBhvr>
                                      <p:to>
                                        <p:strVal val="visible"/>
                                      </p:to>
                                    </p:set>
                                    <p:animEffect transition="in" filter="fade">
                                      <p:cBhvr>
                                        <p:cTn id="37" dur="1000"/>
                                        <p:tgtEl>
                                          <p:spTgt spid="5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geda00f0913_0_20"/>
          <p:cNvSpPr txBox="1"/>
          <p:nvPr/>
        </p:nvSpPr>
        <p:spPr>
          <a:xfrm>
            <a:off x="625225" y="637925"/>
            <a:ext cx="7861800" cy="1565014"/>
          </a:xfrm>
          <a:prstGeom prst="rect">
            <a:avLst/>
          </a:prstGeom>
          <a:noFill/>
          <a:ln>
            <a:noFill/>
          </a:ln>
        </p:spPr>
        <p:txBody>
          <a:bodyPr spcFirstLastPara="1" wrap="square" lIns="91425" tIns="91425" rIns="91425" bIns="91425" anchor="t" anchorCtr="0">
            <a:spAutoFit/>
          </a:bodyPr>
          <a:lstStyle/>
          <a:p>
            <a:pPr marL="457200" marR="0" lvl="0" indent="-311150" algn="l" rtl="0">
              <a:lnSpc>
                <a:spcPct val="115000"/>
              </a:lnSpc>
              <a:spcBef>
                <a:spcPts val="0"/>
              </a:spcBef>
              <a:spcAft>
                <a:spcPts val="0"/>
              </a:spcAft>
              <a:buClr>
                <a:srgbClr val="292929"/>
              </a:buClr>
              <a:buSzPts val="1300"/>
              <a:buFont typeface="Georgia"/>
              <a:buChar char="●"/>
            </a:pPr>
            <a:r>
              <a:rPr lang="en" sz="1300" b="0" i="0" u="none" strike="noStrike" cap="none" dirty="0">
                <a:solidFill>
                  <a:srgbClr val="292929"/>
                </a:solidFill>
                <a:highlight>
                  <a:srgbClr val="FFFFFF"/>
                </a:highlight>
                <a:latin typeface="+mj-lt"/>
                <a:ea typeface="Georgia"/>
                <a:cs typeface="Georgia"/>
                <a:sym typeface="Georgia"/>
              </a:rPr>
              <a:t>Type a name for the folder. For example, MyTasks. (This step isn't a requirement, but it's a recommended step to keep your tasks separate from the system and apps tasks.)</a:t>
            </a:r>
            <a:endParaRPr sz="1300" b="0" i="0" u="none" strike="noStrike" cap="none" dirty="0">
              <a:solidFill>
                <a:srgbClr val="292929"/>
              </a:solidFill>
              <a:highlight>
                <a:srgbClr val="FFFFFF"/>
              </a:highlight>
              <a:latin typeface="+mj-lt"/>
              <a:ea typeface="Georgia"/>
              <a:cs typeface="Georgia"/>
              <a:sym typeface="Georgia"/>
            </a:endParaRPr>
          </a:p>
          <a:p>
            <a:pPr marL="457200" marR="0" lvl="0" indent="-311150" algn="l" rtl="0">
              <a:lnSpc>
                <a:spcPct val="115000"/>
              </a:lnSpc>
              <a:spcBef>
                <a:spcPts val="0"/>
              </a:spcBef>
              <a:spcAft>
                <a:spcPts val="0"/>
              </a:spcAft>
              <a:buClr>
                <a:srgbClr val="292929"/>
              </a:buClr>
              <a:buSzPts val="1300"/>
              <a:buFont typeface="Georgia"/>
              <a:buChar char="●"/>
            </a:pPr>
            <a:r>
              <a:rPr lang="en" sz="1300" b="0" i="0" u="none" strike="noStrike" cap="none" dirty="0">
                <a:solidFill>
                  <a:srgbClr val="292929"/>
                </a:solidFill>
                <a:highlight>
                  <a:srgbClr val="FFFFFF"/>
                </a:highlight>
                <a:latin typeface="+mj-lt"/>
                <a:ea typeface="Georgia"/>
                <a:cs typeface="Georgia"/>
                <a:sym typeface="Georgia"/>
              </a:rPr>
              <a:t>Click the OK button.</a:t>
            </a:r>
            <a:endParaRPr sz="1300" b="0" i="0" u="none" strike="noStrike" cap="none" dirty="0">
              <a:solidFill>
                <a:srgbClr val="292929"/>
              </a:solidFill>
              <a:highlight>
                <a:srgbClr val="FFFFFF"/>
              </a:highlight>
              <a:latin typeface="+mj-lt"/>
              <a:ea typeface="Georgia"/>
              <a:cs typeface="Georgia"/>
              <a:sym typeface="Georgia"/>
            </a:endParaRPr>
          </a:p>
          <a:p>
            <a:pPr marL="457200" marR="0" lvl="0" indent="-311150" algn="l" rtl="0">
              <a:lnSpc>
                <a:spcPct val="115000"/>
              </a:lnSpc>
              <a:spcBef>
                <a:spcPts val="0"/>
              </a:spcBef>
              <a:spcAft>
                <a:spcPts val="0"/>
              </a:spcAft>
              <a:buClr>
                <a:srgbClr val="292929"/>
              </a:buClr>
              <a:buSzPts val="1300"/>
              <a:buFont typeface="Georgia"/>
              <a:buChar char="●"/>
            </a:pPr>
            <a:r>
              <a:rPr lang="en" sz="1300" b="0" i="0" u="none" strike="noStrike" cap="none" dirty="0">
                <a:solidFill>
                  <a:srgbClr val="292929"/>
                </a:solidFill>
                <a:highlight>
                  <a:srgbClr val="FFFFFF"/>
                </a:highlight>
                <a:latin typeface="+mj-lt"/>
                <a:ea typeface="Georgia"/>
                <a:cs typeface="Georgia"/>
                <a:sym typeface="Georgia"/>
              </a:rPr>
              <a:t>Expand the "Task Scheduler Library" branch, and select the </a:t>
            </a:r>
            <a:r>
              <a:rPr lang="en" sz="1300" b="0" i="0" u="none" strike="noStrike" cap="none" dirty="0">
                <a:solidFill>
                  <a:srgbClr val="292929"/>
                </a:solidFill>
                <a:highlight>
                  <a:schemeClr val="accent4"/>
                </a:highlight>
                <a:latin typeface="+mj-lt"/>
                <a:ea typeface="Georgia"/>
                <a:cs typeface="Georgia"/>
                <a:sym typeface="Georgia"/>
              </a:rPr>
              <a:t>MyTasks</a:t>
            </a:r>
            <a:r>
              <a:rPr lang="en" sz="1300" b="0" i="0" u="none" strike="noStrike" cap="none" dirty="0">
                <a:solidFill>
                  <a:srgbClr val="292929"/>
                </a:solidFill>
                <a:highlight>
                  <a:srgbClr val="FFFFFF"/>
                </a:highlight>
                <a:latin typeface="+mj-lt"/>
                <a:ea typeface="Georgia"/>
                <a:cs typeface="Georgia"/>
                <a:sym typeface="Georgia"/>
              </a:rPr>
              <a:t> folder.</a:t>
            </a:r>
            <a:endParaRPr sz="1300" b="0" i="0" u="none" strike="noStrike" cap="none" dirty="0">
              <a:solidFill>
                <a:srgbClr val="292929"/>
              </a:solidFill>
              <a:highlight>
                <a:srgbClr val="FFFFFF"/>
              </a:highlight>
              <a:latin typeface="+mj-lt"/>
              <a:ea typeface="Georgia"/>
              <a:cs typeface="Georgia"/>
              <a:sym typeface="Georgia"/>
            </a:endParaRPr>
          </a:p>
          <a:p>
            <a:pPr marL="457200" marR="0" lvl="0" indent="-311150" algn="l" rtl="0">
              <a:lnSpc>
                <a:spcPct val="115000"/>
              </a:lnSpc>
              <a:spcBef>
                <a:spcPts val="0"/>
              </a:spcBef>
              <a:spcAft>
                <a:spcPts val="0"/>
              </a:spcAft>
              <a:buClr>
                <a:srgbClr val="292929"/>
              </a:buClr>
              <a:buSzPts val="1300"/>
              <a:buFont typeface="Georgia"/>
              <a:buChar char="●"/>
            </a:pPr>
            <a:r>
              <a:rPr lang="en" sz="1300" b="0" i="0" u="none" strike="noStrike" cap="none" dirty="0">
                <a:solidFill>
                  <a:srgbClr val="292929"/>
                </a:solidFill>
                <a:highlight>
                  <a:srgbClr val="FFFFFF"/>
                </a:highlight>
                <a:latin typeface="+mj-lt"/>
                <a:ea typeface="Georgia"/>
                <a:cs typeface="Georgia"/>
                <a:sym typeface="Georgia"/>
              </a:rPr>
              <a:t>Click the Action menu.</a:t>
            </a:r>
            <a:endParaRPr sz="1300" b="0" i="0" u="none" strike="noStrike" cap="none" dirty="0">
              <a:solidFill>
                <a:srgbClr val="292929"/>
              </a:solidFill>
              <a:highlight>
                <a:srgbClr val="FFFFFF"/>
              </a:highlight>
              <a:latin typeface="+mj-lt"/>
              <a:ea typeface="Georgia"/>
              <a:cs typeface="Georgia"/>
              <a:sym typeface="Georgia"/>
            </a:endParaRPr>
          </a:p>
          <a:p>
            <a:pPr marL="457200" marR="0" lvl="0" indent="-311150" algn="l" rtl="0">
              <a:lnSpc>
                <a:spcPct val="115000"/>
              </a:lnSpc>
              <a:spcBef>
                <a:spcPts val="0"/>
              </a:spcBef>
              <a:spcAft>
                <a:spcPts val="0"/>
              </a:spcAft>
              <a:buClr>
                <a:srgbClr val="292929"/>
              </a:buClr>
              <a:buSzPts val="1300"/>
              <a:buFont typeface="Georgia"/>
              <a:buChar char="●"/>
            </a:pPr>
            <a:r>
              <a:rPr lang="en" sz="1300" b="0" i="0" u="none" strike="noStrike" cap="none" dirty="0">
                <a:solidFill>
                  <a:srgbClr val="292929"/>
                </a:solidFill>
                <a:highlight>
                  <a:srgbClr val="FFFFFF"/>
                </a:highlight>
                <a:latin typeface="+mj-lt"/>
                <a:ea typeface="Georgia"/>
                <a:cs typeface="Georgia"/>
                <a:sym typeface="Georgia"/>
              </a:rPr>
              <a:t>Select the Create Task option.</a:t>
            </a:r>
            <a:endParaRPr sz="1300" b="0" i="0" u="none" strike="noStrike" cap="none" dirty="0">
              <a:solidFill>
                <a:srgbClr val="292929"/>
              </a:solidFill>
              <a:highlight>
                <a:srgbClr val="FFFFFF"/>
              </a:highlight>
              <a:latin typeface="+mj-lt"/>
              <a:ea typeface="Georgia"/>
              <a:cs typeface="Georgia"/>
              <a:sym typeface="Georgia"/>
            </a:endParaRPr>
          </a:p>
        </p:txBody>
      </p:sp>
      <p:sp>
        <p:nvSpPr>
          <p:cNvPr id="521" name="Google Shape;521;geda00f0913_0_20"/>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22</a:t>
            </a:fld>
            <a:endParaRPr/>
          </a:p>
        </p:txBody>
      </p:sp>
      <p:sp>
        <p:nvSpPr>
          <p:cNvPr id="522" name="Google Shape;522;geda00f0913_0_20"/>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1900" b="1">
                <a:latin typeface="Source Sans Pro"/>
                <a:ea typeface="Source Sans Pro"/>
                <a:cs typeface="Source Sans Pro"/>
                <a:sym typeface="Source Sans Pro"/>
              </a:rPr>
              <a:t>Windows Task Scheduler</a:t>
            </a:r>
            <a:endParaRPr sz="2800" b="1"/>
          </a:p>
        </p:txBody>
      </p:sp>
      <p:pic>
        <p:nvPicPr>
          <p:cNvPr id="523" name="Google Shape;523;geda00f0913_0_20"/>
          <p:cNvPicPr preferRelativeResize="0"/>
          <p:nvPr/>
        </p:nvPicPr>
        <p:blipFill rotWithShape="1">
          <a:blip r:embed="rId3">
            <a:alphaModFix/>
          </a:blip>
          <a:srcRect/>
          <a:stretch/>
        </p:blipFill>
        <p:spPr>
          <a:xfrm>
            <a:off x="1172800" y="2145725"/>
            <a:ext cx="4764172" cy="27691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22"/>
                                        </p:tgtEl>
                                        <p:attrNameLst>
                                          <p:attrName>style.visibility</p:attrName>
                                        </p:attrNameLst>
                                      </p:cBhvr>
                                      <p:to>
                                        <p:strVal val="visible"/>
                                      </p:to>
                                    </p:set>
                                    <p:animEffect transition="in" filter="fade">
                                      <p:cBhvr>
                                        <p:cTn id="7" dur="1000"/>
                                        <p:tgtEl>
                                          <p:spTgt spid="5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0">
                                            <p:txEl>
                                              <p:pRg st="0" end="0"/>
                                            </p:txEl>
                                          </p:spTgt>
                                        </p:tgtEl>
                                        <p:attrNameLst>
                                          <p:attrName>style.visibility</p:attrName>
                                        </p:attrNameLst>
                                      </p:cBhvr>
                                      <p:to>
                                        <p:strVal val="visible"/>
                                      </p:to>
                                    </p:set>
                                    <p:animEffect transition="in" filter="fade">
                                      <p:cBhvr>
                                        <p:cTn id="12" dur="1000"/>
                                        <p:tgtEl>
                                          <p:spTgt spid="52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20">
                                            <p:txEl>
                                              <p:pRg st="1" end="1"/>
                                            </p:txEl>
                                          </p:spTgt>
                                        </p:tgtEl>
                                        <p:attrNameLst>
                                          <p:attrName>style.visibility</p:attrName>
                                        </p:attrNameLst>
                                      </p:cBhvr>
                                      <p:to>
                                        <p:strVal val="visible"/>
                                      </p:to>
                                    </p:set>
                                    <p:animEffect transition="in" filter="fade">
                                      <p:cBhvr>
                                        <p:cTn id="17" dur="1000"/>
                                        <p:tgtEl>
                                          <p:spTgt spid="52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20">
                                            <p:txEl>
                                              <p:pRg st="2" end="2"/>
                                            </p:txEl>
                                          </p:spTgt>
                                        </p:tgtEl>
                                        <p:attrNameLst>
                                          <p:attrName>style.visibility</p:attrName>
                                        </p:attrNameLst>
                                      </p:cBhvr>
                                      <p:to>
                                        <p:strVal val="visible"/>
                                      </p:to>
                                    </p:set>
                                    <p:animEffect transition="in" filter="fade">
                                      <p:cBhvr>
                                        <p:cTn id="22" dur="1000"/>
                                        <p:tgtEl>
                                          <p:spTgt spid="52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20">
                                            <p:txEl>
                                              <p:pRg st="3" end="3"/>
                                            </p:txEl>
                                          </p:spTgt>
                                        </p:tgtEl>
                                        <p:attrNameLst>
                                          <p:attrName>style.visibility</p:attrName>
                                        </p:attrNameLst>
                                      </p:cBhvr>
                                      <p:to>
                                        <p:strVal val="visible"/>
                                      </p:to>
                                    </p:set>
                                    <p:animEffect transition="in" filter="fade">
                                      <p:cBhvr>
                                        <p:cTn id="27" dur="1000"/>
                                        <p:tgtEl>
                                          <p:spTgt spid="520">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20">
                                            <p:txEl>
                                              <p:pRg st="4" end="4"/>
                                            </p:txEl>
                                          </p:spTgt>
                                        </p:tgtEl>
                                        <p:attrNameLst>
                                          <p:attrName>style.visibility</p:attrName>
                                        </p:attrNameLst>
                                      </p:cBhvr>
                                      <p:to>
                                        <p:strVal val="visible"/>
                                      </p:to>
                                    </p:set>
                                    <p:animEffect transition="in" filter="fade">
                                      <p:cBhvr>
                                        <p:cTn id="32" dur="1000"/>
                                        <p:tgtEl>
                                          <p:spTgt spid="520">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23"/>
                                        </p:tgtEl>
                                        <p:attrNameLst>
                                          <p:attrName>style.visibility</p:attrName>
                                        </p:attrNameLst>
                                      </p:cBhvr>
                                      <p:to>
                                        <p:strVal val="visible"/>
                                      </p:to>
                                    </p:set>
                                    <p:animEffect transition="in" filter="fade">
                                      <p:cBhvr>
                                        <p:cTn id="37" dur="1000"/>
                                        <p:tgtEl>
                                          <p:spTgt spid="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geda00f0913_0_29"/>
          <p:cNvSpPr txBox="1"/>
          <p:nvPr/>
        </p:nvSpPr>
        <p:spPr>
          <a:xfrm>
            <a:off x="625225" y="637925"/>
            <a:ext cx="7861800" cy="414699"/>
          </a:xfrm>
          <a:prstGeom prst="rect">
            <a:avLst/>
          </a:prstGeom>
          <a:noFill/>
          <a:ln>
            <a:noFill/>
          </a:ln>
        </p:spPr>
        <p:txBody>
          <a:bodyPr spcFirstLastPara="1" wrap="square" lIns="91425" tIns="91425" rIns="91425" bIns="91425" anchor="t" anchorCtr="0">
            <a:spAutoFit/>
          </a:bodyPr>
          <a:lstStyle/>
          <a:p>
            <a:pPr marL="457200" marR="0" lvl="0" indent="-311150" algn="l" rtl="0">
              <a:lnSpc>
                <a:spcPct val="115000"/>
              </a:lnSpc>
              <a:spcBef>
                <a:spcPts val="0"/>
              </a:spcBef>
              <a:spcAft>
                <a:spcPts val="0"/>
              </a:spcAft>
              <a:buClr>
                <a:srgbClr val="292929"/>
              </a:buClr>
              <a:buSzPts val="1300"/>
              <a:buFont typeface="Georgia"/>
              <a:buChar char="●"/>
            </a:pPr>
            <a:r>
              <a:rPr lang="en" sz="1300" b="0" i="0" u="none" strike="noStrike" cap="none" dirty="0">
                <a:solidFill>
                  <a:srgbClr val="292929"/>
                </a:solidFill>
                <a:highlight>
                  <a:srgbClr val="FFFFFF"/>
                </a:highlight>
                <a:latin typeface="+mj-lt"/>
                <a:ea typeface="Georgia"/>
                <a:cs typeface="Georgia"/>
                <a:sym typeface="Georgia"/>
              </a:rPr>
              <a:t>In the "Name" field, type a short descriptive name for the task. For example, </a:t>
            </a:r>
            <a:r>
              <a:rPr lang="en" sz="1300" b="0" i="1" u="none" strike="noStrike" cap="none" dirty="0">
                <a:solidFill>
                  <a:srgbClr val="292929"/>
                </a:solidFill>
                <a:highlight>
                  <a:schemeClr val="accent4"/>
                </a:highlight>
                <a:latin typeface="+mj-lt"/>
                <a:ea typeface="Georgia"/>
                <a:cs typeface="Georgia"/>
                <a:sym typeface="Georgia"/>
              </a:rPr>
              <a:t>my_first_task</a:t>
            </a:r>
            <a:r>
              <a:rPr lang="en" sz="1300" b="0" i="0" u="none" strike="noStrike" cap="none" dirty="0">
                <a:solidFill>
                  <a:srgbClr val="292929"/>
                </a:solidFill>
                <a:highlight>
                  <a:srgbClr val="FFFFFF"/>
                </a:highlight>
                <a:latin typeface="+mj-lt"/>
                <a:ea typeface="Georgia"/>
                <a:cs typeface="Georgia"/>
                <a:sym typeface="Georgia"/>
              </a:rPr>
              <a:t>.</a:t>
            </a:r>
            <a:endParaRPr sz="1300" b="0" i="0" u="none" strike="noStrike" cap="none" dirty="0">
              <a:solidFill>
                <a:srgbClr val="292929"/>
              </a:solidFill>
              <a:highlight>
                <a:srgbClr val="FFFFFF"/>
              </a:highlight>
              <a:latin typeface="+mj-lt"/>
              <a:ea typeface="Georgia"/>
              <a:cs typeface="Georgia"/>
              <a:sym typeface="Georgia"/>
            </a:endParaRPr>
          </a:p>
        </p:txBody>
      </p:sp>
      <p:sp>
        <p:nvSpPr>
          <p:cNvPr id="529" name="Google Shape;529;geda00f0913_0_29"/>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23</a:t>
            </a:fld>
            <a:endParaRPr/>
          </a:p>
        </p:txBody>
      </p:sp>
      <p:sp>
        <p:nvSpPr>
          <p:cNvPr id="530" name="Google Shape;530;geda00f0913_0_29"/>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1900" b="1">
                <a:latin typeface="Source Sans Pro"/>
                <a:ea typeface="Source Sans Pro"/>
                <a:cs typeface="Source Sans Pro"/>
                <a:sym typeface="Source Sans Pro"/>
              </a:rPr>
              <a:t>Windows Task Scheduler</a:t>
            </a:r>
            <a:endParaRPr sz="2800" b="1"/>
          </a:p>
        </p:txBody>
      </p:sp>
      <p:pic>
        <p:nvPicPr>
          <p:cNvPr id="531" name="Google Shape;531;geda00f0913_0_29"/>
          <p:cNvPicPr preferRelativeResize="0"/>
          <p:nvPr/>
        </p:nvPicPr>
        <p:blipFill rotWithShape="1">
          <a:blip r:embed="rId3">
            <a:alphaModFix/>
          </a:blip>
          <a:srcRect/>
          <a:stretch/>
        </p:blipFill>
        <p:spPr>
          <a:xfrm>
            <a:off x="1171175" y="1083425"/>
            <a:ext cx="4544050" cy="3535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30"/>
                                        </p:tgtEl>
                                        <p:attrNameLst>
                                          <p:attrName>style.visibility</p:attrName>
                                        </p:attrNameLst>
                                      </p:cBhvr>
                                      <p:to>
                                        <p:strVal val="visible"/>
                                      </p:to>
                                    </p:set>
                                    <p:animEffect transition="in" filter="fade">
                                      <p:cBhvr>
                                        <p:cTn id="7" dur="1000"/>
                                        <p:tgtEl>
                                          <p:spTgt spid="5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8"/>
                                        </p:tgtEl>
                                        <p:attrNameLst>
                                          <p:attrName>style.visibility</p:attrName>
                                        </p:attrNameLst>
                                      </p:cBhvr>
                                      <p:to>
                                        <p:strVal val="visible"/>
                                      </p:to>
                                    </p:set>
                                    <p:animEffect transition="in" filter="fade">
                                      <p:cBhvr>
                                        <p:cTn id="12" dur="1000"/>
                                        <p:tgtEl>
                                          <p:spTgt spid="5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31"/>
                                        </p:tgtEl>
                                        <p:attrNameLst>
                                          <p:attrName>style.visibility</p:attrName>
                                        </p:attrNameLst>
                                      </p:cBhvr>
                                      <p:to>
                                        <p:strVal val="visible"/>
                                      </p:to>
                                    </p:set>
                                    <p:animEffect transition="in" filter="fade">
                                      <p:cBhvr>
                                        <p:cTn id="17" dur="1000"/>
                                        <p:tgtEl>
                                          <p:spTgt spid="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geda00f0913_0_36"/>
          <p:cNvSpPr txBox="1"/>
          <p:nvPr/>
        </p:nvSpPr>
        <p:spPr>
          <a:xfrm>
            <a:off x="625225" y="637925"/>
            <a:ext cx="7861800" cy="821733"/>
          </a:xfrm>
          <a:prstGeom prst="rect">
            <a:avLst/>
          </a:prstGeom>
          <a:noFill/>
          <a:ln>
            <a:noFill/>
          </a:ln>
        </p:spPr>
        <p:txBody>
          <a:bodyPr spcFirstLastPara="1" wrap="square" lIns="91425" tIns="91425" rIns="91425" bIns="91425" anchor="t" anchorCtr="0">
            <a:spAutoFit/>
          </a:bodyPr>
          <a:lstStyle/>
          <a:p>
            <a:pPr marL="457200" marR="0" lvl="0" indent="-304800" algn="l" rtl="0">
              <a:lnSpc>
                <a:spcPct val="115000"/>
              </a:lnSpc>
              <a:spcBef>
                <a:spcPts val="0"/>
              </a:spcBef>
              <a:spcAft>
                <a:spcPts val="0"/>
              </a:spcAft>
              <a:buClr>
                <a:srgbClr val="292929"/>
              </a:buClr>
              <a:buSzPts val="1200"/>
              <a:buFont typeface="Georgia"/>
              <a:buChar char="●"/>
            </a:pPr>
            <a:r>
              <a:rPr lang="en" sz="1200" b="0" i="0" u="none" strike="noStrike" cap="none" dirty="0">
                <a:solidFill>
                  <a:srgbClr val="292929"/>
                </a:solidFill>
                <a:highlight>
                  <a:srgbClr val="FFFFFF"/>
                </a:highlight>
                <a:latin typeface="+mj-lt"/>
                <a:ea typeface="Georgia"/>
                <a:cs typeface="Georgia"/>
                <a:sym typeface="Georgia"/>
              </a:rPr>
              <a:t>Select </a:t>
            </a:r>
            <a:r>
              <a:rPr lang="en" sz="1200" b="0" i="1" u="none" strike="noStrike" cap="none" dirty="0">
                <a:solidFill>
                  <a:srgbClr val="292929"/>
                </a:solidFill>
                <a:highlight>
                  <a:schemeClr val="accent5"/>
                </a:highlight>
                <a:latin typeface="+mj-lt"/>
                <a:ea typeface="Georgia"/>
                <a:cs typeface="Georgia"/>
                <a:sym typeface="Georgia"/>
              </a:rPr>
              <a:t>triggers</a:t>
            </a:r>
            <a:r>
              <a:rPr lang="en" sz="1200" b="0" i="0" u="none" strike="noStrike" cap="none" dirty="0">
                <a:solidFill>
                  <a:srgbClr val="292929"/>
                </a:solidFill>
                <a:highlight>
                  <a:srgbClr val="FFFFFF"/>
                </a:highlight>
                <a:latin typeface="+mj-lt"/>
                <a:ea typeface="Georgia"/>
                <a:cs typeface="Georgia"/>
                <a:sym typeface="Georgia"/>
              </a:rPr>
              <a:t> in create task</a:t>
            </a:r>
            <a:endParaRPr sz="1200" b="0" i="0" u="none" strike="noStrike" cap="none" dirty="0">
              <a:solidFill>
                <a:srgbClr val="292929"/>
              </a:solidFill>
              <a:highlight>
                <a:srgbClr val="FFFFFF"/>
              </a:highlight>
              <a:latin typeface="+mj-lt"/>
              <a:ea typeface="Georgia"/>
              <a:cs typeface="Georgia"/>
              <a:sym typeface="Georgia"/>
            </a:endParaRPr>
          </a:p>
          <a:p>
            <a:pPr marL="457200" marR="0" lvl="0" indent="-304800" algn="l" rtl="0">
              <a:lnSpc>
                <a:spcPct val="115000"/>
              </a:lnSpc>
              <a:spcBef>
                <a:spcPts val="0"/>
              </a:spcBef>
              <a:spcAft>
                <a:spcPts val="0"/>
              </a:spcAft>
              <a:buClr>
                <a:srgbClr val="292929"/>
              </a:buClr>
              <a:buSzPts val="1200"/>
              <a:buFont typeface="Georgia"/>
              <a:buChar char="●"/>
            </a:pPr>
            <a:r>
              <a:rPr lang="en" sz="1200" b="0" i="0" u="none" strike="noStrike" cap="none" dirty="0">
                <a:solidFill>
                  <a:srgbClr val="292929"/>
                </a:solidFill>
                <a:highlight>
                  <a:srgbClr val="FFFFFF"/>
                </a:highlight>
                <a:latin typeface="+mj-lt"/>
                <a:ea typeface="Georgia"/>
                <a:cs typeface="Georgia"/>
                <a:sym typeface="Georgia"/>
              </a:rPr>
              <a:t>Then click on </a:t>
            </a:r>
            <a:r>
              <a:rPr lang="en" sz="1200" b="0" i="1" u="none" strike="noStrike" cap="none" dirty="0">
                <a:solidFill>
                  <a:srgbClr val="292929"/>
                </a:solidFill>
                <a:highlight>
                  <a:schemeClr val="accent5"/>
                </a:highlight>
                <a:latin typeface="+mj-lt"/>
                <a:ea typeface="Georgia"/>
                <a:cs typeface="Georgia"/>
                <a:sym typeface="Georgia"/>
              </a:rPr>
              <a:t>new</a:t>
            </a:r>
            <a:endParaRPr sz="1200" b="0" i="1" u="none" strike="noStrike" cap="none" dirty="0">
              <a:solidFill>
                <a:srgbClr val="292929"/>
              </a:solidFill>
              <a:highlight>
                <a:schemeClr val="accent5"/>
              </a:highlight>
              <a:latin typeface="+mj-lt"/>
              <a:ea typeface="Georgia"/>
              <a:cs typeface="Georgia"/>
              <a:sym typeface="Georgia"/>
            </a:endParaRPr>
          </a:p>
          <a:p>
            <a:pPr marL="457200" marR="0" lvl="0" indent="-304800" algn="l" rtl="0">
              <a:lnSpc>
                <a:spcPct val="115000"/>
              </a:lnSpc>
              <a:spcBef>
                <a:spcPts val="0"/>
              </a:spcBef>
              <a:spcAft>
                <a:spcPts val="0"/>
              </a:spcAft>
              <a:buClr>
                <a:srgbClr val="292929"/>
              </a:buClr>
              <a:buSzPts val="1200"/>
              <a:buFont typeface="Georgia"/>
              <a:buChar char="●"/>
            </a:pPr>
            <a:r>
              <a:rPr lang="en" sz="1200" b="0" i="0" u="none" strike="noStrike" cap="none" dirty="0">
                <a:solidFill>
                  <a:srgbClr val="292929"/>
                </a:solidFill>
                <a:highlight>
                  <a:srgbClr val="FFFFFF"/>
                </a:highlight>
                <a:latin typeface="+mj-lt"/>
                <a:ea typeface="Georgia"/>
                <a:cs typeface="Georgia"/>
                <a:sym typeface="Georgia"/>
              </a:rPr>
              <a:t>Select the Daily option.</a:t>
            </a:r>
            <a:endParaRPr sz="1200" b="0" i="0" u="none" strike="noStrike" cap="none" dirty="0">
              <a:solidFill>
                <a:srgbClr val="292929"/>
              </a:solidFill>
              <a:highlight>
                <a:srgbClr val="FFFFFF"/>
              </a:highlight>
              <a:latin typeface="+mj-lt"/>
              <a:ea typeface="Georgia"/>
              <a:cs typeface="Georgia"/>
              <a:sym typeface="Georgia"/>
            </a:endParaRPr>
          </a:p>
        </p:txBody>
      </p:sp>
      <p:sp>
        <p:nvSpPr>
          <p:cNvPr id="537" name="Google Shape;537;geda00f0913_0_36"/>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24</a:t>
            </a:fld>
            <a:endParaRPr/>
          </a:p>
        </p:txBody>
      </p:sp>
      <p:sp>
        <p:nvSpPr>
          <p:cNvPr id="538" name="Google Shape;538;geda00f0913_0_36"/>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1900" b="1">
                <a:latin typeface="Source Sans Pro"/>
                <a:ea typeface="Source Sans Pro"/>
                <a:cs typeface="Source Sans Pro"/>
                <a:sym typeface="Source Sans Pro"/>
              </a:rPr>
              <a:t>Windows Task Scheduler</a:t>
            </a:r>
            <a:endParaRPr sz="2800" b="1"/>
          </a:p>
        </p:txBody>
      </p:sp>
      <p:sp>
        <p:nvSpPr>
          <p:cNvPr id="539" name="Google Shape;539;geda00f0913_0_36"/>
          <p:cNvSpPr txBox="1"/>
          <p:nvPr/>
        </p:nvSpPr>
        <p:spPr>
          <a:xfrm>
            <a:off x="5767800" y="1477875"/>
            <a:ext cx="3358800" cy="166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292929"/>
                </a:solidFill>
                <a:highlight>
                  <a:srgbClr val="FFFFFF"/>
                </a:highlight>
                <a:latin typeface="+mj-lt"/>
                <a:ea typeface="Georgia"/>
                <a:cs typeface="Georgia"/>
                <a:sym typeface="Georgia"/>
              </a:rPr>
              <a:t>Task Scheduler allows you to select from a number of triggers, including on a specific date, during startup, or when you or a particular user signs in. </a:t>
            </a:r>
            <a:endParaRPr sz="1200" b="0" i="0" u="none" strike="noStrike" cap="none" dirty="0">
              <a:solidFill>
                <a:srgbClr val="292929"/>
              </a:solidFill>
              <a:highlight>
                <a:srgbClr val="FFFFFF"/>
              </a:highlight>
              <a:latin typeface="+mj-lt"/>
              <a:ea typeface="Georgia"/>
              <a:cs typeface="Georgia"/>
              <a:sym typeface="Georgia"/>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292929"/>
                </a:solidFill>
                <a:highlight>
                  <a:srgbClr val="FFFFFF"/>
                </a:highlight>
                <a:latin typeface="+mj-lt"/>
                <a:ea typeface="Georgia"/>
                <a:cs typeface="Georgia"/>
                <a:sym typeface="Georgia"/>
              </a:rPr>
              <a:t>Depending on your requirements, you'll need to configure additional parameters. In this case, we'll be selecting the option to run a task every month.</a:t>
            </a:r>
            <a:endParaRPr sz="1200" b="0" i="0" u="none" strike="noStrike" cap="none" dirty="0">
              <a:solidFill>
                <a:srgbClr val="292929"/>
              </a:solidFill>
              <a:highlight>
                <a:srgbClr val="FFFFFF"/>
              </a:highlight>
              <a:latin typeface="+mj-lt"/>
              <a:ea typeface="Georgia"/>
              <a:cs typeface="Georgia"/>
              <a:sym typeface="Georgia"/>
            </a:endParaRPr>
          </a:p>
        </p:txBody>
      </p:sp>
      <p:pic>
        <p:nvPicPr>
          <p:cNvPr id="540" name="Google Shape;540;geda00f0913_0_36"/>
          <p:cNvPicPr preferRelativeResize="0"/>
          <p:nvPr/>
        </p:nvPicPr>
        <p:blipFill rotWithShape="1">
          <a:blip r:embed="rId3">
            <a:alphaModFix/>
          </a:blip>
          <a:srcRect/>
          <a:stretch/>
        </p:blipFill>
        <p:spPr>
          <a:xfrm>
            <a:off x="685800" y="1432025"/>
            <a:ext cx="5081999" cy="336510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38"/>
                                        </p:tgtEl>
                                        <p:attrNameLst>
                                          <p:attrName>style.visibility</p:attrName>
                                        </p:attrNameLst>
                                      </p:cBhvr>
                                      <p:to>
                                        <p:strVal val="visible"/>
                                      </p:to>
                                    </p:set>
                                    <p:animEffect transition="in" filter="fade">
                                      <p:cBhvr>
                                        <p:cTn id="7" dur="1000"/>
                                        <p:tgtEl>
                                          <p:spTgt spid="5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36">
                                            <p:txEl>
                                              <p:pRg st="0" end="0"/>
                                            </p:txEl>
                                          </p:spTgt>
                                        </p:tgtEl>
                                        <p:attrNameLst>
                                          <p:attrName>style.visibility</p:attrName>
                                        </p:attrNameLst>
                                      </p:cBhvr>
                                      <p:to>
                                        <p:strVal val="visible"/>
                                      </p:to>
                                    </p:set>
                                    <p:animEffect transition="in" filter="fade">
                                      <p:cBhvr>
                                        <p:cTn id="12" dur="1000"/>
                                        <p:tgtEl>
                                          <p:spTgt spid="53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36">
                                            <p:txEl>
                                              <p:pRg st="1" end="1"/>
                                            </p:txEl>
                                          </p:spTgt>
                                        </p:tgtEl>
                                        <p:attrNameLst>
                                          <p:attrName>style.visibility</p:attrName>
                                        </p:attrNameLst>
                                      </p:cBhvr>
                                      <p:to>
                                        <p:strVal val="visible"/>
                                      </p:to>
                                    </p:set>
                                    <p:animEffect transition="in" filter="fade">
                                      <p:cBhvr>
                                        <p:cTn id="17" dur="1000"/>
                                        <p:tgtEl>
                                          <p:spTgt spid="53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36">
                                            <p:txEl>
                                              <p:pRg st="2" end="2"/>
                                            </p:txEl>
                                          </p:spTgt>
                                        </p:tgtEl>
                                        <p:attrNameLst>
                                          <p:attrName>style.visibility</p:attrName>
                                        </p:attrNameLst>
                                      </p:cBhvr>
                                      <p:to>
                                        <p:strVal val="visible"/>
                                      </p:to>
                                    </p:set>
                                    <p:animEffect transition="in" filter="fade">
                                      <p:cBhvr>
                                        <p:cTn id="22" dur="1000"/>
                                        <p:tgtEl>
                                          <p:spTgt spid="53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40"/>
                                        </p:tgtEl>
                                        <p:attrNameLst>
                                          <p:attrName>style.visibility</p:attrName>
                                        </p:attrNameLst>
                                      </p:cBhvr>
                                      <p:to>
                                        <p:strVal val="visible"/>
                                      </p:to>
                                    </p:set>
                                    <p:animEffect transition="in" filter="fade">
                                      <p:cBhvr>
                                        <p:cTn id="27" dur="1000"/>
                                        <p:tgtEl>
                                          <p:spTgt spid="54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39"/>
                                        </p:tgtEl>
                                        <p:attrNameLst>
                                          <p:attrName>style.visibility</p:attrName>
                                        </p:attrNameLst>
                                      </p:cBhvr>
                                      <p:to>
                                        <p:strVal val="visible"/>
                                      </p:to>
                                    </p:set>
                                    <p:animEffect transition="in" filter="fade">
                                      <p:cBhvr>
                                        <p:cTn id="32" dur="1000"/>
                                        <p:tgtEl>
                                          <p:spTgt spid="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geda00f0913_0_46"/>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25</a:t>
            </a:fld>
            <a:endParaRPr/>
          </a:p>
        </p:txBody>
      </p:sp>
      <p:sp>
        <p:nvSpPr>
          <p:cNvPr id="546" name="Google Shape;546;geda00f0913_0_46"/>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1900" b="1">
                <a:latin typeface="Source Sans Pro"/>
                <a:ea typeface="Source Sans Pro"/>
                <a:cs typeface="Source Sans Pro"/>
                <a:sym typeface="Source Sans Pro"/>
              </a:rPr>
              <a:t>Windows Task Scheduler</a:t>
            </a:r>
            <a:endParaRPr sz="2800" b="1"/>
          </a:p>
        </p:txBody>
      </p:sp>
      <p:sp>
        <p:nvSpPr>
          <p:cNvPr id="547" name="Google Shape;547;geda00f0913_0_46"/>
          <p:cNvSpPr txBox="1"/>
          <p:nvPr/>
        </p:nvSpPr>
        <p:spPr>
          <a:xfrm>
            <a:off x="625225" y="637925"/>
            <a:ext cx="7861800" cy="821733"/>
          </a:xfrm>
          <a:prstGeom prst="rect">
            <a:avLst/>
          </a:prstGeom>
          <a:noFill/>
          <a:ln>
            <a:noFill/>
          </a:ln>
        </p:spPr>
        <p:txBody>
          <a:bodyPr spcFirstLastPara="1" wrap="square" lIns="91425" tIns="91425" rIns="91425" bIns="91425" anchor="t" anchorCtr="0">
            <a:spAutoFit/>
          </a:bodyPr>
          <a:lstStyle/>
          <a:p>
            <a:pPr marL="457200" marR="0" lvl="0" indent="-304800" algn="l" rtl="0">
              <a:lnSpc>
                <a:spcPct val="115000"/>
              </a:lnSpc>
              <a:spcBef>
                <a:spcPts val="0"/>
              </a:spcBef>
              <a:spcAft>
                <a:spcPts val="0"/>
              </a:spcAft>
              <a:buClr>
                <a:srgbClr val="292929"/>
              </a:buClr>
              <a:buSzPts val="1200"/>
              <a:buFont typeface="Georgia"/>
              <a:buChar char="●"/>
            </a:pPr>
            <a:r>
              <a:rPr lang="en" sz="1200" b="0" i="0" u="none" strike="noStrike" cap="none" dirty="0">
                <a:solidFill>
                  <a:srgbClr val="292929"/>
                </a:solidFill>
                <a:highlight>
                  <a:srgbClr val="FFFFFF"/>
                </a:highlight>
                <a:latin typeface="+mj-lt"/>
                <a:ea typeface="Georgia"/>
                <a:cs typeface="Georgia"/>
                <a:sym typeface="Georgia"/>
              </a:rPr>
              <a:t>In daily option select start date and time.</a:t>
            </a:r>
            <a:endParaRPr sz="1200" b="0" i="0" u="none" strike="noStrike" cap="none" dirty="0">
              <a:solidFill>
                <a:srgbClr val="292929"/>
              </a:solidFill>
              <a:highlight>
                <a:srgbClr val="FFFFFF"/>
              </a:highlight>
              <a:latin typeface="+mj-lt"/>
              <a:ea typeface="Georgia"/>
              <a:cs typeface="Georgia"/>
              <a:sym typeface="Georgia"/>
            </a:endParaRPr>
          </a:p>
          <a:p>
            <a:pPr marL="457200" marR="0" lvl="0" indent="-304800" algn="l" rtl="0">
              <a:lnSpc>
                <a:spcPct val="115000"/>
              </a:lnSpc>
              <a:spcBef>
                <a:spcPts val="0"/>
              </a:spcBef>
              <a:spcAft>
                <a:spcPts val="0"/>
              </a:spcAft>
              <a:buClr>
                <a:srgbClr val="292929"/>
              </a:buClr>
              <a:buSzPts val="1200"/>
              <a:buFont typeface="Georgia"/>
              <a:buChar char="●"/>
            </a:pPr>
            <a:r>
              <a:rPr lang="en" sz="1200" b="0" i="0" u="none" strike="noStrike" cap="none" dirty="0">
                <a:solidFill>
                  <a:srgbClr val="292929"/>
                </a:solidFill>
                <a:highlight>
                  <a:srgbClr val="FFFFFF"/>
                </a:highlight>
                <a:latin typeface="+mj-lt"/>
                <a:ea typeface="Georgia"/>
                <a:cs typeface="Georgia"/>
                <a:sym typeface="Georgia"/>
              </a:rPr>
              <a:t>check </a:t>
            </a:r>
            <a:r>
              <a:rPr lang="en" sz="1200" b="0" i="0" u="none" strike="noStrike" cap="none" dirty="0">
                <a:solidFill>
                  <a:srgbClr val="292929"/>
                </a:solidFill>
                <a:highlight>
                  <a:schemeClr val="accent5"/>
                </a:highlight>
                <a:latin typeface="+mj-lt"/>
                <a:ea typeface="Georgia"/>
                <a:cs typeface="Georgia"/>
                <a:sym typeface="Georgia"/>
              </a:rPr>
              <a:t>repeat task every </a:t>
            </a:r>
            <a:r>
              <a:rPr lang="en" sz="1200" b="0" i="0" u="none" strike="noStrike" cap="none" dirty="0">
                <a:solidFill>
                  <a:srgbClr val="292929"/>
                </a:solidFill>
                <a:highlight>
                  <a:schemeClr val="lt1"/>
                </a:highlight>
                <a:latin typeface="+mj-lt"/>
                <a:ea typeface="Georgia"/>
                <a:cs typeface="Georgia"/>
                <a:sym typeface="Georgia"/>
              </a:rPr>
              <a:t> and enter the repeat duration. </a:t>
            </a:r>
            <a:endParaRPr sz="1200" b="0" i="0" u="none" strike="noStrike" cap="none" dirty="0">
              <a:solidFill>
                <a:srgbClr val="292929"/>
              </a:solidFill>
              <a:highlight>
                <a:schemeClr val="lt1"/>
              </a:highlight>
              <a:latin typeface="+mj-lt"/>
              <a:ea typeface="Georgia"/>
              <a:cs typeface="Georgia"/>
              <a:sym typeface="Georgia"/>
            </a:endParaRPr>
          </a:p>
          <a:p>
            <a:pPr marL="457200" marR="0" lvl="0" indent="-304800" algn="l" rtl="0">
              <a:lnSpc>
                <a:spcPct val="115000"/>
              </a:lnSpc>
              <a:spcBef>
                <a:spcPts val="0"/>
              </a:spcBef>
              <a:spcAft>
                <a:spcPts val="0"/>
              </a:spcAft>
              <a:buClr>
                <a:srgbClr val="292929"/>
              </a:buClr>
              <a:buSzPts val="1200"/>
              <a:buFont typeface="Georgia"/>
              <a:buChar char="●"/>
            </a:pPr>
            <a:r>
              <a:rPr lang="en" sz="1200" b="0" i="0" u="none" strike="noStrike" cap="none" dirty="0">
                <a:solidFill>
                  <a:srgbClr val="292929"/>
                </a:solidFill>
                <a:highlight>
                  <a:schemeClr val="lt1"/>
                </a:highlight>
                <a:latin typeface="+mj-lt"/>
                <a:ea typeface="Georgia"/>
                <a:cs typeface="Georgia"/>
                <a:sym typeface="Georgia"/>
              </a:rPr>
              <a:t>Click </a:t>
            </a:r>
            <a:r>
              <a:rPr lang="en" sz="1200" b="1" i="0" u="none" strike="noStrike" cap="none" dirty="0">
                <a:solidFill>
                  <a:srgbClr val="292929"/>
                </a:solidFill>
                <a:highlight>
                  <a:schemeClr val="lt1"/>
                </a:highlight>
                <a:latin typeface="+mj-lt"/>
                <a:ea typeface="Georgia"/>
                <a:cs typeface="Georgia"/>
                <a:sym typeface="Georgia"/>
              </a:rPr>
              <a:t>OK</a:t>
            </a:r>
            <a:r>
              <a:rPr lang="en" sz="1200" b="0" i="0" u="none" strike="noStrike" cap="none" dirty="0">
                <a:solidFill>
                  <a:srgbClr val="292929"/>
                </a:solidFill>
                <a:highlight>
                  <a:schemeClr val="lt1"/>
                </a:highlight>
                <a:latin typeface="+mj-lt"/>
                <a:ea typeface="Georgia"/>
                <a:cs typeface="Georgia"/>
                <a:sym typeface="Georgia"/>
              </a:rPr>
              <a:t>.</a:t>
            </a:r>
            <a:endParaRPr sz="1200" b="0" i="0" u="none" strike="noStrike" cap="none" dirty="0">
              <a:solidFill>
                <a:srgbClr val="292929"/>
              </a:solidFill>
              <a:highlight>
                <a:schemeClr val="lt1"/>
              </a:highlight>
              <a:latin typeface="+mj-lt"/>
              <a:ea typeface="Georgia"/>
              <a:cs typeface="Georgia"/>
              <a:sym typeface="Georgia"/>
            </a:endParaRPr>
          </a:p>
        </p:txBody>
      </p:sp>
      <p:pic>
        <p:nvPicPr>
          <p:cNvPr id="548" name="Google Shape;548;geda00f0913_0_46"/>
          <p:cNvPicPr preferRelativeResize="0"/>
          <p:nvPr/>
        </p:nvPicPr>
        <p:blipFill rotWithShape="1">
          <a:blip r:embed="rId3">
            <a:alphaModFix/>
          </a:blip>
          <a:srcRect/>
          <a:stretch/>
        </p:blipFill>
        <p:spPr>
          <a:xfrm>
            <a:off x="1217550" y="1432025"/>
            <a:ext cx="3807438" cy="33178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46"/>
                                        </p:tgtEl>
                                        <p:attrNameLst>
                                          <p:attrName>style.visibility</p:attrName>
                                        </p:attrNameLst>
                                      </p:cBhvr>
                                      <p:to>
                                        <p:strVal val="visible"/>
                                      </p:to>
                                    </p:set>
                                    <p:animEffect transition="in" filter="fade">
                                      <p:cBhvr>
                                        <p:cTn id="7" dur="1000"/>
                                        <p:tgtEl>
                                          <p:spTgt spid="5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47"/>
                                        </p:tgtEl>
                                        <p:attrNameLst>
                                          <p:attrName>style.visibility</p:attrName>
                                        </p:attrNameLst>
                                      </p:cBhvr>
                                      <p:to>
                                        <p:strVal val="visible"/>
                                      </p:to>
                                    </p:set>
                                    <p:animEffect transition="in" filter="fade">
                                      <p:cBhvr>
                                        <p:cTn id="12" dur="1000"/>
                                        <p:tgtEl>
                                          <p:spTgt spid="54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48"/>
                                        </p:tgtEl>
                                        <p:attrNameLst>
                                          <p:attrName>style.visibility</p:attrName>
                                        </p:attrNameLst>
                                      </p:cBhvr>
                                      <p:to>
                                        <p:strVal val="visible"/>
                                      </p:to>
                                    </p:set>
                                    <p:animEffect transition="in" filter="fade">
                                      <p:cBhvr>
                                        <p:cTn id="17" dur="1000"/>
                                        <p:tgtEl>
                                          <p:spTgt spid="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geda00f0913_0_53"/>
          <p:cNvSpPr txBox="1"/>
          <p:nvPr/>
        </p:nvSpPr>
        <p:spPr>
          <a:xfrm>
            <a:off x="625225" y="637925"/>
            <a:ext cx="7861800" cy="821733"/>
          </a:xfrm>
          <a:prstGeom prst="rect">
            <a:avLst/>
          </a:prstGeom>
          <a:noFill/>
          <a:ln>
            <a:noFill/>
          </a:ln>
        </p:spPr>
        <p:txBody>
          <a:bodyPr spcFirstLastPara="1" wrap="square" lIns="91425" tIns="91425" rIns="91425" bIns="91425" anchor="t" anchorCtr="0">
            <a:spAutoFit/>
          </a:bodyPr>
          <a:lstStyle/>
          <a:p>
            <a:pPr marL="457200" marR="0" lvl="0" indent="-304800" algn="l" rtl="0">
              <a:lnSpc>
                <a:spcPct val="115000"/>
              </a:lnSpc>
              <a:spcBef>
                <a:spcPts val="0"/>
              </a:spcBef>
              <a:spcAft>
                <a:spcPts val="0"/>
              </a:spcAft>
              <a:buClr>
                <a:srgbClr val="292929"/>
              </a:buClr>
              <a:buSzPts val="1200"/>
              <a:buFont typeface="Georgia"/>
              <a:buChar char="●"/>
            </a:pPr>
            <a:r>
              <a:rPr lang="en" sz="1200" b="0" i="0" u="none" strike="noStrike" cap="none" dirty="0">
                <a:solidFill>
                  <a:srgbClr val="292929"/>
                </a:solidFill>
                <a:highlight>
                  <a:srgbClr val="FFFFFF"/>
                </a:highlight>
                <a:latin typeface="+mj-lt"/>
                <a:ea typeface="Georgia"/>
                <a:cs typeface="Georgia"/>
                <a:sym typeface="Georgia"/>
              </a:rPr>
              <a:t>Click on </a:t>
            </a:r>
            <a:r>
              <a:rPr lang="en" sz="1200" b="1" i="0" u="none" strike="noStrike" cap="none" dirty="0">
                <a:solidFill>
                  <a:srgbClr val="292929"/>
                </a:solidFill>
                <a:highlight>
                  <a:srgbClr val="FFFFFF"/>
                </a:highlight>
                <a:latin typeface="+mj-lt"/>
                <a:ea typeface="Georgia"/>
                <a:cs typeface="Georgia"/>
                <a:sym typeface="Georgia"/>
              </a:rPr>
              <a:t>Actions </a:t>
            </a:r>
            <a:r>
              <a:rPr lang="en" sz="1200" b="0" i="0" u="none" strike="noStrike" cap="none" dirty="0">
                <a:solidFill>
                  <a:srgbClr val="292929"/>
                </a:solidFill>
                <a:highlight>
                  <a:srgbClr val="FFFFFF"/>
                </a:highlight>
                <a:latin typeface="+mj-lt"/>
                <a:ea typeface="Georgia"/>
                <a:cs typeface="Georgia"/>
                <a:sym typeface="Georgia"/>
              </a:rPr>
              <a:t>tab.</a:t>
            </a:r>
            <a:endParaRPr sz="1200" b="0" i="0" u="none" strike="noStrike" cap="none" dirty="0">
              <a:solidFill>
                <a:srgbClr val="292929"/>
              </a:solidFill>
              <a:highlight>
                <a:srgbClr val="FFFFFF"/>
              </a:highlight>
              <a:latin typeface="+mj-lt"/>
              <a:ea typeface="Georgia"/>
              <a:cs typeface="Georgia"/>
              <a:sym typeface="Georgia"/>
            </a:endParaRPr>
          </a:p>
          <a:p>
            <a:pPr marL="457200" marR="0" lvl="0" indent="-304800" algn="l" rtl="0">
              <a:lnSpc>
                <a:spcPct val="115000"/>
              </a:lnSpc>
              <a:spcBef>
                <a:spcPts val="0"/>
              </a:spcBef>
              <a:spcAft>
                <a:spcPts val="0"/>
              </a:spcAft>
              <a:buClr>
                <a:srgbClr val="292929"/>
              </a:buClr>
              <a:buSzPts val="1200"/>
              <a:buFont typeface="Georgia"/>
              <a:buChar char="●"/>
            </a:pPr>
            <a:r>
              <a:rPr lang="en" sz="1200" b="0" i="0" u="none" strike="noStrike" cap="none" dirty="0">
                <a:solidFill>
                  <a:srgbClr val="292929"/>
                </a:solidFill>
                <a:highlight>
                  <a:srgbClr val="FFFFFF"/>
                </a:highlight>
                <a:latin typeface="+mj-lt"/>
                <a:ea typeface="Georgia"/>
                <a:cs typeface="Georgia"/>
                <a:sym typeface="Georgia"/>
              </a:rPr>
              <a:t>Then click on new… button.</a:t>
            </a:r>
            <a:endParaRPr sz="1200" b="0" i="0" u="none" strike="noStrike" cap="none" dirty="0">
              <a:solidFill>
                <a:srgbClr val="292929"/>
              </a:solidFill>
              <a:highlight>
                <a:srgbClr val="FFFFFF"/>
              </a:highlight>
              <a:latin typeface="+mj-lt"/>
              <a:ea typeface="Georgia"/>
              <a:cs typeface="Georgia"/>
              <a:sym typeface="Georgia"/>
            </a:endParaRPr>
          </a:p>
          <a:p>
            <a:pPr marL="457200" marR="0" lvl="0" indent="-304800" algn="l" rtl="0">
              <a:lnSpc>
                <a:spcPct val="115000"/>
              </a:lnSpc>
              <a:spcBef>
                <a:spcPts val="0"/>
              </a:spcBef>
              <a:spcAft>
                <a:spcPts val="0"/>
              </a:spcAft>
              <a:buClr>
                <a:srgbClr val="292929"/>
              </a:buClr>
              <a:buSzPts val="1200"/>
              <a:buFont typeface="Georgia"/>
              <a:buChar char="●"/>
            </a:pPr>
            <a:r>
              <a:rPr lang="en" sz="1200" b="0" i="0" u="none" strike="noStrike" cap="none" dirty="0">
                <a:solidFill>
                  <a:srgbClr val="292929"/>
                </a:solidFill>
                <a:highlight>
                  <a:srgbClr val="FFFFFF"/>
                </a:highlight>
                <a:latin typeface="+mj-lt"/>
                <a:ea typeface="Georgia"/>
                <a:cs typeface="Georgia"/>
                <a:sym typeface="Georgia"/>
              </a:rPr>
              <a:t>You can  browse the path of the program you want to execute. </a:t>
            </a:r>
            <a:endParaRPr sz="1200" b="0" i="0" u="none" strike="noStrike" cap="none" dirty="0">
              <a:solidFill>
                <a:srgbClr val="292929"/>
              </a:solidFill>
              <a:highlight>
                <a:srgbClr val="FFFFFF"/>
              </a:highlight>
              <a:latin typeface="+mj-lt"/>
              <a:ea typeface="Georgia"/>
              <a:cs typeface="Georgia"/>
              <a:sym typeface="Georgia"/>
            </a:endParaRPr>
          </a:p>
        </p:txBody>
      </p:sp>
      <p:sp>
        <p:nvSpPr>
          <p:cNvPr id="554" name="Google Shape;554;geda00f0913_0_53"/>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26</a:t>
            </a:fld>
            <a:endParaRPr/>
          </a:p>
        </p:txBody>
      </p:sp>
      <p:sp>
        <p:nvSpPr>
          <p:cNvPr id="555" name="Google Shape;555;geda00f0913_0_53"/>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1900" b="1">
                <a:latin typeface="Source Sans Pro"/>
                <a:ea typeface="Source Sans Pro"/>
                <a:cs typeface="Source Sans Pro"/>
                <a:sym typeface="Source Sans Pro"/>
              </a:rPr>
              <a:t>Windows Task Scheduler</a:t>
            </a:r>
            <a:endParaRPr sz="2800" b="1"/>
          </a:p>
        </p:txBody>
      </p:sp>
      <p:pic>
        <p:nvPicPr>
          <p:cNvPr id="556" name="Google Shape;556;geda00f0913_0_53"/>
          <p:cNvPicPr preferRelativeResize="0"/>
          <p:nvPr/>
        </p:nvPicPr>
        <p:blipFill rotWithShape="1">
          <a:blip r:embed="rId3">
            <a:alphaModFix/>
          </a:blip>
          <a:srcRect/>
          <a:stretch/>
        </p:blipFill>
        <p:spPr>
          <a:xfrm>
            <a:off x="1066800" y="1464425"/>
            <a:ext cx="5165251" cy="3466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55"/>
                                        </p:tgtEl>
                                        <p:attrNameLst>
                                          <p:attrName>style.visibility</p:attrName>
                                        </p:attrNameLst>
                                      </p:cBhvr>
                                      <p:to>
                                        <p:strVal val="visible"/>
                                      </p:to>
                                    </p:set>
                                    <p:animEffect transition="in" filter="fade">
                                      <p:cBhvr>
                                        <p:cTn id="7" dur="1000"/>
                                        <p:tgtEl>
                                          <p:spTgt spid="55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53">
                                            <p:txEl>
                                              <p:pRg st="0" end="0"/>
                                            </p:txEl>
                                          </p:spTgt>
                                        </p:tgtEl>
                                        <p:attrNameLst>
                                          <p:attrName>style.visibility</p:attrName>
                                        </p:attrNameLst>
                                      </p:cBhvr>
                                      <p:to>
                                        <p:strVal val="visible"/>
                                      </p:to>
                                    </p:set>
                                    <p:animEffect transition="in" filter="fade">
                                      <p:cBhvr>
                                        <p:cTn id="12" dur="1000"/>
                                        <p:tgtEl>
                                          <p:spTgt spid="55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53">
                                            <p:txEl>
                                              <p:pRg st="1" end="1"/>
                                            </p:txEl>
                                          </p:spTgt>
                                        </p:tgtEl>
                                        <p:attrNameLst>
                                          <p:attrName>style.visibility</p:attrName>
                                        </p:attrNameLst>
                                      </p:cBhvr>
                                      <p:to>
                                        <p:strVal val="visible"/>
                                      </p:to>
                                    </p:set>
                                    <p:animEffect transition="in" filter="fade">
                                      <p:cBhvr>
                                        <p:cTn id="17" dur="1000"/>
                                        <p:tgtEl>
                                          <p:spTgt spid="55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53">
                                            <p:txEl>
                                              <p:pRg st="2" end="2"/>
                                            </p:txEl>
                                          </p:spTgt>
                                        </p:tgtEl>
                                        <p:attrNameLst>
                                          <p:attrName>style.visibility</p:attrName>
                                        </p:attrNameLst>
                                      </p:cBhvr>
                                      <p:to>
                                        <p:strVal val="visible"/>
                                      </p:to>
                                    </p:set>
                                    <p:animEffect transition="in" filter="fade">
                                      <p:cBhvr>
                                        <p:cTn id="22" dur="1000"/>
                                        <p:tgtEl>
                                          <p:spTgt spid="55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6"/>
                                        </p:tgtEl>
                                        <p:attrNameLst>
                                          <p:attrName>style.visibility</p:attrName>
                                        </p:attrNameLst>
                                      </p:cBhvr>
                                      <p:to>
                                        <p:strVal val="visible"/>
                                      </p:to>
                                    </p:set>
                                    <p:animEffect transition="in" filter="fade">
                                      <p:cBhvr>
                                        <p:cTn id="27" dur="1000"/>
                                        <p:tgtEl>
                                          <p:spTgt spid="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geda00f0913_0_122"/>
          <p:cNvSpPr txBox="1"/>
          <p:nvPr/>
        </p:nvSpPr>
        <p:spPr>
          <a:xfrm>
            <a:off x="641100" y="983200"/>
            <a:ext cx="7861800" cy="2449871"/>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 sz="1600" b="1" i="0" u="none" strike="noStrike" cap="none" dirty="0">
                <a:solidFill>
                  <a:srgbClr val="292929"/>
                </a:solidFill>
                <a:highlight>
                  <a:schemeClr val="lt1"/>
                </a:highlight>
                <a:latin typeface="+mj-lt"/>
                <a:ea typeface="Georgia"/>
                <a:cs typeface="Georgia"/>
                <a:sym typeface="Georgia"/>
              </a:rPr>
              <a:t>Task 1:</a:t>
            </a:r>
            <a:endParaRPr sz="1600" b="1" i="0" u="none" strike="noStrike" cap="none" dirty="0">
              <a:solidFill>
                <a:srgbClr val="292929"/>
              </a:solidFill>
              <a:highlight>
                <a:schemeClr val="lt1"/>
              </a:highlight>
              <a:latin typeface="+mj-lt"/>
              <a:ea typeface="Georgia"/>
              <a:cs typeface="Georgia"/>
              <a:sym typeface="Georgia"/>
            </a:endParaRPr>
          </a:p>
          <a:p>
            <a:pPr marL="457200" marR="0" lvl="0" indent="-330200" algn="l" rtl="0">
              <a:lnSpc>
                <a:spcPct val="115000"/>
              </a:lnSpc>
              <a:spcBef>
                <a:spcPts val="0"/>
              </a:spcBef>
              <a:spcAft>
                <a:spcPts val="0"/>
              </a:spcAft>
              <a:buClr>
                <a:srgbClr val="292929"/>
              </a:buClr>
              <a:buSzPts val="1600"/>
              <a:buFont typeface="Georgia"/>
              <a:buChar char="●"/>
            </a:pPr>
            <a:r>
              <a:rPr lang="en" sz="1600" b="0" i="0" u="none" strike="noStrike" cap="none" dirty="0">
                <a:solidFill>
                  <a:srgbClr val="292929"/>
                </a:solidFill>
                <a:highlight>
                  <a:schemeClr val="lt1"/>
                </a:highlight>
                <a:latin typeface="+mj-lt"/>
                <a:ea typeface="Georgia"/>
                <a:cs typeface="Georgia"/>
                <a:sym typeface="Georgia"/>
              </a:rPr>
              <a:t>Create a cron job/task scheduler to write results of </a:t>
            </a:r>
            <a:r>
              <a:rPr lang="en" sz="1600" b="0" i="1" u="none" strike="noStrike" cap="none" dirty="0" smtClean="0">
                <a:solidFill>
                  <a:srgbClr val="292929"/>
                </a:solidFill>
                <a:highlight>
                  <a:schemeClr val="accent4"/>
                </a:highlight>
                <a:latin typeface="+mj-lt"/>
                <a:ea typeface="Georgia"/>
                <a:cs typeface="Georgia"/>
                <a:sym typeface="Georgia"/>
              </a:rPr>
              <a:t>“get_quotes”</a:t>
            </a:r>
            <a:r>
              <a:rPr lang="en" sz="1600" b="0" i="0" u="none" strike="noStrike" cap="none" dirty="0" smtClean="0">
                <a:solidFill>
                  <a:srgbClr val="292929"/>
                </a:solidFill>
                <a:highlight>
                  <a:schemeClr val="lt1"/>
                </a:highlight>
                <a:latin typeface="+mj-lt"/>
                <a:ea typeface="Georgia"/>
                <a:cs typeface="Georgia"/>
                <a:sym typeface="Georgia"/>
              </a:rPr>
              <a:t> into a folder.</a:t>
            </a:r>
            <a:endParaRPr sz="1600" b="1" i="0" u="none" strike="noStrike" cap="none" dirty="0">
              <a:solidFill>
                <a:srgbClr val="292929"/>
              </a:solidFill>
              <a:highlight>
                <a:schemeClr val="lt1"/>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1600"/>
              <a:buFont typeface="Arial"/>
              <a:buNone/>
            </a:pPr>
            <a:endParaRPr sz="1600" b="1" i="0" u="none" strike="noStrike" cap="none" dirty="0">
              <a:solidFill>
                <a:srgbClr val="292929"/>
              </a:solidFill>
              <a:highlight>
                <a:schemeClr val="lt1"/>
              </a:highlight>
              <a:latin typeface="+mj-lt"/>
              <a:ea typeface="Georgia"/>
              <a:cs typeface="Georgia"/>
              <a:sym typeface="Georgia"/>
            </a:endParaRPr>
          </a:p>
          <a:p>
            <a:pPr marL="0" marR="0" lvl="0" indent="0" algn="l" rtl="0">
              <a:lnSpc>
                <a:spcPct val="115000"/>
              </a:lnSpc>
              <a:spcBef>
                <a:spcPts val="0"/>
              </a:spcBef>
              <a:spcAft>
                <a:spcPts val="0"/>
              </a:spcAft>
              <a:buClr>
                <a:srgbClr val="000000"/>
              </a:buClr>
              <a:buSzPts val="1600"/>
              <a:buFont typeface="Arial"/>
              <a:buNone/>
            </a:pPr>
            <a:r>
              <a:rPr lang="en" sz="1600" b="1" i="0" u="none" strike="noStrike" cap="none" dirty="0">
                <a:solidFill>
                  <a:srgbClr val="292929"/>
                </a:solidFill>
                <a:highlight>
                  <a:schemeClr val="lt1"/>
                </a:highlight>
                <a:latin typeface="+mj-lt"/>
                <a:ea typeface="Georgia"/>
                <a:cs typeface="Georgia"/>
                <a:sym typeface="Georgia"/>
              </a:rPr>
              <a:t>Task 2:</a:t>
            </a:r>
            <a:endParaRPr sz="1600" b="1" i="0" u="none" strike="noStrike" cap="none" dirty="0">
              <a:solidFill>
                <a:srgbClr val="292929"/>
              </a:solidFill>
              <a:highlight>
                <a:schemeClr val="lt1"/>
              </a:highlight>
              <a:latin typeface="+mj-lt"/>
              <a:ea typeface="Georgia"/>
              <a:cs typeface="Georgia"/>
              <a:sym typeface="Georgia"/>
            </a:endParaRPr>
          </a:p>
          <a:p>
            <a:pPr marL="457200" marR="0" lvl="0" indent="-330200" algn="l" rtl="0">
              <a:lnSpc>
                <a:spcPct val="115000"/>
              </a:lnSpc>
              <a:spcBef>
                <a:spcPts val="0"/>
              </a:spcBef>
              <a:spcAft>
                <a:spcPts val="0"/>
              </a:spcAft>
              <a:buClr>
                <a:srgbClr val="292929"/>
              </a:buClr>
              <a:buSzPts val="1600"/>
              <a:buFont typeface="Georgia"/>
              <a:buChar char="●"/>
            </a:pPr>
            <a:r>
              <a:rPr lang="en" sz="1600" b="0" i="0" u="none" strike="noStrike" cap="none" dirty="0">
                <a:solidFill>
                  <a:srgbClr val="292929"/>
                </a:solidFill>
                <a:highlight>
                  <a:schemeClr val="lt1"/>
                </a:highlight>
                <a:latin typeface="+mj-lt"/>
                <a:ea typeface="Georgia"/>
                <a:cs typeface="Georgia"/>
                <a:sym typeface="Georgia"/>
              </a:rPr>
              <a:t>Create a simple flask app using python</a:t>
            </a:r>
            <a:r>
              <a:rPr lang="en" sz="1600" b="0" i="0" u="none" strike="noStrike" cap="none" dirty="0" smtClean="0">
                <a:solidFill>
                  <a:srgbClr val="292929"/>
                </a:solidFill>
                <a:highlight>
                  <a:schemeClr val="lt1"/>
                </a:highlight>
                <a:latin typeface="+mj-lt"/>
                <a:ea typeface="Georgia"/>
                <a:cs typeface="Georgia"/>
                <a:sym typeface="Georgia"/>
              </a:rPr>
              <a:t>.</a:t>
            </a:r>
          </a:p>
          <a:p>
            <a:pPr marL="457200" marR="0" lvl="0" indent="-330200" algn="l" rtl="0">
              <a:lnSpc>
                <a:spcPct val="115000"/>
              </a:lnSpc>
              <a:spcBef>
                <a:spcPts val="0"/>
              </a:spcBef>
              <a:spcAft>
                <a:spcPts val="0"/>
              </a:spcAft>
              <a:buClr>
                <a:srgbClr val="292929"/>
              </a:buClr>
              <a:buSzPts val="1600"/>
              <a:buFont typeface="Georgia"/>
              <a:buChar char="●"/>
            </a:pPr>
            <a:r>
              <a:rPr lang="en" sz="1600" b="0" i="0" u="none" strike="noStrike" cap="none" dirty="0" smtClean="0">
                <a:solidFill>
                  <a:srgbClr val="292929"/>
                </a:solidFill>
                <a:highlight>
                  <a:schemeClr val="lt1"/>
                </a:highlight>
                <a:latin typeface="+mj-lt"/>
                <a:ea typeface="Georgia"/>
                <a:cs typeface="Georgia"/>
                <a:sym typeface="Georgia"/>
              </a:rPr>
              <a:t>Try to trigger that app using gunicorn</a:t>
            </a:r>
            <a:endParaRPr sz="1600" b="0" i="0" u="none" strike="noStrike" cap="none" dirty="0" smtClean="0">
              <a:solidFill>
                <a:srgbClr val="292929"/>
              </a:solidFill>
              <a:highlight>
                <a:schemeClr val="lt1"/>
              </a:highlight>
              <a:latin typeface="+mj-lt"/>
              <a:ea typeface="Georgia"/>
              <a:cs typeface="Georgia"/>
              <a:sym typeface="Georgia"/>
            </a:endParaRPr>
          </a:p>
          <a:p>
            <a:pPr marL="457200" marR="0" lvl="0" indent="-330200" algn="l" rtl="0">
              <a:lnSpc>
                <a:spcPct val="115000"/>
              </a:lnSpc>
              <a:spcBef>
                <a:spcPts val="0"/>
              </a:spcBef>
              <a:spcAft>
                <a:spcPts val="0"/>
              </a:spcAft>
              <a:buClr>
                <a:srgbClr val="292929"/>
              </a:buClr>
              <a:buSzPts val="1600"/>
              <a:buFont typeface="Georgia"/>
              <a:buChar char="●"/>
            </a:pPr>
            <a:r>
              <a:rPr lang="en" sz="1600" b="0" i="0" u="none" strike="noStrike" cap="none" dirty="0" smtClean="0">
                <a:solidFill>
                  <a:srgbClr val="292929"/>
                </a:solidFill>
                <a:highlight>
                  <a:schemeClr val="lt1"/>
                </a:highlight>
                <a:latin typeface="+mj-lt"/>
                <a:ea typeface="Georgia"/>
                <a:cs typeface="Georgia"/>
                <a:sym typeface="Georgia"/>
              </a:rPr>
              <a:t>Create a cron job (linux/macOS) or Task scheduler (Windows) to automatically run that flask app.</a:t>
            </a:r>
            <a:endParaRPr sz="1600" b="0" i="0" u="none" strike="noStrike" cap="none" dirty="0">
              <a:solidFill>
                <a:srgbClr val="292929"/>
              </a:solidFill>
              <a:highlight>
                <a:srgbClr val="FFFFFF"/>
              </a:highlight>
              <a:latin typeface="+mj-lt"/>
              <a:ea typeface="Georgia"/>
              <a:cs typeface="Georgia"/>
              <a:sym typeface="Georgia"/>
            </a:endParaRPr>
          </a:p>
        </p:txBody>
      </p:sp>
      <p:sp>
        <p:nvSpPr>
          <p:cNvPr id="562" name="Google Shape;562;geda00f0913_0_122"/>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rgbClr val="000000"/>
              </a:buClr>
              <a:buSzPts val="1300"/>
              <a:buFont typeface="Arial"/>
              <a:buNone/>
            </a:pPr>
            <a:fld id="{00000000-1234-1234-1234-123412341234}" type="slidenum">
              <a:rPr lang="en"/>
              <a:t>27</a:t>
            </a:fld>
            <a:endParaRPr/>
          </a:p>
        </p:txBody>
      </p:sp>
      <p:sp>
        <p:nvSpPr>
          <p:cNvPr id="563" name="Google Shape;563;geda00f0913_0_122"/>
          <p:cNvSpPr txBox="1">
            <a:spLocks noGrp="1"/>
          </p:cNvSpPr>
          <p:nvPr>
            <p:ph type="title"/>
          </p:nvPr>
        </p:nvSpPr>
        <p:spPr>
          <a:xfrm>
            <a:off x="549150" y="132674"/>
            <a:ext cx="7571700" cy="561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1900" b="1">
                <a:latin typeface="Source Sans Pro"/>
                <a:ea typeface="Source Sans Pro"/>
                <a:cs typeface="Source Sans Pro"/>
                <a:sym typeface="Source Sans Pro"/>
              </a:rPr>
              <a:t>Windows Task Scheduler</a:t>
            </a:r>
            <a:endParaRPr sz="2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63"/>
                                        </p:tgtEl>
                                        <p:attrNameLst>
                                          <p:attrName>style.visibility</p:attrName>
                                        </p:attrNameLst>
                                      </p:cBhvr>
                                      <p:to>
                                        <p:strVal val="visible"/>
                                      </p:to>
                                    </p:set>
                                    <p:animEffect transition="in" filter="fade">
                                      <p:cBhvr>
                                        <p:cTn id="7" dur="1000"/>
                                        <p:tgtEl>
                                          <p:spTgt spid="563"/>
                                        </p:tgtEl>
                                      </p:cBhvr>
                                    </p:animEffect>
                                  </p:childTnLst>
                                </p:cTn>
                              </p:par>
                              <p:par>
                                <p:cTn id="8" presetID="10" presetClass="entr" presetSubtype="0" fill="hold" nodeType="withEffect">
                                  <p:stCondLst>
                                    <p:cond delay="0"/>
                                  </p:stCondLst>
                                  <p:childTnLst>
                                    <p:set>
                                      <p:cBhvr>
                                        <p:cTn id="9" dur="1" fill="hold">
                                          <p:stCondLst>
                                            <p:cond delay="0"/>
                                          </p:stCondLst>
                                        </p:cTn>
                                        <p:tgtEl>
                                          <p:spTgt spid="561"/>
                                        </p:tgtEl>
                                        <p:attrNameLst>
                                          <p:attrName>style.visibility</p:attrName>
                                        </p:attrNameLst>
                                      </p:cBhvr>
                                      <p:to>
                                        <p:strVal val="visible"/>
                                      </p:to>
                                    </p:set>
                                    <p:animEffect transition="in" filter="fade">
                                      <p:cBhvr>
                                        <p:cTn id="10" dur="1000"/>
                                        <p:tgtEl>
                                          <p:spTgt spid="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25"/>
          <p:cNvSpPr txBox="1">
            <a:spLocks noGrp="1"/>
          </p:cNvSpPr>
          <p:nvPr>
            <p:ph type="ctrTitle" idx="4294967295"/>
          </p:nvPr>
        </p:nvSpPr>
        <p:spPr>
          <a:xfrm>
            <a:off x="685800" y="516542"/>
            <a:ext cx="7772400" cy="1159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accent1"/>
              </a:buClr>
              <a:buSzPts val="2000"/>
              <a:buFont typeface="Roboto Slab"/>
              <a:buNone/>
            </a:pPr>
            <a:r>
              <a:rPr lang="en" sz="6000" b="1" i="0" u="none" strike="noStrike" cap="none" dirty="0">
                <a:solidFill>
                  <a:schemeClr val="accent1"/>
                </a:solidFill>
                <a:latin typeface="Roboto Slab"/>
                <a:ea typeface="Roboto Slab"/>
                <a:cs typeface="Roboto Slab"/>
                <a:sym typeface="Roboto Slab"/>
              </a:rPr>
              <a:t>Thanks!</a:t>
            </a:r>
            <a:endParaRPr sz="6000" b="1" i="0" u="none" strike="noStrike" cap="none" dirty="0">
              <a:solidFill>
                <a:schemeClr val="accent1"/>
              </a:solidFill>
              <a:latin typeface="Roboto Slab"/>
              <a:ea typeface="Roboto Slab"/>
              <a:cs typeface="Roboto Slab"/>
              <a:sym typeface="Roboto Slab"/>
            </a:endParaRPr>
          </a:p>
        </p:txBody>
      </p:sp>
      <p:sp>
        <p:nvSpPr>
          <p:cNvPr id="653" name="Google Shape;653;p25"/>
          <p:cNvSpPr txBox="1">
            <a:spLocks noGrp="1"/>
          </p:cNvSpPr>
          <p:nvPr>
            <p:ph type="subTitle" idx="4294967295"/>
          </p:nvPr>
        </p:nvSpPr>
        <p:spPr>
          <a:xfrm>
            <a:off x="685800" y="1639913"/>
            <a:ext cx="6593700" cy="78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600"/>
              </a:spcBef>
              <a:spcAft>
                <a:spcPts val="0"/>
              </a:spcAft>
              <a:buClr>
                <a:schemeClr val="accent4"/>
              </a:buClr>
              <a:buSzPts val="3000"/>
              <a:buFont typeface="Arial"/>
              <a:buNone/>
            </a:pPr>
            <a:r>
              <a:rPr lang="en" sz="3600" b="1" i="0" u="none" strike="noStrike" cap="none" dirty="0">
                <a:solidFill>
                  <a:schemeClr val="dk1"/>
                </a:solidFill>
                <a:latin typeface="Arial"/>
                <a:ea typeface="Arial"/>
                <a:cs typeface="Arial"/>
                <a:sym typeface="Arial"/>
              </a:rPr>
              <a:t>Any questions?</a:t>
            </a:r>
            <a:endParaRPr sz="3600" b="1" i="0" u="none" strike="noStrike" cap="none" dirty="0">
              <a:solidFill>
                <a:schemeClr val="dk1"/>
              </a:solidFill>
              <a:latin typeface="Arial"/>
              <a:ea typeface="Arial"/>
              <a:cs typeface="Arial"/>
              <a:sym typeface="Arial"/>
            </a:endParaRPr>
          </a:p>
        </p:txBody>
      </p:sp>
      <p:sp>
        <p:nvSpPr>
          <p:cNvPr id="654" name="Google Shape;654;p25"/>
          <p:cNvSpPr txBox="1">
            <a:spLocks noGrp="1"/>
          </p:cNvSpPr>
          <p:nvPr>
            <p:ph type="body" idx="4294967295"/>
          </p:nvPr>
        </p:nvSpPr>
        <p:spPr>
          <a:xfrm>
            <a:off x="685799" y="2464406"/>
            <a:ext cx="7973292" cy="2461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00"/>
              </a:spcBef>
              <a:spcAft>
                <a:spcPts val="0"/>
              </a:spcAft>
              <a:buSzPts val="3000"/>
              <a:buNone/>
            </a:pPr>
            <a:r>
              <a:rPr lang="en" dirty="0"/>
              <a:t>You can find me </a:t>
            </a:r>
            <a:r>
              <a:rPr lang="en" dirty="0" smtClean="0"/>
              <a:t>on Linkedin: </a:t>
            </a:r>
            <a:r>
              <a:rPr lang="en" dirty="0" smtClean="0">
                <a:hlinkClick r:id="rId3"/>
              </a:rPr>
              <a:t>@zainkhanln</a:t>
            </a:r>
            <a:endParaRPr dirty="0"/>
          </a:p>
        </p:txBody>
      </p:sp>
      <p:sp>
        <p:nvSpPr>
          <p:cNvPr id="655" name="Google Shape;655;p25"/>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28</a:t>
            </a:fld>
            <a:endParaRPr/>
          </a:p>
        </p:txBody>
      </p:sp>
    </p:spTree>
    <p:extLst>
      <p:ext uri="{BB962C8B-B14F-4D97-AF65-F5344CB8AC3E}">
        <p14:creationId xmlns:p14="http://schemas.microsoft.com/office/powerpoint/2010/main" val="950872390"/>
      </p:ext>
    </p:extLst>
  </p:cSld>
  <p:clrMapOvr>
    <a:masterClrMapping/>
  </p:clrMapOvr>
</p:sld>
</file>

<file path=ppt/theme/theme1.xml><?xml version="1.0" encoding="utf-8"?>
<a:theme xmlns:a="http://schemas.openxmlformats.org/drawingml/2006/main" name="Cordelia template">
  <a:themeElements>
    <a:clrScheme name="Custom 347">
      <a:dk1>
        <a:srgbClr val="263238"/>
      </a:dk1>
      <a:lt1>
        <a:srgbClr val="FFFFFF"/>
      </a:lt1>
      <a:dk2>
        <a:srgbClr val="607D8B"/>
      </a:dk2>
      <a:lt2>
        <a:srgbClr val="ECEFF1"/>
      </a:lt2>
      <a:accent1>
        <a:srgbClr val="0091EA"/>
      </a:accent1>
      <a:accent2>
        <a:srgbClr val="0053A3"/>
      </a:accent2>
      <a:accent3>
        <a:srgbClr val="607D8B"/>
      </a:accent3>
      <a:accent4>
        <a:srgbClr val="CFD8DC"/>
      </a:accent4>
      <a:accent5>
        <a:srgbClr val="ECEFF1"/>
      </a:accent5>
      <a:accent6>
        <a:srgbClr val="ACDBF8"/>
      </a:accent6>
      <a:hlink>
        <a:srgbClr val="0091EA"/>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203</TotalTime>
  <Words>1939</Words>
  <Application>Microsoft Office PowerPoint</Application>
  <PresentationFormat>On-screen Show (16:9)</PresentationFormat>
  <Paragraphs>264</Paragraphs>
  <Slides>28</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Courier New</vt:lpstr>
      <vt:lpstr>Georgia</vt:lpstr>
      <vt:lpstr>Roboto</vt:lpstr>
      <vt:lpstr>Roboto Slab</vt:lpstr>
      <vt:lpstr>Source Sans Pro</vt:lpstr>
      <vt:lpstr>Arial</vt:lpstr>
      <vt:lpstr>Roboto Mono</vt:lpstr>
      <vt:lpstr>Cordelia template</vt:lpstr>
      <vt:lpstr>Basic Linux</vt:lpstr>
      <vt:lpstr>What is the shell</vt:lpstr>
      <vt:lpstr>Navigating the Command Line</vt:lpstr>
      <vt:lpstr> Creation and Inspection</vt:lpstr>
      <vt:lpstr> Creation and Inspection</vt:lpstr>
      <vt:lpstr> Migration and Destruction</vt:lpstr>
      <vt:lpstr> Migration and Destruction</vt:lpstr>
      <vt:lpstr> Search</vt:lpstr>
      <vt:lpstr> Search</vt:lpstr>
      <vt:lpstr> Search</vt:lpstr>
      <vt:lpstr> Pipes </vt:lpstr>
      <vt:lpstr>Crontab in Linux</vt:lpstr>
      <vt:lpstr>Crontab in Linux</vt:lpstr>
      <vt:lpstr>Crontab in Linux</vt:lpstr>
      <vt:lpstr>Crontab in Linux</vt:lpstr>
      <vt:lpstr>Crontab in Linux</vt:lpstr>
      <vt:lpstr>Scheduling Cron jobs: Linux</vt:lpstr>
      <vt:lpstr>Scheduling Cron jobs: Linux</vt:lpstr>
      <vt:lpstr>Scheduling Cron jobs: Linux</vt:lpstr>
      <vt:lpstr>Windows Task Scheduler</vt:lpstr>
      <vt:lpstr>Windows Task Scheduler</vt:lpstr>
      <vt:lpstr>Windows Task Scheduler</vt:lpstr>
      <vt:lpstr>Windows Task Scheduler</vt:lpstr>
      <vt:lpstr>Windows Task Scheduler</vt:lpstr>
      <vt:lpstr>Windows Task Scheduler</vt:lpstr>
      <vt:lpstr>Windows Task Scheduler</vt:lpstr>
      <vt:lpstr>Windows Task Scheduler</vt:lpstr>
      <vt:lpstr>Thanks!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Bash and Linux/Unix</dc:title>
  <cp:lastModifiedBy>Zain</cp:lastModifiedBy>
  <cp:revision>79</cp:revision>
  <dcterms:modified xsi:type="dcterms:W3CDTF">2026-02-21T02:23:25Z</dcterms:modified>
</cp:coreProperties>
</file>