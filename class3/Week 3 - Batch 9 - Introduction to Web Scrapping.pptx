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1"/>
  </p:notesMasterIdLst>
  <p:sldIdLst>
    <p:sldId id="256" r:id="rId2"/>
    <p:sldId id="258" r:id="rId3"/>
    <p:sldId id="259" r:id="rId4"/>
    <p:sldId id="260" r:id="rId5"/>
    <p:sldId id="280" r:id="rId6"/>
    <p:sldId id="261" r:id="rId7"/>
    <p:sldId id="286" r:id="rId8"/>
    <p:sldId id="277" r:id="rId9"/>
    <p:sldId id="262" r:id="rId10"/>
    <p:sldId id="263" r:id="rId11"/>
    <p:sldId id="281" r:id="rId12"/>
    <p:sldId id="264" r:id="rId13"/>
    <p:sldId id="282" r:id="rId14"/>
    <p:sldId id="265" r:id="rId15"/>
    <p:sldId id="266" r:id="rId16"/>
    <p:sldId id="267" r:id="rId17"/>
    <p:sldId id="268" r:id="rId18"/>
    <p:sldId id="283" r:id="rId19"/>
    <p:sldId id="269" r:id="rId20"/>
    <p:sldId id="284" r:id="rId21"/>
    <p:sldId id="270" r:id="rId22"/>
    <p:sldId id="271" r:id="rId23"/>
    <p:sldId id="285" r:id="rId24"/>
    <p:sldId id="272" r:id="rId25"/>
    <p:sldId id="273" r:id="rId26"/>
    <p:sldId id="274" r:id="rId27"/>
    <p:sldId id="275" r:id="rId28"/>
    <p:sldId id="276" r:id="rId29"/>
    <p:sldId id="279" r:id="rId30"/>
  </p:sldIdLst>
  <p:sldSz cx="9144000" cy="5143500" type="screen16x9"/>
  <p:notesSz cx="6858000" cy="9144000"/>
  <p:embeddedFontLst>
    <p:embeddedFont>
      <p:font typeface="Roboto Mono" panose="020B0604020202020204" charset="0"/>
      <p:regular r:id="rId32"/>
      <p:bold r:id="rId33"/>
      <p:italic r:id="rId34"/>
      <p:boldItalic r:id="rId35"/>
    </p:embeddedFont>
    <p:embeddedFont>
      <p:font typeface="Georgia" panose="02040502050405020303" pitchFamily="18" charset="0"/>
      <p:regular r:id="rId36"/>
      <p:bold r:id="rId37"/>
      <p:italic r:id="rId38"/>
      <p:boldItalic r:id="rId39"/>
    </p:embeddedFont>
    <p:embeddedFont>
      <p:font typeface="Roboto Slab" panose="020B0604020202020204" charset="0"/>
      <p:regular r:id="rId40"/>
      <p:bold r:id="rId41"/>
    </p:embeddedFont>
    <p:embeddedFont>
      <p:font typeface="Source Sans Pro" panose="020B0604020202020204" charset="0"/>
      <p:regular r:id="rId42"/>
      <p:bold r:id="rId43"/>
      <p:italic r:id="rId44"/>
      <p:boldItalic r:id="rId45"/>
    </p:embeddedFont>
    <p:embeddedFont>
      <p:font typeface="Roboto" panose="020B0604020202020204" charset="0"/>
      <p:regular r:id="rId46"/>
      <p:bold r:id="rId47"/>
      <p:italic r:id="rId48"/>
      <p:boldItalic r:id="rId49"/>
    </p:embeddedFont>
    <p:embeddedFont>
      <p:font typeface="Merriweather" panose="020B0604020202020204" charset="0"/>
      <p:regular r:id="rId50"/>
      <p:bold r:id="rId51"/>
      <p:italic r:id="rId52"/>
      <p:boldItalic r:id="rId53"/>
    </p:embeddedFont>
    <p:embeddedFont>
      <p:font typeface="Consolas" panose="020B0609020204030204" pitchFamily="49"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2" roundtripDataSignature="AMtx7miPxG4YbJtcFX2mSyERmnnF78yT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font" Target="fonts/font19.fntdata"/><Relationship Id="rId55" Type="http://schemas.openxmlformats.org/officeDocument/2006/relationships/font" Target="fonts/font24.fntdata"/><Relationship Id="rId84"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font" Target="fonts/font22.fntdata"/><Relationship Id="rId5" Type="http://schemas.openxmlformats.org/officeDocument/2006/relationships/slide" Target="slides/slide4.xml"/><Relationship Id="rId82" Type="http://customschemas.google.com/relationships/presentationmetadata" Target="meta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font" Target="fonts/font25.fntdata"/><Relationship Id="rId8" Type="http://schemas.openxmlformats.org/officeDocument/2006/relationships/slide" Target="slides/slide7.xml"/><Relationship Id="rId51" Type="http://schemas.openxmlformats.org/officeDocument/2006/relationships/font" Target="fonts/font20.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0.fntdata"/><Relationship Id="rId54" Type="http://schemas.openxmlformats.org/officeDocument/2006/relationships/font" Target="fonts/font23.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font" Target="fonts/font26.fntdata"/><Relationship Id="rId10" Type="http://schemas.openxmlformats.org/officeDocument/2006/relationships/slide" Target="slides/slide9.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font" Target="fonts/font21.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14410429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e623a8eb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ge623a8eb3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925418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e71ba1469a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ge71ba1469a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914524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e71ba1469a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ge71ba1469a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816092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e71ba1469a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e71ba1469a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83440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e71ba1469a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e71ba1469a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711816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e71ba1469a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ge71ba1469a_0_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900764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e71ba1469a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ge71ba1469a_0_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001868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565879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ef0424f90f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gef0424f90f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185186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ef0424f90f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ef0424f90f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479834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ef0424f90f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ef0424f90f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95550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ef0424f90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ef0424f90f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2498485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ef0424f90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ef0424f90f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3555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ef0424f90f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ef0424f90f_0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735068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ef0424f90f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ef0424f90f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7031970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ef0424f90f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ef0424f90f_0_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3076599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ef0424f90f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ef0424f90f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328890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ef0424f90f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ef0424f90f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5906099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ef0424f90f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gef0424f90f_0_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3246720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ef0424f90f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gef0424f90f_0_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6222742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e71ba1469a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ge71ba1469a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650546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ec46727de1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ec46727de1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0782153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ec46727de1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ec46727de1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8077691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ecc5717692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gecc5717692_0_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8692771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ef0424f90f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ef0424f90f_0_1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7705527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ef0424f90f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ef0424f90f_0_1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525371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ef0424f90f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gef0424f90f_0_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2136507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ef0424f90f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ef0424f90f_0_1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611405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0" name="Google Shape;65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4784287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44"/>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blipFill>
          <a:blip r:embed="rId2">
            <a:alphaModFix/>
          </a:blip>
          <a:stretch>
            <a:fillRect/>
          </a:stretch>
        </a:blipFill>
        <a:effectLst/>
      </p:bgPr>
    </p:bg>
    <p:spTree>
      <p:nvGrpSpPr>
        <p:cNvPr id="1" name="Shape 33"/>
        <p:cNvGrpSpPr/>
        <p:nvPr/>
      </p:nvGrpSpPr>
      <p:grpSpPr>
        <a:xfrm>
          <a:off x="0" y="0"/>
          <a:ext cx="0" cy="0"/>
          <a:chOff x="0" y="0"/>
          <a:chExt cx="0" cy="0"/>
        </a:xfrm>
      </p:grpSpPr>
      <p:sp>
        <p:nvSpPr>
          <p:cNvPr id="34" name="Google Shape;34;p45"/>
          <p:cNvSpPr txBox="1">
            <a:spLocks noGrp="1"/>
          </p:cNvSpPr>
          <p:nvPr>
            <p:ph type="ctrTitle"/>
          </p:nvPr>
        </p:nvSpPr>
        <p:spPr>
          <a:xfrm>
            <a:off x="1546025" y="1754794"/>
            <a:ext cx="5832600" cy="1159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400"/>
              <a:buNone/>
              <a:defRPr sz="4400" b="1">
                <a:latin typeface="+mj-lt"/>
              </a:defRPr>
            </a:lvl1pPr>
            <a:lvl2pPr lvl="1" algn="l">
              <a:lnSpc>
                <a:spcPct val="100000"/>
              </a:lnSpc>
              <a:spcBef>
                <a:spcPts val="0"/>
              </a:spcBef>
              <a:spcAft>
                <a:spcPts val="0"/>
              </a:spcAft>
              <a:buSzPts val="4400"/>
              <a:buNone/>
              <a:defRPr sz="4400" b="1"/>
            </a:lvl2pPr>
            <a:lvl3pPr lvl="2" algn="l">
              <a:lnSpc>
                <a:spcPct val="100000"/>
              </a:lnSpc>
              <a:spcBef>
                <a:spcPts val="0"/>
              </a:spcBef>
              <a:spcAft>
                <a:spcPts val="0"/>
              </a:spcAft>
              <a:buSzPts val="4400"/>
              <a:buNone/>
              <a:defRPr sz="4400" b="1"/>
            </a:lvl3pPr>
            <a:lvl4pPr lvl="3" algn="l">
              <a:lnSpc>
                <a:spcPct val="100000"/>
              </a:lnSpc>
              <a:spcBef>
                <a:spcPts val="0"/>
              </a:spcBef>
              <a:spcAft>
                <a:spcPts val="0"/>
              </a:spcAft>
              <a:buSzPts val="4400"/>
              <a:buNone/>
              <a:defRPr sz="4400" b="1"/>
            </a:lvl4pPr>
            <a:lvl5pPr lvl="4" algn="l">
              <a:lnSpc>
                <a:spcPct val="100000"/>
              </a:lnSpc>
              <a:spcBef>
                <a:spcPts val="0"/>
              </a:spcBef>
              <a:spcAft>
                <a:spcPts val="0"/>
              </a:spcAft>
              <a:buSzPts val="4400"/>
              <a:buNone/>
              <a:defRPr sz="4400" b="1"/>
            </a:lvl5pPr>
            <a:lvl6pPr lvl="5" algn="l">
              <a:lnSpc>
                <a:spcPct val="100000"/>
              </a:lnSpc>
              <a:spcBef>
                <a:spcPts val="0"/>
              </a:spcBef>
              <a:spcAft>
                <a:spcPts val="0"/>
              </a:spcAft>
              <a:buSzPts val="4400"/>
              <a:buNone/>
              <a:defRPr sz="4400" b="1"/>
            </a:lvl6pPr>
            <a:lvl7pPr lvl="6" algn="l">
              <a:lnSpc>
                <a:spcPct val="100000"/>
              </a:lnSpc>
              <a:spcBef>
                <a:spcPts val="0"/>
              </a:spcBef>
              <a:spcAft>
                <a:spcPts val="0"/>
              </a:spcAft>
              <a:buSzPts val="4400"/>
              <a:buNone/>
              <a:defRPr sz="4400" b="1"/>
            </a:lvl7pPr>
            <a:lvl8pPr lvl="7" algn="l">
              <a:lnSpc>
                <a:spcPct val="100000"/>
              </a:lnSpc>
              <a:spcBef>
                <a:spcPts val="0"/>
              </a:spcBef>
              <a:spcAft>
                <a:spcPts val="0"/>
              </a:spcAft>
              <a:buSzPts val="4400"/>
              <a:buNone/>
              <a:defRPr sz="4400" b="1"/>
            </a:lvl8pPr>
            <a:lvl9pPr lvl="8" algn="l">
              <a:lnSpc>
                <a:spcPct val="100000"/>
              </a:lnSpc>
              <a:spcBef>
                <a:spcPts val="0"/>
              </a:spcBef>
              <a:spcAft>
                <a:spcPts val="0"/>
              </a:spcAft>
              <a:buSzPts val="4400"/>
              <a:buNone/>
              <a:defRPr sz="4400" b="1"/>
            </a:lvl9pPr>
          </a:lstStyle>
          <a:p>
            <a:endParaRPr dirty="0"/>
          </a:p>
        </p:txBody>
      </p:sp>
      <p:sp>
        <p:nvSpPr>
          <p:cNvPr id="35" name="Google Shape;35;p45"/>
          <p:cNvSpPr txBox="1">
            <a:spLocks noGrp="1"/>
          </p:cNvSpPr>
          <p:nvPr>
            <p:ph type="subTitle" idx="1"/>
          </p:nvPr>
        </p:nvSpPr>
        <p:spPr>
          <a:xfrm>
            <a:off x="1546025" y="3011511"/>
            <a:ext cx="5832600" cy="7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3"/>
              </a:buClr>
              <a:buSzPts val="3000"/>
              <a:buNone/>
              <a:defRPr>
                <a:solidFill>
                  <a:schemeClr val="accent3"/>
                </a:solidFill>
                <a:latin typeface="+mj-lt"/>
              </a:defRPr>
            </a:lvl1pPr>
            <a:lvl2pPr lvl="1" algn="l">
              <a:lnSpc>
                <a:spcPct val="100000"/>
              </a:lnSpc>
              <a:spcBef>
                <a:spcPts val="0"/>
              </a:spcBef>
              <a:spcAft>
                <a:spcPts val="0"/>
              </a:spcAft>
              <a:buClr>
                <a:schemeClr val="accent3"/>
              </a:buClr>
              <a:buSzPts val="3000"/>
              <a:buNone/>
              <a:defRPr sz="3000">
                <a:solidFill>
                  <a:schemeClr val="accent3"/>
                </a:solidFill>
              </a:defRPr>
            </a:lvl2pPr>
            <a:lvl3pPr lvl="2" algn="l">
              <a:lnSpc>
                <a:spcPct val="100000"/>
              </a:lnSpc>
              <a:spcBef>
                <a:spcPts val="0"/>
              </a:spcBef>
              <a:spcAft>
                <a:spcPts val="0"/>
              </a:spcAft>
              <a:buClr>
                <a:schemeClr val="accent3"/>
              </a:buClr>
              <a:buSzPts val="3000"/>
              <a:buNone/>
              <a:defRPr sz="3000">
                <a:solidFill>
                  <a:schemeClr val="accent3"/>
                </a:solidFill>
              </a:defRPr>
            </a:lvl3pPr>
            <a:lvl4pPr lvl="3" algn="l">
              <a:lnSpc>
                <a:spcPct val="100000"/>
              </a:lnSpc>
              <a:spcBef>
                <a:spcPts val="0"/>
              </a:spcBef>
              <a:spcAft>
                <a:spcPts val="0"/>
              </a:spcAft>
              <a:buClr>
                <a:schemeClr val="accent3"/>
              </a:buClr>
              <a:buSzPts val="3000"/>
              <a:buNone/>
              <a:defRPr sz="3000">
                <a:solidFill>
                  <a:schemeClr val="accent3"/>
                </a:solidFill>
              </a:defRPr>
            </a:lvl4pPr>
            <a:lvl5pPr lvl="4" algn="l">
              <a:lnSpc>
                <a:spcPct val="100000"/>
              </a:lnSpc>
              <a:spcBef>
                <a:spcPts val="0"/>
              </a:spcBef>
              <a:spcAft>
                <a:spcPts val="0"/>
              </a:spcAft>
              <a:buClr>
                <a:schemeClr val="accent3"/>
              </a:buClr>
              <a:buSzPts val="3000"/>
              <a:buNone/>
              <a:defRPr sz="3000">
                <a:solidFill>
                  <a:schemeClr val="accent3"/>
                </a:solidFill>
              </a:defRPr>
            </a:lvl5pPr>
            <a:lvl6pPr lvl="5" algn="l">
              <a:lnSpc>
                <a:spcPct val="100000"/>
              </a:lnSpc>
              <a:spcBef>
                <a:spcPts val="0"/>
              </a:spcBef>
              <a:spcAft>
                <a:spcPts val="0"/>
              </a:spcAft>
              <a:buClr>
                <a:schemeClr val="accent3"/>
              </a:buClr>
              <a:buSzPts val="3000"/>
              <a:buNone/>
              <a:defRPr sz="3000">
                <a:solidFill>
                  <a:schemeClr val="accent3"/>
                </a:solidFill>
              </a:defRPr>
            </a:lvl6pPr>
            <a:lvl7pPr lvl="6" algn="l">
              <a:lnSpc>
                <a:spcPct val="100000"/>
              </a:lnSpc>
              <a:spcBef>
                <a:spcPts val="0"/>
              </a:spcBef>
              <a:spcAft>
                <a:spcPts val="0"/>
              </a:spcAft>
              <a:buClr>
                <a:schemeClr val="accent3"/>
              </a:buClr>
              <a:buSzPts val="3000"/>
              <a:buNone/>
              <a:defRPr sz="3000">
                <a:solidFill>
                  <a:schemeClr val="accent3"/>
                </a:solidFill>
              </a:defRPr>
            </a:lvl7pPr>
            <a:lvl8pPr lvl="7" algn="l">
              <a:lnSpc>
                <a:spcPct val="100000"/>
              </a:lnSpc>
              <a:spcBef>
                <a:spcPts val="0"/>
              </a:spcBef>
              <a:spcAft>
                <a:spcPts val="0"/>
              </a:spcAft>
              <a:buClr>
                <a:schemeClr val="accent3"/>
              </a:buClr>
              <a:buSzPts val="3000"/>
              <a:buNone/>
              <a:defRPr sz="3000">
                <a:solidFill>
                  <a:schemeClr val="accent3"/>
                </a:solidFill>
              </a:defRPr>
            </a:lvl8pPr>
            <a:lvl9pPr lvl="8" algn="l">
              <a:lnSpc>
                <a:spcPct val="100000"/>
              </a:lnSpc>
              <a:spcBef>
                <a:spcPts val="0"/>
              </a:spcBef>
              <a:spcAft>
                <a:spcPts val="0"/>
              </a:spcAft>
              <a:buClr>
                <a:schemeClr val="accent3"/>
              </a:buClr>
              <a:buSzPts val="3000"/>
              <a:buNone/>
              <a:defRPr sz="3000">
                <a:solidFill>
                  <a:schemeClr val="accent3"/>
                </a:solidFill>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6"/>
        <p:cNvGrpSpPr/>
        <p:nvPr/>
      </p:nvGrpSpPr>
      <p:grpSpPr>
        <a:xfrm>
          <a:off x="0" y="0"/>
          <a:ext cx="0" cy="0"/>
          <a:chOff x="0" y="0"/>
          <a:chExt cx="0" cy="0"/>
        </a:xfrm>
      </p:grpSpPr>
      <p:sp>
        <p:nvSpPr>
          <p:cNvPr id="37" name="Google Shape;37;p47"/>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a:latin typeface="+mj-lt"/>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a:endParaRPr dirty="0"/>
          </a:p>
        </p:txBody>
      </p:sp>
      <p:sp>
        <p:nvSpPr>
          <p:cNvPr id="38" name="Google Shape;38;p47"/>
          <p:cNvSpPr txBox="1">
            <a:spLocks noGrp="1"/>
          </p:cNvSpPr>
          <p:nvPr>
            <p:ph type="body" idx="1"/>
          </p:nvPr>
        </p:nvSpPr>
        <p:spPr>
          <a:xfrm>
            <a:off x="786150" y="1261700"/>
            <a:ext cx="7571700" cy="3573600"/>
          </a:xfrm>
          <a:prstGeom prst="rect">
            <a:avLst/>
          </a:prstGeom>
          <a:noFill/>
          <a:ln>
            <a:noFill/>
          </a:ln>
        </p:spPr>
        <p:txBody>
          <a:bodyPr spcFirstLastPara="1" wrap="square" lIns="91425" tIns="91425" rIns="91425" bIns="91425" anchor="t" anchorCtr="0">
            <a:noAutofit/>
          </a:bodyPr>
          <a:lstStyle>
            <a:lvl1pPr marL="457200" lvl="0" indent="-381000" algn="l">
              <a:lnSpc>
                <a:spcPct val="100000"/>
              </a:lnSpc>
              <a:spcBef>
                <a:spcPts val="600"/>
              </a:spcBef>
              <a:spcAft>
                <a:spcPts val="0"/>
              </a:spcAft>
              <a:buSzPts val="2400"/>
              <a:buChar char="◎"/>
              <a:defRPr sz="2400">
                <a:latin typeface="+mj-lt"/>
              </a:defRPr>
            </a:lvl1pPr>
            <a:lvl2pPr marL="914400" lvl="1" indent="-381000" algn="l">
              <a:lnSpc>
                <a:spcPct val="100000"/>
              </a:lnSpc>
              <a:spcBef>
                <a:spcPts val="0"/>
              </a:spcBef>
              <a:spcAft>
                <a:spcPts val="0"/>
              </a:spcAft>
              <a:buSzPts val="2400"/>
              <a:buChar char="○"/>
              <a:defRPr/>
            </a:lvl2pPr>
            <a:lvl3pPr marL="1371600" lvl="2" indent="-381000" algn="l">
              <a:lnSpc>
                <a:spcPct val="100000"/>
              </a:lnSpc>
              <a:spcBef>
                <a:spcPts val="0"/>
              </a:spcBef>
              <a:spcAft>
                <a:spcPts val="0"/>
              </a:spcAft>
              <a:buSzPts val="2400"/>
              <a:buChar char="◉"/>
              <a:defRPr/>
            </a:lvl3pPr>
            <a:lvl4pPr marL="1828800" lvl="3" indent="-381000" algn="l">
              <a:lnSpc>
                <a:spcPct val="100000"/>
              </a:lnSpc>
              <a:spcBef>
                <a:spcPts val="0"/>
              </a:spcBef>
              <a:spcAft>
                <a:spcPts val="0"/>
              </a:spcAft>
              <a:buSzPts val="2400"/>
              <a:buChar char="●"/>
              <a:defRPr sz="2400"/>
            </a:lvl4pPr>
            <a:lvl5pPr marL="2286000" lvl="4" indent="-381000" algn="l">
              <a:lnSpc>
                <a:spcPct val="100000"/>
              </a:lnSpc>
              <a:spcBef>
                <a:spcPts val="0"/>
              </a:spcBef>
              <a:spcAft>
                <a:spcPts val="0"/>
              </a:spcAft>
              <a:buSzPts val="2400"/>
              <a:buChar char="○"/>
              <a:defRPr sz="2400"/>
            </a:lvl5pPr>
            <a:lvl6pPr marL="2743200" lvl="5" indent="-381000" algn="l">
              <a:lnSpc>
                <a:spcPct val="100000"/>
              </a:lnSpc>
              <a:spcBef>
                <a:spcPts val="0"/>
              </a:spcBef>
              <a:spcAft>
                <a:spcPts val="0"/>
              </a:spcAft>
              <a:buSzPts val="2400"/>
              <a:buChar char="■"/>
              <a:defRPr sz="2400"/>
            </a:lvl6pPr>
            <a:lvl7pPr marL="3200400" lvl="6" indent="-381000" algn="l">
              <a:lnSpc>
                <a:spcPct val="100000"/>
              </a:lnSpc>
              <a:spcBef>
                <a:spcPts val="0"/>
              </a:spcBef>
              <a:spcAft>
                <a:spcPts val="0"/>
              </a:spcAft>
              <a:buSzPts val="2400"/>
              <a:buChar char="●"/>
              <a:defRPr sz="2400"/>
            </a:lvl7pPr>
            <a:lvl8pPr marL="3657600" lvl="7" indent="-381000" algn="l">
              <a:lnSpc>
                <a:spcPct val="100000"/>
              </a:lnSpc>
              <a:spcBef>
                <a:spcPts val="0"/>
              </a:spcBef>
              <a:spcAft>
                <a:spcPts val="0"/>
              </a:spcAft>
              <a:buSzPts val="2400"/>
              <a:buChar char="○"/>
              <a:defRPr sz="2400"/>
            </a:lvl8pPr>
            <a:lvl9pPr marL="4114800" lvl="8" indent="-381000" algn="l">
              <a:lnSpc>
                <a:spcPct val="100000"/>
              </a:lnSpc>
              <a:spcBef>
                <a:spcPts val="0"/>
              </a:spcBef>
              <a:spcAft>
                <a:spcPts val="0"/>
              </a:spcAft>
              <a:buSzPts val="2400"/>
              <a:buChar char="■"/>
              <a:defRPr sz="2400"/>
            </a:lvl9pPr>
          </a:lstStyle>
          <a:p>
            <a:endParaRPr dirty="0"/>
          </a:p>
        </p:txBody>
      </p:sp>
      <p:sp>
        <p:nvSpPr>
          <p:cNvPr id="39" name="Google Shape;39;p47"/>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49"/>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a:latin typeface="+mj-lt"/>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a:endParaRPr dirty="0"/>
          </a:p>
        </p:txBody>
      </p:sp>
      <p:sp>
        <p:nvSpPr>
          <p:cNvPr id="42" name="Google Shape;42;p49"/>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complete pattern">
  <p:cSld name="BLANK_1">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50"/>
          <p:cNvSpPr/>
          <p:nvPr/>
        </p:nvSpPr>
        <p:spPr>
          <a:xfrm>
            <a:off x="-26550" y="-14850"/>
            <a:ext cx="9197100" cy="5173200"/>
          </a:xfrm>
          <a:prstGeom prst="rect">
            <a:avLst/>
          </a:prstGeom>
          <a:solidFill>
            <a:srgbClr val="CFD8DC">
              <a:alpha val="48627"/>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50"/>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46"/>
        <p:cNvGrpSpPr/>
        <p:nvPr/>
      </p:nvGrpSpPr>
      <p:grpSpPr>
        <a:xfrm>
          <a:off x="0" y="0"/>
          <a:ext cx="0" cy="0"/>
          <a:chOff x="0" y="0"/>
          <a:chExt cx="0" cy="0"/>
        </a:xfrm>
      </p:grpSpPr>
      <p:pic>
        <p:nvPicPr>
          <p:cNvPr id="47" name="Google Shape;47;p46"/>
          <p:cNvPicPr preferRelativeResize="0"/>
          <p:nvPr/>
        </p:nvPicPr>
        <p:blipFill rotWithShape="1">
          <a:blip r:embed="rId2">
            <a:alphaModFix/>
          </a:blip>
          <a:srcRect l="19" r="19"/>
          <a:stretch/>
        </p:blipFill>
        <p:spPr>
          <a:xfrm rot="10800000" flipH="1">
            <a:off x="5952" y="0"/>
            <a:ext cx="9140602" cy="5143500"/>
          </a:xfrm>
          <a:prstGeom prst="rect">
            <a:avLst/>
          </a:prstGeom>
          <a:noFill/>
          <a:ln>
            <a:noFill/>
          </a:ln>
        </p:spPr>
      </p:pic>
      <p:sp>
        <p:nvSpPr>
          <p:cNvPr id="48" name="Google Shape;48;p46"/>
          <p:cNvSpPr txBox="1">
            <a:spLocks noGrp="1"/>
          </p:cNvSpPr>
          <p:nvPr>
            <p:ph type="body" idx="1"/>
          </p:nvPr>
        </p:nvSpPr>
        <p:spPr>
          <a:xfrm>
            <a:off x="1215300" y="1723650"/>
            <a:ext cx="6713400" cy="819900"/>
          </a:xfrm>
          <a:prstGeom prst="rect">
            <a:avLst/>
          </a:prstGeom>
          <a:noFill/>
          <a:ln>
            <a:noFill/>
          </a:ln>
        </p:spPr>
        <p:txBody>
          <a:bodyPr spcFirstLastPara="1" wrap="square" lIns="91425" tIns="91425" rIns="91425" bIns="91425" anchor="t" anchorCtr="0">
            <a:noAutofit/>
          </a:bodyPr>
          <a:lstStyle>
            <a:lvl1pPr marL="457200" lvl="0" indent="-457200" algn="ctr">
              <a:lnSpc>
                <a:spcPct val="100000"/>
              </a:lnSpc>
              <a:spcBef>
                <a:spcPts val="600"/>
              </a:spcBef>
              <a:spcAft>
                <a:spcPts val="0"/>
              </a:spcAft>
              <a:buClr>
                <a:schemeClr val="dk1"/>
              </a:buClr>
              <a:buSzPts val="3600"/>
              <a:buChar char="◎"/>
              <a:defRPr sz="3600" i="1">
                <a:latin typeface="+mj-lt"/>
              </a:defRPr>
            </a:lvl1pPr>
            <a:lvl2pPr marL="914400" lvl="1" indent="-457200" algn="ctr">
              <a:lnSpc>
                <a:spcPct val="100000"/>
              </a:lnSpc>
              <a:spcBef>
                <a:spcPts val="0"/>
              </a:spcBef>
              <a:spcAft>
                <a:spcPts val="0"/>
              </a:spcAft>
              <a:buClr>
                <a:schemeClr val="dk1"/>
              </a:buClr>
              <a:buSzPts val="3600"/>
              <a:buChar char="○"/>
              <a:defRPr sz="3600" i="1"/>
            </a:lvl2pPr>
            <a:lvl3pPr marL="1371600" lvl="2" indent="-457200" algn="ctr">
              <a:lnSpc>
                <a:spcPct val="100000"/>
              </a:lnSpc>
              <a:spcBef>
                <a:spcPts val="0"/>
              </a:spcBef>
              <a:spcAft>
                <a:spcPts val="0"/>
              </a:spcAft>
              <a:buClr>
                <a:schemeClr val="dk1"/>
              </a:buClr>
              <a:buSzPts val="3600"/>
              <a:buChar char="◉"/>
              <a:defRPr sz="3600" i="1"/>
            </a:lvl3pPr>
            <a:lvl4pPr marL="1828800" lvl="3" indent="-457200" algn="ctr">
              <a:lnSpc>
                <a:spcPct val="100000"/>
              </a:lnSpc>
              <a:spcBef>
                <a:spcPts val="0"/>
              </a:spcBef>
              <a:spcAft>
                <a:spcPts val="0"/>
              </a:spcAft>
              <a:buSzPts val="3600"/>
              <a:buChar char="●"/>
              <a:defRPr sz="3600" i="1"/>
            </a:lvl4pPr>
            <a:lvl5pPr marL="2286000" lvl="4" indent="-457200" algn="ctr">
              <a:lnSpc>
                <a:spcPct val="100000"/>
              </a:lnSpc>
              <a:spcBef>
                <a:spcPts val="0"/>
              </a:spcBef>
              <a:spcAft>
                <a:spcPts val="0"/>
              </a:spcAft>
              <a:buSzPts val="3600"/>
              <a:buChar char="○"/>
              <a:defRPr sz="3600" i="1"/>
            </a:lvl5pPr>
            <a:lvl6pPr marL="2743200" lvl="5" indent="-457200" algn="ctr">
              <a:lnSpc>
                <a:spcPct val="100000"/>
              </a:lnSpc>
              <a:spcBef>
                <a:spcPts val="0"/>
              </a:spcBef>
              <a:spcAft>
                <a:spcPts val="0"/>
              </a:spcAft>
              <a:buSzPts val="3600"/>
              <a:buChar char="■"/>
              <a:defRPr sz="3600" i="1"/>
            </a:lvl6pPr>
            <a:lvl7pPr marL="3200400" lvl="6" indent="-457200" algn="ctr">
              <a:lnSpc>
                <a:spcPct val="100000"/>
              </a:lnSpc>
              <a:spcBef>
                <a:spcPts val="0"/>
              </a:spcBef>
              <a:spcAft>
                <a:spcPts val="0"/>
              </a:spcAft>
              <a:buSzPts val="3600"/>
              <a:buChar char="●"/>
              <a:defRPr sz="3600" i="1"/>
            </a:lvl7pPr>
            <a:lvl8pPr marL="3657600" lvl="7" indent="-457200" algn="ctr">
              <a:lnSpc>
                <a:spcPct val="100000"/>
              </a:lnSpc>
              <a:spcBef>
                <a:spcPts val="0"/>
              </a:spcBef>
              <a:spcAft>
                <a:spcPts val="0"/>
              </a:spcAft>
              <a:buSzPts val="3600"/>
              <a:buChar char="○"/>
              <a:defRPr sz="3600" i="1"/>
            </a:lvl8pPr>
            <a:lvl9pPr marL="4114800" lvl="8" indent="-457200" algn="ctr">
              <a:lnSpc>
                <a:spcPct val="100000"/>
              </a:lnSpc>
              <a:spcBef>
                <a:spcPts val="0"/>
              </a:spcBef>
              <a:spcAft>
                <a:spcPts val="0"/>
              </a:spcAft>
              <a:buSzPts val="3600"/>
              <a:buChar char="■"/>
              <a:defRPr sz="3600" i="1"/>
            </a:lvl9pPr>
          </a:lstStyle>
          <a:p>
            <a:endParaRPr dirty="0"/>
          </a:p>
        </p:txBody>
      </p:sp>
      <p:grpSp>
        <p:nvGrpSpPr>
          <p:cNvPr id="49" name="Google Shape;49;p46"/>
          <p:cNvGrpSpPr/>
          <p:nvPr/>
        </p:nvGrpSpPr>
        <p:grpSpPr>
          <a:xfrm>
            <a:off x="3839646" y="782918"/>
            <a:ext cx="1464573" cy="842707"/>
            <a:chOff x="3593400" y="1729675"/>
            <a:chExt cx="1957200" cy="1123610"/>
          </a:xfrm>
        </p:grpSpPr>
        <p:sp>
          <p:nvSpPr>
            <p:cNvPr id="50" name="Google Shape;50;p46"/>
            <p:cNvSpPr txBox="1"/>
            <p:nvPr/>
          </p:nvSpPr>
          <p:spPr>
            <a:xfrm>
              <a:off x="3593400" y="1729675"/>
              <a:ext cx="1957200" cy="871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6000"/>
                <a:buFont typeface="Arial"/>
                <a:buNone/>
              </a:pPr>
              <a:r>
                <a:rPr lang="en" sz="6000" b="1" i="0" u="none" strike="noStrike" cap="none">
                  <a:solidFill>
                    <a:schemeClr val="accent1"/>
                  </a:solidFill>
                  <a:latin typeface="Source Sans Pro"/>
                  <a:ea typeface="Source Sans Pro"/>
                  <a:cs typeface="Source Sans Pro"/>
                  <a:sym typeface="Source Sans Pro"/>
                </a:rPr>
                <a:t>“</a:t>
              </a:r>
              <a:endParaRPr sz="6000" b="1" i="0" u="none" strike="noStrike" cap="none">
                <a:solidFill>
                  <a:schemeClr val="accent1"/>
                </a:solidFill>
                <a:latin typeface="Source Sans Pro"/>
                <a:ea typeface="Source Sans Pro"/>
                <a:cs typeface="Source Sans Pro"/>
                <a:sym typeface="Source Sans Pro"/>
              </a:endParaRPr>
            </a:p>
          </p:txBody>
        </p:sp>
        <p:sp>
          <p:nvSpPr>
            <p:cNvPr id="51" name="Google Shape;51;p46"/>
            <p:cNvSpPr/>
            <p:nvPr/>
          </p:nvSpPr>
          <p:spPr>
            <a:xfrm>
              <a:off x="4025400" y="1760085"/>
              <a:ext cx="1093200" cy="1093200"/>
            </a:xfrm>
            <a:prstGeom prst="ellipse">
              <a:avLst/>
            </a:prstGeom>
            <a:noFill/>
            <a:ln w="9525" cap="flat" cmpd="sng">
              <a:solidFill>
                <a:srgbClr val="CFD8DC"/>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46"/>
            <p:cNvSpPr/>
            <p:nvPr/>
          </p:nvSpPr>
          <p:spPr>
            <a:xfrm>
              <a:off x="4190700" y="1925385"/>
              <a:ext cx="762600" cy="762600"/>
            </a:xfrm>
            <a:prstGeom prst="ellipse">
              <a:avLst/>
            </a:prstGeom>
            <a:noFill/>
            <a:ln w="19050" cap="flat" cmpd="sng">
              <a:solidFill>
                <a:srgbClr val="CFD8D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53" name="Google Shape;53;p46"/>
          <p:cNvCxnSpPr>
            <a:endCxn id="51" idx="1"/>
          </p:cNvCxnSpPr>
          <p:nvPr/>
        </p:nvCxnSpPr>
        <p:spPr>
          <a:xfrm>
            <a:off x="3750511" y="390297"/>
            <a:ext cx="532200" cy="535500"/>
          </a:xfrm>
          <a:prstGeom prst="straightConnector1">
            <a:avLst/>
          </a:prstGeom>
          <a:noFill/>
          <a:ln w="9525" cap="flat" cmpd="sng">
            <a:solidFill>
              <a:srgbClr val="CFD8DC"/>
            </a:solidFill>
            <a:prstDash val="solid"/>
            <a:round/>
            <a:headEnd type="none" w="sm" len="sm"/>
            <a:tailEnd type="none" w="sm" len="sm"/>
          </a:ln>
        </p:spPr>
      </p:cxnSp>
      <p:cxnSp>
        <p:nvCxnSpPr>
          <p:cNvPr id="54" name="Google Shape;54;p46"/>
          <p:cNvCxnSpPr/>
          <p:nvPr/>
        </p:nvCxnSpPr>
        <p:spPr>
          <a:xfrm rot="10800000">
            <a:off x="4362902" y="436125"/>
            <a:ext cx="209100" cy="369600"/>
          </a:xfrm>
          <a:prstGeom prst="straightConnector1">
            <a:avLst/>
          </a:prstGeom>
          <a:noFill/>
          <a:ln w="9525" cap="flat" cmpd="sng">
            <a:solidFill>
              <a:srgbClr val="CFD8DC"/>
            </a:solidFill>
            <a:prstDash val="solid"/>
            <a:round/>
            <a:headEnd type="none" w="sm" len="sm"/>
            <a:tailEnd type="none" w="sm" len="sm"/>
          </a:ln>
        </p:spPr>
      </p:cxnSp>
      <p:cxnSp>
        <p:nvCxnSpPr>
          <p:cNvPr id="55" name="Google Shape;55;p46"/>
          <p:cNvCxnSpPr/>
          <p:nvPr/>
        </p:nvCxnSpPr>
        <p:spPr>
          <a:xfrm rot="10800000" flipH="1">
            <a:off x="4704510" y="351930"/>
            <a:ext cx="347100" cy="474600"/>
          </a:xfrm>
          <a:prstGeom prst="straightConnector1">
            <a:avLst/>
          </a:prstGeom>
          <a:noFill/>
          <a:ln w="9525" cap="flat" cmpd="sng">
            <a:solidFill>
              <a:srgbClr val="CFD8DC"/>
            </a:solidFill>
            <a:prstDash val="solid"/>
            <a:round/>
            <a:headEnd type="none" w="sm" len="sm"/>
            <a:tailEnd type="none" w="sm" len="sm"/>
          </a:ln>
        </p:spPr>
      </p:cxnSp>
      <p:sp>
        <p:nvSpPr>
          <p:cNvPr id="56" name="Google Shape;56;p46"/>
          <p:cNvSpPr txBox="1">
            <a:spLocks noGrp="1"/>
          </p:cNvSpPr>
          <p:nvPr>
            <p:ph type="sldNum" idx="12"/>
          </p:nvPr>
        </p:nvSpPr>
        <p:spPr>
          <a:xfrm>
            <a:off x="-87" y="4749844"/>
            <a:ext cx="9144000" cy="3936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57"/>
        <p:cNvGrpSpPr/>
        <p:nvPr/>
      </p:nvGrpSpPr>
      <p:grpSpPr>
        <a:xfrm>
          <a:off x="0" y="0"/>
          <a:ext cx="0" cy="0"/>
          <a:chOff x="0" y="0"/>
          <a:chExt cx="0" cy="0"/>
        </a:xfrm>
      </p:grpSpPr>
      <p:sp>
        <p:nvSpPr>
          <p:cNvPr id="58" name="Google Shape;58;p48"/>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a:latin typeface="+mj-lt"/>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a:endParaRPr dirty="0"/>
          </a:p>
        </p:txBody>
      </p:sp>
      <p:sp>
        <p:nvSpPr>
          <p:cNvPr id="59" name="Google Shape;59;p48"/>
          <p:cNvSpPr txBox="1">
            <a:spLocks noGrp="1"/>
          </p:cNvSpPr>
          <p:nvPr>
            <p:ph type="body" idx="1"/>
          </p:nvPr>
        </p:nvSpPr>
        <p:spPr>
          <a:xfrm>
            <a:off x="786150" y="1200150"/>
            <a:ext cx="2419800" cy="3725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atin typeface="+mj-lt"/>
              </a:defRPr>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a:endParaRPr dirty="0"/>
          </a:p>
        </p:txBody>
      </p:sp>
      <p:sp>
        <p:nvSpPr>
          <p:cNvPr id="60" name="Google Shape;60;p48"/>
          <p:cNvSpPr txBox="1">
            <a:spLocks noGrp="1"/>
          </p:cNvSpPr>
          <p:nvPr>
            <p:ph type="body" idx="2"/>
          </p:nvPr>
        </p:nvSpPr>
        <p:spPr>
          <a:xfrm>
            <a:off x="3329992" y="1200150"/>
            <a:ext cx="2419800" cy="3725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atin typeface="+mj-lt"/>
              </a:defRPr>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a:endParaRPr dirty="0"/>
          </a:p>
        </p:txBody>
      </p:sp>
      <p:sp>
        <p:nvSpPr>
          <p:cNvPr id="61" name="Google Shape;61;p48"/>
          <p:cNvSpPr txBox="1">
            <a:spLocks noGrp="1"/>
          </p:cNvSpPr>
          <p:nvPr>
            <p:ph type="body" idx="3"/>
          </p:nvPr>
        </p:nvSpPr>
        <p:spPr>
          <a:xfrm>
            <a:off x="5873834" y="1200150"/>
            <a:ext cx="2419800" cy="3725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atin typeface="+mj-lt"/>
              </a:defRPr>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a:endParaRPr dirty="0"/>
          </a:p>
        </p:txBody>
      </p:sp>
      <p:sp>
        <p:nvSpPr>
          <p:cNvPr id="62" name="Google Shape;62;p4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1"/>
          <p:cNvSpPr txBox="1">
            <a:spLocks noGrp="1"/>
          </p:cNvSpPr>
          <p:nvPr>
            <p:ph type="body" idx="1"/>
          </p:nvPr>
        </p:nvSpPr>
        <p:spPr>
          <a:xfrm>
            <a:off x="457200" y="4055343"/>
            <a:ext cx="8229600" cy="368700"/>
          </a:xfrm>
          <a:prstGeom prst="rect">
            <a:avLst/>
          </a:prstGeom>
          <a:noFill/>
          <a:ln>
            <a:noFill/>
          </a:ln>
        </p:spPr>
        <p:txBody>
          <a:bodyPr spcFirstLastPara="1" wrap="square" lIns="91425" tIns="91425" rIns="91425" bIns="91425" anchor="t" anchorCtr="0">
            <a:noAutofit/>
          </a:bodyPr>
          <a:lstStyle>
            <a:lvl1pPr marL="457200" lvl="0" indent="-228600" algn="ctr">
              <a:lnSpc>
                <a:spcPct val="100000"/>
              </a:lnSpc>
              <a:spcBef>
                <a:spcPts val="360"/>
              </a:spcBef>
              <a:spcAft>
                <a:spcPts val="0"/>
              </a:spcAft>
              <a:buSzPts val="1800"/>
              <a:buNone/>
              <a:defRPr sz="1800">
                <a:latin typeface="+mj-lt"/>
              </a:defRPr>
            </a:lvl1pPr>
          </a:lstStyle>
          <a:p>
            <a:endParaRPr dirty="0"/>
          </a:p>
        </p:txBody>
      </p:sp>
      <p:sp>
        <p:nvSpPr>
          <p:cNvPr id="65" name="Google Shape;65;p51"/>
          <p:cNvSpPr txBox="1">
            <a:spLocks noGrp="1"/>
          </p:cNvSpPr>
          <p:nvPr>
            <p:ph type="sldNum" idx="12"/>
          </p:nvPr>
        </p:nvSpPr>
        <p:spPr>
          <a:xfrm>
            <a:off x="-92" y="4749844"/>
            <a:ext cx="9144000" cy="3936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41"/>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endParaRPr dirty="0"/>
          </a:p>
        </p:txBody>
      </p:sp>
      <p:sp>
        <p:nvSpPr>
          <p:cNvPr id="7" name="Google Shape;7;p41"/>
          <p:cNvSpPr txBox="1">
            <a:spLocks noGrp="1"/>
          </p:cNvSpPr>
          <p:nvPr>
            <p:ph type="body" idx="1"/>
          </p:nvPr>
        </p:nvSpPr>
        <p:spPr>
          <a:xfrm>
            <a:off x="786150" y="1261700"/>
            <a:ext cx="7571700" cy="3573600"/>
          </a:xfrm>
          <a:prstGeom prst="rect">
            <a:avLst/>
          </a:prstGeom>
          <a:noFill/>
          <a:ln>
            <a:noFill/>
          </a:ln>
        </p:spPr>
        <p:txBody>
          <a:bodyPr spcFirstLastPara="1" wrap="square" lIns="91425" tIns="91425" rIns="91425" bIns="91425" anchor="t" anchorCtr="0">
            <a:noAutofit/>
          </a:bodyPr>
          <a:lstStyle>
            <a:lvl1pPr marL="457200" marR="0" lvl="0" indent="-419100" algn="l" rtl="0">
              <a:lnSpc>
                <a:spcPct val="100000"/>
              </a:lnSpc>
              <a:spcBef>
                <a:spcPts val="600"/>
              </a:spcBef>
              <a:spcAft>
                <a:spcPts val="0"/>
              </a:spcAft>
              <a:buClr>
                <a:schemeClr val="accent4"/>
              </a:buClr>
              <a:buSzPts val="3000"/>
              <a:buFont typeface="Source Sans Pro"/>
              <a:buChar char="◎"/>
              <a:defRPr sz="3000" b="0" i="0" u="none" strike="noStrike" cap="none">
                <a:solidFill>
                  <a:schemeClr val="dk1"/>
                </a:solidFill>
                <a:latin typeface="Source Sans Pro"/>
                <a:ea typeface="Source Sans Pro"/>
                <a:cs typeface="Source Sans Pro"/>
                <a:sym typeface="Source Sans Pro"/>
              </a:defRPr>
            </a:lvl1pPr>
            <a:lvl2pPr marL="914400" marR="0" lvl="1" indent="-381000" algn="l" rtl="0">
              <a:lnSpc>
                <a:spcPct val="100000"/>
              </a:lnSpc>
              <a:spcBef>
                <a:spcPts val="0"/>
              </a:spcBef>
              <a:spcAft>
                <a:spcPts val="0"/>
              </a:spcAft>
              <a:buClr>
                <a:schemeClr val="accent4"/>
              </a:buClr>
              <a:buSzPts val="2400"/>
              <a:buFont typeface="Source Sans Pro"/>
              <a:buChar char="○"/>
              <a:defRPr sz="2400" b="0" i="0" u="none" strike="noStrike" cap="none">
                <a:solidFill>
                  <a:schemeClr val="dk1"/>
                </a:solidFill>
                <a:latin typeface="Source Sans Pro"/>
                <a:ea typeface="Source Sans Pro"/>
                <a:cs typeface="Source Sans Pro"/>
                <a:sym typeface="Source Sans Pro"/>
              </a:defRPr>
            </a:lvl2pPr>
            <a:lvl3pPr marL="1371600" marR="0" lvl="2" indent="-381000" algn="l" rtl="0">
              <a:lnSpc>
                <a:spcPct val="100000"/>
              </a:lnSpc>
              <a:spcBef>
                <a:spcPts val="0"/>
              </a:spcBef>
              <a:spcAft>
                <a:spcPts val="0"/>
              </a:spcAft>
              <a:buClr>
                <a:schemeClr val="accent4"/>
              </a:buClr>
              <a:buSzPts val="2400"/>
              <a:buFont typeface="Source Sans Pro"/>
              <a:buChar char="◉"/>
              <a:defRPr sz="2400" b="0" i="0" u="none" strike="noStrike" cap="none">
                <a:solidFill>
                  <a:schemeClr val="dk1"/>
                </a:solidFill>
                <a:latin typeface="Source Sans Pro"/>
                <a:ea typeface="Source Sans Pro"/>
                <a:cs typeface="Source Sans Pro"/>
                <a:sym typeface="Source Sans Pro"/>
              </a:defRPr>
            </a:lvl3pPr>
            <a:lvl4pPr marL="1828800" marR="0" lvl="3"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4pPr>
            <a:lvl5pPr marL="2286000" marR="0" lvl="4"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5pPr>
            <a:lvl6pPr marL="2743200" marR="0" lvl="5"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6pPr>
            <a:lvl7pPr marL="3200400" marR="0" lvl="6"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7pPr>
            <a:lvl8pPr marL="3657600" marR="0" lvl="7"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8pPr>
            <a:lvl9pPr marL="4114800" marR="0" lvl="8"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9pPr>
          </a:lstStyle>
          <a:p>
            <a:endParaRPr dirty="0"/>
          </a:p>
        </p:txBody>
      </p:sp>
      <p:sp>
        <p:nvSpPr>
          <p:cNvPr id="8" name="Google Shape;8;p41"/>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latin typeface="Roboto Slab"/>
              <a:ea typeface="Roboto Slab"/>
              <a:cs typeface="Roboto Slab"/>
              <a:sym typeface="Roboto Slab"/>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Document_Object_Model"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www.crummy.com/software/BeautifulSoup/bs4/doc/"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hyperlink" Target="https://www.linkedin.com/in/zainkhanln/"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ge623a8eb31_0_0"/>
          <p:cNvSpPr txBox="1">
            <a:spLocks noGrp="1"/>
          </p:cNvSpPr>
          <p:nvPr>
            <p:ph type="ctrTitle"/>
          </p:nvPr>
        </p:nvSpPr>
        <p:spPr>
          <a:xfrm>
            <a:off x="1546025" y="2440594"/>
            <a:ext cx="5832600" cy="1159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400"/>
              <a:buNone/>
            </a:pPr>
            <a:r>
              <a:rPr lang="en" dirty="0" smtClean="0"/>
              <a:t>Introduction to Web Scraping</a:t>
            </a:r>
            <a:endParaRPr dirty="0"/>
          </a:p>
        </p:txBody>
      </p:sp>
      <p:sp>
        <p:nvSpPr>
          <p:cNvPr id="71" name="Google Shape;71;ge623a8eb31_0_0"/>
          <p:cNvSpPr txBox="1">
            <a:spLocks noGrp="1"/>
          </p:cNvSpPr>
          <p:nvPr>
            <p:ph type="sldNum" idx="4294967295"/>
          </p:nvPr>
        </p:nvSpPr>
        <p:spPr>
          <a:xfrm>
            <a:off x="8404384" y="54356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ge71ba1469a_0_3"/>
          <p:cNvSpPr txBox="1"/>
          <p:nvPr/>
        </p:nvSpPr>
        <p:spPr>
          <a:xfrm>
            <a:off x="534900" y="1348025"/>
            <a:ext cx="7864500" cy="2708403"/>
          </a:xfrm>
          <a:prstGeom prst="rect">
            <a:avLst/>
          </a:prstGeom>
          <a:noFill/>
          <a:ln>
            <a:noFill/>
          </a:ln>
        </p:spPr>
        <p:txBody>
          <a:bodyPr spcFirstLastPara="1" wrap="square" lIns="91425" tIns="91425" rIns="91425" bIns="91425" anchor="t" anchorCtr="0">
            <a:spAutoFit/>
          </a:bodyPr>
          <a:lstStyle/>
          <a:p>
            <a:pPr marL="457200" marR="0" lvl="0" indent="-327025" algn="l" rtl="0">
              <a:lnSpc>
                <a:spcPct val="100000"/>
              </a:lnSpc>
              <a:spcBef>
                <a:spcPts val="0"/>
              </a:spcBef>
              <a:spcAft>
                <a:spcPts val="0"/>
              </a:spcAft>
              <a:buClr>
                <a:srgbClr val="3B3835"/>
              </a:buClr>
              <a:buSzPts val="1550"/>
              <a:buFont typeface="Roboto"/>
              <a:buChar char="●"/>
            </a:pPr>
            <a:r>
              <a:rPr lang="en" sz="1600" b="0" i="0" u="none" strike="noStrike" cap="none" dirty="0">
                <a:solidFill>
                  <a:srgbClr val="000000"/>
                </a:solidFill>
                <a:highlight>
                  <a:srgbClr val="FFFFFF"/>
                </a:highlight>
                <a:latin typeface="+mj-lt"/>
                <a:ea typeface="Roboto"/>
                <a:cs typeface="Roboto"/>
                <a:sym typeface="Roboto"/>
              </a:rPr>
              <a:t>Web scraping</a:t>
            </a:r>
            <a:r>
              <a:rPr lang="en" sz="1600" b="0" i="0" u="none" strike="noStrike" cap="none" dirty="0">
                <a:solidFill>
                  <a:srgbClr val="3B3835"/>
                </a:solidFill>
                <a:highlight>
                  <a:srgbClr val="FFFFFF"/>
                </a:highlight>
                <a:latin typeface="+mj-lt"/>
                <a:ea typeface="Roboto"/>
                <a:cs typeface="Roboto"/>
                <a:sym typeface="Roboto"/>
              </a:rPr>
              <a:t> refers to the extraction of data from a website. This information is collected and then exported into a format that is more useful for the user. Be it a spreadsheet, dataframe or an API</a:t>
            </a:r>
            <a:r>
              <a:rPr lang="en" sz="1600" b="0" i="0" u="none" strike="noStrike" cap="none" dirty="0" smtClean="0">
                <a:solidFill>
                  <a:srgbClr val="3B3835"/>
                </a:solidFill>
                <a:highlight>
                  <a:srgbClr val="FFFFFF"/>
                </a:highlight>
                <a:latin typeface="+mj-lt"/>
                <a:ea typeface="Roboto"/>
                <a:cs typeface="Roboto"/>
                <a:sym typeface="Roboto"/>
              </a:rPr>
              <a:t>.</a:t>
            </a:r>
          </a:p>
          <a:p>
            <a:pPr marL="457200" indent="-327025">
              <a:buClr>
                <a:srgbClr val="3B3835"/>
              </a:buClr>
              <a:buSzPts val="1550"/>
              <a:buFont typeface="Roboto"/>
              <a:buChar char="●"/>
            </a:pPr>
            <a:endParaRPr lang="en-US" sz="1600" dirty="0" smtClean="0">
              <a:solidFill>
                <a:srgbClr val="3B3835"/>
              </a:solidFill>
              <a:highlight>
                <a:srgbClr val="FFFFFF"/>
              </a:highlight>
              <a:latin typeface="+mj-lt"/>
              <a:ea typeface="Roboto"/>
              <a:cs typeface="Roboto"/>
              <a:sym typeface="Roboto"/>
            </a:endParaRPr>
          </a:p>
          <a:p>
            <a:pPr marL="457200" indent="-327025">
              <a:buClr>
                <a:srgbClr val="3B3835"/>
              </a:buClr>
              <a:buSzPts val="1550"/>
              <a:buFont typeface="Roboto"/>
              <a:buChar char="●"/>
            </a:pPr>
            <a:r>
              <a:rPr lang="en-US" sz="1600" dirty="0" smtClean="0">
                <a:solidFill>
                  <a:srgbClr val="3B3835"/>
                </a:solidFill>
                <a:highlight>
                  <a:srgbClr val="FFFFFF"/>
                </a:highlight>
                <a:latin typeface="+mj-lt"/>
                <a:ea typeface="Roboto"/>
                <a:cs typeface="Roboto"/>
                <a:sym typeface="Roboto"/>
              </a:rPr>
              <a:t>Although </a:t>
            </a:r>
            <a:r>
              <a:rPr lang="en-US" sz="1600" dirty="0">
                <a:solidFill>
                  <a:srgbClr val="3B3835"/>
                </a:solidFill>
                <a:highlight>
                  <a:srgbClr val="FFFFFF"/>
                </a:highlight>
                <a:latin typeface="+mj-lt"/>
                <a:ea typeface="Roboto"/>
                <a:cs typeface="Roboto"/>
                <a:sym typeface="Roboto"/>
              </a:rPr>
              <a:t>web scraping can be done manually, in most cases, automated tools are preferred when scraping web data as they can be less costly and work at a faster rate</a:t>
            </a:r>
            <a:r>
              <a:rPr lang="en-US" sz="1600" dirty="0" smtClean="0">
                <a:solidFill>
                  <a:srgbClr val="3B3835"/>
                </a:solidFill>
                <a:highlight>
                  <a:srgbClr val="FFFFFF"/>
                </a:highlight>
                <a:latin typeface="+mj-lt"/>
                <a:ea typeface="Roboto"/>
                <a:cs typeface="Roboto"/>
                <a:sym typeface="Roboto"/>
              </a:rPr>
              <a:t>.</a:t>
            </a:r>
          </a:p>
          <a:p>
            <a:pPr marL="130175">
              <a:buClr>
                <a:srgbClr val="3B3835"/>
              </a:buClr>
              <a:buSzPts val="1550"/>
            </a:pPr>
            <a:endParaRPr lang="en-US" sz="1600" dirty="0" smtClean="0">
              <a:solidFill>
                <a:srgbClr val="3B3835"/>
              </a:solidFill>
              <a:highlight>
                <a:srgbClr val="FFFFFF"/>
              </a:highlight>
              <a:latin typeface="+mj-lt"/>
              <a:ea typeface="Roboto"/>
              <a:cs typeface="Roboto"/>
              <a:sym typeface="Roboto"/>
            </a:endParaRPr>
          </a:p>
          <a:p>
            <a:pPr marL="457200" indent="-327025">
              <a:buClr>
                <a:srgbClr val="3B3835"/>
              </a:buClr>
              <a:buSzPts val="1550"/>
              <a:buFont typeface="Roboto"/>
              <a:buChar char="●"/>
            </a:pPr>
            <a:r>
              <a:rPr lang="en-US" sz="1800" dirty="0">
                <a:solidFill>
                  <a:srgbClr val="3B3835"/>
                </a:solidFill>
                <a:highlight>
                  <a:srgbClr val="FFFFFF"/>
                </a:highlight>
                <a:latin typeface="+mj-lt"/>
                <a:ea typeface="Roboto"/>
                <a:cs typeface="Roboto"/>
                <a:sym typeface="Roboto"/>
              </a:rPr>
              <a:t>It focuses on transformation of unstructured data on the web (typically HTML), into structured data that can be stored and </a:t>
            </a:r>
            <a:r>
              <a:rPr lang="en-US" sz="1800" dirty="0" smtClean="0">
                <a:solidFill>
                  <a:srgbClr val="3B3835"/>
                </a:solidFill>
                <a:highlight>
                  <a:srgbClr val="FFFFFF"/>
                </a:highlight>
                <a:latin typeface="+mj-lt"/>
                <a:ea typeface="Roboto"/>
                <a:cs typeface="Roboto"/>
                <a:sym typeface="Roboto"/>
              </a:rPr>
              <a:t>analyzed</a:t>
            </a:r>
            <a:endParaRPr lang="en-US" sz="2000" dirty="0">
              <a:latin typeface="+mj-lt"/>
              <a:ea typeface="Source Sans Pro"/>
              <a:cs typeface="Source Sans Pro"/>
              <a:sym typeface="Source Sans Pro"/>
            </a:endParaRPr>
          </a:p>
        </p:txBody>
      </p:sp>
      <p:sp>
        <p:nvSpPr>
          <p:cNvPr id="83" name="Google Shape;83;ge71ba1469a_0_3"/>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2</a:t>
            </a:fld>
            <a:endParaRPr/>
          </a:p>
        </p:txBody>
      </p:sp>
      <p:sp>
        <p:nvSpPr>
          <p:cNvPr id="84" name="Google Shape;84;ge71ba1469a_0_3"/>
          <p:cNvSpPr txBox="1"/>
          <p:nvPr/>
        </p:nvSpPr>
        <p:spPr>
          <a:xfrm>
            <a:off x="534900" y="735375"/>
            <a:ext cx="82071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dirty="0">
                <a:solidFill>
                  <a:srgbClr val="EF4F63"/>
                </a:solidFill>
                <a:latin typeface="+mj-lt"/>
                <a:ea typeface="Merriweather"/>
                <a:cs typeface="Merriweather"/>
                <a:sym typeface="Merriweather"/>
              </a:rPr>
              <a:t>What is Web Scraping?</a:t>
            </a:r>
            <a:endParaRPr sz="1350" b="1" i="0" u="none" strike="noStrike" cap="none" dirty="0">
              <a:solidFill>
                <a:schemeClr val="dk1"/>
              </a:solidFill>
              <a:latin typeface="+mj-lt"/>
              <a:sym typeface="Arial"/>
            </a:endParaRPr>
          </a:p>
        </p:txBody>
      </p:sp>
      <p:sp>
        <p:nvSpPr>
          <p:cNvPr id="85" name="Google Shape;85;ge71ba1469a_0_3"/>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rgbClr val="000000"/>
              </a:buClr>
              <a:buSzPts val="4400"/>
              <a:buFont typeface="Arial"/>
              <a:buNone/>
            </a:pPr>
            <a:r>
              <a:rPr lang="en" sz="2700" b="1"/>
              <a:t>Why Scrape the Web</a:t>
            </a:r>
            <a:endParaRPr sz="1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1000"/>
                                        <p:tgtEl>
                                          <p:spTgt spid="85"/>
                                        </p:tgtEl>
                                      </p:cBhvr>
                                    </p:animEffect>
                                  </p:childTnLst>
                                </p:cTn>
                              </p:par>
                              <p:par>
                                <p:cTn id="8" presetID="10" presetClass="entr" presetSubtype="0" fill="hold" nodeType="withEffect">
                                  <p:stCondLst>
                                    <p:cond delay="0"/>
                                  </p:stCondLst>
                                  <p:childTnLst>
                                    <p:set>
                                      <p:cBhvr>
                                        <p:cTn id="9" dur="1" fill="hold">
                                          <p:stCondLst>
                                            <p:cond delay="0"/>
                                          </p:stCondLst>
                                        </p:cTn>
                                        <p:tgtEl>
                                          <p:spTgt spid="84"/>
                                        </p:tgtEl>
                                        <p:attrNameLst>
                                          <p:attrName>style.visibility</p:attrName>
                                        </p:attrNameLst>
                                      </p:cBhvr>
                                      <p:to>
                                        <p:strVal val="visible"/>
                                      </p:to>
                                    </p:set>
                                    <p:animEffect transition="in" filter="fade">
                                      <p:cBhvr>
                                        <p:cTn id="10" dur="1000"/>
                                        <p:tgtEl>
                                          <p:spTgt spid="8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4"/>
                                        </p:tgtEl>
                                        <p:attrNameLst>
                                          <p:attrName>style.visibility</p:attrName>
                                        </p:attrNameLst>
                                      </p:cBhvr>
                                      <p:to>
                                        <p:strVal val="visible"/>
                                      </p:to>
                                    </p:set>
                                    <p:animEffect transition="in" filter="fade">
                                      <p:cBhvr>
                                        <p:cTn id="15" dur="1000"/>
                                        <p:tgtEl>
                                          <p:spTgt spid="8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2"/>
                                        </p:tgtEl>
                                        <p:attrNameLst>
                                          <p:attrName>style.visibility</p:attrName>
                                        </p:attrNameLst>
                                      </p:cBhvr>
                                      <p:to>
                                        <p:strVal val="visible"/>
                                      </p:to>
                                    </p:set>
                                    <p:animEffect transition="in" filter="fade">
                                      <p:cBhvr>
                                        <p:cTn id="20" dur="10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e71ba1469a_0_27"/>
          <p:cNvSpPr txBox="1"/>
          <p:nvPr/>
        </p:nvSpPr>
        <p:spPr>
          <a:xfrm>
            <a:off x="534900" y="1348025"/>
            <a:ext cx="7864500" cy="2154406"/>
          </a:xfrm>
          <a:prstGeom prst="rect">
            <a:avLst/>
          </a:prstGeom>
          <a:noFill/>
          <a:ln>
            <a:noFill/>
          </a:ln>
        </p:spPr>
        <p:txBody>
          <a:bodyPr spcFirstLastPara="1" wrap="square" lIns="91425" tIns="91425" rIns="91425" bIns="91425" anchor="t" anchorCtr="0">
            <a:spAutoFit/>
          </a:bodyPr>
          <a:lstStyle/>
          <a:p>
            <a:pPr marL="457200" marR="0" lvl="0" indent="-320675" algn="l" rtl="0">
              <a:lnSpc>
                <a:spcPct val="100000"/>
              </a:lnSpc>
              <a:spcBef>
                <a:spcPts val="0"/>
              </a:spcBef>
              <a:spcAft>
                <a:spcPts val="0"/>
              </a:spcAft>
              <a:buClr>
                <a:srgbClr val="3B3835"/>
              </a:buClr>
              <a:buSzPts val="1450"/>
              <a:buFont typeface="Roboto"/>
              <a:buChar char="●"/>
            </a:pPr>
            <a:r>
              <a:rPr lang="en" sz="1600" b="0" i="0" u="none" strike="noStrike" cap="none" dirty="0">
                <a:solidFill>
                  <a:srgbClr val="3B3835"/>
                </a:solidFill>
                <a:highlight>
                  <a:srgbClr val="FFFFFF"/>
                </a:highlight>
                <a:latin typeface="+mj-lt"/>
                <a:ea typeface="Roboto"/>
                <a:cs typeface="Roboto"/>
                <a:sym typeface="Roboto"/>
              </a:rPr>
              <a:t>Web pages contain wealth of information (in text form), designed mostly for human </a:t>
            </a:r>
            <a:r>
              <a:rPr lang="en" sz="1600" b="0" i="0" u="none" strike="noStrike" cap="none" dirty="0" smtClean="0">
                <a:solidFill>
                  <a:srgbClr val="3B3835"/>
                </a:solidFill>
                <a:highlight>
                  <a:srgbClr val="FFFFFF"/>
                </a:highlight>
                <a:latin typeface="+mj-lt"/>
                <a:ea typeface="Roboto"/>
                <a:cs typeface="Roboto"/>
                <a:sym typeface="Roboto"/>
              </a:rPr>
              <a:t>consumption.</a:t>
            </a:r>
          </a:p>
          <a:p>
            <a:pPr marL="457200" indent="-320675">
              <a:buClr>
                <a:srgbClr val="3B3835"/>
              </a:buClr>
              <a:buSzPts val="1450"/>
              <a:buFont typeface="Roboto"/>
              <a:buChar char="●"/>
            </a:pPr>
            <a:endParaRPr lang="en-US" sz="1600" dirty="0" smtClean="0">
              <a:solidFill>
                <a:srgbClr val="3B3835"/>
              </a:solidFill>
              <a:highlight>
                <a:srgbClr val="FFFFFF"/>
              </a:highlight>
              <a:latin typeface="+mj-lt"/>
              <a:ea typeface="Roboto"/>
              <a:cs typeface="Roboto"/>
              <a:sym typeface="Roboto"/>
            </a:endParaRPr>
          </a:p>
          <a:p>
            <a:pPr marL="457200" indent="-320675">
              <a:buClr>
                <a:srgbClr val="3B3835"/>
              </a:buClr>
              <a:buSzPts val="1450"/>
              <a:buFont typeface="Roboto"/>
              <a:buChar char="●"/>
            </a:pPr>
            <a:r>
              <a:rPr lang="en-US" sz="1600" dirty="0" smtClean="0">
                <a:solidFill>
                  <a:srgbClr val="3B3835"/>
                </a:solidFill>
                <a:highlight>
                  <a:srgbClr val="FFFFFF"/>
                </a:highlight>
                <a:latin typeface="+mj-lt"/>
                <a:ea typeface="Roboto"/>
                <a:cs typeface="Roboto"/>
                <a:sym typeface="Roboto"/>
              </a:rPr>
              <a:t>Interfacing </a:t>
            </a:r>
            <a:r>
              <a:rPr lang="en-US" sz="1600" dirty="0">
                <a:solidFill>
                  <a:srgbClr val="3B3835"/>
                </a:solidFill>
                <a:highlight>
                  <a:srgbClr val="FFFFFF"/>
                </a:highlight>
                <a:latin typeface="+mj-lt"/>
                <a:ea typeface="Roboto"/>
                <a:cs typeface="Roboto"/>
                <a:sym typeface="Roboto"/>
              </a:rPr>
              <a:t>with 3rd party with no API </a:t>
            </a:r>
            <a:r>
              <a:rPr lang="en-US" sz="1600" dirty="0" smtClean="0">
                <a:solidFill>
                  <a:srgbClr val="3B3835"/>
                </a:solidFill>
                <a:highlight>
                  <a:srgbClr val="FFFFFF"/>
                </a:highlight>
                <a:latin typeface="+mj-lt"/>
                <a:ea typeface="Roboto"/>
                <a:cs typeface="Roboto"/>
                <a:sym typeface="Roboto"/>
              </a:rPr>
              <a:t>access.</a:t>
            </a:r>
          </a:p>
          <a:p>
            <a:pPr marL="457200" indent="-320675">
              <a:buClr>
                <a:srgbClr val="3B3835"/>
              </a:buClr>
              <a:buSzPts val="1450"/>
              <a:buFont typeface="Roboto"/>
              <a:buChar char="●"/>
            </a:pPr>
            <a:endParaRPr lang="en-US" sz="1600" dirty="0" smtClean="0">
              <a:solidFill>
                <a:srgbClr val="3B3835"/>
              </a:solidFill>
              <a:highlight>
                <a:srgbClr val="FFFFFF"/>
              </a:highlight>
              <a:latin typeface="+mj-lt"/>
              <a:ea typeface="Roboto"/>
              <a:cs typeface="Roboto"/>
              <a:sym typeface="Roboto"/>
            </a:endParaRPr>
          </a:p>
          <a:p>
            <a:pPr marL="457200" indent="-320675">
              <a:buClr>
                <a:srgbClr val="3B3835"/>
              </a:buClr>
              <a:buSzPts val="1450"/>
              <a:buFont typeface="Roboto"/>
              <a:buChar char="●"/>
            </a:pPr>
            <a:r>
              <a:rPr lang="en-US" sz="1600" dirty="0" smtClean="0">
                <a:solidFill>
                  <a:srgbClr val="3B3835"/>
                </a:solidFill>
                <a:highlight>
                  <a:srgbClr val="FFFFFF"/>
                </a:highlight>
                <a:latin typeface="+mj-lt"/>
                <a:ea typeface="Roboto"/>
                <a:cs typeface="Roboto"/>
                <a:sym typeface="Roboto"/>
              </a:rPr>
              <a:t>Websites </a:t>
            </a:r>
            <a:r>
              <a:rPr lang="en-US" sz="1600" dirty="0">
                <a:solidFill>
                  <a:srgbClr val="3B3835"/>
                </a:solidFill>
                <a:highlight>
                  <a:srgbClr val="FFFFFF"/>
                </a:highlight>
                <a:latin typeface="+mj-lt"/>
                <a:ea typeface="Roboto"/>
                <a:cs typeface="Roboto"/>
                <a:sym typeface="Roboto"/>
              </a:rPr>
              <a:t>are more important than </a:t>
            </a:r>
            <a:r>
              <a:rPr lang="en-US" sz="1600" dirty="0" smtClean="0">
                <a:solidFill>
                  <a:srgbClr val="3B3835"/>
                </a:solidFill>
                <a:highlight>
                  <a:srgbClr val="FFFFFF"/>
                </a:highlight>
                <a:latin typeface="+mj-lt"/>
                <a:ea typeface="Roboto"/>
                <a:cs typeface="Roboto"/>
                <a:sym typeface="Roboto"/>
              </a:rPr>
              <a:t>API’s.</a:t>
            </a:r>
          </a:p>
          <a:p>
            <a:pPr marL="457200" indent="-320675">
              <a:buClr>
                <a:srgbClr val="3B3835"/>
              </a:buClr>
              <a:buSzPts val="1450"/>
              <a:buFont typeface="Roboto"/>
              <a:buChar char="●"/>
            </a:pPr>
            <a:endParaRPr lang="en-US" sz="1600" dirty="0" smtClean="0">
              <a:solidFill>
                <a:srgbClr val="3B3835"/>
              </a:solidFill>
              <a:highlight>
                <a:srgbClr val="FFFFFF"/>
              </a:highlight>
              <a:latin typeface="+mj-lt"/>
              <a:ea typeface="Roboto"/>
              <a:cs typeface="Roboto"/>
              <a:sym typeface="Roboto"/>
            </a:endParaRPr>
          </a:p>
          <a:p>
            <a:pPr marL="457200" indent="-320675">
              <a:buClr>
                <a:srgbClr val="3B3835"/>
              </a:buClr>
              <a:buSzPts val="1450"/>
              <a:buFont typeface="Roboto"/>
              <a:buChar char="●"/>
            </a:pPr>
            <a:r>
              <a:rPr lang="en-US" sz="1600" dirty="0" smtClean="0">
                <a:solidFill>
                  <a:srgbClr val="3B3835"/>
                </a:solidFill>
                <a:highlight>
                  <a:srgbClr val="FFFFFF"/>
                </a:highlight>
                <a:latin typeface="+mj-lt"/>
                <a:ea typeface="Roboto"/>
                <a:cs typeface="Roboto"/>
                <a:sym typeface="Roboto"/>
              </a:rPr>
              <a:t>The </a:t>
            </a:r>
            <a:r>
              <a:rPr lang="en-US" sz="1600" dirty="0">
                <a:solidFill>
                  <a:srgbClr val="3B3835"/>
                </a:solidFill>
                <a:highlight>
                  <a:srgbClr val="FFFFFF"/>
                </a:highlight>
                <a:latin typeface="+mj-lt"/>
                <a:ea typeface="Roboto"/>
                <a:cs typeface="Roboto"/>
                <a:sym typeface="Roboto"/>
              </a:rPr>
              <a:t>data is already available (in the form of web pages</a:t>
            </a:r>
            <a:r>
              <a:rPr lang="en-US" sz="1600" dirty="0" smtClean="0">
                <a:solidFill>
                  <a:srgbClr val="3B3835"/>
                </a:solidFill>
                <a:highlight>
                  <a:srgbClr val="FFFFFF"/>
                </a:highlight>
                <a:latin typeface="+mj-lt"/>
                <a:ea typeface="Roboto"/>
                <a:cs typeface="Roboto"/>
                <a:sym typeface="Roboto"/>
              </a:rPr>
              <a:t>)</a:t>
            </a:r>
            <a:r>
              <a:rPr lang="en-US" sz="1600" dirty="0">
                <a:solidFill>
                  <a:srgbClr val="3B3835"/>
                </a:solidFill>
                <a:highlight>
                  <a:srgbClr val="FFFFFF"/>
                </a:highlight>
                <a:latin typeface="+mj-lt"/>
                <a:ea typeface="Roboto"/>
                <a:cs typeface="Roboto"/>
                <a:sym typeface="Roboto"/>
              </a:rPr>
              <a:t>.</a:t>
            </a:r>
          </a:p>
        </p:txBody>
      </p:sp>
      <p:sp>
        <p:nvSpPr>
          <p:cNvPr id="93" name="Google Shape;93;ge71ba1469a_0_27"/>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3</a:t>
            </a:fld>
            <a:endParaRPr/>
          </a:p>
        </p:txBody>
      </p:sp>
      <p:sp>
        <p:nvSpPr>
          <p:cNvPr id="94" name="Google Shape;94;ge71ba1469a_0_27"/>
          <p:cNvSpPr txBox="1"/>
          <p:nvPr/>
        </p:nvSpPr>
        <p:spPr>
          <a:xfrm>
            <a:off x="611100" y="735375"/>
            <a:ext cx="82071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dirty="0">
                <a:solidFill>
                  <a:srgbClr val="EF4F63"/>
                </a:solidFill>
                <a:latin typeface="+mj-lt"/>
                <a:ea typeface="Merriweather"/>
                <a:cs typeface="Merriweather"/>
                <a:sym typeface="Merriweather"/>
              </a:rPr>
              <a:t>Why </a:t>
            </a:r>
            <a:r>
              <a:rPr lang="en" sz="1500" b="1" i="0" u="none" strike="noStrike" cap="none" dirty="0" smtClean="0">
                <a:solidFill>
                  <a:srgbClr val="EF4F63"/>
                </a:solidFill>
                <a:latin typeface="+mj-lt"/>
                <a:ea typeface="Merriweather"/>
                <a:cs typeface="Merriweather"/>
                <a:sym typeface="Merriweather"/>
              </a:rPr>
              <a:t>Do We </a:t>
            </a:r>
            <a:r>
              <a:rPr lang="en" sz="1500" b="1" i="0" u="none" strike="noStrike" cap="none" dirty="0">
                <a:solidFill>
                  <a:srgbClr val="EF4F63"/>
                </a:solidFill>
                <a:latin typeface="+mj-lt"/>
                <a:ea typeface="Merriweather"/>
                <a:cs typeface="Merriweather"/>
                <a:sym typeface="Merriweather"/>
              </a:rPr>
              <a:t>Scrape the Web?</a:t>
            </a:r>
            <a:endParaRPr sz="1350" b="1" i="0" u="none" strike="noStrike" cap="none" dirty="0">
              <a:solidFill>
                <a:schemeClr val="dk1"/>
              </a:solidFill>
              <a:latin typeface="+mj-lt"/>
              <a:sym typeface="Arial"/>
            </a:endParaRPr>
          </a:p>
        </p:txBody>
      </p:sp>
      <p:sp>
        <p:nvSpPr>
          <p:cNvPr id="95" name="Google Shape;95;ge71ba1469a_0_27"/>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Why Scrape the Web</a:t>
            </a:r>
            <a:endParaRPr sz="1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fade">
                                      <p:cBhvr>
                                        <p:cTn id="7" dur="1000"/>
                                        <p:tgtEl>
                                          <p:spTgt spid="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4"/>
                                        </p:tgtEl>
                                        <p:attrNameLst>
                                          <p:attrName>style.visibility</p:attrName>
                                        </p:attrNameLst>
                                      </p:cBhvr>
                                      <p:to>
                                        <p:strVal val="visible"/>
                                      </p:to>
                                    </p:set>
                                    <p:animEffect transition="in" filter="fade">
                                      <p:cBhvr>
                                        <p:cTn id="12" dur="1000"/>
                                        <p:tgtEl>
                                          <p:spTgt spid="9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fade">
                                      <p:cBhvr>
                                        <p:cTn id="17" dur="10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4" name="Google Shape;104;ge71ba1469a_0_44"/>
          <p:cNvSpPr txBox="1"/>
          <p:nvPr/>
        </p:nvSpPr>
        <p:spPr>
          <a:xfrm>
            <a:off x="534900" y="1043225"/>
            <a:ext cx="7869484" cy="3139291"/>
          </a:xfrm>
          <a:prstGeom prst="rect">
            <a:avLst/>
          </a:prstGeom>
          <a:noFill/>
          <a:ln>
            <a:noFill/>
          </a:ln>
        </p:spPr>
        <p:txBody>
          <a:bodyPr spcFirstLastPara="1" wrap="square" lIns="91425" tIns="91425" rIns="91425" bIns="91425" anchor="t" anchorCtr="0">
            <a:spAutoFit/>
          </a:bodyPr>
          <a:lstStyle/>
          <a:p>
            <a:pPr marL="155575" marR="0" lvl="0" algn="l" rtl="0">
              <a:lnSpc>
                <a:spcPct val="100000"/>
              </a:lnSpc>
              <a:spcBef>
                <a:spcPts val="0"/>
              </a:spcBef>
              <a:spcAft>
                <a:spcPts val="0"/>
              </a:spcAft>
              <a:buClr>
                <a:srgbClr val="3B3835"/>
              </a:buClr>
              <a:buSzPts val="1150"/>
            </a:pPr>
            <a:endParaRPr lang="en" sz="1600" b="1" i="0" u="none" strike="noStrike" cap="none" dirty="0" smtClean="0">
              <a:solidFill>
                <a:srgbClr val="292929"/>
              </a:solidFill>
              <a:highlight>
                <a:srgbClr val="FFFFFF"/>
              </a:highlight>
              <a:latin typeface="+mj-lt"/>
              <a:ea typeface="Georgia"/>
              <a:cs typeface="Georgia"/>
              <a:sym typeface="Georgia"/>
            </a:endParaRPr>
          </a:p>
          <a:p>
            <a:pPr marL="155575" marR="0" lvl="0" algn="l" rtl="0">
              <a:lnSpc>
                <a:spcPct val="100000"/>
              </a:lnSpc>
              <a:spcBef>
                <a:spcPts val="0"/>
              </a:spcBef>
              <a:spcAft>
                <a:spcPts val="0"/>
              </a:spcAft>
              <a:buClr>
                <a:srgbClr val="3B3835"/>
              </a:buClr>
              <a:buSzPts val="1150"/>
            </a:pPr>
            <a:r>
              <a:rPr lang="en" sz="1600" b="1" i="0" u="none" strike="noStrike" cap="none" dirty="0" smtClean="0">
                <a:solidFill>
                  <a:srgbClr val="292929"/>
                </a:solidFill>
                <a:highlight>
                  <a:srgbClr val="FFFFFF"/>
                </a:highlight>
                <a:latin typeface="+mj-lt"/>
                <a:ea typeface="Georgia"/>
                <a:cs typeface="Georgia"/>
                <a:sym typeface="Georgia"/>
              </a:rPr>
              <a:t>Data-driven Marketing</a:t>
            </a:r>
            <a:r>
              <a:rPr lang="en" sz="1600" b="1" dirty="0" smtClean="0">
                <a:solidFill>
                  <a:srgbClr val="292929"/>
                </a:solidFill>
                <a:highlight>
                  <a:srgbClr val="FFFFFF"/>
                </a:highlight>
                <a:latin typeface="+mj-lt"/>
                <a:ea typeface="Georgia"/>
                <a:cs typeface="Georgia"/>
                <a:sym typeface="Georgia"/>
              </a:rPr>
              <a:t>: </a:t>
            </a:r>
          </a:p>
          <a:p>
            <a:pPr marL="155575" marR="0" lvl="0" algn="l" rtl="0">
              <a:lnSpc>
                <a:spcPct val="100000"/>
              </a:lnSpc>
              <a:spcBef>
                <a:spcPts val="0"/>
              </a:spcBef>
              <a:spcAft>
                <a:spcPts val="0"/>
              </a:spcAft>
              <a:buClr>
                <a:srgbClr val="3B3835"/>
              </a:buClr>
              <a:buSzPts val="1150"/>
            </a:pPr>
            <a:endParaRPr lang="en" sz="1600" b="1" i="0" u="none" strike="noStrike" cap="none" dirty="0">
              <a:solidFill>
                <a:srgbClr val="292929"/>
              </a:solidFill>
              <a:highlight>
                <a:srgbClr val="FFFFFF"/>
              </a:highlight>
              <a:latin typeface="+mj-lt"/>
              <a:ea typeface="Georgia"/>
              <a:cs typeface="Georgia"/>
              <a:sym typeface="Georgia"/>
            </a:endParaRPr>
          </a:p>
          <a:p>
            <a:pPr marL="155575" marR="0" lvl="0" algn="l" rtl="0">
              <a:lnSpc>
                <a:spcPct val="100000"/>
              </a:lnSpc>
              <a:spcBef>
                <a:spcPts val="0"/>
              </a:spcBef>
              <a:spcAft>
                <a:spcPts val="0"/>
              </a:spcAft>
              <a:buClr>
                <a:srgbClr val="3B3835"/>
              </a:buClr>
              <a:buSzPts val="1150"/>
            </a:pPr>
            <a:r>
              <a:rPr lang="en" sz="1600" b="0" i="0" u="none" strike="noStrike" cap="none" dirty="0" smtClean="0">
                <a:solidFill>
                  <a:srgbClr val="292929"/>
                </a:solidFill>
                <a:highlight>
                  <a:srgbClr val="FFFFFF"/>
                </a:highlight>
                <a:latin typeface="+mj-lt"/>
                <a:ea typeface="Georgia"/>
                <a:cs typeface="Georgia"/>
                <a:sym typeface="Georgia"/>
              </a:rPr>
              <a:t>Data </a:t>
            </a:r>
            <a:r>
              <a:rPr lang="en" sz="1600" b="0" i="0" u="none" strike="noStrike" cap="none" dirty="0">
                <a:solidFill>
                  <a:srgbClr val="292929"/>
                </a:solidFill>
                <a:highlight>
                  <a:srgbClr val="FFFFFF"/>
                </a:highlight>
                <a:latin typeface="+mj-lt"/>
                <a:ea typeface="Georgia"/>
                <a:cs typeface="Georgia"/>
                <a:sym typeface="Georgia"/>
              </a:rPr>
              <a:t>is essential for marketing and sales. Access to data is something that distinguishes two marketers at times. Web scraping can make the data available to formulate the </a:t>
            </a:r>
            <a:r>
              <a:rPr lang="en" sz="1600" b="0" i="0" u="none" strike="noStrike" cap="none" dirty="0" smtClean="0">
                <a:solidFill>
                  <a:srgbClr val="292929"/>
                </a:solidFill>
                <a:highlight>
                  <a:srgbClr val="FFFFFF"/>
                </a:highlight>
                <a:latin typeface="+mj-lt"/>
                <a:ea typeface="Georgia"/>
                <a:cs typeface="Georgia"/>
                <a:sym typeface="Georgia"/>
              </a:rPr>
              <a:t>strategies.</a:t>
            </a:r>
          </a:p>
          <a:p>
            <a:pPr marL="155575" marR="0" lvl="0" algn="l" rtl="0">
              <a:lnSpc>
                <a:spcPct val="100000"/>
              </a:lnSpc>
              <a:spcBef>
                <a:spcPts val="0"/>
              </a:spcBef>
              <a:spcAft>
                <a:spcPts val="0"/>
              </a:spcAft>
              <a:buClr>
                <a:srgbClr val="3B3835"/>
              </a:buClr>
              <a:buSzPts val="1150"/>
            </a:pPr>
            <a:endParaRPr lang="en" sz="1600" dirty="0">
              <a:solidFill>
                <a:srgbClr val="292929"/>
              </a:solidFill>
              <a:highlight>
                <a:srgbClr val="FFFFFF"/>
              </a:highlight>
              <a:latin typeface="+mj-lt"/>
              <a:ea typeface="Georgia"/>
              <a:cs typeface="Georgia"/>
              <a:sym typeface="Georgia"/>
            </a:endParaRPr>
          </a:p>
          <a:p>
            <a:pPr marL="155575" marR="0" lvl="0" algn="l" rtl="0">
              <a:lnSpc>
                <a:spcPct val="100000"/>
              </a:lnSpc>
              <a:spcBef>
                <a:spcPts val="0"/>
              </a:spcBef>
              <a:spcAft>
                <a:spcPts val="0"/>
              </a:spcAft>
              <a:buClr>
                <a:srgbClr val="3B3835"/>
              </a:buClr>
              <a:buSzPts val="1150"/>
            </a:pPr>
            <a:r>
              <a:rPr lang="en-US" sz="1600" b="1" dirty="0" smtClean="0">
                <a:solidFill>
                  <a:srgbClr val="292929"/>
                </a:solidFill>
                <a:highlight>
                  <a:srgbClr val="FFFFFF"/>
                </a:highlight>
                <a:latin typeface="+mj-lt"/>
                <a:ea typeface="Georgia"/>
                <a:cs typeface="Georgia"/>
                <a:sym typeface="Georgia"/>
              </a:rPr>
              <a:t>Content Marketing:</a:t>
            </a:r>
            <a:r>
              <a:rPr lang="en-US" sz="1600" b="1" dirty="0">
                <a:solidFill>
                  <a:srgbClr val="292929"/>
                </a:solidFill>
                <a:highlight>
                  <a:srgbClr val="FFFFFF"/>
                </a:highlight>
                <a:latin typeface="+mj-lt"/>
                <a:ea typeface="Georgia"/>
                <a:cs typeface="Georgia"/>
                <a:sym typeface="Georgia"/>
              </a:rPr>
              <a:t/>
            </a:r>
            <a:br>
              <a:rPr lang="en-US" sz="1600" b="1" dirty="0">
                <a:solidFill>
                  <a:srgbClr val="292929"/>
                </a:solidFill>
                <a:highlight>
                  <a:srgbClr val="FFFFFF"/>
                </a:highlight>
                <a:latin typeface="+mj-lt"/>
                <a:ea typeface="Georgia"/>
                <a:cs typeface="Georgia"/>
                <a:sym typeface="Georgia"/>
              </a:rPr>
            </a:br>
            <a:endParaRPr lang="en-US" sz="1600" b="1" dirty="0" smtClean="0">
              <a:solidFill>
                <a:srgbClr val="292929"/>
              </a:solidFill>
              <a:highlight>
                <a:srgbClr val="FFFFFF"/>
              </a:highlight>
              <a:latin typeface="+mj-lt"/>
              <a:ea typeface="Georgia"/>
              <a:cs typeface="Georgia"/>
              <a:sym typeface="Georgia"/>
            </a:endParaRPr>
          </a:p>
          <a:p>
            <a:pPr marL="155575" marR="0" lvl="0" algn="l" rtl="0">
              <a:lnSpc>
                <a:spcPct val="100000"/>
              </a:lnSpc>
              <a:spcBef>
                <a:spcPts val="0"/>
              </a:spcBef>
              <a:spcAft>
                <a:spcPts val="0"/>
              </a:spcAft>
              <a:buClr>
                <a:srgbClr val="3B3835"/>
              </a:buClr>
              <a:buSzPts val="1150"/>
            </a:pPr>
            <a:r>
              <a:rPr lang="en-US" sz="1600" dirty="0" smtClean="0">
                <a:solidFill>
                  <a:srgbClr val="292929"/>
                </a:solidFill>
                <a:highlight>
                  <a:srgbClr val="FFFFFF"/>
                </a:highlight>
                <a:latin typeface="+mj-lt"/>
                <a:ea typeface="Georgia"/>
                <a:cs typeface="Georgia"/>
                <a:sym typeface="Georgia"/>
              </a:rPr>
              <a:t>In </a:t>
            </a:r>
            <a:r>
              <a:rPr lang="en-US" sz="1600" dirty="0">
                <a:solidFill>
                  <a:srgbClr val="292929"/>
                </a:solidFill>
                <a:highlight>
                  <a:srgbClr val="FFFFFF"/>
                </a:highlight>
                <a:latin typeface="+mj-lt"/>
                <a:ea typeface="Georgia"/>
                <a:cs typeface="Georgia"/>
                <a:sym typeface="Georgia"/>
              </a:rPr>
              <a:t>content marketing, web scraping is used for </a:t>
            </a:r>
            <a:r>
              <a:rPr lang="en-US" sz="1600" dirty="0" smtClean="0">
                <a:solidFill>
                  <a:srgbClr val="292929"/>
                </a:solidFill>
                <a:highlight>
                  <a:srgbClr val="FFFFFF"/>
                </a:highlight>
                <a:latin typeface="+mj-lt"/>
                <a:ea typeface="Georgia"/>
                <a:cs typeface="Georgia"/>
                <a:sym typeface="Georgia"/>
              </a:rPr>
              <a:t>collecting </a:t>
            </a:r>
            <a:r>
              <a:rPr lang="en-US" sz="1600" dirty="0">
                <a:solidFill>
                  <a:srgbClr val="292929"/>
                </a:solidFill>
                <a:highlight>
                  <a:srgbClr val="FFFFFF"/>
                </a:highlight>
                <a:latin typeface="+mj-lt"/>
                <a:ea typeface="Georgia"/>
                <a:cs typeface="Georgia"/>
                <a:sym typeface="Georgia"/>
              </a:rPr>
              <a:t>data from different sites such as Twitter, TechCrunch etc. This data, then, can be used for creating engaging content. That leads to better reach</a:t>
            </a:r>
            <a:r>
              <a:rPr lang="en-US" sz="1600" dirty="0" smtClean="0">
                <a:solidFill>
                  <a:srgbClr val="292929"/>
                </a:solidFill>
                <a:highlight>
                  <a:srgbClr val="FFFFFF"/>
                </a:highlight>
                <a:latin typeface="+mj-lt"/>
                <a:ea typeface="Georgia"/>
                <a:cs typeface="Georgia"/>
                <a:sym typeface="Georgia"/>
              </a:rPr>
              <a:t>.</a:t>
            </a:r>
            <a:endParaRPr lang="en-US" sz="1600" b="1" dirty="0">
              <a:latin typeface="+mj-lt"/>
              <a:ea typeface="Source Sans Pro"/>
              <a:cs typeface="Source Sans Pro"/>
              <a:sym typeface="Source Sans Pro"/>
            </a:endParaRPr>
          </a:p>
        </p:txBody>
      </p:sp>
      <p:sp>
        <p:nvSpPr>
          <p:cNvPr id="105" name="Google Shape;105;ge71ba1469a_0_44"/>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4</a:t>
            </a:fld>
            <a:endParaRPr/>
          </a:p>
        </p:txBody>
      </p:sp>
      <p:sp>
        <p:nvSpPr>
          <p:cNvPr id="106" name="Google Shape;106;ge71ba1469a_0_44"/>
          <p:cNvSpPr txBox="1"/>
          <p:nvPr/>
        </p:nvSpPr>
        <p:spPr>
          <a:xfrm>
            <a:off x="611100" y="659175"/>
            <a:ext cx="82071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dirty="0">
                <a:solidFill>
                  <a:srgbClr val="EF4F63"/>
                </a:solidFill>
                <a:latin typeface="+mj-lt"/>
                <a:ea typeface="Merriweather"/>
                <a:cs typeface="Merriweather"/>
                <a:sym typeface="Merriweather"/>
              </a:rPr>
              <a:t>Web Scraping Use cases / Why Scrapping </a:t>
            </a:r>
            <a:r>
              <a:rPr lang="en" sz="1500" b="1" i="0" u="none" strike="noStrike" cap="none" dirty="0" smtClean="0">
                <a:solidFill>
                  <a:srgbClr val="EF4F63"/>
                </a:solidFill>
                <a:latin typeface="+mj-lt"/>
                <a:ea typeface="Merriweather"/>
                <a:cs typeface="Merriweather"/>
                <a:sym typeface="Merriweather"/>
              </a:rPr>
              <a:t>used?</a:t>
            </a:r>
            <a:endParaRPr sz="1350" b="1" i="0" u="none" strike="noStrike" cap="none" dirty="0">
              <a:solidFill>
                <a:schemeClr val="dk1"/>
              </a:solidFill>
              <a:latin typeface="+mj-lt"/>
              <a:sym typeface="Arial"/>
            </a:endParaRPr>
          </a:p>
        </p:txBody>
      </p:sp>
      <p:sp>
        <p:nvSpPr>
          <p:cNvPr id="107" name="Google Shape;107;ge71ba1469a_0_44"/>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Why Scrape the Web</a:t>
            </a:r>
            <a:endParaRPr sz="1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fade">
                                      <p:cBhvr>
                                        <p:cTn id="7" dur="1000"/>
                                        <p:tgtEl>
                                          <p:spTgt spid="1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fade">
                                      <p:cBhvr>
                                        <p:cTn id="12" dur="1000"/>
                                        <p:tgtEl>
                                          <p:spTgt spid="10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4"/>
                                        </p:tgtEl>
                                        <p:attrNameLst>
                                          <p:attrName>style.visibility</p:attrName>
                                        </p:attrNameLst>
                                      </p:cBhvr>
                                      <p:to>
                                        <p:strVal val="visible"/>
                                      </p:to>
                                    </p:set>
                                    <p:animEffect transition="in" filter="fade">
                                      <p:cBhvr>
                                        <p:cTn id="17" dur="1"/>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4" name="Google Shape;104;ge71ba1469a_0_44"/>
          <p:cNvSpPr txBox="1"/>
          <p:nvPr/>
        </p:nvSpPr>
        <p:spPr>
          <a:xfrm>
            <a:off x="534900" y="1043225"/>
            <a:ext cx="8086500" cy="3631733"/>
          </a:xfrm>
          <a:prstGeom prst="rect">
            <a:avLst/>
          </a:prstGeom>
          <a:noFill/>
          <a:ln>
            <a:noFill/>
          </a:ln>
        </p:spPr>
        <p:txBody>
          <a:bodyPr spcFirstLastPara="1" wrap="square" lIns="91425" tIns="91425" rIns="91425" bIns="91425" anchor="t" anchorCtr="0">
            <a:spAutoFit/>
          </a:bodyPr>
          <a:lstStyle/>
          <a:p>
            <a:pPr marL="155575" lvl="0">
              <a:buClr>
                <a:srgbClr val="3B3835"/>
              </a:buClr>
              <a:buSzPts val="1150"/>
            </a:pPr>
            <a:endParaRPr lang="en-US" sz="1600" b="1" dirty="0" smtClean="0">
              <a:solidFill>
                <a:srgbClr val="292929"/>
              </a:solidFill>
              <a:highlight>
                <a:srgbClr val="FFFFFF"/>
              </a:highlight>
              <a:latin typeface="+mj-lt"/>
              <a:ea typeface="Georgia"/>
              <a:cs typeface="Georgia"/>
              <a:sym typeface="Georgia"/>
            </a:endParaRPr>
          </a:p>
          <a:p>
            <a:pPr marL="155575" lvl="0">
              <a:buClr>
                <a:srgbClr val="3B3835"/>
              </a:buClr>
              <a:buSzPts val="1150"/>
            </a:pPr>
            <a:r>
              <a:rPr lang="en-US" sz="1600" b="1" dirty="0" smtClean="0">
                <a:solidFill>
                  <a:srgbClr val="292929"/>
                </a:solidFill>
                <a:highlight>
                  <a:srgbClr val="FFFFFF"/>
                </a:highlight>
                <a:latin typeface="+mj-lt"/>
                <a:ea typeface="Georgia"/>
                <a:cs typeface="Georgia"/>
                <a:sym typeface="Georgia"/>
              </a:rPr>
              <a:t>Competitive Analysis:</a:t>
            </a:r>
          </a:p>
          <a:p>
            <a:pPr marL="155575" lvl="0">
              <a:buClr>
                <a:srgbClr val="3B3835"/>
              </a:buClr>
              <a:buSzPts val="1150"/>
            </a:pPr>
            <a:r>
              <a:rPr lang="en-US" sz="1600" b="1" dirty="0">
                <a:solidFill>
                  <a:srgbClr val="292929"/>
                </a:solidFill>
                <a:highlight>
                  <a:srgbClr val="FFFFFF"/>
                </a:highlight>
                <a:latin typeface="+mj-lt"/>
                <a:ea typeface="Georgia"/>
                <a:cs typeface="Georgia"/>
                <a:sym typeface="Georgia"/>
              </a:rPr>
              <a:t/>
            </a:r>
            <a:br>
              <a:rPr lang="en-US" sz="1600" b="1" dirty="0">
                <a:solidFill>
                  <a:srgbClr val="292929"/>
                </a:solidFill>
                <a:highlight>
                  <a:srgbClr val="FFFFFF"/>
                </a:highlight>
                <a:latin typeface="+mj-lt"/>
                <a:ea typeface="Georgia"/>
                <a:cs typeface="Georgia"/>
                <a:sym typeface="Georgia"/>
              </a:rPr>
            </a:br>
            <a:r>
              <a:rPr lang="en-US" sz="1600" dirty="0">
                <a:solidFill>
                  <a:srgbClr val="292929"/>
                </a:solidFill>
                <a:highlight>
                  <a:srgbClr val="FFFFFF"/>
                </a:highlight>
                <a:latin typeface="+mj-lt"/>
                <a:ea typeface="Georgia"/>
                <a:cs typeface="Georgia"/>
                <a:sym typeface="Georgia"/>
              </a:rPr>
              <a:t>A competitive analysis allows you to assess your competitor's strengths and weaknesses in your marketplace and implement effective strategies to attract your target market. This can only be done using data scrape from web</a:t>
            </a:r>
            <a:r>
              <a:rPr lang="en-US" sz="1600" dirty="0" smtClean="0">
                <a:solidFill>
                  <a:srgbClr val="292929"/>
                </a:solidFill>
                <a:highlight>
                  <a:srgbClr val="FFFFFF"/>
                </a:highlight>
                <a:latin typeface="+mj-lt"/>
                <a:ea typeface="Georgia"/>
                <a:cs typeface="Georgia"/>
                <a:sym typeface="Georgia"/>
              </a:rPr>
              <a:t>.</a:t>
            </a:r>
          </a:p>
          <a:p>
            <a:pPr marL="155575">
              <a:buClr>
                <a:srgbClr val="3B3835"/>
              </a:buClr>
              <a:buSzPts val="1150"/>
            </a:pPr>
            <a:endParaRPr lang="en-US" sz="1600" b="1" dirty="0" smtClean="0">
              <a:solidFill>
                <a:srgbClr val="292929"/>
              </a:solidFill>
              <a:highlight>
                <a:srgbClr val="FFFFFF"/>
              </a:highlight>
              <a:latin typeface="+mj-lt"/>
              <a:ea typeface="Georgia"/>
              <a:cs typeface="Georgia"/>
              <a:sym typeface="Georgia"/>
            </a:endParaRPr>
          </a:p>
          <a:p>
            <a:pPr marL="155575">
              <a:buClr>
                <a:srgbClr val="3B3835"/>
              </a:buClr>
              <a:buSzPts val="1150"/>
            </a:pPr>
            <a:r>
              <a:rPr lang="en-US" sz="1600" b="1" dirty="0" smtClean="0">
                <a:solidFill>
                  <a:srgbClr val="292929"/>
                </a:solidFill>
                <a:highlight>
                  <a:srgbClr val="FFFFFF"/>
                </a:highlight>
                <a:latin typeface="+mj-lt"/>
                <a:ea typeface="Georgia"/>
                <a:cs typeface="Georgia"/>
                <a:sym typeface="Georgia"/>
              </a:rPr>
              <a:t>Lead Generation:</a:t>
            </a:r>
          </a:p>
          <a:p>
            <a:pPr marL="155575">
              <a:buClr>
                <a:srgbClr val="3B3835"/>
              </a:buClr>
              <a:buSzPts val="1150"/>
            </a:pPr>
            <a:r>
              <a:rPr lang="en-US" sz="1600" b="1" dirty="0">
                <a:solidFill>
                  <a:srgbClr val="292929"/>
                </a:solidFill>
                <a:highlight>
                  <a:srgbClr val="FFFFFF"/>
                </a:highlight>
                <a:latin typeface="+mj-lt"/>
                <a:ea typeface="Georgia"/>
                <a:cs typeface="Georgia"/>
                <a:sym typeface="Georgia"/>
              </a:rPr>
              <a:t/>
            </a:r>
            <a:br>
              <a:rPr lang="en-US" sz="1600" b="1" dirty="0">
                <a:solidFill>
                  <a:srgbClr val="292929"/>
                </a:solidFill>
                <a:highlight>
                  <a:srgbClr val="FFFFFF"/>
                </a:highlight>
                <a:latin typeface="+mj-lt"/>
                <a:ea typeface="Georgia"/>
                <a:cs typeface="Georgia"/>
                <a:sym typeface="Georgia"/>
              </a:rPr>
            </a:br>
            <a:r>
              <a:rPr lang="en-US" sz="1600" dirty="0">
                <a:solidFill>
                  <a:srgbClr val="292929"/>
                </a:solidFill>
                <a:highlight>
                  <a:srgbClr val="FFFFFF"/>
                </a:highlight>
                <a:latin typeface="+mj-lt"/>
                <a:ea typeface="Georgia"/>
                <a:cs typeface="Georgia"/>
                <a:sym typeface="Georgia"/>
              </a:rPr>
              <a:t>Companies have to spend a lot of money on getting outbound leads. This could burn a hole in your budget. Instead, web scraping is now harnessed to scrape data directly from different sources and generate leads at a low cost and the budget can be used on other important things.</a:t>
            </a:r>
          </a:p>
          <a:p>
            <a:pPr marL="457200" lvl="0" indent="-301625">
              <a:buClr>
                <a:srgbClr val="3B3835"/>
              </a:buClr>
              <a:buSzPts val="1150"/>
              <a:buFont typeface="Roboto"/>
              <a:buChar char="●"/>
            </a:pPr>
            <a:endParaRPr lang="en-US" sz="1600" dirty="0">
              <a:solidFill>
                <a:srgbClr val="292929"/>
              </a:solidFill>
              <a:highlight>
                <a:srgbClr val="FFFFFF"/>
              </a:highlight>
              <a:latin typeface="+mj-lt"/>
              <a:ea typeface="Georgia"/>
              <a:cs typeface="Georgia"/>
              <a:sym typeface="Georgia"/>
            </a:endParaRPr>
          </a:p>
        </p:txBody>
      </p:sp>
      <p:sp>
        <p:nvSpPr>
          <p:cNvPr id="105" name="Google Shape;105;ge71ba1469a_0_44"/>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5</a:t>
            </a:fld>
            <a:endParaRPr/>
          </a:p>
        </p:txBody>
      </p:sp>
      <p:sp>
        <p:nvSpPr>
          <p:cNvPr id="106" name="Google Shape;106;ge71ba1469a_0_44"/>
          <p:cNvSpPr txBox="1"/>
          <p:nvPr/>
        </p:nvSpPr>
        <p:spPr>
          <a:xfrm>
            <a:off x="611100" y="659175"/>
            <a:ext cx="8207100"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Web Scraping Use cases / Why Scrapping used for?</a:t>
            </a:r>
            <a:endParaRPr sz="1600" b="1" i="0" u="none" strike="noStrike" cap="none" dirty="0">
              <a:solidFill>
                <a:schemeClr val="dk1"/>
              </a:solidFill>
              <a:latin typeface="+mj-lt"/>
              <a:sym typeface="Arial"/>
            </a:endParaRPr>
          </a:p>
        </p:txBody>
      </p:sp>
      <p:sp>
        <p:nvSpPr>
          <p:cNvPr id="107" name="Google Shape;107;ge71ba1469a_0_44"/>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Why Scrape the Web</a:t>
            </a:r>
            <a:endParaRPr sz="1800" b="1"/>
          </a:p>
        </p:txBody>
      </p:sp>
    </p:spTree>
    <p:extLst>
      <p:ext uri="{BB962C8B-B14F-4D97-AF65-F5344CB8AC3E}">
        <p14:creationId xmlns:p14="http://schemas.microsoft.com/office/powerpoint/2010/main" val="3696944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fade">
                                      <p:cBhvr>
                                        <p:cTn id="7" dur="1000"/>
                                        <p:tgtEl>
                                          <p:spTgt spid="1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fade">
                                      <p:cBhvr>
                                        <p:cTn id="12" dur="1000"/>
                                        <p:tgtEl>
                                          <p:spTgt spid="10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4"/>
                                        </p:tgtEl>
                                        <p:attrNameLst>
                                          <p:attrName>style.visibility</p:attrName>
                                        </p:attrNameLst>
                                      </p:cBhvr>
                                      <p:to>
                                        <p:strVal val="visible"/>
                                      </p:to>
                                    </p:set>
                                    <p:animEffect transition="in" filter="fade">
                                      <p:cBhvr>
                                        <p:cTn id="17" dur="1"/>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6" name="Google Shape;116;ge71ba1469a_0_78"/>
          <p:cNvSpPr txBox="1"/>
          <p:nvPr/>
        </p:nvSpPr>
        <p:spPr>
          <a:xfrm>
            <a:off x="472554" y="1221075"/>
            <a:ext cx="8086500" cy="2646848"/>
          </a:xfrm>
          <a:prstGeom prst="rect">
            <a:avLst/>
          </a:prstGeom>
          <a:noFill/>
          <a:ln>
            <a:noFill/>
          </a:ln>
        </p:spPr>
        <p:txBody>
          <a:bodyPr spcFirstLastPara="1" wrap="square" lIns="91425" tIns="91425" rIns="91425" bIns="91425" anchor="t" anchorCtr="0">
            <a:spAutoFit/>
          </a:bodyPr>
          <a:lstStyle/>
          <a:p>
            <a:pPr marL="161925" lvl="0">
              <a:buClr>
                <a:srgbClr val="3B3835"/>
              </a:buClr>
              <a:buSzPts val="1050"/>
            </a:pPr>
            <a:r>
              <a:rPr lang="en" sz="1600" b="1" i="0" u="none" strike="noStrike" cap="none" dirty="0" smtClean="0">
                <a:solidFill>
                  <a:srgbClr val="3B3835"/>
                </a:solidFill>
                <a:highlight>
                  <a:srgbClr val="FFFFFF"/>
                </a:highlight>
                <a:latin typeface="+mj-lt"/>
                <a:ea typeface="Roboto"/>
                <a:cs typeface="Roboto"/>
                <a:sym typeface="Roboto"/>
              </a:rPr>
              <a:t>Spider: </a:t>
            </a:r>
            <a:r>
              <a:rPr lang="en-US" sz="1600" dirty="0" smtClean="0">
                <a:solidFill>
                  <a:srgbClr val="3B3835"/>
                </a:solidFill>
                <a:highlight>
                  <a:srgbClr val="FFFFFF"/>
                </a:highlight>
                <a:latin typeface="+mj-lt"/>
                <a:ea typeface="Roboto"/>
                <a:cs typeface="Roboto"/>
                <a:sym typeface="Roboto"/>
              </a:rPr>
              <a:t>A computer program that “walks” through web pages by clicking links and exploring them, kind of like a curious explorer mapping out the internet.</a:t>
            </a:r>
            <a:endParaRPr lang="en" sz="1600" b="0" i="0" u="none" strike="noStrike" cap="none" dirty="0" smtClean="0">
              <a:solidFill>
                <a:srgbClr val="3B3835"/>
              </a:solidFill>
              <a:highlight>
                <a:srgbClr val="FFFFFF"/>
              </a:highlight>
              <a:latin typeface="+mj-lt"/>
              <a:ea typeface="Roboto"/>
              <a:cs typeface="Roboto"/>
              <a:sym typeface="Roboto"/>
            </a:endParaRPr>
          </a:p>
          <a:p>
            <a:pPr marL="161925">
              <a:buClr>
                <a:srgbClr val="3B3835"/>
              </a:buClr>
              <a:buSzPts val="1050"/>
            </a:pPr>
            <a:endParaRPr lang="en-US" sz="1600" b="1" dirty="0" smtClean="0">
              <a:solidFill>
                <a:srgbClr val="3B3835"/>
              </a:solidFill>
              <a:highlight>
                <a:srgbClr val="FFFFFF"/>
              </a:highlight>
              <a:latin typeface="+mj-lt"/>
              <a:ea typeface="Roboto"/>
              <a:cs typeface="Roboto"/>
              <a:sym typeface="Roboto"/>
            </a:endParaRPr>
          </a:p>
          <a:p>
            <a:pPr marL="161925">
              <a:buClr>
                <a:srgbClr val="3B3835"/>
              </a:buClr>
              <a:buSzPts val="1050"/>
            </a:pPr>
            <a:r>
              <a:rPr lang="en-US" sz="1600" b="1" dirty="0" smtClean="0">
                <a:solidFill>
                  <a:srgbClr val="3B3835"/>
                </a:solidFill>
                <a:highlight>
                  <a:srgbClr val="FFFFFF"/>
                </a:highlight>
                <a:latin typeface="+mj-lt"/>
                <a:ea typeface="Roboto"/>
                <a:cs typeface="Roboto"/>
                <a:sym typeface="Roboto"/>
              </a:rPr>
              <a:t>Crawler: </a:t>
            </a:r>
            <a:r>
              <a:rPr lang="en-US" sz="1600" dirty="0"/>
              <a:t>A program that automatically visits web pages, reads their content, and collects information. It moves from one page to another by following links, just like a library assistant who checks every shelf and takes notes about each book.</a:t>
            </a:r>
            <a:endParaRPr lang="en-US" sz="1600" dirty="0" smtClean="0">
              <a:solidFill>
                <a:srgbClr val="3B3835"/>
              </a:solidFill>
              <a:highlight>
                <a:srgbClr val="FFFFFF"/>
              </a:highlight>
              <a:latin typeface="+mj-lt"/>
              <a:ea typeface="Roboto"/>
              <a:cs typeface="Roboto"/>
              <a:sym typeface="Roboto"/>
            </a:endParaRPr>
          </a:p>
          <a:p>
            <a:pPr marL="161925">
              <a:buClr>
                <a:srgbClr val="3B3835"/>
              </a:buClr>
              <a:buSzPts val="1050"/>
            </a:pPr>
            <a:endParaRPr lang="en-US" sz="1600" b="1" dirty="0" smtClean="0">
              <a:solidFill>
                <a:srgbClr val="3B3835"/>
              </a:solidFill>
              <a:highlight>
                <a:srgbClr val="FFFFFF"/>
              </a:highlight>
              <a:latin typeface="+mj-lt"/>
              <a:ea typeface="Roboto"/>
              <a:cs typeface="Roboto"/>
              <a:sym typeface="Roboto"/>
            </a:endParaRPr>
          </a:p>
          <a:p>
            <a:pPr marL="161925">
              <a:buClr>
                <a:srgbClr val="3B3835"/>
              </a:buClr>
              <a:buSzPts val="1050"/>
            </a:pPr>
            <a:r>
              <a:rPr lang="en-US" sz="1600" b="1" dirty="0" smtClean="0">
                <a:solidFill>
                  <a:srgbClr val="3B3835"/>
                </a:solidFill>
                <a:highlight>
                  <a:srgbClr val="FFFFFF"/>
                </a:highlight>
                <a:latin typeface="+mj-lt"/>
                <a:ea typeface="Roboto"/>
                <a:cs typeface="Roboto"/>
                <a:sym typeface="Roboto"/>
              </a:rPr>
              <a:t>IP Proxy/Switching: </a:t>
            </a:r>
            <a:r>
              <a:rPr lang="en-US" sz="1600" dirty="0" smtClean="0">
                <a:solidFill>
                  <a:srgbClr val="3B3835"/>
                </a:solidFill>
                <a:highlight>
                  <a:srgbClr val="FFFFFF"/>
                </a:highlight>
                <a:latin typeface="+mj-lt"/>
                <a:ea typeface="Roboto"/>
                <a:cs typeface="Roboto"/>
                <a:sym typeface="Roboto"/>
              </a:rPr>
              <a:t>Regular </a:t>
            </a:r>
            <a:r>
              <a:rPr lang="en-US" sz="1600" dirty="0">
                <a:solidFill>
                  <a:srgbClr val="3B3835"/>
                </a:solidFill>
                <a:highlight>
                  <a:srgbClr val="FFFFFF"/>
                </a:highlight>
                <a:latin typeface="+mj-lt"/>
                <a:ea typeface="Roboto"/>
                <a:cs typeface="Roboto"/>
                <a:sym typeface="Roboto"/>
              </a:rPr>
              <a:t>switching of IP address used to bypass restrictions on the number of connections per client set by web servers. May be a sign of less than legal or honorable intent in scraping</a:t>
            </a:r>
            <a:r>
              <a:rPr lang="en-US" sz="1600" dirty="0" smtClean="0">
                <a:solidFill>
                  <a:srgbClr val="3B3835"/>
                </a:solidFill>
                <a:highlight>
                  <a:srgbClr val="FFFFFF"/>
                </a:highlight>
                <a:latin typeface="+mj-lt"/>
                <a:ea typeface="Roboto"/>
                <a:cs typeface="Roboto"/>
                <a:sym typeface="Roboto"/>
              </a:rPr>
              <a:t>.</a:t>
            </a:r>
            <a:endParaRPr lang="en-US" sz="1600" dirty="0">
              <a:solidFill>
                <a:srgbClr val="292929"/>
              </a:solidFill>
              <a:highlight>
                <a:srgbClr val="FFFFFF"/>
              </a:highlight>
              <a:latin typeface="+mj-lt"/>
              <a:ea typeface="Georgia"/>
              <a:cs typeface="Georgia"/>
              <a:sym typeface="Georgia"/>
            </a:endParaRPr>
          </a:p>
        </p:txBody>
      </p:sp>
      <p:sp>
        <p:nvSpPr>
          <p:cNvPr id="117" name="Google Shape;117;ge71ba1469a_0_7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6</a:t>
            </a:fld>
            <a:endParaRPr/>
          </a:p>
        </p:txBody>
      </p:sp>
      <p:sp>
        <p:nvSpPr>
          <p:cNvPr id="118" name="Google Shape;118;ge71ba1469a_0_78"/>
          <p:cNvSpPr txBox="1"/>
          <p:nvPr/>
        </p:nvSpPr>
        <p:spPr>
          <a:xfrm>
            <a:off x="611100" y="659175"/>
            <a:ext cx="82071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dirty="0">
                <a:solidFill>
                  <a:srgbClr val="EF4F63"/>
                </a:solidFill>
                <a:latin typeface="+mj-lt"/>
                <a:ea typeface="Merriweather"/>
                <a:cs typeface="Merriweather"/>
                <a:sym typeface="Merriweather"/>
              </a:rPr>
              <a:t>Jargons in Web Scraping</a:t>
            </a:r>
            <a:endParaRPr sz="1350" b="1" i="0" u="none" strike="noStrike" cap="none" dirty="0">
              <a:solidFill>
                <a:schemeClr val="dk1"/>
              </a:solidFill>
              <a:latin typeface="+mj-lt"/>
              <a:sym typeface="Arial"/>
            </a:endParaRPr>
          </a:p>
        </p:txBody>
      </p:sp>
      <p:sp>
        <p:nvSpPr>
          <p:cNvPr id="119" name="Google Shape;119;ge71ba1469a_0_78"/>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Why Scrape the Web</a:t>
            </a:r>
            <a:endParaRPr sz="1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1000"/>
                                        <p:tgtEl>
                                          <p:spTgt spid="1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8"/>
                                        </p:tgtEl>
                                        <p:attrNameLst>
                                          <p:attrName>style.visibility</p:attrName>
                                        </p:attrNameLst>
                                      </p:cBhvr>
                                      <p:to>
                                        <p:strVal val="visible"/>
                                      </p:to>
                                    </p:set>
                                    <p:animEffect transition="in" filter="fade">
                                      <p:cBhvr>
                                        <p:cTn id="12" dur="1000"/>
                                        <p:tgtEl>
                                          <p:spTgt spid="1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6"/>
                                        </p:tgtEl>
                                        <p:attrNameLst>
                                          <p:attrName>style.visibility</p:attrName>
                                        </p:attrNameLst>
                                      </p:cBhvr>
                                      <p:to>
                                        <p:strVal val="visible"/>
                                      </p:to>
                                    </p:set>
                                    <p:animEffect transition="in" filter="fade">
                                      <p:cBhvr>
                                        <p:cTn id="17" dur="10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6" name="Google Shape;116;ge71ba1469a_0_78"/>
          <p:cNvSpPr txBox="1"/>
          <p:nvPr/>
        </p:nvSpPr>
        <p:spPr>
          <a:xfrm>
            <a:off x="472554" y="1221075"/>
            <a:ext cx="8086500" cy="2646848"/>
          </a:xfrm>
          <a:prstGeom prst="rect">
            <a:avLst/>
          </a:prstGeom>
          <a:noFill/>
          <a:ln>
            <a:noFill/>
          </a:ln>
        </p:spPr>
        <p:txBody>
          <a:bodyPr spcFirstLastPara="1" wrap="square" lIns="91425" tIns="91425" rIns="91425" bIns="91425" anchor="t" anchorCtr="0">
            <a:spAutoFit/>
          </a:bodyPr>
          <a:lstStyle/>
          <a:p>
            <a:pPr marL="161925" lvl="0">
              <a:buClr>
                <a:srgbClr val="3B3835"/>
              </a:buClr>
              <a:buSzPts val="1050"/>
            </a:pPr>
            <a:r>
              <a:rPr lang="en-US" sz="1600" b="1" dirty="0" smtClean="0">
                <a:solidFill>
                  <a:srgbClr val="3B3835"/>
                </a:solidFill>
                <a:highlight>
                  <a:srgbClr val="FFFFFF"/>
                </a:highlight>
                <a:ea typeface="Roboto"/>
                <a:cs typeface="Roboto"/>
                <a:sym typeface="Roboto"/>
              </a:rPr>
              <a:t>Why Do We Switch Proxies?</a:t>
            </a:r>
          </a:p>
          <a:p>
            <a:pPr marL="161925" lvl="0">
              <a:buClr>
                <a:srgbClr val="3B3835"/>
              </a:buClr>
              <a:buSzPts val="1050"/>
            </a:pPr>
            <a:endParaRPr lang="en-US" sz="1600" dirty="0" smtClean="0">
              <a:solidFill>
                <a:srgbClr val="292929"/>
              </a:solidFill>
              <a:highlight>
                <a:srgbClr val="FFFFFF"/>
              </a:highlight>
              <a:latin typeface="+mj-lt"/>
              <a:ea typeface="Georgia"/>
              <a:cs typeface="Georgia"/>
              <a:sym typeface="Georgia"/>
            </a:endParaRPr>
          </a:p>
          <a:p>
            <a:pPr marL="447675" lvl="0" indent="-285750">
              <a:buClr>
                <a:srgbClr val="3B3835"/>
              </a:buClr>
              <a:buSzPts val="1050"/>
              <a:buFont typeface="Arial" panose="020B0604020202020204" pitchFamily="34" charset="0"/>
              <a:buChar char="•"/>
            </a:pPr>
            <a:r>
              <a:rPr lang="en-US" sz="1600" dirty="0" smtClean="0">
                <a:solidFill>
                  <a:srgbClr val="292929"/>
                </a:solidFill>
                <a:highlight>
                  <a:srgbClr val="FFFFFF"/>
                </a:highlight>
                <a:latin typeface="+mj-lt"/>
                <a:ea typeface="Georgia"/>
                <a:cs typeface="Georgia"/>
                <a:sym typeface="Georgia"/>
              </a:rPr>
              <a:t>Avoid </a:t>
            </a:r>
            <a:r>
              <a:rPr lang="en-US" sz="1600" dirty="0">
                <a:solidFill>
                  <a:srgbClr val="292929"/>
                </a:solidFill>
                <a:highlight>
                  <a:srgbClr val="FFFFFF"/>
                </a:highlight>
                <a:latin typeface="+mj-lt"/>
                <a:ea typeface="Georgia"/>
                <a:cs typeface="Georgia"/>
                <a:sym typeface="Georgia"/>
              </a:rPr>
              <a:t>rate limits — Sites often allow only X requests per IP per minute/hour.</a:t>
            </a:r>
          </a:p>
          <a:p>
            <a:pPr marL="447675" lvl="0" indent="-285750">
              <a:buClr>
                <a:srgbClr val="3B3835"/>
              </a:buClr>
              <a:buSzPts val="1050"/>
              <a:buFont typeface="Arial" panose="020B0604020202020204" pitchFamily="34" charset="0"/>
              <a:buChar char="•"/>
            </a:pPr>
            <a:endParaRPr lang="en-US" sz="1600" dirty="0">
              <a:solidFill>
                <a:srgbClr val="292929"/>
              </a:solidFill>
              <a:highlight>
                <a:srgbClr val="FFFFFF"/>
              </a:highlight>
              <a:latin typeface="+mj-lt"/>
              <a:ea typeface="Georgia"/>
              <a:cs typeface="Georgia"/>
              <a:sym typeface="Georgia"/>
            </a:endParaRPr>
          </a:p>
          <a:p>
            <a:pPr marL="447675" lvl="0" indent="-285750">
              <a:buClr>
                <a:srgbClr val="3B3835"/>
              </a:buClr>
              <a:buSzPts val="1050"/>
              <a:buFont typeface="Arial" panose="020B0604020202020204" pitchFamily="34" charset="0"/>
              <a:buChar char="•"/>
            </a:pPr>
            <a:r>
              <a:rPr lang="en-US" sz="1600" dirty="0">
                <a:solidFill>
                  <a:srgbClr val="292929"/>
                </a:solidFill>
                <a:highlight>
                  <a:srgbClr val="FFFFFF"/>
                </a:highlight>
                <a:latin typeface="+mj-lt"/>
                <a:ea typeface="Georgia"/>
                <a:cs typeface="Georgia"/>
                <a:sym typeface="Georgia"/>
              </a:rPr>
              <a:t>Prevent blocking — Too many requests from one IP may trigger a ban.</a:t>
            </a:r>
          </a:p>
          <a:p>
            <a:pPr marL="447675" lvl="0" indent="-285750">
              <a:buClr>
                <a:srgbClr val="3B3835"/>
              </a:buClr>
              <a:buSzPts val="1050"/>
              <a:buFont typeface="Arial" panose="020B0604020202020204" pitchFamily="34" charset="0"/>
              <a:buChar char="•"/>
            </a:pPr>
            <a:endParaRPr lang="en-US" sz="1600" dirty="0">
              <a:solidFill>
                <a:srgbClr val="292929"/>
              </a:solidFill>
              <a:highlight>
                <a:srgbClr val="FFFFFF"/>
              </a:highlight>
              <a:latin typeface="+mj-lt"/>
              <a:ea typeface="Georgia"/>
              <a:cs typeface="Georgia"/>
              <a:sym typeface="Georgia"/>
            </a:endParaRPr>
          </a:p>
          <a:p>
            <a:pPr marL="447675" lvl="0" indent="-285750">
              <a:buClr>
                <a:srgbClr val="3B3835"/>
              </a:buClr>
              <a:buSzPts val="1050"/>
              <a:buFont typeface="Arial" panose="020B0604020202020204" pitchFamily="34" charset="0"/>
              <a:buChar char="•"/>
            </a:pPr>
            <a:r>
              <a:rPr lang="en-US" sz="1600" dirty="0">
                <a:solidFill>
                  <a:srgbClr val="292929"/>
                </a:solidFill>
                <a:highlight>
                  <a:srgbClr val="FFFFFF"/>
                </a:highlight>
                <a:latin typeface="+mj-lt"/>
                <a:ea typeface="Georgia"/>
                <a:cs typeface="Georgia"/>
                <a:sym typeface="Georgia"/>
              </a:rPr>
              <a:t>Bypass geo-restrictions — Access content that’s limited to certain countries.</a:t>
            </a:r>
          </a:p>
          <a:p>
            <a:pPr marL="447675" lvl="0" indent="-285750">
              <a:buClr>
                <a:srgbClr val="3B3835"/>
              </a:buClr>
              <a:buSzPts val="1050"/>
              <a:buFont typeface="Arial" panose="020B0604020202020204" pitchFamily="34" charset="0"/>
              <a:buChar char="•"/>
            </a:pPr>
            <a:endParaRPr lang="en-US" sz="1600" dirty="0">
              <a:solidFill>
                <a:srgbClr val="292929"/>
              </a:solidFill>
              <a:highlight>
                <a:srgbClr val="FFFFFF"/>
              </a:highlight>
              <a:latin typeface="+mj-lt"/>
              <a:ea typeface="Georgia"/>
              <a:cs typeface="Georgia"/>
              <a:sym typeface="Georgia"/>
            </a:endParaRPr>
          </a:p>
          <a:p>
            <a:pPr marL="447675" lvl="0" indent="-285750">
              <a:buClr>
                <a:srgbClr val="3B3835"/>
              </a:buClr>
              <a:buSzPts val="1050"/>
              <a:buFont typeface="Arial" panose="020B0604020202020204" pitchFamily="34" charset="0"/>
              <a:buChar char="•"/>
            </a:pPr>
            <a:r>
              <a:rPr lang="en-US" sz="1600" dirty="0">
                <a:solidFill>
                  <a:srgbClr val="292929"/>
                </a:solidFill>
                <a:highlight>
                  <a:srgbClr val="FFFFFF"/>
                </a:highlight>
                <a:latin typeface="+mj-lt"/>
                <a:ea typeface="Georgia"/>
                <a:cs typeface="Georgia"/>
                <a:sym typeface="Georgia"/>
              </a:rPr>
              <a:t>Distribute load — Spread requests across multiple IPs to appear more like normal users</a:t>
            </a:r>
          </a:p>
        </p:txBody>
      </p:sp>
      <p:sp>
        <p:nvSpPr>
          <p:cNvPr id="117" name="Google Shape;117;ge71ba1469a_0_7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7</a:t>
            </a:fld>
            <a:endParaRPr/>
          </a:p>
        </p:txBody>
      </p:sp>
      <p:sp>
        <p:nvSpPr>
          <p:cNvPr id="118" name="Google Shape;118;ge71ba1469a_0_78"/>
          <p:cNvSpPr txBox="1"/>
          <p:nvPr/>
        </p:nvSpPr>
        <p:spPr>
          <a:xfrm>
            <a:off x="611100" y="659175"/>
            <a:ext cx="82071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dirty="0">
                <a:solidFill>
                  <a:srgbClr val="EF4F63"/>
                </a:solidFill>
                <a:latin typeface="+mj-lt"/>
                <a:ea typeface="Merriweather"/>
                <a:cs typeface="Merriweather"/>
                <a:sym typeface="Merriweather"/>
              </a:rPr>
              <a:t>Jargons in Web Scraping</a:t>
            </a:r>
            <a:endParaRPr sz="1350" b="1" i="0" u="none" strike="noStrike" cap="none" dirty="0">
              <a:solidFill>
                <a:schemeClr val="dk1"/>
              </a:solidFill>
              <a:latin typeface="+mj-lt"/>
              <a:sym typeface="Arial"/>
            </a:endParaRPr>
          </a:p>
        </p:txBody>
      </p:sp>
      <p:sp>
        <p:nvSpPr>
          <p:cNvPr id="119" name="Google Shape;119;ge71ba1469a_0_78"/>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Why Scrape the Web</a:t>
            </a:r>
            <a:endParaRPr sz="1800" b="1"/>
          </a:p>
        </p:txBody>
      </p:sp>
    </p:spTree>
    <p:extLst>
      <p:ext uri="{BB962C8B-B14F-4D97-AF65-F5344CB8AC3E}">
        <p14:creationId xmlns:p14="http://schemas.microsoft.com/office/powerpoint/2010/main" val="206742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1000"/>
                                        <p:tgtEl>
                                          <p:spTgt spid="1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8"/>
                                        </p:tgtEl>
                                        <p:attrNameLst>
                                          <p:attrName>style.visibility</p:attrName>
                                        </p:attrNameLst>
                                      </p:cBhvr>
                                      <p:to>
                                        <p:strVal val="visible"/>
                                      </p:to>
                                    </p:set>
                                    <p:animEffect transition="in" filter="fade">
                                      <p:cBhvr>
                                        <p:cTn id="12" dur="1000"/>
                                        <p:tgtEl>
                                          <p:spTgt spid="1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6"/>
                                        </p:tgtEl>
                                        <p:attrNameLst>
                                          <p:attrName>style.visibility</p:attrName>
                                        </p:attrNameLst>
                                      </p:cBhvr>
                                      <p:to>
                                        <p:strVal val="visible"/>
                                      </p:to>
                                    </p:set>
                                    <p:animEffect transition="in" filter="fade">
                                      <p:cBhvr>
                                        <p:cTn id="17" dur="10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9"/>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8</a:t>
            </a:fld>
            <a:endParaRPr/>
          </a:p>
        </p:txBody>
      </p:sp>
      <p:sp>
        <p:nvSpPr>
          <p:cNvPr id="254" name="Google Shape;254;p19"/>
          <p:cNvSpPr/>
          <p:nvPr/>
        </p:nvSpPr>
        <p:spPr>
          <a:xfrm>
            <a:off x="2328607" y="1959522"/>
            <a:ext cx="1051500" cy="6621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50"/>
              <a:buFont typeface="Arial"/>
              <a:buNone/>
            </a:pPr>
            <a:r>
              <a:rPr lang="en" sz="950" b="1" i="0" u="none" strike="noStrike" cap="none">
                <a:solidFill>
                  <a:srgbClr val="3B3835"/>
                </a:solidFill>
                <a:highlight>
                  <a:srgbClr val="FFFFFF"/>
                </a:highlight>
                <a:latin typeface="Roboto"/>
                <a:ea typeface="Roboto"/>
                <a:cs typeface="Roboto"/>
                <a:sym typeface="Roboto"/>
              </a:rPr>
              <a:t>Parsing</a:t>
            </a:r>
            <a:endParaRPr sz="1300" b="1" i="0" u="none" strike="noStrike" cap="none">
              <a:solidFill>
                <a:srgbClr val="000000"/>
              </a:solidFill>
              <a:highlight>
                <a:schemeClr val="lt1"/>
              </a:highlight>
              <a:latin typeface="Arial"/>
              <a:ea typeface="Arial"/>
              <a:cs typeface="Arial"/>
              <a:sym typeface="Arial"/>
            </a:endParaRPr>
          </a:p>
        </p:txBody>
      </p:sp>
      <p:sp>
        <p:nvSpPr>
          <p:cNvPr id="255" name="Google Shape;255;p19"/>
          <p:cNvSpPr txBox="1"/>
          <p:nvPr/>
        </p:nvSpPr>
        <p:spPr>
          <a:xfrm>
            <a:off x="5138576" y="3884568"/>
            <a:ext cx="22845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50"/>
              <a:buFont typeface="Arial"/>
              <a:buNone/>
            </a:pPr>
            <a:r>
              <a:rPr lang="en" sz="950" b="0" i="0" u="none" strike="noStrike" cap="none">
                <a:solidFill>
                  <a:srgbClr val="3B3835"/>
                </a:solidFill>
                <a:highlight>
                  <a:srgbClr val="FFFFFF"/>
                </a:highlight>
                <a:latin typeface="Roboto"/>
                <a:ea typeface="Roboto"/>
                <a:cs typeface="Roboto"/>
                <a:sym typeface="Roboto"/>
              </a:rPr>
              <a:t>Transformation •Convert the data into useful formats, i.e. currency, dates,</a:t>
            </a:r>
            <a:endParaRPr sz="950" b="0" i="0" u="none" strike="noStrike" cap="none">
              <a:solidFill>
                <a:srgbClr val="3B3835"/>
              </a:solidFill>
              <a:highlight>
                <a:srgbClr val="FFFFFF"/>
              </a:highlight>
              <a:latin typeface="Roboto"/>
              <a:ea typeface="Roboto"/>
              <a:cs typeface="Roboto"/>
              <a:sym typeface="Roboto"/>
            </a:endParaRPr>
          </a:p>
        </p:txBody>
      </p:sp>
      <p:sp>
        <p:nvSpPr>
          <p:cNvPr id="256" name="Google Shape;256;p19"/>
          <p:cNvSpPr/>
          <p:nvPr/>
        </p:nvSpPr>
        <p:spPr>
          <a:xfrm>
            <a:off x="3169699" y="2875764"/>
            <a:ext cx="1051500" cy="6621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50"/>
              <a:buFont typeface="Arial"/>
              <a:buNone/>
            </a:pPr>
            <a:r>
              <a:rPr lang="en" sz="950" b="1" i="0" u="none" strike="noStrike" cap="none">
                <a:solidFill>
                  <a:srgbClr val="3B3835"/>
                </a:solidFill>
                <a:highlight>
                  <a:srgbClr val="FFFFFF"/>
                </a:highlight>
                <a:latin typeface="Roboto"/>
                <a:ea typeface="Roboto"/>
                <a:cs typeface="Roboto"/>
                <a:sym typeface="Roboto"/>
              </a:rPr>
              <a:t>Extraction</a:t>
            </a:r>
            <a:endParaRPr sz="1300" b="1" i="0" u="none" strike="noStrike" cap="none">
              <a:solidFill>
                <a:srgbClr val="000000"/>
              </a:solidFill>
              <a:highlight>
                <a:schemeClr val="lt1"/>
              </a:highlight>
              <a:latin typeface="Arial"/>
              <a:ea typeface="Arial"/>
              <a:cs typeface="Arial"/>
              <a:sym typeface="Arial"/>
            </a:endParaRPr>
          </a:p>
        </p:txBody>
      </p:sp>
      <p:sp>
        <p:nvSpPr>
          <p:cNvPr id="257" name="Google Shape;257;p19"/>
          <p:cNvSpPr/>
          <p:nvPr/>
        </p:nvSpPr>
        <p:spPr>
          <a:xfrm>
            <a:off x="3996900" y="3782425"/>
            <a:ext cx="1114800" cy="6621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50"/>
              <a:buFont typeface="Arial"/>
              <a:buNone/>
            </a:pPr>
            <a:r>
              <a:rPr lang="en" sz="950" b="1" i="0" u="none" strike="noStrike" cap="none">
                <a:solidFill>
                  <a:srgbClr val="3B3835"/>
                </a:solidFill>
                <a:highlight>
                  <a:srgbClr val="FFFFFF"/>
                </a:highlight>
                <a:latin typeface="Roboto"/>
                <a:ea typeface="Roboto"/>
                <a:cs typeface="Roboto"/>
                <a:sym typeface="Roboto"/>
              </a:rPr>
              <a:t>Transformation</a:t>
            </a:r>
            <a:endParaRPr sz="1300" b="1" i="0" u="none" strike="noStrike" cap="none">
              <a:solidFill>
                <a:srgbClr val="000000"/>
              </a:solidFill>
              <a:highlight>
                <a:schemeClr val="lt1"/>
              </a:highlight>
              <a:latin typeface="Arial"/>
              <a:ea typeface="Arial"/>
              <a:cs typeface="Arial"/>
              <a:sym typeface="Arial"/>
            </a:endParaRPr>
          </a:p>
        </p:txBody>
      </p:sp>
      <p:sp>
        <p:nvSpPr>
          <p:cNvPr id="258" name="Google Shape;258;p19"/>
          <p:cNvSpPr/>
          <p:nvPr/>
        </p:nvSpPr>
        <p:spPr>
          <a:xfrm>
            <a:off x="1525425" y="1036825"/>
            <a:ext cx="1027500" cy="6621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50"/>
              <a:buFont typeface="Arial"/>
              <a:buNone/>
            </a:pPr>
            <a:r>
              <a:rPr lang="en" sz="850" b="1" i="0" u="none" strike="noStrike" cap="none">
                <a:solidFill>
                  <a:srgbClr val="3B3835"/>
                </a:solidFill>
                <a:highlight>
                  <a:srgbClr val="FFFFFF"/>
                </a:highlight>
                <a:latin typeface="Roboto"/>
                <a:ea typeface="Roboto"/>
                <a:cs typeface="Roboto"/>
                <a:sym typeface="Roboto"/>
              </a:rPr>
              <a:t>Document Load</a:t>
            </a:r>
            <a:endParaRPr sz="1200" b="1" i="0" u="none" strike="noStrike" cap="none">
              <a:solidFill>
                <a:srgbClr val="000000"/>
              </a:solidFill>
              <a:highlight>
                <a:schemeClr val="lt1"/>
              </a:highlight>
              <a:latin typeface="Arial"/>
              <a:ea typeface="Arial"/>
              <a:cs typeface="Arial"/>
              <a:sym typeface="Arial"/>
            </a:endParaRPr>
          </a:p>
        </p:txBody>
      </p:sp>
      <p:sp>
        <p:nvSpPr>
          <p:cNvPr id="259" name="Google Shape;259;p19"/>
          <p:cNvSpPr txBox="1"/>
          <p:nvPr/>
        </p:nvSpPr>
        <p:spPr>
          <a:xfrm>
            <a:off x="2579517" y="1161601"/>
            <a:ext cx="2752800" cy="330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50"/>
              <a:buFont typeface="Arial"/>
              <a:buNone/>
            </a:pPr>
            <a:r>
              <a:rPr lang="en" sz="950" b="0" i="0" u="none" strike="noStrike" cap="none">
                <a:solidFill>
                  <a:srgbClr val="3B3835"/>
                </a:solidFill>
                <a:highlight>
                  <a:srgbClr val="FFFFFF"/>
                </a:highlight>
                <a:latin typeface="Roboto"/>
                <a:ea typeface="Roboto"/>
                <a:cs typeface="Roboto"/>
                <a:sym typeface="Roboto"/>
              </a:rPr>
              <a:t>Pull in the complete web page, PDF, XML, etc. </a:t>
            </a:r>
            <a:endParaRPr sz="1300" b="0" i="0" u="none" strike="noStrike" cap="none">
              <a:solidFill>
                <a:srgbClr val="000000"/>
              </a:solidFill>
              <a:latin typeface="Source Sans Pro"/>
              <a:ea typeface="Source Sans Pro"/>
              <a:cs typeface="Source Sans Pro"/>
              <a:sym typeface="Source Sans Pro"/>
            </a:endParaRPr>
          </a:p>
        </p:txBody>
      </p:sp>
      <p:sp>
        <p:nvSpPr>
          <p:cNvPr id="260" name="Google Shape;260;p19"/>
          <p:cNvSpPr/>
          <p:nvPr/>
        </p:nvSpPr>
        <p:spPr>
          <a:xfrm rot="5400000">
            <a:off x="1664974" y="1761494"/>
            <a:ext cx="719700" cy="594300"/>
          </a:xfrm>
          <a:prstGeom prst="bentUpArrow">
            <a:avLst>
              <a:gd name="adj1" fmla="val 25000"/>
              <a:gd name="adj2" fmla="val 25000"/>
              <a:gd name="adj3" fmla="val 25000"/>
            </a:avLst>
          </a:prstGeom>
          <a:noFill/>
          <a:ln w="9525" cap="flat" cmpd="sng">
            <a:solidFill>
              <a:srgbClr val="EF4F6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Arial"/>
              <a:ea typeface="Arial"/>
              <a:cs typeface="Arial"/>
              <a:sym typeface="Arial"/>
            </a:endParaRPr>
          </a:p>
        </p:txBody>
      </p:sp>
      <p:sp>
        <p:nvSpPr>
          <p:cNvPr id="261" name="Google Shape;261;p19"/>
          <p:cNvSpPr/>
          <p:nvPr/>
        </p:nvSpPr>
        <p:spPr>
          <a:xfrm rot="5400000">
            <a:off x="2512699" y="2684191"/>
            <a:ext cx="719700" cy="594300"/>
          </a:xfrm>
          <a:prstGeom prst="bentUpArrow">
            <a:avLst>
              <a:gd name="adj1" fmla="val 25000"/>
              <a:gd name="adj2" fmla="val 25000"/>
              <a:gd name="adj3" fmla="val 25000"/>
            </a:avLst>
          </a:prstGeom>
          <a:noFill/>
          <a:ln w="9525" cap="flat" cmpd="sng">
            <a:solidFill>
              <a:srgbClr val="EF4F6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Arial"/>
              <a:ea typeface="Arial"/>
              <a:cs typeface="Arial"/>
              <a:sym typeface="Arial"/>
            </a:endParaRPr>
          </a:p>
        </p:txBody>
      </p:sp>
      <p:sp>
        <p:nvSpPr>
          <p:cNvPr id="262" name="Google Shape;262;p19"/>
          <p:cNvSpPr/>
          <p:nvPr/>
        </p:nvSpPr>
        <p:spPr>
          <a:xfrm rot="5400000">
            <a:off x="3335511" y="3600433"/>
            <a:ext cx="719700" cy="594300"/>
          </a:xfrm>
          <a:prstGeom prst="bentUpArrow">
            <a:avLst>
              <a:gd name="adj1" fmla="val 25000"/>
              <a:gd name="adj2" fmla="val 25000"/>
              <a:gd name="adj3" fmla="val 25000"/>
            </a:avLst>
          </a:prstGeom>
          <a:noFill/>
          <a:ln w="9525" cap="flat" cmpd="sng">
            <a:solidFill>
              <a:srgbClr val="EF4F6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Arial"/>
              <a:ea typeface="Arial"/>
              <a:cs typeface="Arial"/>
              <a:sym typeface="Arial"/>
            </a:endParaRPr>
          </a:p>
        </p:txBody>
      </p:sp>
      <p:sp>
        <p:nvSpPr>
          <p:cNvPr id="263" name="Google Shape;263;p19"/>
          <p:cNvSpPr txBox="1"/>
          <p:nvPr/>
        </p:nvSpPr>
        <p:spPr>
          <a:xfrm>
            <a:off x="3399029" y="2052068"/>
            <a:ext cx="27528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50"/>
              <a:buFont typeface="Arial"/>
              <a:buNone/>
            </a:pPr>
            <a:r>
              <a:rPr lang="en" sz="950" b="0" i="0" u="none" strike="noStrike" cap="none">
                <a:solidFill>
                  <a:srgbClr val="3B3835"/>
                </a:solidFill>
                <a:highlight>
                  <a:srgbClr val="FFFFFF"/>
                </a:highlight>
                <a:latin typeface="Roboto"/>
                <a:ea typeface="Roboto"/>
                <a:cs typeface="Roboto"/>
                <a:sym typeface="Roboto"/>
              </a:rPr>
              <a:t>Parse the HTML, XML, or PDF metadata into something the script can understand </a:t>
            </a:r>
            <a:endParaRPr sz="1300" b="0" i="0" u="none" strike="noStrike" cap="none">
              <a:solidFill>
                <a:srgbClr val="000000"/>
              </a:solidFill>
              <a:latin typeface="Source Sans Pro"/>
              <a:ea typeface="Source Sans Pro"/>
              <a:cs typeface="Source Sans Pro"/>
              <a:sym typeface="Source Sans Pro"/>
            </a:endParaRPr>
          </a:p>
        </p:txBody>
      </p:sp>
      <p:sp>
        <p:nvSpPr>
          <p:cNvPr id="264" name="Google Shape;264;p19"/>
          <p:cNvSpPr txBox="1"/>
          <p:nvPr/>
        </p:nvSpPr>
        <p:spPr>
          <a:xfrm>
            <a:off x="4259521" y="2968319"/>
            <a:ext cx="27528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50"/>
              <a:buFont typeface="Arial"/>
              <a:buNone/>
            </a:pPr>
            <a:r>
              <a:rPr lang="en" sz="950" b="0" i="0" u="none" strike="noStrike" cap="none">
                <a:solidFill>
                  <a:srgbClr val="3B3835"/>
                </a:solidFill>
                <a:highlight>
                  <a:srgbClr val="FFFFFF"/>
                </a:highlight>
                <a:latin typeface="Roboto"/>
                <a:ea typeface="Roboto"/>
                <a:cs typeface="Roboto"/>
                <a:sym typeface="Roboto"/>
              </a:rPr>
              <a:t>Use the results of parsing to extract the data we are looking for</a:t>
            </a:r>
            <a:endParaRPr sz="1300" b="0" i="0" u="none" strike="noStrike" cap="none">
              <a:solidFill>
                <a:srgbClr val="000000"/>
              </a:solidFill>
              <a:latin typeface="Source Sans Pro"/>
              <a:ea typeface="Source Sans Pro"/>
              <a:cs typeface="Source Sans Pro"/>
              <a:sym typeface="Source Sans Pro"/>
            </a:endParaRPr>
          </a:p>
        </p:txBody>
      </p:sp>
      <p:sp>
        <p:nvSpPr>
          <p:cNvPr id="265" name="Google Shape;265;p19"/>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Building Web Scraping Strategy</a:t>
            </a:r>
            <a:endParaRPr sz="1800" b="1"/>
          </a:p>
        </p:txBody>
      </p:sp>
      <p:sp>
        <p:nvSpPr>
          <p:cNvPr id="266" name="Google Shape;266;p19"/>
          <p:cNvSpPr txBox="1"/>
          <p:nvPr/>
        </p:nvSpPr>
        <p:spPr>
          <a:xfrm>
            <a:off x="625350" y="577850"/>
            <a:ext cx="3060600"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Anatomy of a Scraping</a:t>
            </a:r>
            <a:endParaRPr sz="1600" b="1" i="0" u="none" strike="noStrike" cap="none" dirty="0">
              <a:solidFill>
                <a:srgbClr val="000000"/>
              </a:solidFill>
              <a:latin typeface="+mj-lt"/>
              <a:ea typeface="Source Sans Pro"/>
              <a:cs typeface="Source Sans Pro"/>
              <a:sym typeface="Source Sans Pr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animEffect transition="in" filter="fade">
                                      <p:cBhvr>
                                        <p:cTn id="7" dur="1000"/>
                                        <p:tgtEl>
                                          <p:spTgt spid="2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9"/>
                                        </p:tgtEl>
                                        <p:attrNameLst>
                                          <p:attrName>style.visibility</p:attrName>
                                        </p:attrNameLst>
                                      </p:cBhvr>
                                      <p:to>
                                        <p:strVal val="visible"/>
                                      </p:to>
                                    </p:set>
                                    <p:animEffect transition="in" filter="fade">
                                      <p:cBhvr>
                                        <p:cTn id="12" dur="1000"/>
                                        <p:tgtEl>
                                          <p:spTgt spid="25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4"/>
                                        </p:tgtEl>
                                        <p:attrNameLst>
                                          <p:attrName>style.visibility</p:attrName>
                                        </p:attrNameLst>
                                      </p:cBhvr>
                                      <p:to>
                                        <p:strVal val="visible"/>
                                      </p:to>
                                    </p:set>
                                    <p:animEffect transition="in" filter="fade">
                                      <p:cBhvr>
                                        <p:cTn id="17" dur="1000"/>
                                        <p:tgtEl>
                                          <p:spTgt spid="254"/>
                                        </p:tgtEl>
                                      </p:cBhvr>
                                    </p:animEffect>
                                  </p:childTnLst>
                                </p:cTn>
                              </p:par>
                              <p:par>
                                <p:cTn id="18" presetID="10" presetClass="entr" presetSubtype="0" fill="hold" nodeType="withEffect">
                                  <p:stCondLst>
                                    <p:cond delay="0"/>
                                  </p:stCondLst>
                                  <p:childTnLst>
                                    <p:set>
                                      <p:cBhvr>
                                        <p:cTn id="19" dur="1" fill="hold">
                                          <p:stCondLst>
                                            <p:cond delay="0"/>
                                          </p:stCondLst>
                                        </p:cTn>
                                        <p:tgtEl>
                                          <p:spTgt spid="260"/>
                                        </p:tgtEl>
                                        <p:attrNameLst>
                                          <p:attrName>style.visibility</p:attrName>
                                        </p:attrNameLst>
                                      </p:cBhvr>
                                      <p:to>
                                        <p:strVal val="visible"/>
                                      </p:to>
                                    </p:set>
                                    <p:animEffect transition="in" filter="fade">
                                      <p:cBhvr>
                                        <p:cTn id="20" dur="1000"/>
                                        <p:tgtEl>
                                          <p:spTgt spid="26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63"/>
                                        </p:tgtEl>
                                        <p:attrNameLst>
                                          <p:attrName>style.visibility</p:attrName>
                                        </p:attrNameLst>
                                      </p:cBhvr>
                                      <p:to>
                                        <p:strVal val="visible"/>
                                      </p:to>
                                    </p:set>
                                    <p:animEffect transition="in" filter="fade">
                                      <p:cBhvr>
                                        <p:cTn id="25" dur="1000"/>
                                        <p:tgtEl>
                                          <p:spTgt spid="26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56"/>
                                        </p:tgtEl>
                                        <p:attrNameLst>
                                          <p:attrName>style.visibility</p:attrName>
                                        </p:attrNameLst>
                                      </p:cBhvr>
                                      <p:to>
                                        <p:strVal val="visible"/>
                                      </p:to>
                                    </p:set>
                                    <p:animEffect transition="in" filter="fade">
                                      <p:cBhvr>
                                        <p:cTn id="30" dur="1000"/>
                                        <p:tgtEl>
                                          <p:spTgt spid="256"/>
                                        </p:tgtEl>
                                      </p:cBhvr>
                                    </p:animEffect>
                                  </p:childTnLst>
                                </p:cTn>
                              </p:par>
                              <p:par>
                                <p:cTn id="31" presetID="10" presetClass="entr" presetSubtype="0" fill="hold" nodeType="withEffect">
                                  <p:stCondLst>
                                    <p:cond delay="0"/>
                                  </p:stCondLst>
                                  <p:childTnLst>
                                    <p:set>
                                      <p:cBhvr>
                                        <p:cTn id="32" dur="1" fill="hold">
                                          <p:stCondLst>
                                            <p:cond delay="0"/>
                                          </p:stCondLst>
                                        </p:cTn>
                                        <p:tgtEl>
                                          <p:spTgt spid="261"/>
                                        </p:tgtEl>
                                        <p:attrNameLst>
                                          <p:attrName>style.visibility</p:attrName>
                                        </p:attrNameLst>
                                      </p:cBhvr>
                                      <p:to>
                                        <p:strVal val="visible"/>
                                      </p:to>
                                    </p:set>
                                    <p:animEffect transition="in" filter="fade">
                                      <p:cBhvr>
                                        <p:cTn id="33" dur="1000"/>
                                        <p:tgtEl>
                                          <p:spTgt spid="26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64"/>
                                        </p:tgtEl>
                                        <p:attrNameLst>
                                          <p:attrName>style.visibility</p:attrName>
                                        </p:attrNameLst>
                                      </p:cBhvr>
                                      <p:to>
                                        <p:strVal val="visible"/>
                                      </p:to>
                                    </p:set>
                                    <p:animEffect transition="in" filter="fade">
                                      <p:cBhvr>
                                        <p:cTn id="38" dur="1000"/>
                                        <p:tgtEl>
                                          <p:spTgt spid="26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57"/>
                                        </p:tgtEl>
                                        <p:attrNameLst>
                                          <p:attrName>style.visibility</p:attrName>
                                        </p:attrNameLst>
                                      </p:cBhvr>
                                      <p:to>
                                        <p:strVal val="visible"/>
                                      </p:to>
                                    </p:set>
                                    <p:animEffect transition="in" filter="fade">
                                      <p:cBhvr>
                                        <p:cTn id="43" dur="1000"/>
                                        <p:tgtEl>
                                          <p:spTgt spid="257"/>
                                        </p:tgtEl>
                                      </p:cBhvr>
                                    </p:animEffect>
                                  </p:childTnLst>
                                </p:cTn>
                              </p:par>
                              <p:par>
                                <p:cTn id="44" presetID="10" presetClass="entr" presetSubtype="0" fill="hold" nodeType="withEffect">
                                  <p:stCondLst>
                                    <p:cond delay="0"/>
                                  </p:stCondLst>
                                  <p:childTnLst>
                                    <p:set>
                                      <p:cBhvr>
                                        <p:cTn id="45" dur="1" fill="hold">
                                          <p:stCondLst>
                                            <p:cond delay="0"/>
                                          </p:stCondLst>
                                        </p:cTn>
                                        <p:tgtEl>
                                          <p:spTgt spid="262"/>
                                        </p:tgtEl>
                                        <p:attrNameLst>
                                          <p:attrName>style.visibility</p:attrName>
                                        </p:attrNameLst>
                                      </p:cBhvr>
                                      <p:to>
                                        <p:strVal val="visible"/>
                                      </p:to>
                                    </p:set>
                                    <p:animEffect transition="in" filter="fade">
                                      <p:cBhvr>
                                        <p:cTn id="46" dur="1000"/>
                                        <p:tgtEl>
                                          <p:spTgt spid="26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55"/>
                                        </p:tgtEl>
                                        <p:attrNameLst>
                                          <p:attrName>style.visibility</p:attrName>
                                        </p:attrNameLst>
                                      </p:cBhvr>
                                      <p:to>
                                        <p:strVal val="visible"/>
                                      </p:to>
                                    </p:set>
                                    <p:animEffect transition="in" filter="fade">
                                      <p:cBhvr>
                                        <p:cTn id="51" dur="1000"/>
                                        <p:tgtEl>
                                          <p:spTgt spid="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ef0424f90f_0_7"/>
          <p:cNvSpPr txBox="1">
            <a:spLocks noGrp="1"/>
          </p:cNvSpPr>
          <p:nvPr>
            <p:ph type="ctrTitle"/>
          </p:nvPr>
        </p:nvSpPr>
        <p:spPr>
          <a:xfrm>
            <a:off x="1546025" y="2440594"/>
            <a:ext cx="5832600" cy="1159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400"/>
              <a:buNone/>
            </a:pPr>
            <a:endParaRPr sz="6000" dirty="0">
              <a:solidFill>
                <a:schemeClr val="accent4"/>
              </a:solidFill>
            </a:endParaRPr>
          </a:p>
          <a:p>
            <a:pPr marL="0" lvl="0" indent="0" algn="l" rtl="0">
              <a:lnSpc>
                <a:spcPct val="100000"/>
              </a:lnSpc>
              <a:spcBef>
                <a:spcPts val="0"/>
              </a:spcBef>
              <a:spcAft>
                <a:spcPts val="0"/>
              </a:spcAft>
              <a:buSzPts val="4400"/>
              <a:buNone/>
            </a:pPr>
            <a:r>
              <a:rPr lang="en" sz="3600" dirty="0"/>
              <a:t>Inspecting the Website </a:t>
            </a:r>
            <a:endParaRPr sz="3600" dirty="0"/>
          </a:p>
          <a:p>
            <a:pPr marL="0" lvl="0" indent="0" algn="l" rtl="0">
              <a:lnSpc>
                <a:spcPct val="100000"/>
              </a:lnSpc>
              <a:spcBef>
                <a:spcPts val="0"/>
              </a:spcBef>
              <a:spcAft>
                <a:spcPts val="0"/>
              </a:spcAft>
              <a:buSzPts val="4400"/>
              <a:buNone/>
            </a:pPr>
            <a:endParaRPr sz="3600" dirty="0"/>
          </a:p>
          <a:p>
            <a:pPr marL="0" lvl="0" indent="0" algn="l" rtl="0">
              <a:lnSpc>
                <a:spcPct val="100000"/>
              </a:lnSpc>
              <a:spcBef>
                <a:spcPts val="0"/>
              </a:spcBef>
              <a:spcAft>
                <a:spcPts val="0"/>
              </a:spcAft>
              <a:buSzPts val="4400"/>
              <a:buNone/>
            </a:pPr>
            <a:endParaRPr sz="3600" dirty="0"/>
          </a:p>
        </p:txBody>
      </p:sp>
      <p:sp>
        <p:nvSpPr>
          <p:cNvPr id="126" name="Google Shape;126;gef0424f90f_0_7"/>
          <p:cNvSpPr txBox="1">
            <a:spLocks noGrp="1"/>
          </p:cNvSpPr>
          <p:nvPr>
            <p:ph type="sldNum" idx="4294967295"/>
          </p:nvPr>
        </p:nvSpPr>
        <p:spPr>
          <a:xfrm>
            <a:off x="8404384" y="54356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2" name="Google Shape;132;gef0424f90f_0_13"/>
          <p:cNvSpPr txBox="1"/>
          <p:nvPr/>
        </p:nvSpPr>
        <p:spPr>
          <a:xfrm>
            <a:off x="611100" y="1389162"/>
            <a:ext cx="8086500" cy="116952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 sz="1600" b="0" i="0" u="none" strike="noStrike" cap="none" dirty="0">
                <a:solidFill>
                  <a:srgbClr val="3B3835"/>
                </a:solidFill>
                <a:highlight>
                  <a:srgbClr val="FFFFFF"/>
                </a:highlight>
                <a:latin typeface="+mj-lt"/>
                <a:ea typeface="Roboto"/>
                <a:cs typeface="Roboto"/>
                <a:sym typeface="Roboto"/>
              </a:rPr>
              <a:t>Before you write any Python code, you need to get to know the website that you want to scrape. That should be your first step for any web scraping project you want to tackle. You’ll need to understand the site structure to extract the information that’s relevant for you.</a:t>
            </a:r>
            <a:endParaRPr sz="1600" b="0" i="0" u="none" strike="noStrike" cap="none" dirty="0">
              <a:solidFill>
                <a:srgbClr val="3B3835"/>
              </a:solidFill>
              <a:highlight>
                <a:srgbClr val="FFFFFF"/>
              </a:highlight>
              <a:latin typeface="+mj-lt"/>
              <a:ea typeface="Roboto"/>
              <a:cs typeface="Roboto"/>
              <a:sym typeface="Roboto"/>
            </a:endParaRPr>
          </a:p>
        </p:txBody>
      </p:sp>
      <p:sp>
        <p:nvSpPr>
          <p:cNvPr id="133" name="Google Shape;133;gef0424f90f_0_13"/>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10</a:t>
            </a:fld>
            <a:endParaRPr/>
          </a:p>
        </p:txBody>
      </p:sp>
      <p:sp>
        <p:nvSpPr>
          <p:cNvPr id="134" name="Google Shape;134;gef0424f90f_0_13"/>
          <p:cNvSpPr txBox="1"/>
          <p:nvPr/>
        </p:nvSpPr>
        <p:spPr>
          <a:xfrm>
            <a:off x="611100" y="659175"/>
            <a:ext cx="8207100" cy="710934"/>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1400"/>
              </a:spcBef>
              <a:spcAft>
                <a:spcPts val="400"/>
              </a:spcAft>
              <a:buClr>
                <a:srgbClr val="000000"/>
              </a:buClr>
              <a:buSzPts val="1500"/>
              <a:buFont typeface="Arial"/>
              <a:buNone/>
            </a:pPr>
            <a:r>
              <a:rPr lang="en" sz="1600" b="1" i="0" u="none" strike="noStrike" cap="none" dirty="0" smtClean="0">
                <a:solidFill>
                  <a:srgbClr val="EF4F63"/>
                </a:solidFill>
                <a:latin typeface="+mj-lt"/>
                <a:ea typeface="Merriweather"/>
                <a:cs typeface="Merriweather"/>
                <a:sym typeface="Merriweather"/>
              </a:rPr>
              <a:t>Explore </a:t>
            </a:r>
            <a:r>
              <a:rPr lang="en" sz="1600" b="1" i="0" u="none" strike="noStrike" cap="none" dirty="0">
                <a:solidFill>
                  <a:srgbClr val="EF4F63"/>
                </a:solidFill>
                <a:latin typeface="+mj-lt"/>
                <a:ea typeface="Merriweather"/>
                <a:cs typeface="Merriweather"/>
                <a:sym typeface="Merriweather"/>
              </a:rPr>
              <a:t>the Website</a:t>
            </a:r>
            <a:endParaRPr sz="1600" b="1" i="0" u="none" strike="noStrike" cap="none" dirty="0">
              <a:solidFill>
                <a:srgbClr val="EF4F63"/>
              </a:solidFill>
              <a:latin typeface="+mj-lt"/>
              <a:ea typeface="Merriweather"/>
              <a:cs typeface="Merriweather"/>
              <a:sym typeface="Merriweather"/>
            </a:endParaRPr>
          </a:p>
        </p:txBody>
      </p:sp>
      <p:sp>
        <p:nvSpPr>
          <p:cNvPr id="135" name="Google Shape;135;gef0424f90f_0_13"/>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Inspect Your Data Source</a:t>
            </a:r>
            <a:endParaRPr sz="27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fade">
                                      <p:cBhvr>
                                        <p:cTn id="7" dur="1000"/>
                                        <p:tgtEl>
                                          <p:spTgt spid="1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fade">
                                      <p:cBhvr>
                                        <p:cTn id="12" dur="1000"/>
                                        <p:tgtEl>
                                          <p:spTgt spid="1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2"/>
                                        </p:tgtEl>
                                        <p:attrNameLst>
                                          <p:attrName>style.visibility</p:attrName>
                                        </p:attrNameLst>
                                      </p:cBhvr>
                                      <p:to>
                                        <p:strVal val="visible"/>
                                      </p:to>
                                    </p:set>
                                    <p:animEffect transition="in" filter="fade">
                                      <p:cBhvr>
                                        <p:cTn id="17" dur="10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ef0424f90f_0_13"/>
          <p:cNvSpPr txBox="1"/>
          <p:nvPr/>
        </p:nvSpPr>
        <p:spPr>
          <a:xfrm>
            <a:off x="549150" y="847398"/>
            <a:ext cx="8019600" cy="341629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b="1" i="0" u="none" strike="noStrike" cap="none" dirty="0" smtClean="0">
                <a:solidFill>
                  <a:srgbClr val="222222"/>
                </a:solidFill>
                <a:highlight>
                  <a:srgbClr val="FFFFFF"/>
                </a:highlight>
                <a:latin typeface="+mj-lt"/>
                <a:ea typeface="Source Sans Pro"/>
                <a:cs typeface="Source Sans Pro"/>
                <a:sym typeface="Source Sans Pro"/>
              </a:rPr>
              <a:t>Deconstruct </a:t>
            </a:r>
            <a:r>
              <a:rPr lang="en" b="1" i="0" u="none" strike="noStrike" cap="none" dirty="0">
                <a:solidFill>
                  <a:srgbClr val="222222"/>
                </a:solidFill>
                <a:highlight>
                  <a:srgbClr val="FFFFFF"/>
                </a:highlight>
                <a:latin typeface="+mj-lt"/>
                <a:ea typeface="Source Sans Pro"/>
                <a:cs typeface="Source Sans Pro"/>
                <a:sym typeface="Source Sans Pro"/>
              </a:rPr>
              <a:t>the </a:t>
            </a:r>
            <a:r>
              <a:rPr lang="en" b="1" i="0" u="none" strike="noStrike" cap="none" dirty="0" smtClean="0">
                <a:solidFill>
                  <a:srgbClr val="222222"/>
                </a:solidFill>
                <a:highlight>
                  <a:srgbClr val="FFFFFF"/>
                </a:highlight>
                <a:latin typeface="+mj-lt"/>
                <a:ea typeface="Source Sans Pro"/>
                <a:cs typeface="Source Sans Pro"/>
                <a:sym typeface="Source Sans Pro"/>
              </a:rPr>
              <a:t>url</a:t>
            </a:r>
            <a:r>
              <a:rPr lang="en-US" b="1" i="0" u="none" strike="noStrike" cap="none" dirty="0" smtClean="0">
                <a:solidFill>
                  <a:srgbClr val="222222"/>
                </a:solidFill>
                <a:highlight>
                  <a:srgbClr val="FFFFFF"/>
                </a:highlight>
                <a:latin typeface="+mj-lt"/>
                <a:ea typeface="Source Sans Pro"/>
                <a:cs typeface="Source Sans Pro"/>
                <a:sym typeface="Source Sans Pro"/>
              </a:rPr>
              <a:t>: </a:t>
            </a:r>
            <a:r>
              <a:rPr lang="en" b="0" i="0" u="none" strike="noStrike" cap="none" dirty="0" smtClean="0">
                <a:solidFill>
                  <a:srgbClr val="222222"/>
                </a:solidFill>
                <a:highlight>
                  <a:srgbClr val="FFFFFF"/>
                </a:highlight>
                <a:latin typeface="+mj-lt"/>
                <a:ea typeface="Source Sans Pro"/>
                <a:cs typeface="Source Sans Pro"/>
                <a:sym typeface="Source Sans Pro"/>
              </a:rPr>
              <a:t>Deconstruct </a:t>
            </a:r>
            <a:r>
              <a:rPr lang="en" b="0" i="0" u="none" strike="noStrike" cap="none" dirty="0">
                <a:solidFill>
                  <a:srgbClr val="222222"/>
                </a:solidFill>
                <a:highlight>
                  <a:srgbClr val="FFFFFF"/>
                </a:highlight>
                <a:latin typeface="+mj-lt"/>
                <a:ea typeface="Source Sans Pro"/>
                <a:cs typeface="Source Sans Pro"/>
                <a:sym typeface="Source Sans Pro"/>
              </a:rPr>
              <a:t>the url into base-url and categories on </a:t>
            </a:r>
            <a:r>
              <a:rPr lang="en" b="0" i="0" u="none" strike="noStrike" cap="none" dirty="0" smtClean="0">
                <a:solidFill>
                  <a:srgbClr val="222222"/>
                </a:solidFill>
                <a:highlight>
                  <a:srgbClr val="FFFFFF"/>
                </a:highlight>
                <a:latin typeface="+mj-lt"/>
                <a:ea typeface="Source Sans Pro"/>
                <a:cs typeface="Source Sans Pro"/>
                <a:sym typeface="Source Sans Pro"/>
              </a:rPr>
              <a:t>site</a:t>
            </a:r>
            <a:endParaRPr lang="en" dirty="0">
              <a:solidFill>
                <a:srgbClr val="222222"/>
              </a:solidFill>
              <a:highlight>
                <a:srgbClr val="FFFFFF"/>
              </a:highlight>
              <a:latin typeface="+mj-lt"/>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500"/>
              <a:buFont typeface="Arial"/>
              <a:buNone/>
            </a:pPr>
            <a:endParaRPr lang="en" b="1" i="0" u="none" strike="noStrike" cap="none" dirty="0">
              <a:solidFill>
                <a:srgbClr val="222222"/>
              </a:solidFill>
              <a:highlight>
                <a:srgbClr val="FFFFFF"/>
              </a:highlight>
              <a:latin typeface="+mj-lt"/>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500"/>
              <a:buFont typeface="Arial"/>
              <a:buNone/>
            </a:pPr>
            <a:r>
              <a:rPr lang="en" b="1" i="0" u="none" strike="noStrike" cap="none" dirty="0" smtClean="0">
                <a:solidFill>
                  <a:srgbClr val="222222"/>
                </a:solidFill>
                <a:highlight>
                  <a:srgbClr val="FFFFFF"/>
                </a:highlight>
                <a:latin typeface="+mj-lt"/>
                <a:ea typeface="Source Sans Pro"/>
                <a:cs typeface="Source Sans Pro"/>
                <a:sym typeface="Source Sans Pro"/>
              </a:rPr>
              <a:t>Extract </a:t>
            </a:r>
            <a:r>
              <a:rPr lang="en" b="1" i="0" u="none" strike="noStrike" cap="none" dirty="0">
                <a:solidFill>
                  <a:srgbClr val="222222"/>
                </a:solidFill>
                <a:highlight>
                  <a:srgbClr val="FFFFFF"/>
                </a:highlight>
                <a:latin typeface="+mj-lt"/>
                <a:ea typeface="Source Sans Pro"/>
                <a:cs typeface="Source Sans Pro"/>
                <a:sym typeface="Source Sans Pro"/>
              </a:rPr>
              <a:t>the </a:t>
            </a:r>
            <a:r>
              <a:rPr lang="en" b="1" i="0" u="none" strike="noStrike" cap="none" dirty="0" smtClean="0">
                <a:solidFill>
                  <a:srgbClr val="222222"/>
                </a:solidFill>
                <a:highlight>
                  <a:srgbClr val="FFFFFF"/>
                </a:highlight>
                <a:latin typeface="+mj-lt"/>
                <a:ea typeface="Source Sans Pro"/>
                <a:cs typeface="Source Sans Pro"/>
                <a:sym typeface="Source Sans Pro"/>
              </a:rPr>
              <a:t>parameter:</a:t>
            </a:r>
            <a:r>
              <a:rPr lang="en" b="1" dirty="0">
                <a:solidFill>
                  <a:srgbClr val="222222"/>
                </a:solidFill>
                <a:highlight>
                  <a:srgbClr val="FFFFFF"/>
                </a:highlight>
                <a:latin typeface="+mj-lt"/>
                <a:ea typeface="Source Sans Pro"/>
                <a:cs typeface="Source Sans Pro"/>
                <a:sym typeface="Source Sans Pro"/>
              </a:rPr>
              <a:t> </a:t>
            </a:r>
            <a:r>
              <a:rPr lang="en" b="0" i="0" u="none" strike="noStrike" cap="none" dirty="0" smtClean="0">
                <a:solidFill>
                  <a:srgbClr val="222222"/>
                </a:solidFill>
                <a:highlight>
                  <a:srgbClr val="FFFFFF"/>
                </a:highlight>
                <a:latin typeface="+mj-lt"/>
                <a:ea typeface="Source Sans Pro"/>
                <a:cs typeface="Source Sans Pro"/>
                <a:sym typeface="Source Sans Pro"/>
              </a:rPr>
              <a:t>websites </a:t>
            </a:r>
            <a:r>
              <a:rPr lang="en" b="0" i="0" u="none" strike="noStrike" cap="none" dirty="0">
                <a:solidFill>
                  <a:srgbClr val="222222"/>
                </a:solidFill>
                <a:highlight>
                  <a:srgbClr val="FFFFFF"/>
                </a:highlight>
                <a:latin typeface="+mj-lt"/>
                <a:ea typeface="Source Sans Pro"/>
                <a:cs typeface="Source Sans Pro"/>
                <a:sym typeface="Source Sans Pro"/>
              </a:rPr>
              <a:t>use query parameters to encode values that you submit when performing a </a:t>
            </a:r>
            <a:r>
              <a:rPr lang="en" b="0" i="0" u="none" strike="noStrike" cap="none" dirty="0" smtClean="0">
                <a:solidFill>
                  <a:srgbClr val="222222"/>
                </a:solidFill>
                <a:highlight>
                  <a:srgbClr val="FFFFFF"/>
                </a:highlight>
                <a:latin typeface="+mj-lt"/>
                <a:ea typeface="Source Sans Pro"/>
                <a:cs typeface="Source Sans Pro"/>
                <a:sym typeface="Source Sans Pro"/>
              </a:rPr>
              <a:t>search.</a:t>
            </a:r>
            <a:r>
              <a:rPr lang="en" dirty="0">
                <a:solidFill>
                  <a:srgbClr val="222222"/>
                </a:solidFill>
                <a:highlight>
                  <a:srgbClr val="FFFFFF"/>
                </a:highlight>
                <a:latin typeface="+mj-lt"/>
                <a:ea typeface="Source Sans Pro"/>
                <a:cs typeface="Source Sans Pro"/>
                <a:sym typeface="Source Sans Pro"/>
              </a:rPr>
              <a:t> </a:t>
            </a:r>
            <a:r>
              <a:rPr lang="en" b="0" i="0" u="none" strike="noStrike" cap="none" dirty="0" smtClean="0">
                <a:solidFill>
                  <a:srgbClr val="222222"/>
                </a:solidFill>
                <a:highlight>
                  <a:srgbClr val="FFFFFF"/>
                </a:highlight>
                <a:latin typeface="+mj-lt"/>
                <a:ea typeface="Source Sans Pro"/>
                <a:cs typeface="Source Sans Pro"/>
                <a:sym typeface="Source Sans Pro"/>
              </a:rPr>
              <a:t>E.g </a:t>
            </a:r>
            <a:r>
              <a:rPr lang="en" b="0" i="0" u="none" strike="noStrike" cap="none" dirty="0">
                <a:solidFill>
                  <a:srgbClr val="212529"/>
                </a:solidFill>
                <a:highlight>
                  <a:srgbClr val="F6F6F6"/>
                </a:highlight>
                <a:latin typeface="+mj-lt"/>
                <a:ea typeface="Courier New"/>
                <a:cs typeface="Courier New"/>
                <a:sym typeface="Courier New"/>
              </a:rPr>
              <a:t>https://au.indeed.com/jobs?q=software+developer&amp;l=Australia</a:t>
            </a:r>
            <a:r>
              <a:rPr lang="en" b="1" i="0" u="none" strike="noStrike" cap="none" dirty="0">
                <a:solidFill>
                  <a:srgbClr val="222222"/>
                </a:solidFill>
                <a:highlight>
                  <a:srgbClr val="FFFFFF"/>
                </a:highlight>
                <a:latin typeface="+mj-lt"/>
                <a:ea typeface="Source Sans Pro"/>
                <a:cs typeface="Source Sans Pro"/>
                <a:sym typeface="Source Sans Pro"/>
              </a:rPr>
              <a:t> </a:t>
            </a:r>
            <a:endParaRPr lang="en" dirty="0">
              <a:solidFill>
                <a:srgbClr val="222222"/>
              </a:solidFill>
              <a:highlight>
                <a:srgbClr val="FFFFFF"/>
              </a:highlight>
              <a:latin typeface="+mj-lt"/>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500"/>
              <a:buFont typeface="Arial"/>
              <a:buNone/>
            </a:pPr>
            <a:endParaRPr lang="en" b="0" i="0" u="none" strike="noStrike" cap="none" dirty="0">
              <a:solidFill>
                <a:srgbClr val="222222"/>
              </a:solidFill>
              <a:highlight>
                <a:srgbClr val="FFFFFF"/>
              </a:highlight>
              <a:latin typeface="+mj-lt"/>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500"/>
              <a:buFont typeface="Arial"/>
              <a:buNone/>
            </a:pPr>
            <a:r>
              <a:rPr lang="en" b="0" i="0" u="none" strike="noStrike" cap="none" dirty="0" smtClean="0">
                <a:solidFill>
                  <a:srgbClr val="222222"/>
                </a:solidFill>
                <a:highlight>
                  <a:srgbClr val="FFFFFF"/>
                </a:highlight>
                <a:latin typeface="+mj-lt"/>
                <a:ea typeface="Source Sans Pro"/>
                <a:cs typeface="Source Sans Pro"/>
                <a:sym typeface="Source Sans Pro"/>
              </a:rPr>
              <a:t>The </a:t>
            </a:r>
            <a:r>
              <a:rPr lang="en" b="0" i="0" u="none" strike="noStrike" cap="none" dirty="0">
                <a:solidFill>
                  <a:srgbClr val="222222"/>
                </a:solidFill>
                <a:highlight>
                  <a:srgbClr val="FFFFFF"/>
                </a:highlight>
                <a:latin typeface="+mj-lt"/>
                <a:ea typeface="Source Sans Pro"/>
                <a:cs typeface="Source Sans Pro"/>
                <a:sym typeface="Source Sans Pro"/>
              </a:rPr>
              <a:t>query parameters in this URL are </a:t>
            </a:r>
            <a:r>
              <a:rPr lang="en" b="0" i="0" u="none" strike="noStrike" cap="none" dirty="0">
                <a:solidFill>
                  <a:srgbClr val="222222"/>
                </a:solidFill>
                <a:highlight>
                  <a:srgbClr val="FFFFFF"/>
                </a:highlight>
                <a:latin typeface="+mj-lt"/>
                <a:ea typeface="Courier New"/>
                <a:cs typeface="Courier New"/>
                <a:sym typeface="Courier New"/>
              </a:rPr>
              <a:t>?q=software+developer&amp;l=Australia</a:t>
            </a:r>
            <a:r>
              <a:rPr lang="en" b="0" i="0" u="none" strike="noStrike" cap="none" dirty="0">
                <a:solidFill>
                  <a:srgbClr val="222222"/>
                </a:solidFill>
                <a:highlight>
                  <a:srgbClr val="FFFFFF"/>
                </a:highlight>
                <a:latin typeface="+mj-lt"/>
                <a:ea typeface="Source Sans Pro"/>
                <a:cs typeface="Source Sans Pro"/>
                <a:sym typeface="Source Sans Pro"/>
              </a:rPr>
              <a:t>. Query parameters consist of three </a:t>
            </a:r>
            <a:r>
              <a:rPr lang="en" b="0" i="0" u="none" strike="noStrike" cap="none" dirty="0" smtClean="0">
                <a:solidFill>
                  <a:srgbClr val="222222"/>
                </a:solidFill>
                <a:highlight>
                  <a:srgbClr val="FFFFFF"/>
                </a:highlight>
                <a:latin typeface="+mj-lt"/>
                <a:ea typeface="Source Sans Pro"/>
                <a:cs typeface="Source Sans Pro"/>
                <a:sym typeface="Source Sans Pro"/>
              </a:rPr>
              <a:t>parts:</a:t>
            </a:r>
          </a:p>
          <a:p>
            <a:pPr marL="0" marR="0" lvl="0" indent="0" algn="l" rtl="0">
              <a:lnSpc>
                <a:spcPct val="100000"/>
              </a:lnSpc>
              <a:spcBef>
                <a:spcPts val="0"/>
              </a:spcBef>
              <a:spcAft>
                <a:spcPts val="0"/>
              </a:spcAft>
              <a:buClr>
                <a:srgbClr val="000000"/>
              </a:buClr>
              <a:buSzPts val="1500"/>
              <a:buFont typeface="Arial"/>
              <a:buNone/>
            </a:pPr>
            <a:endParaRPr lang="en" dirty="0">
              <a:solidFill>
                <a:srgbClr val="222222"/>
              </a:solidFill>
              <a:highlight>
                <a:srgbClr val="FFFFFF"/>
              </a:highlight>
              <a:latin typeface="+mj-lt"/>
              <a:ea typeface="Source Sans Pro"/>
              <a:cs typeface="Source Sans Pro"/>
              <a:sym typeface="Source Sans Pro"/>
            </a:endParaRPr>
          </a:p>
          <a:p>
            <a:pPr marL="342900" marR="0" lvl="0" indent="-342900" algn="l" rtl="0">
              <a:lnSpc>
                <a:spcPct val="100000"/>
              </a:lnSpc>
              <a:spcBef>
                <a:spcPts val="0"/>
              </a:spcBef>
              <a:spcAft>
                <a:spcPts val="0"/>
              </a:spcAft>
              <a:buClr>
                <a:srgbClr val="000000"/>
              </a:buClr>
              <a:buSzPts val="1500"/>
              <a:buFont typeface="+mj-lt"/>
              <a:buAutoNum type="arabicPeriod"/>
            </a:pPr>
            <a:r>
              <a:rPr lang="en" b="1" i="0" u="none" strike="noStrike" cap="none" dirty="0" smtClean="0">
                <a:solidFill>
                  <a:srgbClr val="222222"/>
                </a:solidFill>
                <a:highlight>
                  <a:srgbClr val="FFFFFF"/>
                </a:highlight>
                <a:latin typeface="+mj-lt"/>
                <a:ea typeface="Source Sans Pro"/>
                <a:cs typeface="Source Sans Pro"/>
                <a:sym typeface="Source Sans Pro"/>
              </a:rPr>
              <a:t>Start</a:t>
            </a:r>
            <a:r>
              <a:rPr lang="en" b="0" i="0" u="none" strike="noStrike" cap="none" dirty="0">
                <a:solidFill>
                  <a:srgbClr val="222222"/>
                </a:solidFill>
                <a:highlight>
                  <a:srgbClr val="FFFFFF"/>
                </a:highlight>
                <a:latin typeface="+mj-lt"/>
                <a:ea typeface="Source Sans Pro"/>
                <a:cs typeface="Source Sans Pro"/>
                <a:sym typeface="Source Sans Pro"/>
              </a:rPr>
              <a:t>: The beginning of the query parameters is denoted by a question mark </a:t>
            </a:r>
            <a:r>
              <a:rPr lang="en" b="0" i="0" u="none" strike="noStrike" cap="none" dirty="0" smtClean="0">
                <a:solidFill>
                  <a:srgbClr val="222222"/>
                </a:solidFill>
                <a:highlight>
                  <a:srgbClr val="FFFFFF"/>
                </a:highlight>
                <a:latin typeface="+mj-lt"/>
                <a:ea typeface="Source Sans Pro"/>
                <a:cs typeface="Source Sans Pro"/>
                <a:sym typeface="Source Sans Pro"/>
              </a:rPr>
              <a:t>(</a:t>
            </a:r>
            <a:r>
              <a:rPr lang="en" b="0" i="0" u="none" strike="noStrike" cap="none" dirty="0" smtClean="0">
                <a:solidFill>
                  <a:srgbClr val="222222"/>
                </a:solidFill>
                <a:highlight>
                  <a:srgbClr val="FFFFFF"/>
                </a:highlight>
                <a:latin typeface="+mj-lt"/>
                <a:ea typeface="Courier New"/>
                <a:cs typeface="Courier New"/>
                <a:sym typeface="Courier New"/>
              </a:rPr>
              <a:t>?</a:t>
            </a:r>
            <a:r>
              <a:rPr lang="en" b="0" i="0" u="none" strike="noStrike" cap="none" dirty="0" smtClean="0">
                <a:solidFill>
                  <a:srgbClr val="222222"/>
                </a:solidFill>
                <a:highlight>
                  <a:srgbClr val="FFFFFF"/>
                </a:highlight>
                <a:latin typeface="+mj-lt"/>
                <a:ea typeface="Source Sans Pro"/>
                <a:cs typeface="Source Sans Pro"/>
                <a:sym typeface="Source Sans Pro"/>
              </a:rPr>
              <a:t>).</a:t>
            </a:r>
            <a:endParaRPr lang="en" dirty="0">
              <a:solidFill>
                <a:srgbClr val="222222"/>
              </a:solidFill>
              <a:highlight>
                <a:srgbClr val="FFFFFF"/>
              </a:highlight>
              <a:latin typeface="+mj-lt"/>
              <a:ea typeface="Source Sans Pro"/>
              <a:cs typeface="Source Sans Pro"/>
              <a:sym typeface="Source Sans Pro"/>
            </a:endParaRPr>
          </a:p>
          <a:p>
            <a:pPr marL="342900" marR="0" lvl="0" indent="-342900" algn="l" rtl="0">
              <a:lnSpc>
                <a:spcPct val="100000"/>
              </a:lnSpc>
              <a:spcBef>
                <a:spcPts val="0"/>
              </a:spcBef>
              <a:spcAft>
                <a:spcPts val="0"/>
              </a:spcAft>
              <a:buClr>
                <a:srgbClr val="000000"/>
              </a:buClr>
              <a:buSzPts val="1500"/>
              <a:buFont typeface="+mj-lt"/>
              <a:buAutoNum type="arabicPeriod"/>
            </a:pPr>
            <a:endParaRPr lang="en" b="1" i="0" u="none" strike="noStrike" cap="none" dirty="0" smtClean="0">
              <a:solidFill>
                <a:srgbClr val="222222"/>
              </a:solidFill>
              <a:highlight>
                <a:srgbClr val="FFFFFF"/>
              </a:highlight>
              <a:latin typeface="+mj-lt"/>
              <a:ea typeface="Source Sans Pro"/>
              <a:cs typeface="Source Sans Pro"/>
              <a:sym typeface="Source Sans Pro"/>
            </a:endParaRPr>
          </a:p>
          <a:p>
            <a:pPr marL="342900" marR="0" lvl="0" indent="-342900" algn="l" rtl="0">
              <a:lnSpc>
                <a:spcPct val="100000"/>
              </a:lnSpc>
              <a:spcBef>
                <a:spcPts val="0"/>
              </a:spcBef>
              <a:spcAft>
                <a:spcPts val="0"/>
              </a:spcAft>
              <a:buClr>
                <a:srgbClr val="000000"/>
              </a:buClr>
              <a:buSzPts val="1500"/>
              <a:buFont typeface="+mj-lt"/>
              <a:buAutoNum type="arabicPeriod"/>
            </a:pPr>
            <a:r>
              <a:rPr lang="en" b="1" i="0" u="none" strike="noStrike" cap="none" dirty="0" smtClean="0">
                <a:solidFill>
                  <a:srgbClr val="222222"/>
                </a:solidFill>
                <a:highlight>
                  <a:srgbClr val="FFFFFF"/>
                </a:highlight>
                <a:latin typeface="+mj-lt"/>
                <a:ea typeface="Source Sans Pro"/>
                <a:cs typeface="Source Sans Pro"/>
                <a:sym typeface="Source Sans Pro"/>
              </a:rPr>
              <a:t>Information</a:t>
            </a:r>
            <a:r>
              <a:rPr lang="en" b="0" i="0" u="none" strike="noStrike" cap="none" dirty="0">
                <a:solidFill>
                  <a:srgbClr val="222222"/>
                </a:solidFill>
                <a:highlight>
                  <a:srgbClr val="FFFFFF"/>
                </a:highlight>
                <a:latin typeface="+mj-lt"/>
                <a:ea typeface="Source Sans Pro"/>
                <a:cs typeface="Source Sans Pro"/>
                <a:sym typeface="Source Sans Pro"/>
              </a:rPr>
              <a:t>: The pieces of information constituting one query parameter are encoded in key-value pairs, where related keys and values are joined together by an equals sign (</a:t>
            </a:r>
            <a:r>
              <a:rPr lang="en" b="0" i="0" u="none" strike="noStrike" cap="none" dirty="0">
                <a:solidFill>
                  <a:srgbClr val="222222"/>
                </a:solidFill>
                <a:highlight>
                  <a:srgbClr val="FFFFFF"/>
                </a:highlight>
                <a:latin typeface="+mj-lt"/>
                <a:ea typeface="Courier New"/>
                <a:cs typeface="Courier New"/>
                <a:sym typeface="Courier New"/>
              </a:rPr>
              <a:t>key=value</a:t>
            </a:r>
            <a:r>
              <a:rPr lang="en" b="0" i="0" u="none" strike="noStrike" cap="none" dirty="0" smtClean="0">
                <a:solidFill>
                  <a:srgbClr val="222222"/>
                </a:solidFill>
                <a:highlight>
                  <a:srgbClr val="FFFFFF"/>
                </a:highlight>
                <a:latin typeface="+mj-lt"/>
                <a:ea typeface="Source Sans Pro"/>
                <a:cs typeface="Source Sans Pro"/>
                <a:sym typeface="Source Sans Pro"/>
              </a:rPr>
              <a:t>).</a:t>
            </a:r>
            <a:endParaRPr lang="en" dirty="0">
              <a:solidFill>
                <a:srgbClr val="222222"/>
              </a:solidFill>
              <a:highlight>
                <a:srgbClr val="FFFFFF"/>
              </a:highlight>
              <a:latin typeface="+mj-lt"/>
              <a:ea typeface="Source Sans Pro"/>
              <a:cs typeface="Source Sans Pro"/>
              <a:sym typeface="Source Sans Pro"/>
            </a:endParaRPr>
          </a:p>
          <a:p>
            <a:pPr marL="342900" marR="0" lvl="0" indent="-342900" algn="l" rtl="0">
              <a:lnSpc>
                <a:spcPct val="100000"/>
              </a:lnSpc>
              <a:spcBef>
                <a:spcPts val="0"/>
              </a:spcBef>
              <a:spcAft>
                <a:spcPts val="0"/>
              </a:spcAft>
              <a:buClr>
                <a:srgbClr val="000000"/>
              </a:buClr>
              <a:buSzPts val="1500"/>
              <a:buFont typeface="+mj-lt"/>
              <a:buAutoNum type="arabicPeriod"/>
            </a:pPr>
            <a:endParaRPr lang="en" b="1" i="0" u="none" strike="noStrike" cap="none" dirty="0" smtClean="0">
              <a:solidFill>
                <a:srgbClr val="222222"/>
              </a:solidFill>
              <a:highlight>
                <a:srgbClr val="FFFFFF"/>
              </a:highlight>
              <a:latin typeface="+mj-lt"/>
              <a:ea typeface="Source Sans Pro"/>
              <a:cs typeface="Source Sans Pro"/>
              <a:sym typeface="Source Sans Pro"/>
            </a:endParaRPr>
          </a:p>
          <a:p>
            <a:pPr marL="342900" marR="0" lvl="0" indent="-342900" algn="l" rtl="0">
              <a:lnSpc>
                <a:spcPct val="100000"/>
              </a:lnSpc>
              <a:spcBef>
                <a:spcPts val="0"/>
              </a:spcBef>
              <a:spcAft>
                <a:spcPts val="0"/>
              </a:spcAft>
              <a:buClr>
                <a:srgbClr val="000000"/>
              </a:buClr>
              <a:buSzPts val="1500"/>
              <a:buFont typeface="+mj-lt"/>
              <a:buAutoNum type="arabicPeriod"/>
            </a:pPr>
            <a:r>
              <a:rPr lang="en" b="1" i="0" u="none" strike="noStrike" cap="none" dirty="0" smtClean="0">
                <a:solidFill>
                  <a:srgbClr val="222222"/>
                </a:solidFill>
                <a:highlight>
                  <a:srgbClr val="FFFFFF"/>
                </a:highlight>
                <a:latin typeface="+mj-lt"/>
                <a:ea typeface="Source Sans Pro"/>
                <a:cs typeface="Source Sans Pro"/>
                <a:sym typeface="Source Sans Pro"/>
              </a:rPr>
              <a:t>Separator</a:t>
            </a:r>
            <a:r>
              <a:rPr lang="en" b="0" i="0" u="none" strike="noStrike" cap="none" dirty="0">
                <a:solidFill>
                  <a:srgbClr val="222222"/>
                </a:solidFill>
                <a:highlight>
                  <a:srgbClr val="FFFFFF"/>
                </a:highlight>
                <a:latin typeface="+mj-lt"/>
                <a:ea typeface="Source Sans Pro"/>
                <a:cs typeface="Source Sans Pro"/>
                <a:sym typeface="Source Sans Pro"/>
              </a:rPr>
              <a:t>: Every URL can have multiple query parameters, separated by an ampersand symbol (</a:t>
            </a:r>
            <a:r>
              <a:rPr lang="en" b="0" i="0" u="none" strike="noStrike" cap="none" dirty="0">
                <a:solidFill>
                  <a:srgbClr val="222222"/>
                </a:solidFill>
                <a:highlight>
                  <a:srgbClr val="FFFFFF"/>
                </a:highlight>
                <a:latin typeface="+mj-lt"/>
                <a:ea typeface="Courier New"/>
                <a:cs typeface="Courier New"/>
                <a:sym typeface="Courier New"/>
              </a:rPr>
              <a:t>&amp;</a:t>
            </a:r>
            <a:r>
              <a:rPr lang="en" b="0" i="0" u="none" strike="noStrike" cap="none" dirty="0">
                <a:solidFill>
                  <a:srgbClr val="222222"/>
                </a:solidFill>
                <a:highlight>
                  <a:srgbClr val="FFFFFF"/>
                </a:highlight>
                <a:latin typeface="+mj-lt"/>
                <a:ea typeface="Source Sans Pro"/>
                <a:cs typeface="Source Sans Pro"/>
                <a:sym typeface="Source Sans Pro"/>
              </a:rPr>
              <a:t>).</a:t>
            </a:r>
            <a:endParaRPr b="1" i="0" u="none" strike="noStrike" cap="none" dirty="0">
              <a:solidFill>
                <a:srgbClr val="222222"/>
              </a:solidFill>
              <a:highlight>
                <a:srgbClr val="FFFFFF"/>
              </a:highlight>
              <a:latin typeface="+mj-lt"/>
              <a:ea typeface="Source Sans Pro"/>
              <a:cs typeface="Source Sans Pro"/>
              <a:sym typeface="Source Sans Pro"/>
            </a:endParaRPr>
          </a:p>
        </p:txBody>
      </p:sp>
      <p:sp>
        <p:nvSpPr>
          <p:cNvPr id="133" name="Google Shape;133;gef0424f90f_0_13"/>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11</a:t>
            </a:fld>
            <a:endParaRPr/>
          </a:p>
        </p:txBody>
      </p:sp>
      <p:sp>
        <p:nvSpPr>
          <p:cNvPr id="135" name="Google Shape;135;gef0424f90f_0_13"/>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Inspect Your Data Source</a:t>
            </a:r>
            <a:endParaRPr sz="2700" b="1"/>
          </a:p>
        </p:txBody>
      </p:sp>
    </p:spTree>
    <p:extLst>
      <p:ext uri="{BB962C8B-B14F-4D97-AF65-F5344CB8AC3E}">
        <p14:creationId xmlns:p14="http://schemas.microsoft.com/office/powerpoint/2010/main" val="3515556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fade">
                                      <p:cBhvr>
                                        <p:cTn id="7" dur="1000"/>
                                        <p:tgtEl>
                                          <p:spTgt spid="1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
                                        </p:tgtEl>
                                        <p:attrNameLst>
                                          <p:attrName>style.visibility</p:attrName>
                                        </p:attrNameLst>
                                      </p:cBhvr>
                                      <p:to>
                                        <p:strVal val="visible"/>
                                      </p:to>
                                    </p:set>
                                    <p:animEffect transition="in" filter="fade">
                                      <p:cBhvr>
                                        <p:cTn id="12" dur="10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1" name="Google Shape;141;gef0424f90f_0_36"/>
          <p:cNvSpPr txBox="1"/>
          <p:nvPr/>
        </p:nvSpPr>
        <p:spPr>
          <a:xfrm>
            <a:off x="611100" y="1296310"/>
            <a:ext cx="8086500" cy="30777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 sz="1600" b="0" i="0" u="none" strike="noStrike" cap="none" dirty="0">
                <a:solidFill>
                  <a:srgbClr val="222222"/>
                </a:solidFill>
                <a:highlight>
                  <a:srgbClr val="FFFFFF"/>
                </a:highlight>
                <a:latin typeface="+mj-lt"/>
                <a:ea typeface="Source Sans Pro"/>
                <a:cs typeface="Source Sans Pro"/>
                <a:sym typeface="Source Sans Pro"/>
              </a:rPr>
              <a:t>Next, you’ll want to learn more about how the data is structured for display. You’ll need to understand the page structure to pick what you want from the HTML response</a:t>
            </a:r>
            <a:r>
              <a:rPr lang="en" sz="1600" b="0" i="0" u="none" strike="noStrike" cap="none" dirty="0" smtClean="0">
                <a:solidFill>
                  <a:srgbClr val="222222"/>
                </a:solidFill>
                <a:highlight>
                  <a:srgbClr val="FFFFFF"/>
                </a:highlight>
                <a:latin typeface="+mj-lt"/>
                <a:ea typeface="Source Sans Pro"/>
                <a:cs typeface="Source Sans Pro"/>
                <a:sym typeface="Source Sans Pro"/>
              </a:rPr>
              <a:t>.</a:t>
            </a:r>
          </a:p>
          <a:p>
            <a:pPr marL="0" marR="0" lvl="0" indent="0" algn="l" rtl="0">
              <a:lnSpc>
                <a:spcPct val="100000"/>
              </a:lnSpc>
              <a:spcBef>
                <a:spcPts val="0"/>
              </a:spcBef>
              <a:spcAft>
                <a:spcPts val="0"/>
              </a:spcAft>
              <a:buClr>
                <a:srgbClr val="000000"/>
              </a:buClr>
              <a:buSzPts val="1350"/>
              <a:buFont typeface="Arial"/>
              <a:buNone/>
            </a:pPr>
            <a:endParaRPr lang="en" sz="1600" dirty="0">
              <a:solidFill>
                <a:srgbClr val="222222"/>
              </a:solidFill>
              <a:highlight>
                <a:srgbClr val="FFFFFF"/>
              </a:highlight>
              <a:latin typeface="+mj-lt"/>
              <a:ea typeface="Roboto"/>
              <a:cs typeface="Roboto"/>
              <a:sym typeface="Source Sans Pro"/>
            </a:endParaRPr>
          </a:p>
          <a:p>
            <a:pPr lvl="0">
              <a:buSzPts val="1350"/>
            </a:pPr>
            <a:r>
              <a:rPr lang="en-US" sz="1600" b="1" dirty="0">
                <a:solidFill>
                  <a:srgbClr val="222222"/>
                </a:solidFill>
                <a:highlight>
                  <a:srgbClr val="FFFFFF"/>
                </a:highlight>
                <a:latin typeface="+mj-lt"/>
                <a:ea typeface="Source Sans Pro"/>
                <a:cs typeface="Source Sans Pro"/>
                <a:sym typeface="Source Sans Pro"/>
              </a:rPr>
              <a:t>Developer tools</a:t>
            </a:r>
            <a:r>
              <a:rPr lang="en-US" sz="1600" dirty="0">
                <a:solidFill>
                  <a:srgbClr val="222222"/>
                </a:solidFill>
                <a:highlight>
                  <a:srgbClr val="FFFFFF"/>
                </a:highlight>
                <a:latin typeface="+mj-lt"/>
                <a:ea typeface="Source Sans Pro"/>
                <a:cs typeface="Source Sans Pro"/>
                <a:sym typeface="Source Sans Pro"/>
              </a:rPr>
              <a:t> can help you understand the structure of a website. All modern browsers come with developer tools installed</a:t>
            </a:r>
            <a:r>
              <a:rPr lang="en-US" sz="1600" dirty="0" smtClean="0">
                <a:solidFill>
                  <a:srgbClr val="222222"/>
                </a:solidFill>
                <a:highlight>
                  <a:srgbClr val="FFFFFF"/>
                </a:highlight>
                <a:latin typeface="+mj-lt"/>
                <a:ea typeface="Source Sans Pro"/>
                <a:cs typeface="Source Sans Pro"/>
                <a:sym typeface="Source Sans Pro"/>
              </a:rPr>
              <a:t>.</a:t>
            </a:r>
          </a:p>
          <a:p>
            <a:pPr lvl="0">
              <a:buSzPts val="1350"/>
            </a:pPr>
            <a:endParaRPr lang="en-US" sz="1600" b="1" dirty="0">
              <a:solidFill>
                <a:srgbClr val="222222"/>
              </a:solidFill>
              <a:highlight>
                <a:srgbClr val="FFFFFF"/>
              </a:highlight>
              <a:latin typeface="+mj-lt"/>
              <a:ea typeface="Source Sans Pro"/>
              <a:cs typeface="Source Sans Pro"/>
              <a:sym typeface="Source Sans Pro"/>
            </a:endParaRPr>
          </a:p>
          <a:p>
            <a:pPr lvl="0">
              <a:lnSpc>
                <a:spcPct val="115000"/>
              </a:lnSpc>
              <a:buSzPts val="1350"/>
            </a:pPr>
            <a:r>
              <a:rPr lang="en-US" sz="1600" dirty="0">
                <a:solidFill>
                  <a:srgbClr val="222222"/>
                </a:solidFill>
                <a:highlight>
                  <a:srgbClr val="FFFFFF"/>
                </a:highlight>
                <a:latin typeface="+mj-lt"/>
                <a:ea typeface="Source Sans Pro"/>
                <a:cs typeface="Source Sans Pro"/>
                <a:sym typeface="Source Sans Pro"/>
              </a:rPr>
              <a:t>In Chrome on </a:t>
            </a:r>
            <a:r>
              <a:rPr lang="en-US" sz="1600" dirty="0" err="1">
                <a:solidFill>
                  <a:srgbClr val="222222"/>
                </a:solidFill>
                <a:highlight>
                  <a:srgbClr val="FFFFFF"/>
                </a:highlight>
                <a:latin typeface="+mj-lt"/>
                <a:ea typeface="Source Sans Pro"/>
                <a:cs typeface="Source Sans Pro"/>
                <a:sym typeface="Source Sans Pro"/>
              </a:rPr>
              <a:t>macOS</a:t>
            </a:r>
            <a:r>
              <a:rPr lang="en-US" sz="1600" dirty="0">
                <a:solidFill>
                  <a:srgbClr val="222222"/>
                </a:solidFill>
                <a:highlight>
                  <a:srgbClr val="FFFFFF"/>
                </a:highlight>
                <a:latin typeface="+mj-lt"/>
                <a:ea typeface="Source Sans Pro"/>
                <a:cs typeface="Source Sans Pro"/>
                <a:sym typeface="Source Sans Pro"/>
              </a:rPr>
              <a:t>, you can open up the developer tools through the menu by selecting </a:t>
            </a:r>
            <a:r>
              <a:rPr lang="en-US" sz="1600" i="1" dirty="0">
                <a:solidFill>
                  <a:srgbClr val="222222"/>
                </a:solidFill>
                <a:highlight>
                  <a:srgbClr val="FFFFFF"/>
                </a:highlight>
                <a:latin typeface="+mj-lt"/>
                <a:ea typeface="Source Sans Pro"/>
                <a:cs typeface="Source Sans Pro"/>
                <a:sym typeface="Source Sans Pro"/>
              </a:rPr>
              <a:t>View</a:t>
            </a:r>
            <a:r>
              <a:rPr lang="en-US" sz="1600" dirty="0">
                <a:solidFill>
                  <a:srgbClr val="222222"/>
                </a:solidFill>
                <a:highlight>
                  <a:srgbClr val="FFFFFF"/>
                </a:highlight>
                <a:latin typeface="+mj-lt"/>
                <a:ea typeface="Source Sans Pro"/>
                <a:cs typeface="Source Sans Pro"/>
                <a:sym typeface="Source Sans Pro"/>
              </a:rPr>
              <a:t> → </a:t>
            </a:r>
            <a:r>
              <a:rPr lang="en-US" sz="1600" i="1" dirty="0">
                <a:solidFill>
                  <a:srgbClr val="222222"/>
                </a:solidFill>
                <a:highlight>
                  <a:srgbClr val="FFFFFF"/>
                </a:highlight>
                <a:latin typeface="+mj-lt"/>
                <a:ea typeface="Source Sans Pro"/>
                <a:cs typeface="Source Sans Pro"/>
                <a:sym typeface="Source Sans Pro"/>
              </a:rPr>
              <a:t>Developer</a:t>
            </a:r>
            <a:r>
              <a:rPr lang="en-US" sz="1600" dirty="0">
                <a:solidFill>
                  <a:srgbClr val="222222"/>
                </a:solidFill>
                <a:highlight>
                  <a:srgbClr val="FFFFFF"/>
                </a:highlight>
                <a:latin typeface="+mj-lt"/>
                <a:ea typeface="Source Sans Pro"/>
                <a:cs typeface="Source Sans Pro"/>
                <a:sym typeface="Source Sans Pro"/>
              </a:rPr>
              <a:t> → </a:t>
            </a:r>
            <a:r>
              <a:rPr lang="en-US" sz="1600" i="1" dirty="0">
                <a:solidFill>
                  <a:srgbClr val="222222"/>
                </a:solidFill>
                <a:highlight>
                  <a:srgbClr val="FFFFFF"/>
                </a:highlight>
                <a:latin typeface="+mj-lt"/>
                <a:ea typeface="Source Sans Pro"/>
                <a:cs typeface="Source Sans Pro"/>
                <a:sym typeface="Source Sans Pro"/>
              </a:rPr>
              <a:t>Developer Tools</a:t>
            </a:r>
            <a:r>
              <a:rPr lang="en-US" sz="1600" dirty="0">
                <a:solidFill>
                  <a:srgbClr val="222222"/>
                </a:solidFill>
                <a:highlight>
                  <a:srgbClr val="FFFFFF"/>
                </a:highlight>
                <a:latin typeface="+mj-lt"/>
                <a:ea typeface="Source Sans Pro"/>
                <a:cs typeface="Source Sans Pro"/>
                <a:sym typeface="Source Sans Pro"/>
              </a:rPr>
              <a:t>. </a:t>
            </a:r>
            <a:endParaRPr lang="en-US" sz="1600" dirty="0" smtClean="0">
              <a:solidFill>
                <a:srgbClr val="222222"/>
              </a:solidFill>
              <a:highlight>
                <a:srgbClr val="FFFFFF"/>
              </a:highlight>
              <a:latin typeface="+mj-lt"/>
              <a:ea typeface="Source Sans Pro"/>
              <a:cs typeface="Source Sans Pro"/>
              <a:sym typeface="Source Sans Pro"/>
            </a:endParaRPr>
          </a:p>
          <a:p>
            <a:pPr lvl="0">
              <a:lnSpc>
                <a:spcPct val="115000"/>
              </a:lnSpc>
              <a:buSzPts val="1350"/>
            </a:pPr>
            <a:endParaRPr lang="en-US" sz="1600" dirty="0">
              <a:solidFill>
                <a:srgbClr val="222222"/>
              </a:solidFill>
              <a:highlight>
                <a:srgbClr val="FFFFFF"/>
              </a:highlight>
              <a:latin typeface="+mj-lt"/>
              <a:ea typeface="Source Sans Pro"/>
              <a:cs typeface="Source Sans Pro"/>
              <a:sym typeface="Source Sans Pro"/>
            </a:endParaRPr>
          </a:p>
          <a:p>
            <a:pPr lvl="0">
              <a:lnSpc>
                <a:spcPct val="115000"/>
              </a:lnSpc>
              <a:buSzPts val="1350"/>
            </a:pPr>
            <a:r>
              <a:rPr lang="en-US" sz="1600" dirty="0" smtClean="0">
                <a:solidFill>
                  <a:srgbClr val="222222"/>
                </a:solidFill>
                <a:highlight>
                  <a:srgbClr val="FFFFFF"/>
                </a:highlight>
                <a:latin typeface="+mj-lt"/>
                <a:ea typeface="Source Sans Pro"/>
                <a:cs typeface="Source Sans Pro"/>
                <a:sym typeface="Source Sans Pro"/>
              </a:rPr>
              <a:t>On </a:t>
            </a:r>
            <a:r>
              <a:rPr lang="en-US" sz="1600" dirty="0">
                <a:solidFill>
                  <a:srgbClr val="222222"/>
                </a:solidFill>
                <a:highlight>
                  <a:srgbClr val="FFFFFF"/>
                </a:highlight>
                <a:latin typeface="+mj-lt"/>
                <a:ea typeface="Source Sans Pro"/>
                <a:cs typeface="Source Sans Pro"/>
                <a:sym typeface="Source Sans Pro"/>
              </a:rPr>
              <a:t>Windows and Linux, you can access them by clicking the top-right menu button (</a:t>
            </a:r>
            <a:r>
              <a:rPr lang="en-US" sz="1600" dirty="0">
                <a:solidFill>
                  <a:srgbClr val="222222"/>
                </a:solidFill>
                <a:highlight>
                  <a:srgbClr val="FFFFFF"/>
                </a:highlight>
                <a:latin typeface="+mj-lt"/>
                <a:ea typeface="Courier New"/>
                <a:cs typeface="Courier New"/>
                <a:sym typeface="Courier New"/>
              </a:rPr>
              <a:t>⋮</a:t>
            </a:r>
            <a:r>
              <a:rPr lang="en-US" sz="1600" dirty="0">
                <a:solidFill>
                  <a:srgbClr val="222222"/>
                </a:solidFill>
                <a:highlight>
                  <a:srgbClr val="FFFFFF"/>
                </a:highlight>
                <a:latin typeface="+mj-lt"/>
                <a:ea typeface="Source Sans Pro"/>
                <a:cs typeface="Source Sans Pro"/>
                <a:sym typeface="Source Sans Pro"/>
              </a:rPr>
              <a:t>) and selecting </a:t>
            </a:r>
            <a:r>
              <a:rPr lang="en-US" sz="1600" i="1" dirty="0">
                <a:solidFill>
                  <a:srgbClr val="222222"/>
                </a:solidFill>
                <a:highlight>
                  <a:srgbClr val="FFFFFF"/>
                </a:highlight>
                <a:latin typeface="+mj-lt"/>
                <a:ea typeface="Source Sans Pro"/>
                <a:cs typeface="Source Sans Pro"/>
                <a:sym typeface="Source Sans Pro"/>
              </a:rPr>
              <a:t>More Tools</a:t>
            </a:r>
            <a:r>
              <a:rPr lang="en-US" sz="1600" dirty="0">
                <a:solidFill>
                  <a:srgbClr val="222222"/>
                </a:solidFill>
                <a:highlight>
                  <a:srgbClr val="FFFFFF"/>
                </a:highlight>
                <a:latin typeface="+mj-lt"/>
                <a:ea typeface="Source Sans Pro"/>
                <a:cs typeface="Source Sans Pro"/>
                <a:sym typeface="Source Sans Pro"/>
              </a:rPr>
              <a:t> → </a:t>
            </a:r>
            <a:r>
              <a:rPr lang="en-US" sz="1600" i="1" dirty="0">
                <a:solidFill>
                  <a:srgbClr val="222222"/>
                </a:solidFill>
                <a:highlight>
                  <a:srgbClr val="FFFFFF"/>
                </a:highlight>
                <a:latin typeface="+mj-lt"/>
                <a:ea typeface="Source Sans Pro"/>
                <a:cs typeface="Source Sans Pro"/>
                <a:sym typeface="Source Sans Pro"/>
              </a:rPr>
              <a:t>Developer Tools</a:t>
            </a:r>
            <a:r>
              <a:rPr lang="en-US" sz="1600" dirty="0" smtClean="0">
                <a:solidFill>
                  <a:srgbClr val="222222"/>
                </a:solidFill>
                <a:highlight>
                  <a:srgbClr val="FFFFFF"/>
                </a:highlight>
                <a:latin typeface="+mj-lt"/>
                <a:ea typeface="Source Sans Pro"/>
                <a:cs typeface="Source Sans Pro"/>
                <a:sym typeface="Source Sans Pro"/>
              </a:rPr>
              <a:t>.</a:t>
            </a:r>
            <a:endParaRPr lang="en-US" sz="1600" dirty="0">
              <a:solidFill>
                <a:srgbClr val="222222"/>
              </a:solidFill>
              <a:highlight>
                <a:srgbClr val="FCFCFC"/>
              </a:highlight>
              <a:latin typeface="+mj-lt"/>
              <a:ea typeface="Courier New"/>
              <a:cs typeface="Courier New"/>
              <a:sym typeface="Courier New"/>
            </a:endParaRPr>
          </a:p>
        </p:txBody>
      </p:sp>
      <p:sp>
        <p:nvSpPr>
          <p:cNvPr id="142" name="Google Shape;142;gef0424f90f_0_36"/>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12</a:t>
            </a:fld>
            <a:endParaRPr/>
          </a:p>
        </p:txBody>
      </p:sp>
      <p:sp>
        <p:nvSpPr>
          <p:cNvPr id="143" name="Google Shape;143;gef0424f90f_0_36"/>
          <p:cNvSpPr txBox="1"/>
          <p:nvPr/>
        </p:nvSpPr>
        <p:spPr>
          <a:xfrm>
            <a:off x="611100" y="659175"/>
            <a:ext cx="8207100" cy="710934"/>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1400"/>
              </a:spcBef>
              <a:spcAft>
                <a:spcPts val="40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Inspecting the Site using Developer Tools</a:t>
            </a:r>
            <a:endParaRPr sz="1600" b="1" i="0" u="none" strike="noStrike" cap="none" dirty="0">
              <a:solidFill>
                <a:srgbClr val="EF4F63"/>
              </a:solidFill>
              <a:latin typeface="+mj-lt"/>
              <a:ea typeface="Merriweather"/>
              <a:cs typeface="Merriweather"/>
              <a:sym typeface="Merriweather"/>
            </a:endParaRPr>
          </a:p>
        </p:txBody>
      </p:sp>
      <p:sp>
        <p:nvSpPr>
          <p:cNvPr id="144" name="Google Shape;144;gef0424f90f_0_36"/>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Inspect Your Data Source</a:t>
            </a:r>
            <a:endParaRPr sz="27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1000"/>
                                        <p:tgtEl>
                                          <p:spTgt spid="1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3"/>
                                        </p:tgtEl>
                                        <p:attrNameLst>
                                          <p:attrName>style.visibility</p:attrName>
                                        </p:attrNameLst>
                                      </p:cBhvr>
                                      <p:to>
                                        <p:strVal val="visible"/>
                                      </p:to>
                                    </p:set>
                                    <p:animEffect transition="in" filter="fade">
                                      <p:cBhvr>
                                        <p:cTn id="12" dur="1000"/>
                                        <p:tgtEl>
                                          <p:spTgt spid="1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1"/>
                                        </p:tgtEl>
                                        <p:attrNameLst>
                                          <p:attrName>style.visibility</p:attrName>
                                        </p:attrNameLst>
                                      </p:cBhvr>
                                      <p:to>
                                        <p:strVal val="visible"/>
                                      </p:to>
                                    </p:set>
                                    <p:animEffect transition="in" filter="fade">
                                      <p:cBhvr>
                                        <p:cTn id="17" dur="10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2" name="Google Shape;142;gef0424f90f_0_36"/>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13</a:t>
            </a:fld>
            <a:endParaRPr/>
          </a:p>
        </p:txBody>
      </p:sp>
      <p:sp>
        <p:nvSpPr>
          <p:cNvPr id="143" name="Google Shape;143;gef0424f90f_0_36"/>
          <p:cNvSpPr txBox="1"/>
          <p:nvPr/>
        </p:nvSpPr>
        <p:spPr>
          <a:xfrm>
            <a:off x="611100" y="659175"/>
            <a:ext cx="8207100" cy="710934"/>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1400"/>
              </a:spcBef>
              <a:spcAft>
                <a:spcPts val="40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Inspecting the Site using Developer Tools</a:t>
            </a:r>
            <a:endParaRPr sz="1600" b="1" i="0" u="none" strike="noStrike" cap="none" dirty="0">
              <a:solidFill>
                <a:srgbClr val="EF4F63"/>
              </a:solidFill>
              <a:latin typeface="+mj-lt"/>
              <a:ea typeface="Merriweather"/>
              <a:cs typeface="Merriweather"/>
              <a:sym typeface="Merriweather"/>
            </a:endParaRPr>
          </a:p>
        </p:txBody>
      </p:sp>
      <p:sp>
        <p:nvSpPr>
          <p:cNvPr id="144" name="Google Shape;144;gef0424f90f_0_36"/>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Inspect Your Data Source</a:t>
            </a:r>
            <a:endParaRPr sz="2700" b="1"/>
          </a:p>
        </p:txBody>
      </p:sp>
      <p:sp>
        <p:nvSpPr>
          <p:cNvPr id="145" name="Google Shape;145;gef0424f90f_0_36"/>
          <p:cNvSpPr txBox="1"/>
          <p:nvPr/>
        </p:nvSpPr>
        <p:spPr>
          <a:xfrm>
            <a:off x="611100" y="1275828"/>
            <a:ext cx="8003400" cy="244987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350"/>
              <a:buFont typeface="Arial"/>
              <a:buNone/>
            </a:pPr>
            <a:r>
              <a:rPr lang="en" sz="1600" b="1" i="0" u="none" strike="noStrike" cap="none" dirty="0">
                <a:solidFill>
                  <a:srgbClr val="222222"/>
                </a:solidFill>
                <a:highlight>
                  <a:srgbClr val="FFFFFF"/>
                </a:highlight>
                <a:latin typeface="+mj-lt"/>
                <a:ea typeface="Source Sans Pro"/>
                <a:cs typeface="Source Sans Pro"/>
                <a:sym typeface="Source Sans Pro"/>
              </a:rPr>
              <a:t>Short keys</a:t>
            </a:r>
            <a:endParaRPr sz="1600" b="1" i="0" u="none" strike="noStrike" cap="none" dirty="0">
              <a:solidFill>
                <a:srgbClr val="222222"/>
              </a:solidFill>
              <a:highlight>
                <a:srgbClr val="FFFFFF"/>
              </a:highlight>
              <a:latin typeface="+mj-lt"/>
              <a:ea typeface="Source Sans Pro"/>
              <a:cs typeface="Source Sans Pro"/>
              <a:sym typeface="Source Sans Pro"/>
            </a:endParaRPr>
          </a:p>
          <a:p>
            <a:pPr marL="457200" marR="0" lvl="0" indent="-314325" algn="l" rtl="0">
              <a:lnSpc>
                <a:spcPct val="115000"/>
              </a:lnSpc>
              <a:spcBef>
                <a:spcPts val="0"/>
              </a:spcBef>
              <a:spcAft>
                <a:spcPts val="0"/>
              </a:spcAft>
              <a:buClr>
                <a:srgbClr val="222222"/>
              </a:buClr>
              <a:buSzPts val="1350"/>
              <a:buFont typeface="Source Sans Pro"/>
              <a:buChar char="●"/>
            </a:pPr>
            <a:r>
              <a:rPr lang="en" sz="1600" b="0" i="0" u="none" strike="noStrike" cap="none" dirty="0">
                <a:solidFill>
                  <a:srgbClr val="222222"/>
                </a:solidFill>
                <a:highlight>
                  <a:srgbClr val="FFFFFF"/>
                </a:highlight>
                <a:latin typeface="+mj-lt"/>
                <a:ea typeface="Source Sans Pro"/>
                <a:cs typeface="Source Sans Pro"/>
                <a:sym typeface="Source Sans Pro"/>
              </a:rPr>
              <a:t>Mac: </a:t>
            </a:r>
            <a:r>
              <a:rPr lang="en" sz="1600" b="0" i="0" u="none" strike="noStrike" cap="none" dirty="0">
                <a:solidFill>
                  <a:srgbClr val="222222"/>
                </a:solidFill>
                <a:highlight>
                  <a:srgbClr val="FCFCFC"/>
                </a:highlight>
                <a:latin typeface="+mj-lt"/>
                <a:ea typeface="Courier New"/>
                <a:cs typeface="Courier New"/>
                <a:sym typeface="Courier New"/>
              </a:rPr>
              <a:t>Cmd</a:t>
            </a:r>
            <a:r>
              <a:rPr lang="en" sz="1600" b="0" i="0" u="none" strike="noStrike" cap="none" dirty="0">
                <a:solidFill>
                  <a:srgbClr val="BDBDBD"/>
                </a:solidFill>
                <a:highlight>
                  <a:srgbClr val="FFFFFF"/>
                </a:highlight>
                <a:latin typeface="+mj-lt"/>
                <a:ea typeface="Source Sans Pro"/>
                <a:cs typeface="Source Sans Pro"/>
                <a:sym typeface="Source Sans Pro"/>
              </a:rPr>
              <a:t>+</a:t>
            </a:r>
            <a:r>
              <a:rPr lang="en" sz="1600" b="0" i="0" u="none" strike="noStrike" cap="none" dirty="0">
                <a:solidFill>
                  <a:srgbClr val="222222"/>
                </a:solidFill>
                <a:highlight>
                  <a:srgbClr val="FCFCFC"/>
                </a:highlight>
                <a:latin typeface="+mj-lt"/>
                <a:ea typeface="Courier New"/>
                <a:cs typeface="Courier New"/>
                <a:sym typeface="Courier New"/>
              </a:rPr>
              <a:t>Alt</a:t>
            </a:r>
            <a:r>
              <a:rPr lang="en" sz="1600" b="0" i="0" u="none" strike="noStrike" cap="none" dirty="0">
                <a:solidFill>
                  <a:srgbClr val="BDBDBD"/>
                </a:solidFill>
                <a:highlight>
                  <a:srgbClr val="FFFFFF"/>
                </a:highlight>
                <a:latin typeface="+mj-lt"/>
                <a:ea typeface="Source Sans Pro"/>
                <a:cs typeface="Source Sans Pro"/>
                <a:sym typeface="Source Sans Pro"/>
              </a:rPr>
              <a:t>+</a:t>
            </a:r>
            <a:r>
              <a:rPr lang="en" sz="1600" b="0" i="0" u="none" strike="noStrike" cap="none" dirty="0">
                <a:solidFill>
                  <a:srgbClr val="222222"/>
                </a:solidFill>
                <a:highlight>
                  <a:srgbClr val="FCFCFC"/>
                </a:highlight>
                <a:latin typeface="+mj-lt"/>
                <a:ea typeface="Courier New"/>
                <a:cs typeface="Courier New"/>
                <a:sym typeface="Courier New"/>
              </a:rPr>
              <a:t>I</a:t>
            </a:r>
            <a:endParaRPr sz="1600" b="0" i="0" u="none" strike="noStrike" cap="none" dirty="0">
              <a:solidFill>
                <a:srgbClr val="222222"/>
              </a:solidFill>
              <a:highlight>
                <a:srgbClr val="FCFCFC"/>
              </a:highlight>
              <a:latin typeface="+mj-lt"/>
              <a:ea typeface="Courier New"/>
              <a:cs typeface="Courier New"/>
              <a:sym typeface="Courier New"/>
            </a:endParaRPr>
          </a:p>
          <a:p>
            <a:pPr marL="457200" marR="0" lvl="0" indent="-314325" algn="l" rtl="0">
              <a:lnSpc>
                <a:spcPct val="115000"/>
              </a:lnSpc>
              <a:spcBef>
                <a:spcPts val="0"/>
              </a:spcBef>
              <a:spcAft>
                <a:spcPts val="0"/>
              </a:spcAft>
              <a:buClr>
                <a:srgbClr val="222222"/>
              </a:buClr>
              <a:buSzPts val="1350"/>
              <a:buFont typeface="Source Sans Pro"/>
              <a:buChar char="●"/>
            </a:pPr>
            <a:r>
              <a:rPr lang="en" sz="1600" b="0" i="0" u="none" strike="noStrike" cap="none" dirty="0">
                <a:solidFill>
                  <a:srgbClr val="222222"/>
                </a:solidFill>
                <a:highlight>
                  <a:srgbClr val="FFFFFF"/>
                </a:highlight>
                <a:latin typeface="+mj-lt"/>
                <a:ea typeface="Source Sans Pro"/>
                <a:cs typeface="Source Sans Pro"/>
                <a:sym typeface="Source Sans Pro"/>
              </a:rPr>
              <a:t>Windows/Linux: </a:t>
            </a:r>
            <a:r>
              <a:rPr lang="en" sz="1600" b="0" i="0" u="none" strike="noStrike" cap="none" dirty="0" smtClean="0">
                <a:solidFill>
                  <a:srgbClr val="222222"/>
                </a:solidFill>
                <a:highlight>
                  <a:srgbClr val="FCFCFC"/>
                </a:highlight>
                <a:latin typeface="+mj-lt"/>
                <a:ea typeface="Courier New"/>
                <a:cs typeface="Courier New"/>
                <a:sym typeface="Courier New"/>
              </a:rPr>
              <a:t>Ctrl</a:t>
            </a:r>
            <a:r>
              <a:rPr lang="en" sz="1600" b="0" i="0" u="none" strike="noStrike" cap="none" dirty="0" smtClean="0">
                <a:solidFill>
                  <a:srgbClr val="BDBDBD"/>
                </a:solidFill>
                <a:highlight>
                  <a:srgbClr val="FFFFFF"/>
                </a:highlight>
                <a:latin typeface="+mj-lt"/>
                <a:ea typeface="Source Sans Pro"/>
                <a:cs typeface="Source Sans Pro"/>
                <a:sym typeface="Source Sans Pro"/>
              </a:rPr>
              <a:t>+</a:t>
            </a:r>
            <a:r>
              <a:rPr lang="en" sz="1600" b="0" i="0" u="none" strike="noStrike" cap="none" dirty="0" smtClean="0">
                <a:solidFill>
                  <a:srgbClr val="222222"/>
                </a:solidFill>
                <a:highlight>
                  <a:srgbClr val="FCFCFC"/>
                </a:highlight>
                <a:latin typeface="+mj-lt"/>
                <a:ea typeface="Courier New"/>
                <a:cs typeface="Courier New"/>
                <a:sym typeface="Courier New"/>
              </a:rPr>
              <a:t>Shift</a:t>
            </a:r>
            <a:r>
              <a:rPr lang="en" sz="1600" b="0" i="0" u="none" strike="noStrike" cap="none" dirty="0" smtClean="0">
                <a:solidFill>
                  <a:srgbClr val="BDBDBD"/>
                </a:solidFill>
                <a:highlight>
                  <a:srgbClr val="FFFFFF"/>
                </a:highlight>
                <a:latin typeface="+mj-lt"/>
                <a:ea typeface="Source Sans Pro"/>
                <a:cs typeface="Source Sans Pro"/>
                <a:sym typeface="Source Sans Pro"/>
              </a:rPr>
              <a:t>+</a:t>
            </a:r>
            <a:r>
              <a:rPr lang="en" sz="1600" b="0" i="0" u="none" strike="noStrike" cap="none" dirty="0" smtClean="0">
                <a:solidFill>
                  <a:srgbClr val="222222"/>
                </a:solidFill>
                <a:highlight>
                  <a:srgbClr val="FCFCFC"/>
                </a:highlight>
                <a:latin typeface="+mj-lt"/>
                <a:ea typeface="Courier New"/>
                <a:cs typeface="Courier New"/>
                <a:sym typeface="Courier New"/>
              </a:rPr>
              <a:t>I</a:t>
            </a:r>
          </a:p>
          <a:p>
            <a:pPr marL="142875" marR="0" lvl="0" algn="l" rtl="0">
              <a:lnSpc>
                <a:spcPct val="115000"/>
              </a:lnSpc>
              <a:spcBef>
                <a:spcPts val="0"/>
              </a:spcBef>
              <a:spcAft>
                <a:spcPts val="0"/>
              </a:spcAft>
              <a:buClr>
                <a:srgbClr val="222222"/>
              </a:buClr>
              <a:buSzPts val="1350"/>
            </a:pPr>
            <a:endParaRPr sz="1600" b="1" i="0" u="none" strike="noStrike" cap="none" dirty="0">
              <a:solidFill>
                <a:srgbClr val="222222"/>
              </a:solidFill>
              <a:highlight>
                <a:srgbClr val="FFFFFF"/>
              </a:highlight>
              <a:latin typeface="+mj-lt"/>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350"/>
              <a:buFont typeface="Arial"/>
              <a:buNone/>
            </a:pPr>
            <a:r>
              <a:rPr lang="en" sz="1600" b="1" i="0" u="none" strike="noStrike" cap="none" dirty="0">
                <a:solidFill>
                  <a:srgbClr val="222222"/>
                </a:solidFill>
                <a:highlight>
                  <a:srgbClr val="FFFFFF"/>
                </a:highlight>
                <a:latin typeface="+mj-lt"/>
                <a:ea typeface="Source Sans Pro"/>
                <a:cs typeface="Source Sans Pro"/>
                <a:sym typeface="Source Sans Pro"/>
              </a:rPr>
              <a:t>Developer tools</a:t>
            </a:r>
            <a:r>
              <a:rPr lang="en" sz="1600" b="0" i="0" u="none" strike="noStrike" cap="none" dirty="0">
                <a:solidFill>
                  <a:srgbClr val="222222"/>
                </a:solidFill>
                <a:highlight>
                  <a:srgbClr val="FFFFFF"/>
                </a:highlight>
                <a:latin typeface="+mj-lt"/>
                <a:ea typeface="Source Sans Pro"/>
                <a:cs typeface="Source Sans Pro"/>
                <a:sym typeface="Source Sans Pro"/>
              </a:rPr>
              <a:t> allow you to interactively explore the site’s </a:t>
            </a:r>
            <a:r>
              <a:rPr lang="en" sz="1600" b="0" i="0" u="none" strike="noStrike" cap="none" dirty="0">
                <a:solidFill>
                  <a:srgbClr val="3676AB"/>
                </a:solidFill>
                <a:highlight>
                  <a:srgbClr val="FFFFFF"/>
                </a:highlight>
                <a:uFill>
                  <a:noFill/>
                </a:uFill>
                <a:latin typeface="+mj-lt"/>
                <a:ea typeface="Source Sans Pro"/>
                <a:cs typeface="Source Sans Pro"/>
                <a:sym typeface="Source Sans Pr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document object model (DOM)</a:t>
            </a:r>
            <a:r>
              <a:rPr lang="en" sz="1600" b="0" i="0" u="none" strike="noStrike" cap="none" dirty="0">
                <a:solidFill>
                  <a:srgbClr val="222222"/>
                </a:solidFill>
                <a:highlight>
                  <a:srgbClr val="FFFFFF"/>
                </a:highlight>
                <a:latin typeface="+mj-lt"/>
                <a:ea typeface="Source Sans Pro"/>
                <a:cs typeface="Source Sans Pro"/>
                <a:sym typeface="Source Sans Pro"/>
              </a:rPr>
              <a:t> to better understand your source. To dig into your page’s DOM, select the </a:t>
            </a:r>
            <a:r>
              <a:rPr lang="en" sz="1600" b="0" i="1" u="none" strike="noStrike" cap="none" dirty="0">
                <a:solidFill>
                  <a:srgbClr val="222222"/>
                </a:solidFill>
                <a:highlight>
                  <a:srgbClr val="FFFFFF"/>
                </a:highlight>
                <a:latin typeface="+mj-lt"/>
                <a:ea typeface="Source Sans Pro"/>
                <a:cs typeface="Source Sans Pro"/>
                <a:sym typeface="Source Sans Pro"/>
              </a:rPr>
              <a:t>Elements</a:t>
            </a:r>
            <a:r>
              <a:rPr lang="en" sz="1600" b="0" i="0" u="none" strike="noStrike" cap="none" dirty="0">
                <a:solidFill>
                  <a:srgbClr val="222222"/>
                </a:solidFill>
                <a:highlight>
                  <a:srgbClr val="FFFFFF"/>
                </a:highlight>
                <a:latin typeface="+mj-lt"/>
                <a:ea typeface="Source Sans Pro"/>
                <a:cs typeface="Source Sans Pro"/>
                <a:sym typeface="Source Sans Pro"/>
              </a:rPr>
              <a:t> tab in developer tools. You’ll see a structure with clickable HTML elements. You can expand, collapse, and even edit elements right in your browser.</a:t>
            </a:r>
            <a:endParaRPr sz="1600" b="0" i="0" u="none" strike="noStrike" cap="none" dirty="0">
              <a:solidFill>
                <a:srgbClr val="000000"/>
              </a:solidFill>
              <a:latin typeface="+mj-lt"/>
              <a:ea typeface="Source Sans Pro"/>
              <a:cs typeface="Source Sans Pro"/>
              <a:sym typeface="Source Sans Pro"/>
            </a:endParaRPr>
          </a:p>
        </p:txBody>
      </p:sp>
    </p:spTree>
    <p:extLst>
      <p:ext uri="{BB962C8B-B14F-4D97-AF65-F5344CB8AC3E}">
        <p14:creationId xmlns:p14="http://schemas.microsoft.com/office/powerpoint/2010/main" val="1616062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1000"/>
                                        <p:tgtEl>
                                          <p:spTgt spid="1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3"/>
                                        </p:tgtEl>
                                        <p:attrNameLst>
                                          <p:attrName>style.visibility</p:attrName>
                                        </p:attrNameLst>
                                      </p:cBhvr>
                                      <p:to>
                                        <p:strVal val="visible"/>
                                      </p:to>
                                    </p:set>
                                    <p:animEffect transition="in" filter="fade">
                                      <p:cBhvr>
                                        <p:cTn id="12" dur="10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gef0424f90f_0_49"/>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14</a:t>
            </a:fld>
            <a:endParaRPr/>
          </a:p>
        </p:txBody>
      </p:sp>
      <p:sp>
        <p:nvSpPr>
          <p:cNvPr id="151" name="Google Shape;151;gef0424f90f_0_49"/>
          <p:cNvSpPr txBox="1"/>
          <p:nvPr/>
        </p:nvSpPr>
        <p:spPr>
          <a:xfrm>
            <a:off x="611100" y="659175"/>
            <a:ext cx="8207100" cy="710934"/>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1400"/>
              </a:spcBef>
              <a:spcAft>
                <a:spcPts val="40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Inspecting the Site using Developer Tools</a:t>
            </a:r>
            <a:endParaRPr sz="1600" b="1" i="0" u="none" strike="noStrike" cap="none" dirty="0">
              <a:solidFill>
                <a:srgbClr val="EF4F63"/>
              </a:solidFill>
              <a:latin typeface="+mj-lt"/>
              <a:ea typeface="Merriweather"/>
              <a:cs typeface="Merriweather"/>
              <a:sym typeface="Merriweather"/>
            </a:endParaRPr>
          </a:p>
        </p:txBody>
      </p:sp>
      <p:sp>
        <p:nvSpPr>
          <p:cNvPr id="152" name="Google Shape;152;gef0424f90f_0_49"/>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Inspect Your Data Source</a:t>
            </a:r>
            <a:endParaRPr sz="2700" b="1"/>
          </a:p>
        </p:txBody>
      </p:sp>
      <p:pic>
        <p:nvPicPr>
          <p:cNvPr id="153" name="Google Shape;153;gef0424f90f_0_49"/>
          <p:cNvPicPr preferRelativeResize="0"/>
          <p:nvPr/>
        </p:nvPicPr>
        <p:blipFill rotWithShape="1">
          <a:blip r:embed="rId3">
            <a:alphaModFix/>
          </a:blip>
          <a:srcRect/>
          <a:stretch/>
        </p:blipFill>
        <p:spPr>
          <a:xfrm>
            <a:off x="712603" y="1285629"/>
            <a:ext cx="7571699" cy="3378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1000"/>
                                        <p:tgtEl>
                                          <p:spTgt spid="152"/>
                                        </p:tgtEl>
                                      </p:cBhvr>
                                    </p:animEffect>
                                  </p:childTnLst>
                                </p:cTn>
                              </p:par>
                              <p:par>
                                <p:cTn id="8" presetID="10" presetClass="entr" presetSubtype="0" fill="hold" nodeType="withEffect">
                                  <p:stCondLst>
                                    <p:cond delay="0"/>
                                  </p:stCondLst>
                                  <p:childTnLst>
                                    <p:set>
                                      <p:cBhvr>
                                        <p:cTn id="9" dur="1" fill="hold">
                                          <p:stCondLst>
                                            <p:cond delay="0"/>
                                          </p:stCondLst>
                                        </p:cTn>
                                        <p:tgtEl>
                                          <p:spTgt spid="151"/>
                                        </p:tgtEl>
                                        <p:attrNameLst>
                                          <p:attrName>style.visibility</p:attrName>
                                        </p:attrNameLst>
                                      </p:cBhvr>
                                      <p:to>
                                        <p:strVal val="visible"/>
                                      </p:to>
                                    </p:set>
                                    <p:animEffect transition="in" filter="fade">
                                      <p:cBhvr>
                                        <p:cTn id="10" dur="10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ef0424f90f_0_65"/>
          <p:cNvSpPr txBox="1"/>
          <p:nvPr/>
        </p:nvSpPr>
        <p:spPr>
          <a:xfrm>
            <a:off x="611100" y="3329225"/>
            <a:ext cx="8086500" cy="1172598"/>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0"/>
              </a:spcBef>
              <a:spcAft>
                <a:spcPts val="0"/>
              </a:spcAft>
              <a:buClr>
                <a:srgbClr val="000000"/>
              </a:buClr>
              <a:buSzPts val="1300"/>
              <a:buFont typeface="Arial"/>
              <a:buNone/>
            </a:pPr>
            <a:r>
              <a:rPr lang="en" sz="1300" b="1" i="0" u="none" strike="noStrike" cap="none" dirty="0">
                <a:solidFill>
                  <a:srgbClr val="222222"/>
                </a:solidFill>
                <a:highlight>
                  <a:srgbClr val="FFFFFF"/>
                </a:highlight>
                <a:latin typeface="+mj-lt"/>
                <a:ea typeface="Source Sans Pro"/>
                <a:cs typeface="Source Sans Pro"/>
                <a:sym typeface="Source Sans Pro"/>
              </a:rPr>
              <a:t>Static Websites</a:t>
            </a:r>
            <a:endParaRPr sz="1300" b="1" i="0" u="none" strike="noStrike" cap="none" dirty="0">
              <a:solidFill>
                <a:srgbClr val="222222"/>
              </a:solidFill>
              <a:highlight>
                <a:srgbClr val="FFFFFF"/>
              </a:highlight>
              <a:latin typeface="+mj-lt"/>
              <a:ea typeface="Source Sans Pro"/>
              <a:cs typeface="Source Sans Pro"/>
              <a:sym typeface="Source Sans Pro"/>
            </a:endParaRPr>
          </a:p>
          <a:p>
            <a:pPr marL="0" marR="0" lvl="0" indent="0" algn="l" rtl="0">
              <a:lnSpc>
                <a:spcPct val="120000"/>
              </a:lnSpc>
              <a:spcBef>
                <a:spcPts val="0"/>
              </a:spcBef>
              <a:spcAft>
                <a:spcPts val="0"/>
              </a:spcAft>
              <a:buClr>
                <a:srgbClr val="000000"/>
              </a:buClr>
              <a:buSzPts val="1350"/>
              <a:buFont typeface="Arial"/>
              <a:buNone/>
            </a:pPr>
            <a:r>
              <a:rPr lang="en" sz="1350" b="0" i="0" u="none" strike="noStrike" cap="none" dirty="0">
                <a:solidFill>
                  <a:srgbClr val="222222"/>
                </a:solidFill>
                <a:highlight>
                  <a:srgbClr val="FFFFFF"/>
                </a:highlight>
                <a:latin typeface="+mj-lt"/>
                <a:ea typeface="Source Sans Pro"/>
                <a:cs typeface="Source Sans Pro"/>
                <a:sym typeface="Source Sans Pro"/>
              </a:rPr>
              <a:t>The website that you’re scraping in this </a:t>
            </a:r>
            <a:r>
              <a:rPr lang="en" sz="1350" b="0" i="0" u="none" strike="noStrike" cap="none" dirty="0" smtClean="0">
                <a:solidFill>
                  <a:srgbClr val="222222"/>
                </a:solidFill>
                <a:highlight>
                  <a:srgbClr val="FFFFFF"/>
                </a:highlight>
                <a:latin typeface="+mj-lt"/>
                <a:ea typeface="Source Sans Pro"/>
                <a:cs typeface="Source Sans Pro"/>
                <a:sym typeface="Source Sans Pro"/>
              </a:rPr>
              <a:t>slide serves </a:t>
            </a:r>
            <a:r>
              <a:rPr lang="en" sz="1350" b="0" i="0" u="none" strike="noStrike" cap="none" dirty="0">
                <a:solidFill>
                  <a:srgbClr val="222222"/>
                </a:solidFill>
                <a:highlight>
                  <a:srgbClr val="FFFFFF"/>
                </a:highlight>
                <a:latin typeface="+mj-lt"/>
                <a:ea typeface="Source Sans Pro"/>
                <a:cs typeface="Source Sans Pro"/>
                <a:sym typeface="Source Sans Pro"/>
              </a:rPr>
              <a:t>static HTML content. In this scenario, the server that hosts the site sends back HTML documents that already contain all the data that you’ll get to see as a user.</a:t>
            </a:r>
            <a:endParaRPr sz="1300" b="0" i="0" u="none" strike="noStrike" cap="none" dirty="0">
              <a:solidFill>
                <a:srgbClr val="222222"/>
              </a:solidFill>
              <a:highlight>
                <a:srgbClr val="FFFFFF"/>
              </a:highlight>
              <a:latin typeface="+mj-lt"/>
              <a:ea typeface="Source Sans Pro"/>
              <a:cs typeface="Source Sans Pro"/>
              <a:sym typeface="Source Sans Pro"/>
            </a:endParaRPr>
          </a:p>
        </p:txBody>
      </p:sp>
      <p:sp>
        <p:nvSpPr>
          <p:cNvPr id="159" name="Google Shape;159;gef0424f90f_0_65"/>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15</a:t>
            </a:fld>
            <a:endParaRPr/>
          </a:p>
        </p:txBody>
      </p:sp>
      <p:sp>
        <p:nvSpPr>
          <p:cNvPr id="160" name="Google Shape;160;gef0424f90f_0_65"/>
          <p:cNvSpPr txBox="1"/>
          <p:nvPr/>
        </p:nvSpPr>
        <p:spPr>
          <a:xfrm>
            <a:off x="611100" y="504599"/>
            <a:ext cx="8207100" cy="710934"/>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1400"/>
              </a:spcBef>
              <a:spcAft>
                <a:spcPts val="40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Scrape HTML Content From a Page</a:t>
            </a:r>
            <a:endParaRPr sz="1600" b="1" i="0" u="none" strike="noStrike" cap="none" dirty="0">
              <a:solidFill>
                <a:srgbClr val="EF4F63"/>
              </a:solidFill>
              <a:latin typeface="+mj-lt"/>
              <a:ea typeface="Merriweather"/>
              <a:cs typeface="Merriweather"/>
              <a:sym typeface="Merriweather"/>
            </a:endParaRPr>
          </a:p>
        </p:txBody>
      </p:sp>
      <p:sp>
        <p:nvSpPr>
          <p:cNvPr id="161" name="Google Shape;161;gef0424f90f_0_65"/>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Inspect Your Data Source</a:t>
            </a:r>
            <a:endParaRPr sz="2700" b="1"/>
          </a:p>
        </p:txBody>
      </p:sp>
      <p:sp>
        <p:nvSpPr>
          <p:cNvPr id="162" name="Google Shape;162;gef0424f90f_0_65"/>
          <p:cNvSpPr txBox="1"/>
          <p:nvPr/>
        </p:nvSpPr>
        <p:spPr>
          <a:xfrm>
            <a:off x="611100" y="1043225"/>
            <a:ext cx="80865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 sz="1350" b="0" i="0" u="none" strike="noStrike" cap="none" dirty="0">
                <a:solidFill>
                  <a:srgbClr val="222222"/>
                </a:solidFill>
                <a:highlight>
                  <a:srgbClr val="FFFFFF"/>
                </a:highlight>
                <a:latin typeface="Source Sans Pro"/>
                <a:ea typeface="Source Sans Pro"/>
                <a:cs typeface="Source Sans Pro"/>
                <a:sym typeface="Source Sans Pro"/>
              </a:rPr>
              <a:t>Now that you have an idea of what you’re working with, it’s time to start using Python. First, you’ll want to get the site’s HTML code into your Python script so that you can interact with it. For this task, you’ll use Python’s </a:t>
            </a:r>
            <a:r>
              <a:rPr lang="en" sz="1200" b="0" i="0" u="none" strike="noStrike" cap="none" dirty="0">
                <a:solidFill>
                  <a:srgbClr val="222222"/>
                </a:solidFill>
                <a:highlight>
                  <a:srgbClr val="FFFFFF"/>
                </a:highlight>
                <a:latin typeface="Courier New"/>
                <a:ea typeface="Courier New"/>
                <a:cs typeface="Courier New"/>
                <a:sym typeface="Courier New"/>
              </a:rPr>
              <a:t>requests</a:t>
            </a:r>
            <a:r>
              <a:rPr lang="en" sz="1350" b="0" i="0" u="none" strike="noStrike" cap="none" dirty="0">
                <a:solidFill>
                  <a:srgbClr val="222222"/>
                </a:solidFill>
                <a:highlight>
                  <a:srgbClr val="FFFFFF"/>
                </a:highlight>
                <a:latin typeface="Source Sans Pro"/>
                <a:ea typeface="Source Sans Pro"/>
                <a:cs typeface="Source Sans Pro"/>
                <a:sym typeface="Source Sans Pro"/>
              </a:rPr>
              <a:t> library.</a:t>
            </a:r>
            <a:endParaRPr sz="1250" b="0" i="0" u="none" strike="noStrike" cap="none" dirty="0">
              <a:solidFill>
                <a:srgbClr val="3B3835"/>
              </a:solidFill>
              <a:highlight>
                <a:srgbClr val="FFFFFF"/>
              </a:highlight>
              <a:latin typeface="Roboto"/>
              <a:ea typeface="Roboto"/>
              <a:cs typeface="Roboto"/>
              <a:sym typeface="Roboto"/>
            </a:endParaRPr>
          </a:p>
        </p:txBody>
      </p:sp>
      <p:sp>
        <p:nvSpPr>
          <p:cNvPr id="163" name="Google Shape;163;gef0424f90f_0_65"/>
          <p:cNvSpPr txBox="1"/>
          <p:nvPr/>
        </p:nvSpPr>
        <p:spPr>
          <a:xfrm>
            <a:off x="611100" y="1805225"/>
            <a:ext cx="8086500" cy="166196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 sz="1350" b="0" i="0" u="none" strike="noStrike" cap="none" dirty="0">
                <a:solidFill>
                  <a:srgbClr val="222222"/>
                </a:solidFill>
                <a:highlight>
                  <a:srgbClr val="FFFFFF"/>
                </a:highlight>
                <a:latin typeface="+mj-lt"/>
                <a:ea typeface="Source Sans Pro"/>
                <a:cs typeface="Source Sans Pro"/>
                <a:sym typeface="Source Sans Pro"/>
              </a:rPr>
              <a:t>Open editor and paste this code in it.</a:t>
            </a:r>
            <a:endParaRPr sz="1100" b="0" i="0" u="none" strike="noStrike" cap="none" dirty="0">
              <a:solidFill>
                <a:srgbClr val="204A87"/>
              </a:solidFill>
              <a:highlight>
                <a:srgbClr val="F6F6F6"/>
              </a:highlight>
              <a:latin typeface="+mj-lt"/>
              <a:ea typeface="Courier New"/>
              <a:cs typeface="Courier New"/>
              <a:sym typeface="Courier New"/>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rgbClr val="204A87"/>
              </a:solidFill>
              <a:highlight>
                <a:srgbClr val="F6F6F6"/>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rgbClr val="204A87"/>
                </a:solidFill>
                <a:highlight>
                  <a:srgbClr val="F6F6F6"/>
                </a:highlight>
                <a:latin typeface="Courier New"/>
                <a:ea typeface="Courier New"/>
                <a:cs typeface="Courier New"/>
                <a:sym typeface="Courier New"/>
              </a:rPr>
              <a:t>import</a:t>
            </a:r>
            <a:r>
              <a:rPr lang="en" sz="1100" b="0" i="0" u="none" strike="noStrike" cap="none" dirty="0">
                <a:solidFill>
                  <a:srgbClr val="212529"/>
                </a:solidFill>
                <a:highlight>
                  <a:srgbClr val="F6F6F6"/>
                </a:highlight>
                <a:latin typeface="Courier New"/>
                <a:ea typeface="Courier New"/>
                <a:cs typeface="Courier New"/>
                <a:sym typeface="Courier New"/>
              </a:rPr>
              <a:t> </a:t>
            </a:r>
            <a:r>
              <a:rPr lang="en" sz="1100" b="0" i="0" u="none" strike="noStrike" cap="none" dirty="0">
                <a:solidFill>
                  <a:srgbClr val="000000"/>
                </a:solidFill>
                <a:highlight>
                  <a:srgbClr val="F6F6F6"/>
                </a:highlight>
                <a:latin typeface="Courier New"/>
                <a:ea typeface="Courier New"/>
                <a:cs typeface="Courier New"/>
                <a:sym typeface="Courier New"/>
              </a:rPr>
              <a:t>requests</a:t>
            </a:r>
            <a:endParaRPr sz="1100" b="0" i="0" u="none" strike="noStrike" cap="none" dirty="0">
              <a:solidFill>
                <a:srgbClr val="212529"/>
              </a:solidFill>
              <a:highlight>
                <a:srgbClr val="F6F6F6"/>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rgbClr val="212529"/>
              </a:solidFill>
              <a:highlight>
                <a:srgbClr val="F6F6F6"/>
              </a:highlight>
              <a:latin typeface="Courier New"/>
              <a:ea typeface="Courier New"/>
              <a:cs typeface="Courier New"/>
              <a:sym typeface="Courier New"/>
            </a:endParaRPr>
          </a:p>
          <a:p>
            <a:pPr>
              <a:buSzPts val="1100"/>
            </a:pPr>
            <a:r>
              <a:rPr lang="en" sz="1100" b="0" i="0" u="none" strike="noStrike" cap="none" dirty="0">
                <a:solidFill>
                  <a:srgbClr val="000000"/>
                </a:solidFill>
                <a:highlight>
                  <a:srgbClr val="F6F6F6"/>
                </a:highlight>
                <a:latin typeface="Courier New"/>
                <a:ea typeface="Courier New"/>
                <a:cs typeface="Courier New"/>
                <a:sym typeface="Courier New"/>
              </a:rPr>
              <a:t>URL</a:t>
            </a:r>
            <a:r>
              <a:rPr lang="en" sz="1100" b="0" i="0" u="none" strike="noStrike" cap="none" dirty="0">
                <a:solidFill>
                  <a:srgbClr val="212529"/>
                </a:solidFill>
                <a:highlight>
                  <a:srgbClr val="F6F6F6"/>
                </a:highlight>
                <a:latin typeface="Courier New"/>
                <a:ea typeface="Courier New"/>
                <a:cs typeface="Courier New"/>
                <a:sym typeface="Courier New"/>
              </a:rPr>
              <a:t> </a:t>
            </a:r>
            <a:r>
              <a:rPr lang="en" sz="1100" b="0" i="0" u="none" strike="noStrike" cap="none" dirty="0">
                <a:solidFill>
                  <a:srgbClr val="CE5C00"/>
                </a:solidFill>
                <a:highlight>
                  <a:srgbClr val="F6F6F6"/>
                </a:highlight>
                <a:latin typeface="Courier New"/>
                <a:ea typeface="Courier New"/>
                <a:cs typeface="Courier New"/>
                <a:sym typeface="Courier New"/>
              </a:rPr>
              <a:t>=</a:t>
            </a:r>
            <a:r>
              <a:rPr lang="en" sz="1100" b="0" i="0" u="none" strike="noStrike" cap="none" dirty="0">
                <a:solidFill>
                  <a:srgbClr val="212529"/>
                </a:solidFill>
                <a:highlight>
                  <a:srgbClr val="F6F6F6"/>
                </a:highlight>
                <a:latin typeface="Courier New"/>
                <a:ea typeface="Courier New"/>
                <a:cs typeface="Courier New"/>
                <a:sym typeface="Courier New"/>
              </a:rPr>
              <a:t> </a:t>
            </a:r>
            <a:r>
              <a:rPr lang="en" sz="1100" b="0" i="0" u="none" strike="noStrike" cap="none" dirty="0" smtClean="0">
                <a:solidFill>
                  <a:srgbClr val="4E9A06"/>
                </a:solidFill>
                <a:highlight>
                  <a:srgbClr val="F6F6F6"/>
                </a:highlight>
                <a:latin typeface="Courier New"/>
                <a:ea typeface="Courier New"/>
                <a:cs typeface="Courier New"/>
                <a:sym typeface="Courier New"/>
              </a:rPr>
              <a:t>"</a:t>
            </a:r>
            <a:r>
              <a:rPr lang="en-US" sz="1100" dirty="0"/>
              <a:t>https://quotes.toscrape.com</a:t>
            </a:r>
            <a:r>
              <a:rPr lang="en-US" sz="1100" dirty="0" smtClean="0"/>
              <a:t>/</a:t>
            </a:r>
            <a:r>
              <a:rPr lang="en" sz="1100" b="0" i="0" u="none" strike="noStrike" cap="none" dirty="0" smtClean="0">
                <a:solidFill>
                  <a:srgbClr val="4E9A06"/>
                </a:solidFill>
                <a:highlight>
                  <a:srgbClr val="F6F6F6"/>
                </a:highlight>
                <a:latin typeface="Courier New"/>
                <a:ea typeface="Courier New"/>
                <a:cs typeface="Courier New"/>
                <a:sym typeface="Courier New"/>
              </a:rPr>
              <a:t>"</a:t>
            </a:r>
            <a:endParaRPr sz="1100" b="0" i="0" u="none" strike="noStrike" cap="none" dirty="0">
              <a:solidFill>
                <a:srgbClr val="212529"/>
              </a:solidFill>
              <a:highlight>
                <a:srgbClr val="F6F6F6"/>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rgbClr val="000000"/>
                </a:solidFill>
                <a:highlight>
                  <a:srgbClr val="F6F6F6"/>
                </a:highlight>
                <a:latin typeface="Courier New"/>
                <a:ea typeface="Courier New"/>
                <a:cs typeface="Courier New"/>
                <a:sym typeface="Courier New"/>
              </a:rPr>
              <a:t>response</a:t>
            </a:r>
            <a:r>
              <a:rPr lang="en" sz="1100" b="0" i="0" u="none" strike="noStrike" cap="none" dirty="0">
                <a:solidFill>
                  <a:srgbClr val="212529"/>
                </a:solidFill>
                <a:highlight>
                  <a:srgbClr val="F6F6F6"/>
                </a:highlight>
                <a:latin typeface="Courier New"/>
                <a:ea typeface="Courier New"/>
                <a:cs typeface="Courier New"/>
                <a:sym typeface="Courier New"/>
              </a:rPr>
              <a:t> </a:t>
            </a:r>
            <a:r>
              <a:rPr lang="en" sz="1100" b="0" i="0" u="none" strike="noStrike" cap="none" dirty="0">
                <a:solidFill>
                  <a:srgbClr val="CE5C00"/>
                </a:solidFill>
                <a:highlight>
                  <a:srgbClr val="F6F6F6"/>
                </a:highlight>
                <a:latin typeface="Courier New"/>
                <a:ea typeface="Courier New"/>
                <a:cs typeface="Courier New"/>
                <a:sym typeface="Courier New"/>
              </a:rPr>
              <a:t>=</a:t>
            </a:r>
            <a:r>
              <a:rPr lang="en" sz="1100" b="0" i="0" u="none" strike="noStrike" cap="none" dirty="0">
                <a:solidFill>
                  <a:srgbClr val="212529"/>
                </a:solidFill>
                <a:highlight>
                  <a:srgbClr val="F6F6F6"/>
                </a:highlight>
                <a:latin typeface="Courier New"/>
                <a:ea typeface="Courier New"/>
                <a:cs typeface="Courier New"/>
                <a:sym typeface="Courier New"/>
              </a:rPr>
              <a:t> </a:t>
            </a:r>
            <a:r>
              <a:rPr lang="en" sz="1100" b="0" i="0" u="none" strike="noStrike" cap="none" dirty="0">
                <a:solidFill>
                  <a:srgbClr val="000000"/>
                </a:solidFill>
                <a:highlight>
                  <a:srgbClr val="F6F6F6"/>
                </a:highlight>
                <a:latin typeface="Courier New"/>
                <a:ea typeface="Courier New"/>
                <a:cs typeface="Courier New"/>
                <a:sym typeface="Courier New"/>
              </a:rPr>
              <a:t>requests</a:t>
            </a:r>
            <a:r>
              <a:rPr lang="en" sz="1100" b="0" i="0" u="none" strike="noStrike" cap="none" dirty="0">
                <a:solidFill>
                  <a:srgbClr val="CE5C00"/>
                </a:solidFill>
                <a:highlight>
                  <a:srgbClr val="F6F6F6"/>
                </a:highlight>
                <a:latin typeface="Courier New"/>
                <a:ea typeface="Courier New"/>
                <a:cs typeface="Courier New"/>
                <a:sym typeface="Courier New"/>
              </a:rPr>
              <a:t>.</a:t>
            </a:r>
            <a:r>
              <a:rPr lang="en" sz="1100" b="0" i="0" u="none" strike="noStrike" cap="none" dirty="0">
                <a:solidFill>
                  <a:srgbClr val="000000"/>
                </a:solidFill>
                <a:highlight>
                  <a:srgbClr val="F6F6F6"/>
                </a:highlight>
                <a:latin typeface="Courier New"/>
                <a:ea typeface="Courier New"/>
                <a:cs typeface="Courier New"/>
                <a:sym typeface="Courier New"/>
              </a:rPr>
              <a:t>get(URL)</a:t>
            </a:r>
            <a:endParaRPr sz="1100" b="0" i="0" u="none" strike="noStrike" cap="none" dirty="0">
              <a:solidFill>
                <a:srgbClr val="212529"/>
              </a:solidFill>
              <a:highlight>
                <a:srgbClr val="F6F6F6"/>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rgbClr val="212529"/>
              </a:solidFill>
              <a:highlight>
                <a:srgbClr val="F6F6F6"/>
              </a:highlight>
              <a:latin typeface="Courier New"/>
              <a:ea typeface="Courier New"/>
              <a:cs typeface="Courier New"/>
              <a:sym typeface="Courier New"/>
            </a:endParaRPr>
          </a:p>
          <a:p>
            <a:pPr marL="0" marR="139700" lvl="0" indent="0" algn="l" rtl="0">
              <a:lnSpc>
                <a:spcPct val="150000"/>
              </a:lnSpc>
              <a:spcBef>
                <a:spcPts val="0"/>
              </a:spcBef>
              <a:spcAft>
                <a:spcPts val="0"/>
              </a:spcAft>
              <a:buClr>
                <a:srgbClr val="000000"/>
              </a:buClr>
              <a:buSzPts val="1100"/>
              <a:buFont typeface="Arial"/>
              <a:buNone/>
            </a:pPr>
            <a:r>
              <a:rPr lang="en" sz="1100" b="0" i="0" u="none" strike="noStrike" cap="none" dirty="0">
                <a:solidFill>
                  <a:srgbClr val="204A87"/>
                </a:solidFill>
                <a:highlight>
                  <a:srgbClr val="F6F6F6"/>
                </a:highlight>
                <a:latin typeface="Courier New"/>
                <a:ea typeface="Courier New"/>
                <a:cs typeface="Courier New"/>
                <a:sym typeface="Courier New"/>
              </a:rPr>
              <a:t>print</a:t>
            </a:r>
            <a:r>
              <a:rPr lang="en" sz="1100" b="0" i="0" u="none" strike="noStrike" cap="none" dirty="0">
                <a:solidFill>
                  <a:srgbClr val="000000"/>
                </a:solidFill>
                <a:highlight>
                  <a:srgbClr val="F6F6F6"/>
                </a:highlight>
                <a:latin typeface="Courier New"/>
                <a:ea typeface="Courier New"/>
                <a:cs typeface="Courier New"/>
                <a:sym typeface="Courier New"/>
              </a:rPr>
              <a:t>(response</a:t>
            </a:r>
            <a:r>
              <a:rPr lang="en" sz="1100" b="0" i="0" u="none" strike="noStrike" cap="none" dirty="0">
                <a:solidFill>
                  <a:srgbClr val="CE5C00"/>
                </a:solidFill>
                <a:highlight>
                  <a:srgbClr val="F6F6F6"/>
                </a:highlight>
                <a:latin typeface="Courier New"/>
                <a:ea typeface="Courier New"/>
                <a:cs typeface="Courier New"/>
                <a:sym typeface="Courier New"/>
              </a:rPr>
              <a:t>.</a:t>
            </a:r>
            <a:r>
              <a:rPr lang="en" sz="1100" b="0" i="0" u="none" strike="noStrike" cap="none" dirty="0">
                <a:solidFill>
                  <a:srgbClr val="000000"/>
                </a:solidFill>
                <a:highlight>
                  <a:srgbClr val="F6F6F6"/>
                </a:highlight>
                <a:latin typeface="Courier New"/>
                <a:ea typeface="Courier New"/>
                <a:cs typeface="Courier New"/>
                <a:sym typeface="Courier New"/>
              </a:rPr>
              <a:t>text)</a:t>
            </a:r>
            <a:endParaRPr sz="1350" b="0" i="0" u="none" strike="noStrike" cap="none" dirty="0">
              <a:solidFill>
                <a:srgbClr val="222222"/>
              </a:solidFill>
              <a:highlight>
                <a:srgbClr val="FFFFFF"/>
              </a:highlight>
              <a:latin typeface="Source Sans Pro"/>
              <a:ea typeface="Source Sans Pro"/>
              <a:cs typeface="Source Sans Pro"/>
              <a:sym typeface="Source Sans Pr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1"/>
                                        </p:tgtEl>
                                        <p:attrNameLst>
                                          <p:attrName>style.visibility</p:attrName>
                                        </p:attrNameLst>
                                      </p:cBhvr>
                                      <p:to>
                                        <p:strVal val="visible"/>
                                      </p:to>
                                    </p:set>
                                    <p:animEffect transition="in" filter="fade">
                                      <p:cBhvr>
                                        <p:cTn id="7" dur="1000"/>
                                        <p:tgtEl>
                                          <p:spTgt spid="1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0"/>
                                        </p:tgtEl>
                                        <p:attrNameLst>
                                          <p:attrName>style.visibility</p:attrName>
                                        </p:attrNameLst>
                                      </p:cBhvr>
                                      <p:to>
                                        <p:strVal val="visible"/>
                                      </p:to>
                                    </p:set>
                                    <p:animEffect transition="in" filter="fade">
                                      <p:cBhvr>
                                        <p:cTn id="12" dur="1000"/>
                                        <p:tgtEl>
                                          <p:spTgt spid="16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2"/>
                                        </p:tgtEl>
                                        <p:attrNameLst>
                                          <p:attrName>style.visibility</p:attrName>
                                        </p:attrNameLst>
                                      </p:cBhvr>
                                      <p:to>
                                        <p:strVal val="visible"/>
                                      </p:to>
                                    </p:set>
                                    <p:animEffect transition="in" filter="fade">
                                      <p:cBhvr>
                                        <p:cTn id="17" dur="1000"/>
                                        <p:tgtEl>
                                          <p:spTgt spid="16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3"/>
                                        </p:tgtEl>
                                        <p:attrNameLst>
                                          <p:attrName>style.visibility</p:attrName>
                                        </p:attrNameLst>
                                      </p:cBhvr>
                                      <p:to>
                                        <p:strVal val="visible"/>
                                      </p:to>
                                    </p:set>
                                    <p:animEffect transition="in" filter="fade">
                                      <p:cBhvr>
                                        <p:cTn id="22" dur="1000"/>
                                        <p:tgtEl>
                                          <p:spTgt spid="16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8"/>
                                        </p:tgtEl>
                                        <p:attrNameLst>
                                          <p:attrName>style.visibility</p:attrName>
                                        </p:attrNameLst>
                                      </p:cBhvr>
                                      <p:to>
                                        <p:strVal val="visible"/>
                                      </p:to>
                                    </p:set>
                                    <p:animEffect transition="in" filter="fade">
                                      <p:cBhvr>
                                        <p:cTn id="27" dur="10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ef0424f90f_0_5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16</a:t>
            </a:fld>
            <a:endParaRPr/>
          </a:p>
        </p:txBody>
      </p:sp>
      <p:sp>
        <p:nvSpPr>
          <p:cNvPr id="169" name="Google Shape;169;gef0424f90f_0_58"/>
          <p:cNvSpPr txBox="1"/>
          <p:nvPr/>
        </p:nvSpPr>
        <p:spPr>
          <a:xfrm>
            <a:off x="611100" y="550449"/>
            <a:ext cx="8207100" cy="710934"/>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1400"/>
              </a:spcBef>
              <a:spcAft>
                <a:spcPts val="40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Parse HTML Code With Beautiful Soup</a:t>
            </a:r>
            <a:endParaRPr sz="1600" b="1" i="0" u="none" strike="noStrike" cap="none" dirty="0">
              <a:solidFill>
                <a:srgbClr val="EF4F63"/>
              </a:solidFill>
              <a:latin typeface="+mj-lt"/>
              <a:ea typeface="Merriweather"/>
              <a:cs typeface="Merriweather"/>
              <a:sym typeface="Merriweather"/>
            </a:endParaRPr>
          </a:p>
        </p:txBody>
      </p:sp>
      <p:sp>
        <p:nvSpPr>
          <p:cNvPr id="170" name="Google Shape;170;gef0424f90f_0_58"/>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Inspect Your Data Source</a:t>
            </a:r>
            <a:endParaRPr sz="2700" b="1"/>
          </a:p>
        </p:txBody>
      </p:sp>
      <p:sp>
        <p:nvSpPr>
          <p:cNvPr id="171" name="Google Shape;171;gef0424f90f_0_58"/>
          <p:cNvSpPr txBox="1"/>
          <p:nvPr/>
        </p:nvSpPr>
        <p:spPr>
          <a:xfrm>
            <a:off x="611100" y="1166862"/>
            <a:ext cx="8086500" cy="301618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 sz="1600" b="0" i="0" u="none" strike="noStrike" cap="none" dirty="0">
                <a:solidFill>
                  <a:srgbClr val="222222"/>
                </a:solidFill>
                <a:highlight>
                  <a:srgbClr val="FFFFFF"/>
                </a:highlight>
                <a:latin typeface="+mj-lt"/>
                <a:ea typeface="Source Sans Pro"/>
                <a:cs typeface="Source Sans Pro"/>
                <a:sym typeface="Source Sans Pro"/>
              </a:rPr>
              <a:t>You’ve successfully scraped some HTML from the Internet, but when you look at it, it just seems like a huge mess. There are tons of HTML elements here and there, thousands of attributes scattered around</a:t>
            </a:r>
            <a:r>
              <a:rPr lang="en" sz="1600" b="0" i="0" u="none" strike="noStrike" cap="none" dirty="0" smtClean="0">
                <a:solidFill>
                  <a:srgbClr val="222222"/>
                </a:solidFill>
                <a:highlight>
                  <a:srgbClr val="FFFFFF"/>
                </a:highlight>
                <a:latin typeface="+mj-lt"/>
                <a:ea typeface="Source Sans Pro"/>
                <a:cs typeface="Source Sans Pro"/>
                <a:sym typeface="Source Sans Pro"/>
              </a:rPr>
              <a:t>.</a:t>
            </a:r>
          </a:p>
          <a:p>
            <a:pPr marL="0" marR="0" lvl="0" indent="0" algn="l" rtl="0">
              <a:lnSpc>
                <a:spcPct val="100000"/>
              </a:lnSpc>
              <a:spcBef>
                <a:spcPts val="0"/>
              </a:spcBef>
              <a:spcAft>
                <a:spcPts val="0"/>
              </a:spcAft>
              <a:buClr>
                <a:srgbClr val="000000"/>
              </a:buClr>
              <a:buSzPts val="1350"/>
              <a:buFont typeface="Arial"/>
              <a:buNone/>
            </a:pPr>
            <a:endParaRPr lang="en" sz="1600" b="0" i="0" u="none" strike="noStrike" cap="none" dirty="0" smtClean="0">
              <a:solidFill>
                <a:srgbClr val="222222"/>
              </a:solidFill>
              <a:highlight>
                <a:srgbClr val="FFFFFF"/>
              </a:highlight>
              <a:latin typeface="+mj-lt"/>
              <a:ea typeface="Source Sans Pro"/>
              <a:cs typeface="Source Sans Pro"/>
              <a:sym typeface="Source Sans Pro"/>
            </a:endParaRPr>
          </a:p>
          <a:p>
            <a:pPr lvl="0">
              <a:buSzPts val="1350"/>
            </a:pPr>
            <a:r>
              <a:rPr lang="en-US" sz="1600" b="1" dirty="0">
                <a:solidFill>
                  <a:srgbClr val="3676AB"/>
                </a:solidFill>
                <a:highlight>
                  <a:srgbClr val="FFFFFF"/>
                </a:highlight>
                <a:uFill>
                  <a:noFill/>
                </a:uFill>
                <a:latin typeface="+mj-lt"/>
                <a:ea typeface="Source Sans Pro"/>
                <a:cs typeface="Source Sans Pro"/>
                <a:sym typeface="Source Sans Pro"/>
                <a:hlinkClick r:id="rId3">
                  <a:extLst>
                    <a:ext uri="{A12FA001-AC4F-418D-AE19-62706E023703}">
                      <ahyp:hlinkClr xmlns:lc="http://schemas.openxmlformats.org/drawingml/2006/lockedCanvas"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Beautiful Soup</a:t>
            </a:r>
            <a:r>
              <a:rPr lang="en-US" sz="1600" dirty="0">
                <a:solidFill>
                  <a:srgbClr val="222222"/>
                </a:solidFill>
                <a:highlight>
                  <a:srgbClr val="FFFFFF"/>
                </a:highlight>
                <a:latin typeface="+mj-lt"/>
                <a:ea typeface="Source Sans Pro"/>
                <a:cs typeface="Source Sans Pro"/>
                <a:sym typeface="Source Sans Pro"/>
              </a:rPr>
              <a:t> is a Python library for parsing structured data. It allows you to interact with HTML in a similar way to how you interact with a web page using developer tools. The library exposes a couple of intuitive functions you can use to explore the HTML you received. To get started, use your terminal to install Beautiful Soup:</a:t>
            </a:r>
          </a:p>
          <a:p>
            <a:pPr lvl="0">
              <a:buSzPts val="450"/>
            </a:pPr>
            <a:r>
              <a:rPr lang="en-US" sz="1600" dirty="0">
                <a:solidFill>
                  <a:srgbClr val="222222"/>
                </a:solidFill>
                <a:highlight>
                  <a:srgbClr val="FFFFFF"/>
                </a:highlight>
                <a:latin typeface="+mj-lt"/>
                <a:ea typeface="Source Sans Pro"/>
                <a:cs typeface="Source Sans Pro"/>
                <a:sym typeface="Source Sans Pro"/>
              </a:rPr>
              <a:t> </a:t>
            </a:r>
          </a:p>
          <a:p>
            <a:pPr marR="139700" lvl="0">
              <a:lnSpc>
                <a:spcPct val="150000"/>
              </a:lnSpc>
              <a:buSzPts val="1100"/>
            </a:pPr>
            <a:r>
              <a:rPr lang="en-US" sz="1600" dirty="0">
                <a:solidFill>
                  <a:srgbClr val="212529"/>
                </a:solidFill>
                <a:highlight>
                  <a:srgbClr val="F6F6F6"/>
                </a:highlight>
                <a:latin typeface="+mj-lt"/>
                <a:ea typeface="Courier New"/>
                <a:cs typeface="Courier New"/>
                <a:sym typeface="Courier New"/>
              </a:rPr>
              <a:t>python -m pip install beautifulsoup4</a:t>
            </a:r>
          </a:p>
          <a:p>
            <a:pPr marL="0" marR="0" lvl="0" indent="0" algn="l" rtl="0">
              <a:lnSpc>
                <a:spcPct val="100000"/>
              </a:lnSpc>
              <a:spcBef>
                <a:spcPts val="0"/>
              </a:spcBef>
              <a:spcAft>
                <a:spcPts val="0"/>
              </a:spcAft>
              <a:buClr>
                <a:srgbClr val="000000"/>
              </a:buClr>
              <a:buSzPts val="1350"/>
              <a:buFont typeface="Arial"/>
              <a:buNone/>
            </a:pPr>
            <a:endParaRPr sz="1600" b="0" i="0" u="none" strike="noStrike" cap="none" dirty="0">
              <a:solidFill>
                <a:srgbClr val="3B3835"/>
              </a:solidFill>
              <a:highlight>
                <a:srgbClr val="FFFFFF"/>
              </a:highlight>
              <a:latin typeface="+mj-lt"/>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1000"/>
                                        <p:tgtEl>
                                          <p:spTgt spid="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9"/>
                                        </p:tgtEl>
                                        <p:attrNameLst>
                                          <p:attrName>style.visibility</p:attrName>
                                        </p:attrNameLst>
                                      </p:cBhvr>
                                      <p:to>
                                        <p:strVal val="visible"/>
                                      </p:to>
                                    </p:set>
                                    <p:animEffect transition="in" filter="fade">
                                      <p:cBhvr>
                                        <p:cTn id="12" dur="1000"/>
                                        <p:tgtEl>
                                          <p:spTgt spid="16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1"/>
                                        </p:tgtEl>
                                        <p:attrNameLst>
                                          <p:attrName>style.visibility</p:attrName>
                                        </p:attrNameLst>
                                      </p:cBhvr>
                                      <p:to>
                                        <p:strVal val="visible"/>
                                      </p:to>
                                    </p:set>
                                    <p:animEffect transition="in" filter="fade">
                                      <p:cBhvr>
                                        <p:cTn id="17" dur="10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ef0424f90f_0_107"/>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17</a:t>
            </a:fld>
            <a:endParaRPr/>
          </a:p>
        </p:txBody>
      </p:sp>
      <p:sp>
        <p:nvSpPr>
          <p:cNvPr id="178" name="Google Shape;178;gef0424f90f_0_107"/>
          <p:cNvSpPr txBox="1"/>
          <p:nvPr/>
        </p:nvSpPr>
        <p:spPr>
          <a:xfrm>
            <a:off x="611100" y="659175"/>
            <a:ext cx="8207100" cy="710934"/>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1400"/>
              </a:spcBef>
              <a:spcAft>
                <a:spcPts val="40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Parse HTML Code With Beautiful Soup</a:t>
            </a:r>
            <a:endParaRPr sz="1600" b="1" i="0" u="none" strike="noStrike" cap="none" dirty="0">
              <a:solidFill>
                <a:srgbClr val="EF4F63"/>
              </a:solidFill>
              <a:latin typeface="+mj-lt"/>
              <a:ea typeface="Merriweather"/>
              <a:cs typeface="Merriweather"/>
              <a:sym typeface="Merriweather"/>
            </a:endParaRPr>
          </a:p>
        </p:txBody>
      </p:sp>
      <p:sp>
        <p:nvSpPr>
          <p:cNvPr id="179" name="Google Shape;179;gef0424f90f_0_107"/>
          <p:cNvSpPr txBox="1"/>
          <p:nvPr/>
        </p:nvSpPr>
        <p:spPr>
          <a:xfrm>
            <a:off x="611100" y="1278752"/>
            <a:ext cx="8086500" cy="289306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600" b="1" i="0" u="none" strike="noStrike" cap="none" dirty="0">
                <a:solidFill>
                  <a:srgbClr val="111111"/>
                </a:solidFill>
                <a:highlight>
                  <a:srgbClr val="FFFFFF"/>
                </a:highlight>
                <a:latin typeface="+mj-lt"/>
                <a:ea typeface="Georgia"/>
                <a:cs typeface="Georgia"/>
                <a:sym typeface="Georgia"/>
              </a:rPr>
              <a:t>BS4 Cheat Sheet</a:t>
            </a:r>
            <a:endParaRPr sz="1600" b="1"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300"/>
              <a:buFont typeface="Arial"/>
              <a:buNone/>
            </a:pPr>
            <a:r>
              <a:rPr lang="en" sz="1600" b="1" i="0" u="none" strike="noStrike" cap="none" dirty="0">
                <a:solidFill>
                  <a:srgbClr val="111111"/>
                </a:solidFill>
                <a:highlight>
                  <a:srgbClr val="FFFFFF"/>
                </a:highlight>
                <a:latin typeface="+mj-lt"/>
                <a:ea typeface="Georgia"/>
                <a:cs typeface="Georgia"/>
                <a:sym typeface="Georgia"/>
              </a:rPr>
              <a:t> </a:t>
            </a:r>
            <a:endParaRPr sz="1600" b="1"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500"/>
              <a:buFont typeface="Arial"/>
              <a:buNone/>
            </a:pPr>
            <a:r>
              <a:rPr lang="en" sz="1600" b="0" i="0" u="none" strike="noStrike" cap="none" dirty="0">
                <a:solidFill>
                  <a:srgbClr val="111111"/>
                </a:solidFill>
                <a:highlight>
                  <a:srgbClr val="FFFFFF"/>
                </a:highlight>
                <a:latin typeface="+mj-lt"/>
                <a:ea typeface="Georgia"/>
                <a:cs typeface="Georgia"/>
                <a:sym typeface="Georgia"/>
              </a:rPr>
              <a:t>Look for all anchor tags on the page (useful if you’re building a crawler and need to find the next pages to visit)</a:t>
            </a:r>
            <a:endParaRPr sz="1600" b="0"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050"/>
              <a:buFont typeface="Arial"/>
              <a:buNone/>
            </a:pPr>
            <a:r>
              <a:rPr lang="en"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rPr>
              <a:t>links = soup.find_all("a")</a:t>
            </a:r>
            <a:endParaRPr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endParaRPr>
          </a:p>
          <a:p>
            <a:pPr marL="0" marR="0" lvl="0" indent="0" algn="l" rtl="0">
              <a:lnSpc>
                <a:spcPct val="100000"/>
              </a:lnSpc>
              <a:spcBef>
                <a:spcPts val="0"/>
              </a:spcBef>
              <a:spcAft>
                <a:spcPts val="0"/>
              </a:spcAft>
              <a:buClr>
                <a:srgbClr val="000000"/>
              </a:buClr>
              <a:buSzPts val="1050"/>
              <a:buFont typeface="Arial"/>
              <a:buNone/>
            </a:pPr>
            <a:endParaRPr sz="1600" b="0" i="0" u="none" strike="noStrike" cap="none" dirty="0">
              <a:solidFill>
                <a:srgbClr val="111111"/>
              </a:solidFill>
              <a:highlight>
                <a:srgbClr val="FFFFFF"/>
              </a:highlight>
              <a:latin typeface="+mj-lt"/>
              <a:ea typeface="Courier New"/>
              <a:cs typeface="Courier New"/>
              <a:sym typeface="Courier New"/>
            </a:endParaRPr>
          </a:p>
          <a:p>
            <a:pPr marL="0" marR="0" lvl="0" indent="0" algn="l" rtl="0">
              <a:lnSpc>
                <a:spcPct val="100000"/>
              </a:lnSpc>
              <a:spcBef>
                <a:spcPts val="0"/>
              </a:spcBef>
              <a:spcAft>
                <a:spcPts val="0"/>
              </a:spcAft>
              <a:buClr>
                <a:srgbClr val="000000"/>
              </a:buClr>
              <a:buSzPts val="1500"/>
              <a:buFont typeface="Arial"/>
              <a:buNone/>
            </a:pPr>
            <a:r>
              <a:rPr lang="en" sz="1600" b="0" i="0" u="none" strike="noStrike" cap="none" dirty="0">
                <a:solidFill>
                  <a:srgbClr val="111111"/>
                </a:solidFill>
                <a:highlight>
                  <a:srgbClr val="FFFFFF"/>
                </a:highlight>
                <a:latin typeface="+mj-lt"/>
                <a:ea typeface="Georgia"/>
                <a:cs typeface="Georgia"/>
                <a:sym typeface="Georgia"/>
              </a:rPr>
              <a:t>Look for all tags with a specific class attribute (eg </a:t>
            </a:r>
            <a:r>
              <a:rPr lang="en" sz="1600" b="0" i="0" u="none" strike="noStrike" cap="none" dirty="0">
                <a:solidFill>
                  <a:srgbClr val="111111"/>
                </a:solidFill>
                <a:highlight>
                  <a:srgbClr val="FFFFFF"/>
                </a:highlight>
                <a:latin typeface="+mj-lt"/>
                <a:ea typeface="Courier New"/>
                <a:cs typeface="Courier New"/>
                <a:sym typeface="Courier New"/>
              </a:rPr>
              <a:t>&lt;li class="search-result"&gt;...&lt;/li&gt;</a:t>
            </a:r>
            <a:r>
              <a:rPr lang="en" sz="1600" b="0" i="0" u="none" strike="noStrike" cap="none" dirty="0">
                <a:solidFill>
                  <a:srgbClr val="111111"/>
                </a:solidFill>
                <a:highlight>
                  <a:srgbClr val="FFFFFF"/>
                </a:highlight>
                <a:latin typeface="+mj-lt"/>
                <a:ea typeface="Georgia"/>
                <a:cs typeface="Georgia"/>
                <a:sym typeface="Georgia"/>
              </a:rPr>
              <a:t>)</a:t>
            </a:r>
            <a:endParaRPr sz="1600" b="0"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050"/>
              <a:buFont typeface="Arial"/>
              <a:buNone/>
            </a:pPr>
            <a:r>
              <a:rPr lang="en"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rPr>
              <a:t>tags = soup.find_all("li", "search-result")</a:t>
            </a:r>
            <a:endParaRPr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endParaRPr>
          </a:p>
          <a:p>
            <a:pPr marL="0" marR="0" lvl="0" indent="0" algn="l" rtl="0">
              <a:lnSpc>
                <a:spcPct val="100000"/>
              </a:lnSpc>
              <a:spcBef>
                <a:spcPts val="0"/>
              </a:spcBef>
              <a:spcAft>
                <a:spcPts val="0"/>
              </a:spcAft>
              <a:buClr>
                <a:srgbClr val="000000"/>
              </a:buClr>
              <a:buSzPts val="1050"/>
              <a:buFont typeface="Arial"/>
              <a:buNone/>
            </a:pPr>
            <a:endParaRPr sz="1600" b="0" i="0" u="none" strike="noStrike" cap="none" dirty="0">
              <a:solidFill>
                <a:srgbClr val="111111"/>
              </a:solidFill>
              <a:highlight>
                <a:srgbClr val="FFFFFF"/>
              </a:highlight>
              <a:latin typeface="+mj-lt"/>
              <a:ea typeface="Courier New"/>
              <a:cs typeface="Courier New"/>
              <a:sym typeface="Courier New"/>
            </a:endParaRPr>
          </a:p>
          <a:p>
            <a:pPr marL="0" marR="0" lvl="0" indent="0" algn="l" rtl="0">
              <a:lnSpc>
                <a:spcPct val="100000"/>
              </a:lnSpc>
              <a:spcBef>
                <a:spcPts val="0"/>
              </a:spcBef>
              <a:spcAft>
                <a:spcPts val="0"/>
              </a:spcAft>
              <a:buClr>
                <a:srgbClr val="000000"/>
              </a:buClr>
              <a:buSzPts val="1500"/>
              <a:buFont typeface="Arial"/>
              <a:buNone/>
            </a:pPr>
            <a:r>
              <a:rPr lang="en" sz="1600" b="0" i="0" u="none" strike="noStrike" cap="none" dirty="0">
                <a:solidFill>
                  <a:srgbClr val="111111"/>
                </a:solidFill>
                <a:highlight>
                  <a:srgbClr val="FFFFFF"/>
                </a:highlight>
                <a:latin typeface="+mj-lt"/>
                <a:ea typeface="Georgia"/>
                <a:cs typeface="Georgia"/>
                <a:sym typeface="Georgia"/>
              </a:rPr>
              <a:t>Look for the tag with a specific ID attribute (eg: </a:t>
            </a:r>
            <a:r>
              <a:rPr lang="en" sz="1600" b="0" i="0" u="none" strike="noStrike" cap="none" dirty="0">
                <a:solidFill>
                  <a:srgbClr val="111111"/>
                </a:solidFill>
                <a:highlight>
                  <a:srgbClr val="FFFFFF"/>
                </a:highlight>
                <a:latin typeface="+mj-lt"/>
                <a:ea typeface="Courier New"/>
                <a:cs typeface="Courier New"/>
                <a:sym typeface="Courier New"/>
              </a:rPr>
              <a:t>&lt;div id="bar"&gt;...&lt;/div&gt;</a:t>
            </a:r>
            <a:r>
              <a:rPr lang="en" sz="1600" b="0" i="0" u="none" strike="noStrike" cap="none" dirty="0">
                <a:solidFill>
                  <a:srgbClr val="111111"/>
                </a:solidFill>
                <a:highlight>
                  <a:srgbClr val="FFFFFF"/>
                </a:highlight>
                <a:latin typeface="+mj-lt"/>
                <a:ea typeface="Georgia"/>
                <a:cs typeface="Georgia"/>
                <a:sym typeface="Georgia"/>
              </a:rPr>
              <a:t>)</a:t>
            </a:r>
            <a:endParaRPr sz="1600" b="0"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050"/>
              <a:buFont typeface="Arial"/>
              <a:buNone/>
            </a:pPr>
            <a:r>
              <a:rPr lang="en"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rPr>
              <a:t>tag = soup.find("div", id="bar</a:t>
            </a:r>
            <a:r>
              <a:rPr lang="en" sz="1600" b="0" i="0" u="none" strike="noStrike" cap="none" dirty="0" smtClean="0">
                <a:solidFill>
                  <a:srgbClr val="111111"/>
                </a:solidFill>
                <a:highlight>
                  <a:srgbClr val="FFFFFF"/>
                </a:highlight>
                <a:latin typeface="Consolas" panose="020B0609020204030204" pitchFamily="49" charset="0"/>
                <a:ea typeface="Courier New"/>
                <a:cs typeface="Courier New"/>
                <a:sym typeface="Courier New"/>
              </a:rPr>
              <a:t>")</a:t>
            </a:r>
            <a:endParaRPr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endParaRPr>
          </a:p>
        </p:txBody>
      </p:sp>
      <p:sp>
        <p:nvSpPr>
          <p:cNvPr id="180" name="Google Shape;180;gef0424f90f_0_107"/>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Inspect Your Data Source</a:t>
            </a:r>
            <a:endParaRPr sz="27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fade">
                                      <p:cBhvr>
                                        <p:cTn id="7" dur="1000"/>
                                        <p:tgtEl>
                                          <p:spTgt spid="180"/>
                                        </p:tgtEl>
                                      </p:cBhvr>
                                    </p:animEffect>
                                  </p:childTnLst>
                                </p:cTn>
                              </p:par>
                              <p:par>
                                <p:cTn id="8" presetID="10" presetClass="entr" presetSubtype="0" fill="hold" nodeType="withEffect">
                                  <p:stCondLst>
                                    <p:cond delay="0"/>
                                  </p:stCondLst>
                                  <p:childTnLst>
                                    <p:set>
                                      <p:cBhvr>
                                        <p:cTn id="9" dur="1" fill="hold">
                                          <p:stCondLst>
                                            <p:cond delay="0"/>
                                          </p:stCondLst>
                                        </p:cTn>
                                        <p:tgtEl>
                                          <p:spTgt spid="178"/>
                                        </p:tgtEl>
                                        <p:attrNameLst>
                                          <p:attrName>style.visibility</p:attrName>
                                        </p:attrNameLst>
                                      </p:cBhvr>
                                      <p:to>
                                        <p:strVal val="visible"/>
                                      </p:to>
                                    </p:set>
                                    <p:animEffect transition="in" filter="fade">
                                      <p:cBhvr>
                                        <p:cTn id="10" dur="10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ef0424f90f_0_107"/>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18</a:t>
            </a:fld>
            <a:endParaRPr/>
          </a:p>
        </p:txBody>
      </p:sp>
      <p:sp>
        <p:nvSpPr>
          <p:cNvPr id="178" name="Google Shape;178;gef0424f90f_0_107"/>
          <p:cNvSpPr txBox="1"/>
          <p:nvPr/>
        </p:nvSpPr>
        <p:spPr>
          <a:xfrm>
            <a:off x="611100" y="659175"/>
            <a:ext cx="8207100" cy="710934"/>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1400"/>
              </a:spcBef>
              <a:spcAft>
                <a:spcPts val="40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Parse HTML Code With Beautiful Soup</a:t>
            </a:r>
            <a:endParaRPr sz="1600" b="1" i="0" u="none" strike="noStrike" cap="none" dirty="0">
              <a:solidFill>
                <a:srgbClr val="EF4F63"/>
              </a:solidFill>
              <a:latin typeface="+mj-lt"/>
              <a:ea typeface="Merriweather"/>
              <a:cs typeface="Merriweather"/>
              <a:sym typeface="Merriweather"/>
            </a:endParaRPr>
          </a:p>
        </p:txBody>
      </p:sp>
      <p:sp>
        <p:nvSpPr>
          <p:cNvPr id="179" name="Google Shape;179;gef0424f90f_0_107"/>
          <p:cNvSpPr txBox="1"/>
          <p:nvPr/>
        </p:nvSpPr>
        <p:spPr>
          <a:xfrm>
            <a:off x="611100" y="1375734"/>
            <a:ext cx="8086500" cy="252373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600" b="1" i="0" u="none" strike="noStrike" cap="none" dirty="0">
                <a:solidFill>
                  <a:srgbClr val="111111"/>
                </a:solidFill>
                <a:highlight>
                  <a:srgbClr val="FFFFFF"/>
                </a:highlight>
                <a:latin typeface="+mj-lt"/>
                <a:ea typeface="Georgia"/>
                <a:cs typeface="Georgia"/>
                <a:sym typeface="Georgia"/>
              </a:rPr>
              <a:t>BS4 Cheat Sheet</a:t>
            </a:r>
            <a:endParaRPr sz="1600" b="1"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050"/>
              <a:buFont typeface="Arial"/>
              <a:buNone/>
            </a:pPr>
            <a:endParaRPr sz="1600" b="0" i="0" u="none" strike="noStrike" cap="none" dirty="0">
              <a:solidFill>
                <a:srgbClr val="111111"/>
              </a:solidFill>
              <a:highlight>
                <a:srgbClr val="FFFFFF"/>
              </a:highlight>
              <a:latin typeface="+mj-lt"/>
              <a:ea typeface="Courier New"/>
              <a:cs typeface="Courier New"/>
              <a:sym typeface="Courier New"/>
            </a:endParaRPr>
          </a:p>
          <a:p>
            <a:pPr marL="0" marR="0" lvl="0" indent="0" algn="l" rtl="0">
              <a:lnSpc>
                <a:spcPct val="130000"/>
              </a:lnSpc>
              <a:spcBef>
                <a:spcPts val="0"/>
              </a:spcBef>
              <a:spcAft>
                <a:spcPts val="0"/>
              </a:spcAft>
              <a:buClr>
                <a:srgbClr val="000000"/>
              </a:buClr>
              <a:buSzPts val="1500"/>
              <a:buFont typeface="Arial"/>
              <a:buNone/>
            </a:pPr>
            <a:r>
              <a:rPr lang="en" sz="1600" b="0" i="0" u="none" strike="noStrike" cap="none" dirty="0">
                <a:solidFill>
                  <a:srgbClr val="111111"/>
                </a:solidFill>
                <a:highlight>
                  <a:srgbClr val="FFFFFF"/>
                </a:highlight>
                <a:latin typeface="+mj-lt"/>
                <a:ea typeface="Georgia"/>
                <a:cs typeface="Georgia"/>
                <a:sym typeface="Georgia"/>
              </a:rPr>
              <a:t>Look for all tags matching CSS selectors (easier to write for someone who knows CSS)</a:t>
            </a:r>
            <a:endParaRPr sz="1600" b="0"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050"/>
              <a:buFont typeface="Arial"/>
              <a:buNone/>
            </a:pPr>
            <a:r>
              <a:rPr lang="en"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rPr>
              <a:t>tags = soup.select("#search-results .external-links")</a:t>
            </a:r>
            <a:endParaRPr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endParaRPr>
          </a:p>
          <a:p>
            <a:pPr marL="0" marR="0" lvl="0" indent="0" algn="l" rtl="0">
              <a:lnSpc>
                <a:spcPct val="115000"/>
              </a:lnSpc>
              <a:spcBef>
                <a:spcPts val="0"/>
              </a:spcBef>
              <a:spcAft>
                <a:spcPts val="0"/>
              </a:spcAft>
              <a:buClr>
                <a:srgbClr val="000000"/>
              </a:buClr>
              <a:buSzPts val="1050"/>
              <a:buFont typeface="Arial"/>
              <a:buNone/>
            </a:pPr>
            <a:endParaRPr sz="1600" b="0" i="0" u="none" strike="noStrike" cap="none" dirty="0">
              <a:solidFill>
                <a:srgbClr val="111111"/>
              </a:solidFill>
              <a:highlight>
                <a:srgbClr val="FFFFFF"/>
              </a:highlight>
              <a:latin typeface="+mj-lt"/>
              <a:ea typeface="Courier New"/>
              <a:cs typeface="Courier New"/>
              <a:sym typeface="Courier New"/>
            </a:endParaRPr>
          </a:p>
          <a:p>
            <a:pPr marL="0" marR="0" lvl="0" indent="0" algn="l" rtl="0">
              <a:lnSpc>
                <a:spcPct val="130000"/>
              </a:lnSpc>
              <a:spcBef>
                <a:spcPts val="0"/>
              </a:spcBef>
              <a:spcAft>
                <a:spcPts val="0"/>
              </a:spcAft>
              <a:buClr>
                <a:srgbClr val="000000"/>
              </a:buClr>
              <a:buSzPts val="1500"/>
              <a:buFont typeface="Arial"/>
              <a:buNone/>
            </a:pPr>
            <a:r>
              <a:rPr lang="en" sz="1600" b="0" i="0" u="none" strike="noStrike" cap="none" dirty="0">
                <a:solidFill>
                  <a:srgbClr val="111111"/>
                </a:solidFill>
                <a:highlight>
                  <a:srgbClr val="FFFFFF"/>
                </a:highlight>
                <a:latin typeface="+mj-lt"/>
                <a:ea typeface="Georgia"/>
                <a:cs typeface="Georgia"/>
                <a:sym typeface="Georgia"/>
              </a:rPr>
              <a:t>Get a list of strings representing the inner contents of a tag (this includes both the text nodes as well as the text representation of any other nested HTML tags within)</a:t>
            </a:r>
            <a:endParaRPr sz="1600" b="0"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30000"/>
              </a:lnSpc>
              <a:spcBef>
                <a:spcPts val="0"/>
              </a:spcBef>
              <a:spcAft>
                <a:spcPts val="0"/>
              </a:spcAft>
              <a:buClr>
                <a:srgbClr val="000000"/>
              </a:buClr>
              <a:buSzPts val="1050"/>
              <a:buFont typeface="Arial"/>
              <a:buNone/>
            </a:pPr>
            <a:r>
              <a:rPr lang="en"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rPr>
              <a:t>inner_contents = soup.find("div", id="price").contents</a:t>
            </a:r>
            <a:endParaRPr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endParaRPr>
          </a:p>
        </p:txBody>
      </p:sp>
      <p:sp>
        <p:nvSpPr>
          <p:cNvPr id="180" name="Google Shape;180;gef0424f90f_0_107"/>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Inspect Your Data Source</a:t>
            </a:r>
            <a:endParaRPr sz="2700" b="1"/>
          </a:p>
        </p:txBody>
      </p:sp>
    </p:spTree>
    <p:extLst>
      <p:ext uri="{BB962C8B-B14F-4D97-AF65-F5344CB8AC3E}">
        <p14:creationId xmlns:p14="http://schemas.microsoft.com/office/powerpoint/2010/main" val="4211124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fade">
                                      <p:cBhvr>
                                        <p:cTn id="7" dur="1000"/>
                                        <p:tgtEl>
                                          <p:spTgt spid="180"/>
                                        </p:tgtEl>
                                      </p:cBhvr>
                                    </p:animEffect>
                                  </p:childTnLst>
                                </p:cTn>
                              </p:par>
                              <p:par>
                                <p:cTn id="8" presetID="10" presetClass="entr" presetSubtype="0" fill="hold" nodeType="withEffect">
                                  <p:stCondLst>
                                    <p:cond delay="0"/>
                                  </p:stCondLst>
                                  <p:childTnLst>
                                    <p:set>
                                      <p:cBhvr>
                                        <p:cTn id="9" dur="1" fill="hold">
                                          <p:stCondLst>
                                            <p:cond delay="0"/>
                                          </p:stCondLst>
                                        </p:cTn>
                                        <p:tgtEl>
                                          <p:spTgt spid="178"/>
                                        </p:tgtEl>
                                        <p:attrNameLst>
                                          <p:attrName>style.visibility</p:attrName>
                                        </p:attrNameLst>
                                      </p:cBhvr>
                                      <p:to>
                                        <p:strVal val="visible"/>
                                      </p:to>
                                    </p:set>
                                    <p:animEffect transition="in" filter="fade">
                                      <p:cBhvr>
                                        <p:cTn id="10" dur="10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ef0424f90f_0_83"/>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19</a:t>
            </a:fld>
            <a:endParaRPr/>
          </a:p>
        </p:txBody>
      </p:sp>
      <p:sp>
        <p:nvSpPr>
          <p:cNvPr id="186" name="Google Shape;186;gef0424f90f_0_83"/>
          <p:cNvSpPr txBox="1"/>
          <p:nvPr/>
        </p:nvSpPr>
        <p:spPr>
          <a:xfrm>
            <a:off x="611100" y="659175"/>
            <a:ext cx="8207100" cy="710934"/>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1400"/>
              </a:spcBef>
              <a:spcAft>
                <a:spcPts val="40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Parse HTML Code With Beautiful Soup</a:t>
            </a:r>
            <a:endParaRPr sz="1600" b="1" i="0" u="none" strike="noStrike" cap="none" dirty="0">
              <a:solidFill>
                <a:srgbClr val="EF4F63"/>
              </a:solidFill>
              <a:latin typeface="+mj-lt"/>
              <a:ea typeface="Merriweather"/>
              <a:cs typeface="Merriweather"/>
              <a:sym typeface="Merriweather"/>
            </a:endParaRPr>
          </a:p>
        </p:txBody>
      </p:sp>
      <p:sp>
        <p:nvSpPr>
          <p:cNvPr id="187" name="Google Shape;187;gef0424f90f_0_83"/>
          <p:cNvSpPr txBox="1"/>
          <p:nvPr/>
        </p:nvSpPr>
        <p:spPr>
          <a:xfrm>
            <a:off x="611100" y="1351202"/>
            <a:ext cx="8086500" cy="244987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500"/>
              <a:buFont typeface="Arial"/>
              <a:buNone/>
            </a:pPr>
            <a:r>
              <a:rPr lang="en" sz="1600" b="0" i="0" u="none" strike="noStrike" cap="none" dirty="0">
                <a:solidFill>
                  <a:srgbClr val="111111"/>
                </a:solidFill>
                <a:highlight>
                  <a:srgbClr val="FFFFFF"/>
                </a:highlight>
                <a:latin typeface="+mj-lt"/>
                <a:ea typeface="Georgia"/>
                <a:cs typeface="Georgia"/>
                <a:sym typeface="Georgia"/>
              </a:rPr>
              <a:t>Return only the text contents within this tag, but ignore the text representation of other HTML tags (useful for stripping our pesky </a:t>
            </a:r>
            <a:r>
              <a:rPr lang="en" sz="1600" b="0" i="0" u="none" strike="noStrike" cap="none" dirty="0">
                <a:solidFill>
                  <a:srgbClr val="111111"/>
                </a:solidFill>
                <a:highlight>
                  <a:srgbClr val="FFFFFF"/>
                </a:highlight>
                <a:latin typeface="+mj-lt"/>
                <a:ea typeface="Courier New"/>
                <a:cs typeface="Courier New"/>
                <a:sym typeface="Courier New"/>
              </a:rPr>
              <a:t>&lt;span&gt;</a:t>
            </a:r>
            <a:r>
              <a:rPr lang="en" sz="1600" b="0" i="0" u="none" strike="noStrike" cap="none" dirty="0">
                <a:solidFill>
                  <a:srgbClr val="111111"/>
                </a:solidFill>
                <a:highlight>
                  <a:srgbClr val="FFFFFF"/>
                </a:highlight>
                <a:latin typeface="+mj-lt"/>
                <a:ea typeface="Georgia"/>
                <a:cs typeface="Georgia"/>
                <a:sym typeface="Georgia"/>
              </a:rPr>
              <a:t>, </a:t>
            </a:r>
            <a:r>
              <a:rPr lang="en" sz="1600" b="0" i="0" u="none" strike="noStrike" cap="none" dirty="0">
                <a:solidFill>
                  <a:srgbClr val="111111"/>
                </a:solidFill>
                <a:highlight>
                  <a:srgbClr val="FFFFFF"/>
                </a:highlight>
                <a:latin typeface="+mj-lt"/>
                <a:ea typeface="Courier New"/>
                <a:cs typeface="Courier New"/>
                <a:sym typeface="Courier New"/>
              </a:rPr>
              <a:t>&lt;strong&gt;</a:t>
            </a:r>
            <a:r>
              <a:rPr lang="en" sz="1600" b="0" i="0" u="none" strike="noStrike" cap="none" dirty="0">
                <a:solidFill>
                  <a:srgbClr val="111111"/>
                </a:solidFill>
                <a:highlight>
                  <a:srgbClr val="FFFFFF"/>
                </a:highlight>
                <a:latin typeface="+mj-lt"/>
                <a:ea typeface="Georgia"/>
                <a:cs typeface="Georgia"/>
                <a:sym typeface="Georgia"/>
              </a:rPr>
              <a:t>, </a:t>
            </a:r>
            <a:r>
              <a:rPr lang="en" sz="1600" b="0" i="0" u="none" strike="noStrike" cap="none" dirty="0">
                <a:solidFill>
                  <a:srgbClr val="111111"/>
                </a:solidFill>
                <a:highlight>
                  <a:srgbClr val="FFFFFF"/>
                </a:highlight>
                <a:latin typeface="+mj-lt"/>
                <a:ea typeface="Courier New"/>
                <a:cs typeface="Courier New"/>
                <a:sym typeface="Courier New"/>
              </a:rPr>
              <a:t>&lt;i&gt;</a:t>
            </a:r>
            <a:r>
              <a:rPr lang="en" sz="1600" b="0" i="0" u="none" strike="noStrike" cap="none" dirty="0">
                <a:solidFill>
                  <a:srgbClr val="111111"/>
                </a:solidFill>
                <a:highlight>
                  <a:srgbClr val="FFFFFF"/>
                </a:highlight>
                <a:latin typeface="+mj-lt"/>
                <a:ea typeface="Georgia"/>
                <a:cs typeface="Georgia"/>
                <a:sym typeface="Georgia"/>
              </a:rPr>
              <a:t>, or other inline tags that might show up sometimes)</a:t>
            </a:r>
            <a:endParaRPr sz="1600" b="0"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050"/>
              <a:buFont typeface="Arial"/>
              <a:buNone/>
            </a:pPr>
            <a:r>
              <a:rPr lang="en"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rPr>
              <a:t>inner_text = soup.find("div", id="price").text.strip()</a:t>
            </a:r>
            <a:endParaRPr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endParaRPr>
          </a:p>
          <a:p>
            <a:pPr marL="0" marR="0" lvl="0" indent="0" algn="l" rtl="0">
              <a:lnSpc>
                <a:spcPct val="115000"/>
              </a:lnSpc>
              <a:spcBef>
                <a:spcPts val="0"/>
              </a:spcBef>
              <a:spcAft>
                <a:spcPts val="0"/>
              </a:spcAft>
              <a:buClr>
                <a:srgbClr val="000000"/>
              </a:buClr>
              <a:buSzPts val="450"/>
              <a:buFont typeface="Arial"/>
              <a:buNone/>
            </a:pPr>
            <a:r>
              <a:rPr lang="en" sz="1600" b="0" i="0" u="none" strike="noStrike" cap="none" dirty="0">
                <a:solidFill>
                  <a:srgbClr val="111111"/>
                </a:solidFill>
                <a:highlight>
                  <a:srgbClr val="FFFFFF"/>
                </a:highlight>
                <a:latin typeface="+mj-lt"/>
                <a:ea typeface="Courier New"/>
                <a:cs typeface="Courier New"/>
                <a:sym typeface="Courier New"/>
              </a:rPr>
              <a:t> </a:t>
            </a:r>
            <a:endParaRPr sz="1600" b="0" i="0" u="none" strike="noStrike" cap="none" dirty="0">
              <a:solidFill>
                <a:srgbClr val="111111"/>
              </a:solidFill>
              <a:highlight>
                <a:srgbClr val="FFFFFF"/>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500"/>
              <a:buFont typeface="Arial"/>
              <a:buNone/>
            </a:pPr>
            <a:r>
              <a:rPr lang="en" sz="1600" b="0" i="0" u="none" strike="noStrike" cap="none" dirty="0">
                <a:solidFill>
                  <a:srgbClr val="111111"/>
                </a:solidFill>
                <a:highlight>
                  <a:srgbClr val="FFFFFF"/>
                </a:highlight>
                <a:latin typeface="+mj-lt"/>
                <a:ea typeface="Georgia"/>
                <a:cs typeface="Georgia"/>
                <a:sym typeface="Georgia"/>
              </a:rPr>
              <a:t>Convert the text that are extracting from unicode to ascii if you’re having issues printing it to the console or writing it to files</a:t>
            </a:r>
            <a:endParaRPr sz="1600" b="0"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050"/>
              <a:buFont typeface="Arial"/>
              <a:buNone/>
            </a:pPr>
            <a:r>
              <a:rPr lang="en"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rPr>
              <a:t>inner_text = soup.find("div", id="price").text.strip().encode("utf-8</a:t>
            </a:r>
            <a:r>
              <a:rPr lang="en" sz="1600" b="0" i="0" u="none" strike="noStrike" cap="none" dirty="0" smtClean="0">
                <a:solidFill>
                  <a:srgbClr val="111111"/>
                </a:solidFill>
                <a:highlight>
                  <a:srgbClr val="FFFFFF"/>
                </a:highlight>
                <a:latin typeface="Consolas" panose="020B0609020204030204" pitchFamily="49" charset="0"/>
                <a:ea typeface="Courier New"/>
                <a:cs typeface="Courier New"/>
                <a:sym typeface="Courier New"/>
              </a:rPr>
              <a:t>")</a:t>
            </a:r>
            <a:endParaRPr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endParaRPr>
          </a:p>
        </p:txBody>
      </p:sp>
      <p:sp>
        <p:nvSpPr>
          <p:cNvPr id="188" name="Google Shape;188;gef0424f90f_0_83"/>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Inspect Your Data Source</a:t>
            </a:r>
            <a:endParaRPr sz="27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8"/>
                                        </p:tgtEl>
                                        <p:attrNameLst>
                                          <p:attrName>style.visibility</p:attrName>
                                        </p:attrNameLst>
                                      </p:cBhvr>
                                      <p:to>
                                        <p:strVal val="visible"/>
                                      </p:to>
                                    </p:set>
                                    <p:animEffect transition="in" filter="fade">
                                      <p:cBhvr>
                                        <p:cTn id="7" dur="1000"/>
                                        <p:tgtEl>
                                          <p:spTgt spid="188"/>
                                        </p:tgtEl>
                                      </p:cBhvr>
                                    </p:animEffect>
                                  </p:childTnLst>
                                </p:cTn>
                              </p:par>
                              <p:par>
                                <p:cTn id="8" presetID="10" presetClass="entr" presetSubtype="0" fill="hold" nodeType="withEffect">
                                  <p:stCondLst>
                                    <p:cond delay="0"/>
                                  </p:stCondLst>
                                  <p:childTnLst>
                                    <p:set>
                                      <p:cBhvr>
                                        <p:cTn id="9" dur="1" fill="hold">
                                          <p:stCondLst>
                                            <p:cond delay="0"/>
                                          </p:stCondLst>
                                        </p:cTn>
                                        <p:tgtEl>
                                          <p:spTgt spid="186"/>
                                        </p:tgtEl>
                                        <p:attrNameLst>
                                          <p:attrName>style.visibility</p:attrName>
                                        </p:attrNameLst>
                                      </p:cBhvr>
                                      <p:to>
                                        <p:strVal val="visible"/>
                                      </p:to>
                                    </p:set>
                                    <p:animEffect transition="in" filter="fade">
                                      <p:cBhvr>
                                        <p:cTn id="10" dur="10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ef0424f90f_0_83"/>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20</a:t>
            </a:fld>
            <a:endParaRPr/>
          </a:p>
        </p:txBody>
      </p:sp>
      <p:sp>
        <p:nvSpPr>
          <p:cNvPr id="186" name="Google Shape;186;gef0424f90f_0_83"/>
          <p:cNvSpPr txBox="1"/>
          <p:nvPr/>
        </p:nvSpPr>
        <p:spPr>
          <a:xfrm>
            <a:off x="611100" y="659175"/>
            <a:ext cx="8207100" cy="710934"/>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1400"/>
              </a:spcBef>
              <a:spcAft>
                <a:spcPts val="40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Parse HTML Code With Beautiful Soup</a:t>
            </a:r>
            <a:endParaRPr sz="1600" b="1" i="0" u="none" strike="noStrike" cap="none" dirty="0">
              <a:solidFill>
                <a:srgbClr val="EF4F63"/>
              </a:solidFill>
              <a:latin typeface="+mj-lt"/>
              <a:ea typeface="Merriweather"/>
              <a:cs typeface="Merriweather"/>
              <a:sym typeface="Merriweather"/>
            </a:endParaRPr>
          </a:p>
        </p:txBody>
      </p:sp>
      <p:sp>
        <p:nvSpPr>
          <p:cNvPr id="187" name="Google Shape;187;gef0424f90f_0_83"/>
          <p:cNvSpPr txBox="1"/>
          <p:nvPr/>
        </p:nvSpPr>
        <p:spPr>
          <a:xfrm>
            <a:off x="611100" y="1278752"/>
            <a:ext cx="8086500" cy="301618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500"/>
              <a:buFont typeface="Arial"/>
              <a:buNone/>
            </a:pPr>
            <a:r>
              <a:rPr lang="en" sz="1600" b="0" i="0" u="none" strike="noStrike" cap="none" dirty="0" smtClean="0">
                <a:solidFill>
                  <a:srgbClr val="111111"/>
                </a:solidFill>
                <a:highlight>
                  <a:srgbClr val="FFFFFF"/>
                </a:highlight>
                <a:latin typeface="+mj-lt"/>
                <a:ea typeface="Georgia"/>
                <a:cs typeface="Georgia"/>
                <a:sym typeface="Georgia"/>
              </a:rPr>
              <a:t>Get </a:t>
            </a:r>
            <a:r>
              <a:rPr lang="en" sz="1600" b="0" i="0" u="none" strike="noStrike" cap="none" dirty="0">
                <a:solidFill>
                  <a:srgbClr val="111111"/>
                </a:solidFill>
                <a:highlight>
                  <a:srgbClr val="FFFFFF"/>
                </a:highlight>
                <a:latin typeface="+mj-lt"/>
                <a:ea typeface="Georgia"/>
                <a:cs typeface="Georgia"/>
                <a:sym typeface="Georgia"/>
              </a:rPr>
              <a:t>the attribute of a tag (useful for grabbing the </a:t>
            </a:r>
            <a:r>
              <a:rPr lang="en" sz="1600" b="0" i="0" u="none" strike="noStrike" cap="none" dirty="0">
                <a:solidFill>
                  <a:srgbClr val="111111"/>
                </a:solidFill>
                <a:highlight>
                  <a:srgbClr val="FFFFFF"/>
                </a:highlight>
                <a:latin typeface="+mj-lt"/>
                <a:ea typeface="Courier New"/>
                <a:cs typeface="Courier New"/>
                <a:sym typeface="Courier New"/>
              </a:rPr>
              <a:t>src</a:t>
            </a:r>
            <a:r>
              <a:rPr lang="en" sz="1600" b="0" i="0" u="none" strike="noStrike" cap="none" dirty="0">
                <a:solidFill>
                  <a:srgbClr val="111111"/>
                </a:solidFill>
                <a:highlight>
                  <a:srgbClr val="FFFFFF"/>
                </a:highlight>
                <a:latin typeface="+mj-lt"/>
                <a:ea typeface="Georgia"/>
                <a:cs typeface="Georgia"/>
                <a:sym typeface="Georgia"/>
              </a:rPr>
              <a:t> attribute of an </a:t>
            </a:r>
            <a:r>
              <a:rPr lang="en" sz="1600" b="0" i="0" u="none" strike="noStrike" cap="none" dirty="0">
                <a:solidFill>
                  <a:srgbClr val="111111"/>
                </a:solidFill>
                <a:highlight>
                  <a:srgbClr val="FFFFFF"/>
                </a:highlight>
                <a:latin typeface="+mj-lt"/>
                <a:ea typeface="Courier New"/>
                <a:cs typeface="Courier New"/>
                <a:sym typeface="Courier New"/>
              </a:rPr>
              <a:t>&lt;img&gt;</a:t>
            </a:r>
            <a:r>
              <a:rPr lang="en" sz="1600" b="0" i="0" u="none" strike="noStrike" cap="none" dirty="0">
                <a:solidFill>
                  <a:srgbClr val="111111"/>
                </a:solidFill>
                <a:highlight>
                  <a:srgbClr val="FFFFFF"/>
                </a:highlight>
                <a:latin typeface="+mj-lt"/>
                <a:ea typeface="Georgia"/>
                <a:cs typeface="Georgia"/>
                <a:sym typeface="Georgia"/>
              </a:rPr>
              <a:t> tag or the </a:t>
            </a:r>
            <a:r>
              <a:rPr lang="en" sz="1600" b="0" i="0" u="none" strike="noStrike" cap="none" dirty="0">
                <a:solidFill>
                  <a:srgbClr val="111111"/>
                </a:solidFill>
                <a:highlight>
                  <a:srgbClr val="FFFFFF"/>
                </a:highlight>
                <a:latin typeface="+mj-lt"/>
                <a:ea typeface="Courier New"/>
                <a:cs typeface="Courier New"/>
                <a:sym typeface="Courier New"/>
              </a:rPr>
              <a:t>href</a:t>
            </a:r>
            <a:r>
              <a:rPr lang="en" sz="1600" b="0" i="0" u="none" strike="noStrike" cap="none" dirty="0">
                <a:solidFill>
                  <a:srgbClr val="111111"/>
                </a:solidFill>
                <a:highlight>
                  <a:srgbClr val="FFFFFF"/>
                </a:highlight>
                <a:latin typeface="+mj-lt"/>
                <a:ea typeface="Georgia"/>
                <a:cs typeface="Georgia"/>
                <a:sym typeface="Georgia"/>
              </a:rPr>
              <a:t> attribute of an </a:t>
            </a:r>
            <a:r>
              <a:rPr lang="en" sz="1600" b="0" i="0" u="none" strike="noStrike" cap="none" dirty="0">
                <a:solidFill>
                  <a:srgbClr val="111111"/>
                </a:solidFill>
                <a:highlight>
                  <a:srgbClr val="FFFFFF"/>
                </a:highlight>
                <a:latin typeface="+mj-lt"/>
                <a:ea typeface="Courier New"/>
                <a:cs typeface="Courier New"/>
                <a:sym typeface="Courier New"/>
              </a:rPr>
              <a:t>&lt;a&gt;</a:t>
            </a:r>
            <a:r>
              <a:rPr lang="en" sz="1600" b="0" i="0" u="none" strike="noStrike" cap="none" dirty="0">
                <a:solidFill>
                  <a:srgbClr val="111111"/>
                </a:solidFill>
                <a:highlight>
                  <a:srgbClr val="FFFFFF"/>
                </a:highlight>
                <a:latin typeface="+mj-lt"/>
                <a:ea typeface="Georgia"/>
                <a:cs typeface="Georgia"/>
                <a:sym typeface="Georgia"/>
              </a:rPr>
              <a:t> tag)</a:t>
            </a:r>
            <a:endParaRPr sz="1600" b="0"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050"/>
              <a:buFont typeface="Arial"/>
              <a:buNone/>
            </a:pPr>
            <a:r>
              <a:rPr lang="en"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rPr>
              <a:t>anchor_href = soup.find("a")["href"] </a:t>
            </a:r>
            <a:endParaRPr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endParaRPr>
          </a:p>
          <a:p>
            <a:pPr marL="0" marR="0" lvl="0" indent="0" algn="l" rtl="0">
              <a:lnSpc>
                <a:spcPct val="115000"/>
              </a:lnSpc>
              <a:spcBef>
                <a:spcPts val="0"/>
              </a:spcBef>
              <a:spcAft>
                <a:spcPts val="0"/>
              </a:spcAft>
              <a:buClr>
                <a:srgbClr val="000000"/>
              </a:buClr>
              <a:buSzPts val="650"/>
              <a:buFont typeface="Arial"/>
              <a:buNone/>
            </a:pPr>
            <a:r>
              <a:rPr lang="en" sz="1600" b="0" i="0" u="none" strike="noStrike" cap="none" dirty="0">
                <a:solidFill>
                  <a:srgbClr val="111111"/>
                </a:solidFill>
                <a:highlight>
                  <a:srgbClr val="FFFFFF"/>
                </a:highlight>
                <a:latin typeface="+mj-lt"/>
                <a:ea typeface="Courier New"/>
                <a:cs typeface="Courier New"/>
                <a:sym typeface="Courier New"/>
              </a:rPr>
              <a:t> </a:t>
            </a:r>
            <a:endParaRPr sz="1600" b="0" i="0" u="none" strike="noStrike" cap="none" dirty="0">
              <a:solidFill>
                <a:srgbClr val="111111"/>
              </a:solidFill>
              <a:highlight>
                <a:srgbClr val="FFFFFF"/>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500"/>
              <a:buFont typeface="Arial"/>
              <a:buNone/>
            </a:pPr>
            <a:r>
              <a:rPr lang="en" sz="1600" b="0" i="0" u="none" strike="noStrike" cap="none" dirty="0">
                <a:solidFill>
                  <a:srgbClr val="111111"/>
                </a:solidFill>
                <a:highlight>
                  <a:srgbClr val="FFFFFF"/>
                </a:highlight>
                <a:latin typeface="+mj-lt"/>
                <a:ea typeface="Georgia"/>
                <a:cs typeface="Georgia"/>
                <a:sym typeface="Georgia"/>
              </a:rPr>
              <a:t>Putting several of these concepts together, here’s a common idiom: iterating over a bunch of container tags and pull out content from each of them</a:t>
            </a:r>
            <a:endParaRPr sz="1600" b="0"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050"/>
              <a:buFont typeface="Arial"/>
              <a:buNone/>
            </a:pPr>
            <a:r>
              <a:rPr lang="en"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rPr>
              <a:t>for product in soup.find_all("div", "products"):</a:t>
            </a:r>
            <a:endParaRPr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endParaRPr>
          </a:p>
          <a:p>
            <a:pPr marL="0" marR="0" lvl="0" indent="0" algn="l" rtl="0">
              <a:lnSpc>
                <a:spcPct val="115000"/>
              </a:lnSpc>
              <a:spcBef>
                <a:spcPts val="0"/>
              </a:spcBef>
              <a:spcAft>
                <a:spcPts val="0"/>
              </a:spcAft>
              <a:buClr>
                <a:srgbClr val="000000"/>
              </a:buClr>
              <a:buSzPts val="1050"/>
              <a:buFont typeface="Arial"/>
              <a:buNone/>
            </a:pPr>
            <a:r>
              <a:rPr lang="en"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rPr>
              <a:t>    product_title = product.find("h3").text</a:t>
            </a:r>
            <a:endParaRPr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endParaRPr>
          </a:p>
          <a:p>
            <a:pPr marL="0" marR="0" lvl="0" indent="0" algn="l" rtl="0">
              <a:lnSpc>
                <a:spcPct val="115000"/>
              </a:lnSpc>
              <a:spcBef>
                <a:spcPts val="0"/>
              </a:spcBef>
              <a:spcAft>
                <a:spcPts val="0"/>
              </a:spcAft>
              <a:buClr>
                <a:srgbClr val="000000"/>
              </a:buClr>
              <a:buSzPts val="1050"/>
              <a:buFont typeface="Arial"/>
              <a:buNone/>
            </a:pPr>
            <a:r>
              <a:rPr lang="en"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rPr>
              <a:t>    product_price = product.find("span", "price").text</a:t>
            </a:r>
            <a:endParaRPr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endParaRPr>
          </a:p>
          <a:p>
            <a:pPr marL="165100" marR="0" lvl="0" indent="0" algn="l" rtl="0">
              <a:lnSpc>
                <a:spcPct val="115000"/>
              </a:lnSpc>
              <a:spcBef>
                <a:spcPts val="0"/>
              </a:spcBef>
              <a:spcAft>
                <a:spcPts val="0"/>
              </a:spcAft>
              <a:buClr>
                <a:srgbClr val="000000"/>
              </a:buClr>
              <a:buSzPts val="1050"/>
              <a:buFont typeface="Arial"/>
              <a:buNone/>
            </a:pPr>
            <a:r>
              <a:rPr lang="en" sz="1600" b="0" i="0" u="none" strike="noStrike" cap="none" dirty="0">
                <a:solidFill>
                  <a:srgbClr val="111111"/>
                </a:solidFill>
                <a:highlight>
                  <a:srgbClr val="FFFFFF"/>
                </a:highlight>
                <a:latin typeface="Consolas" panose="020B0609020204030204" pitchFamily="49" charset="0"/>
                <a:ea typeface="Courier New"/>
                <a:cs typeface="Courier New"/>
                <a:sym typeface="Courier New"/>
              </a:rPr>
              <a:t>    product_url = product.find("a")["href"]</a:t>
            </a:r>
            <a:endParaRPr sz="1600" b="1" i="0" u="none" strike="noStrike" cap="none" dirty="0">
              <a:solidFill>
                <a:srgbClr val="111111"/>
              </a:solidFill>
              <a:highlight>
                <a:srgbClr val="FFFFFF"/>
              </a:highlight>
              <a:latin typeface="Consolas" panose="020B0609020204030204" pitchFamily="49" charset="0"/>
              <a:ea typeface="Georgia"/>
              <a:cs typeface="Georgia"/>
              <a:sym typeface="Georgia"/>
            </a:endParaRPr>
          </a:p>
        </p:txBody>
      </p:sp>
      <p:sp>
        <p:nvSpPr>
          <p:cNvPr id="188" name="Google Shape;188;gef0424f90f_0_83"/>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Inspect Your Data Source</a:t>
            </a:r>
            <a:endParaRPr sz="2700" b="1"/>
          </a:p>
        </p:txBody>
      </p:sp>
    </p:spTree>
    <p:extLst>
      <p:ext uri="{BB962C8B-B14F-4D97-AF65-F5344CB8AC3E}">
        <p14:creationId xmlns:p14="http://schemas.microsoft.com/office/powerpoint/2010/main" val="3901466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8"/>
                                        </p:tgtEl>
                                        <p:attrNameLst>
                                          <p:attrName>style.visibility</p:attrName>
                                        </p:attrNameLst>
                                      </p:cBhvr>
                                      <p:to>
                                        <p:strVal val="visible"/>
                                      </p:to>
                                    </p:set>
                                    <p:animEffect transition="in" filter="fade">
                                      <p:cBhvr>
                                        <p:cTn id="7" dur="1000"/>
                                        <p:tgtEl>
                                          <p:spTgt spid="188"/>
                                        </p:tgtEl>
                                      </p:cBhvr>
                                    </p:animEffect>
                                  </p:childTnLst>
                                </p:cTn>
                              </p:par>
                              <p:par>
                                <p:cTn id="8" presetID="10" presetClass="entr" presetSubtype="0" fill="hold" nodeType="withEffect">
                                  <p:stCondLst>
                                    <p:cond delay="0"/>
                                  </p:stCondLst>
                                  <p:childTnLst>
                                    <p:set>
                                      <p:cBhvr>
                                        <p:cTn id="9" dur="1" fill="hold">
                                          <p:stCondLst>
                                            <p:cond delay="0"/>
                                          </p:stCondLst>
                                        </p:cTn>
                                        <p:tgtEl>
                                          <p:spTgt spid="186"/>
                                        </p:tgtEl>
                                        <p:attrNameLst>
                                          <p:attrName>style.visibility</p:attrName>
                                        </p:attrNameLst>
                                      </p:cBhvr>
                                      <p:to>
                                        <p:strVal val="visible"/>
                                      </p:to>
                                    </p:set>
                                    <p:animEffect transition="in" filter="fade">
                                      <p:cBhvr>
                                        <p:cTn id="10" dur="10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e71ba1469a_0_104"/>
          <p:cNvSpPr txBox="1">
            <a:spLocks noGrp="1"/>
          </p:cNvSpPr>
          <p:nvPr>
            <p:ph type="ctrTitle"/>
          </p:nvPr>
        </p:nvSpPr>
        <p:spPr>
          <a:xfrm>
            <a:off x="1546025" y="2440594"/>
            <a:ext cx="5832600" cy="1159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400"/>
              <a:buNone/>
            </a:pPr>
            <a:endParaRPr sz="6000" dirty="0">
              <a:solidFill>
                <a:schemeClr val="accent4"/>
              </a:solidFill>
            </a:endParaRPr>
          </a:p>
          <a:p>
            <a:pPr marL="0" lvl="0" indent="0" algn="l" rtl="0">
              <a:lnSpc>
                <a:spcPct val="100000"/>
              </a:lnSpc>
              <a:spcBef>
                <a:spcPts val="0"/>
              </a:spcBef>
              <a:spcAft>
                <a:spcPts val="0"/>
              </a:spcAft>
              <a:buSzPts val="4400"/>
              <a:buNone/>
            </a:pPr>
            <a:r>
              <a:rPr lang="en" sz="3600" dirty="0"/>
              <a:t>Building Web Scraping Strategy</a:t>
            </a:r>
            <a:endParaRPr sz="3600" dirty="0"/>
          </a:p>
          <a:p>
            <a:pPr marL="0" lvl="0" indent="0" algn="l" rtl="0">
              <a:lnSpc>
                <a:spcPct val="100000"/>
              </a:lnSpc>
              <a:spcBef>
                <a:spcPts val="0"/>
              </a:spcBef>
              <a:spcAft>
                <a:spcPts val="0"/>
              </a:spcAft>
              <a:buSzPts val="4400"/>
              <a:buNone/>
            </a:pPr>
            <a:endParaRPr sz="3600" dirty="0"/>
          </a:p>
        </p:txBody>
      </p:sp>
      <p:sp>
        <p:nvSpPr>
          <p:cNvPr id="194" name="Google Shape;194;ge71ba1469a_0_104"/>
          <p:cNvSpPr txBox="1">
            <a:spLocks noGrp="1"/>
          </p:cNvSpPr>
          <p:nvPr>
            <p:ph type="sldNum" idx="4294967295"/>
          </p:nvPr>
        </p:nvSpPr>
        <p:spPr>
          <a:xfrm>
            <a:off x="8404384" y="54356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ec46727de1_0_44"/>
          <p:cNvSpPr txBox="1"/>
          <p:nvPr/>
        </p:nvSpPr>
        <p:spPr>
          <a:xfrm>
            <a:off x="643800" y="1139750"/>
            <a:ext cx="7382400" cy="3062347"/>
          </a:xfrm>
          <a:prstGeom prst="rect">
            <a:avLst/>
          </a:prstGeom>
          <a:noFill/>
          <a:ln>
            <a:noFill/>
          </a:ln>
        </p:spPr>
        <p:txBody>
          <a:bodyPr spcFirstLastPara="1" wrap="square" lIns="91425" tIns="91425" rIns="91425" bIns="91425" anchor="t" anchorCtr="0">
            <a:spAutoFit/>
          </a:bodyPr>
          <a:lstStyle/>
          <a:p>
            <a:pPr marL="120650" marR="0" lvl="0" algn="l" rtl="0">
              <a:lnSpc>
                <a:spcPct val="100000"/>
              </a:lnSpc>
              <a:spcBef>
                <a:spcPts val="0"/>
              </a:spcBef>
              <a:spcAft>
                <a:spcPts val="0"/>
              </a:spcAft>
              <a:buClr>
                <a:srgbClr val="000000"/>
              </a:buClr>
              <a:buSzPts val="1700"/>
            </a:pPr>
            <a:r>
              <a:rPr lang="en" sz="1700" b="1" i="0" u="none" strike="noStrike" cap="none" dirty="0">
                <a:solidFill>
                  <a:srgbClr val="000000"/>
                </a:solidFill>
                <a:latin typeface="+mj-lt"/>
                <a:ea typeface="Source Sans Pro"/>
                <a:cs typeface="Source Sans Pro"/>
                <a:sym typeface="Source Sans Pro"/>
              </a:rPr>
              <a:t>CSS </a:t>
            </a:r>
            <a:r>
              <a:rPr lang="en" sz="1700" b="1" i="0" u="none" strike="noStrike" cap="none" dirty="0" smtClean="0">
                <a:solidFill>
                  <a:srgbClr val="000000"/>
                </a:solidFill>
                <a:latin typeface="+mj-lt"/>
                <a:ea typeface="Source Sans Pro"/>
                <a:cs typeface="Source Sans Pro"/>
                <a:sym typeface="Source Sans Pro"/>
              </a:rPr>
              <a:t>Sprites</a:t>
            </a:r>
            <a:endParaRPr lang="en" sz="1700" b="1" dirty="0">
              <a:latin typeface="+mj-lt"/>
              <a:ea typeface="Source Sans Pro"/>
              <a:cs typeface="Source Sans Pro"/>
              <a:sym typeface="Source Sans Pro"/>
            </a:endParaRPr>
          </a:p>
          <a:p>
            <a:pPr marL="120650" marR="0" lvl="0" algn="l" rtl="0">
              <a:lnSpc>
                <a:spcPct val="100000"/>
              </a:lnSpc>
              <a:spcBef>
                <a:spcPts val="0"/>
              </a:spcBef>
              <a:spcAft>
                <a:spcPts val="0"/>
              </a:spcAft>
              <a:buClr>
                <a:srgbClr val="000000"/>
              </a:buClr>
              <a:buSzPts val="1700"/>
            </a:pPr>
            <a:r>
              <a:rPr lang="en" sz="1700" b="0" i="0" u="none" strike="noStrike" cap="none" dirty="0" smtClean="0">
                <a:solidFill>
                  <a:srgbClr val="000000"/>
                </a:solidFill>
                <a:latin typeface="+mj-lt"/>
                <a:ea typeface="Source Sans Pro"/>
                <a:cs typeface="Source Sans Pro"/>
                <a:sym typeface="Source Sans Pro"/>
              </a:rPr>
              <a:t>Single </a:t>
            </a:r>
            <a:r>
              <a:rPr lang="en" sz="1700" b="0" i="0" u="none" strike="noStrike" cap="none" dirty="0">
                <a:solidFill>
                  <a:srgbClr val="000000"/>
                </a:solidFill>
                <a:latin typeface="+mj-lt"/>
                <a:ea typeface="Source Sans Pro"/>
                <a:cs typeface="Source Sans Pro"/>
                <a:sym typeface="Source Sans Pro"/>
              </a:rPr>
              <a:t>image that contains multiple images and can by extract using px, every time you try to scrape image it will be same image that contains all the images.</a:t>
            </a:r>
            <a:endParaRPr sz="1700" b="0" i="0" u="none" strike="noStrike" cap="none" dirty="0">
              <a:solidFill>
                <a:srgbClr val="000000"/>
              </a:solidFill>
              <a:latin typeface="+mj-lt"/>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rgbClr val="000000"/>
              </a:solidFill>
              <a:latin typeface="+mj-lt"/>
              <a:ea typeface="Source Sans Pro"/>
              <a:cs typeface="Source Sans Pro"/>
              <a:sym typeface="Source Sans Pro"/>
            </a:endParaRPr>
          </a:p>
          <a:p>
            <a:pPr marL="120650" marR="0" lvl="0" algn="l" rtl="0">
              <a:lnSpc>
                <a:spcPct val="100000"/>
              </a:lnSpc>
              <a:spcBef>
                <a:spcPts val="0"/>
              </a:spcBef>
              <a:spcAft>
                <a:spcPts val="0"/>
              </a:spcAft>
              <a:buClr>
                <a:srgbClr val="000000"/>
              </a:buClr>
              <a:buSzPts val="1700"/>
            </a:pPr>
            <a:r>
              <a:rPr lang="en" sz="1700" b="1" i="0" u="none" strike="noStrike" cap="none" dirty="0" smtClean="0">
                <a:solidFill>
                  <a:srgbClr val="000000"/>
                </a:solidFill>
                <a:latin typeface="+mj-lt"/>
                <a:ea typeface="Source Sans Pro"/>
                <a:cs typeface="Source Sans Pro"/>
                <a:sym typeface="Source Sans Pro"/>
              </a:rPr>
              <a:t>Honeyspot</a:t>
            </a:r>
            <a:endParaRPr lang="en" sz="1700" b="1" dirty="0">
              <a:latin typeface="+mj-lt"/>
              <a:ea typeface="Source Sans Pro"/>
              <a:cs typeface="Source Sans Pro"/>
              <a:sym typeface="Source Sans Pro"/>
            </a:endParaRPr>
          </a:p>
          <a:p>
            <a:pPr marL="120650" marR="0" lvl="0" algn="l" rtl="0">
              <a:lnSpc>
                <a:spcPct val="100000"/>
              </a:lnSpc>
              <a:spcBef>
                <a:spcPts val="0"/>
              </a:spcBef>
              <a:spcAft>
                <a:spcPts val="0"/>
              </a:spcAft>
              <a:buClr>
                <a:srgbClr val="000000"/>
              </a:buClr>
              <a:buSzPts val="1700"/>
            </a:pPr>
            <a:r>
              <a:rPr lang="en" sz="1700" b="0" i="0" u="none" strike="noStrike" cap="none" dirty="0" smtClean="0">
                <a:solidFill>
                  <a:srgbClr val="000000"/>
                </a:solidFill>
                <a:latin typeface="+mj-lt"/>
                <a:ea typeface="Source Sans Pro"/>
                <a:cs typeface="Source Sans Pro"/>
                <a:sym typeface="Source Sans Pro"/>
              </a:rPr>
              <a:t>Websites include anti-scraping links that are invisible to regular website visitors. Also known as </a:t>
            </a:r>
            <a:r>
              <a:rPr lang="en" sz="1700" b="1" i="1" u="none" strike="noStrike" cap="none" dirty="0" smtClean="0">
                <a:solidFill>
                  <a:srgbClr val="000000"/>
                </a:solidFill>
                <a:latin typeface="+mj-lt"/>
                <a:ea typeface="Source Sans Pro"/>
                <a:cs typeface="Source Sans Pro"/>
                <a:sym typeface="Source Sans Pro"/>
              </a:rPr>
              <a:t>honeypots</a:t>
            </a:r>
            <a:r>
              <a:rPr lang="en" sz="1700" b="0" i="0" u="none" strike="noStrike" cap="none" dirty="0" smtClean="0">
                <a:solidFill>
                  <a:srgbClr val="000000"/>
                </a:solidFill>
                <a:latin typeface="+mj-lt"/>
                <a:ea typeface="Source Sans Pro"/>
                <a:cs typeface="Source Sans Pro"/>
                <a:sym typeface="Source Sans Pro"/>
              </a:rPr>
              <a:t>, these links are in the form of an HTML code and are visible only to web scrapers. These links are also called </a:t>
            </a:r>
            <a:r>
              <a:rPr lang="en" sz="1700" b="0" i="0" u="none" strike="noStrike" cap="none" dirty="0" smtClean="0">
                <a:solidFill>
                  <a:srgbClr val="000000"/>
                </a:solidFill>
                <a:latin typeface="+mj-lt"/>
                <a:ea typeface="Source Sans Pro"/>
                <a:cs typeface="Source Sans Pro"/>
                <a:sym typeface="Source Sans Pro"/>
              </a:rPr>
              <a:t>honeyspot </a:t>
            </a:r>
            <a:r>
              <a:rPr lang="en" sz="1700" b="0" i="0" u="none" strike="noStrike" cap="none" dirty="0" smtClean="0">
                <a:solidFill>
                  <a:srgbClr val="000000"/>
                </a:solidFill>
                <a:latin typeface="+mj-lt"/>
                <a:ea typeface="Source Sans Pro"/>
                <a:cs typeface="Source Sans Pro"/>
                <a:sym typeface="Source Sans Pro"/>
              </a:rPr>
              <a:t>traps because website owners use them to “trap” the scraper.</a:t>
            </a:r>
            <a:endParaRPr sz="1700" b="0" i="0" u="none" strike="noStrike" cap="none" dirty="0">
              <a:solidFill>
                <a:srgbClr val="000000"/>
              </a:solidFill>
              <a:latin typeface="+mj-lt"/>
              <a:ea typeface="Source Sans Pro"/>
              <a:cs typeface="Source Sans Pro"/>
              <a:sym typeface="Source Sans Pro"/>
            </a:endParaRPr>
          </a:p>
        </p:txBody>
      </p:sp>
      <p:sp>
        <p:nvSpPr>
          <p:cNvPr id="200" name="Google Shape;200;gec46727de1_0_44"/>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Source Sans Pro"/>
                <a:ea typeface="Source Sans Pro"/>
                <a:cs typeface="Source Sans Pro"/>
                <a:sym typeface="Source Sans Pro"/>
              </a:rPr>
              <a:t>22</a:t>
            </a:fld>
            <a:endParaRPr sz="1300" b="1" i="0" u="none" strike="noStrike" cap="none">
              <a:solidFill>
                <a:srgbClr val="0091EA"/>
              </a:solidFill>
              <a:latin typeface="Source Sans Pro"/>
              <a:ea typeface="Source Sans Pro"/>
              <a:cs typeface="Source Sans Pro"/>
              <a:sym typeface="Source Sans Pro"/>
            </a:endParaRPr>
          </a:p>
        </p:txBody>
      </p:sp>
      <p:sp>
        <p:nvSpPr>
          <p:cNvPr id="201" name="Google Shape;201;gec46727de1_0_44"/>
          <p:cNvSpPr txBox="1"/>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700"/>
              <a:buFont typeface="Arial"/>
              <a:buNone/>
            </a:pPr>
            <a:r>
              <a:rPr lang="en" sz="2700" b="1" i="0" u="none" strike="noStrike" cap="none" dirty="0">
                <a:solidFill>
                  <a:srgbClr val="0091EA"/>
                </a:solidFill>
                <a:latin typeface="+mj-lt"/>
                <a:ea typeface="Roboto Slab"/>
                <a:cs typeface="Roboto Slab"/>
                <a:sym typeface="Roboto Slab"/>
              </a:rPr>
              <a:t>Building Web Scraping Strategy</a:t>
            </a:r>
            <a:endParaRPr sz="1800" b="1" i="0" u="none" strike="noStrike" cap="none" dirty="0">
              <a:solidFill>
                <a:srgbClr val="0091EA"/>
              </a:solidFill>
              <a:latin typeface="+mj-lt"/>
              <a:ea typeface="Roboto Slab"/>
              <a:cs typeface="Roboto Slab"/>
              <a:sym typeface="Roboto Slab"/>
            </a:endParaRPr>
          </a:p>
        </p:txBody>
      </p:sp>
      <p:sp>
        <p:nvSpPr>
          <p:cNvPr id="202" name="Google Shape;202;gec46727de1_0_44"/>
          <p:cNvSpPr txBox="1"/>
          <p:nvPr/>
        </p:nvSpPr>
        <p:spPr>
          <a:xfrm>
            <a:off x="549150" y="694574"/>
            <a:ext cx="5636905"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Ways Websites Try to Block Us</a:t>
            </a:r>
            <a:endParaRPr sz="1600" b="1" i="0" u="none" strike="noStrike" cap="none" dirty="0">
              <a:solidFill>
                <a:srgbClr val="000000"/>
              </a:solidFill>
              <a:latin typeface="+mj-lt"/>
              <a:ea typeface="Source Sans Pro"/>
              <a:cs typeface="Source Sans Pro"/>
              <a:sym typeface="Source Sans Pr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1000"/>
                                        <p:tgtEl>
                                          <p:spTgt spid="2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9">
                                            <p:txEl>
                                              <p:pRg st="0" end="0"/>
                                            </p:txEl>
                                          </p:spTgt>
                                        </p:tgtEl>
                                        <p:attrNameLst>
                                          <p:attrName>style.visibility</p:attrName>
                                        </p:attrNameLst>
                                      </p:cBhvr>
                                      <p:to>
                                        <p:strVal val="visible"/>
                                      </p:to>
                                    </p:set>
                                    <p:animEffect transition="in" filter="fade">
                                      <p:cBhvr>
                                        <p:cTn id="12" dur="1000"/>
                                        <p:tgtEl>
                                          <p:spTgt spid="1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9">
                                            <p:txEl>
                                              <p:pRg st="1" end="1"/>
                                            </p:txEl>
                                          </p:spTgt>
                                        </p:tgtEl>
                                        <p:attrNameLst>
                                          <p:attrName>style.visibility</p:attrName>
                                        </p:attrNameLst>
                                      </p:cBhvr>
                                      <p:to>
                                        <p:strVal val="visible"/>
                                      </p:to>
                                    </p:set>
                                    <p:animEffect transition="in" filter="fade">
                                      <p:cBhvr>
                                        <p:cTn id="17" dur="1000"/>
                                        <p:tgtEl>
                                          <p:spTgt spid="19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9">
                                            <p:txEl>
                                              <p:pRg st="3" end="3"/>
                                            </p:txEl>
                                          </p:spTgt>
                                        </p:tgtEl>
                                        <p:attrNameLst>
                                          <p:attrName>style.visibility</p:attrName>
                                        </p:attrNameLst>
                                      </p:cBhvr>
                                      <p:to>
                                        <p:strVal val="visible"/>
                                      </p:to>
                                    </p:set>
                                    <p:animEffect transition="in" filter="fade">
                                      <p:cBhvr>
                                        <p:cTn id="22" dur="1000"/>
                                        <p:tgtEl>
                                          <p:spTgt spid="1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9">
                                            <p:txEl>
                                              <p:pRg st="4" end="4"/>
                                            </p:txEl>
                                          </p:spTgt>
                                        </p:tgtEl>
                                        <p:attrNameLst>
                                          <p:attrName>style.visibility</p:attrName>
                                        </p:attrNameLst>
                                      </p:cBhvr>
                                      <p:to>
                                        <p:strVal val="visible"/>
                                      </p:to>
                                    </p:set>
                                    <p:animEffect transition="in" filter="fade">
                                      <p:cBhvr>
                                        <p:cTn id="27" dur="1000"/>
                                        <p:tgtEl>
                                          <p:spTgt spid="1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ec46727de1_0_44"/>
          <p:cNvSpPr txBox="1"/>
          <p:nvPr/>
        </p:nvSpPr>
        <p:spPr>
          <a:xfrm>
            <a:off x="643800" y="1222377"/>
            <a:ext cx="7382400" cy="1754296"/>
          </a:xfrm>
          <a:prstGeom prst="rect">
            <a:avLst/>
          </a:prstGeom>
          <a:noFill/>
          <a:ln>
            <a:noFill/>
          </a:ln>
        </p:spPr>
        <p:txBody>
          <a:bodyPr spcFirstLastPara="1" wrap="square" lIns="91425" tIns="91425" rIns="91425" bIns="91425" anchor="t" anchorCtr="0">
            <a:spAutoFit/>
          </a:bodyPr>
          <a:lstStyle/>
          <a:p>
            <a:pPr marL="120650" marR="0" lvl="0" algn="l" rtl="0">
              <a:lnSpc>
                <a:spcPct val="100000"/>
              </a:lnSpc>
              <a:spcBef>
                <a:spcPts val="0"/>
              </a:spcBef>
              <a:spcAft>
                <a:spcPts val="0"/>
              </a:spcAft>
              <a:buClr>
                <a:srgbClr val="000000"/>
              </a:buClr>
              <a:buSzPts val="1700"/>
            </a:pPr>
            <a:r>
              <a:rPr lang="en" sz="1700" b="1" i="0" u="none" strike="noStrike" cap="none" dirty="0" smtClean="0">
                <a:solidFill>
                  <a:srgbClr val="000000"/>
                </a:solidFill>
                <a:latin typeface="+mj-lt"/>
                <a:ea typeface="Source Sans Pro"/>
                <a:cs typeface="Source Sans Pro"/>
                <a:sym typeface="Source Sans Pro"/>
              </a:rPr>
              <a:t>Url </a:t>
            </a:r>
            <a:r>
              <a:rPr lang="en" sz="1700" b="1" dirty="0" smtClean="0">
                <a:latin typeface="+mj-lt"/>
                <a:ea typeface="Source Sans Pro"/>
                <a:cs typeface="Source Sans Pro"/>
                <a:sym typeface="Source Sans Pro"/>
              </a:rPr>
              <a:t>R</a:t>
            </a:r>
            <a:r>
              <a:rPr lang="en" sz="1700" b="1" i="0" u="none" strike="noStrike" cap="none" dirty="0" smtClean="0">
                <a:solidFill>
                  <a:srgbClr val="000000"/>
                </a:solidFill>
                <a:latin typeface="+mj-lt"/>
                <a:ea typeface="Source Sans Pro"/>
                <a:cs typeface="Source Sans Pro"/>
                <a:sym typeface="Source Sans Pro"/>
              </a:rPr>
              <a:t>edirection</a:t>
            </a:r>
            <a:endParaRPr lang="en" sz="1700" b="1" dirty="0">
              <a:latin typeface="+mj-lt"/>
              <a:ea typeface="Source Sans Pro"/>
              <a:cs typeface="Source Sans Pro"/>
              <a:sym typeface="Source Sans Pro"/>
            </a:endParaRPr>
          </a:p>
          <a:p>
            <a:pPr marL="120650" marR="0" lvl="0" algn="l" rtl="0">
              <a:lnSpc>
                <a:spcPct val="100000"/>
              </a:lnSpc>
              <a:spcBef>
                <a:spcPts val="0"/>
              </a:spcBef>
              <a:spcAft>
                <a:spcPts val="0"/>
              </a:spcAft>
              <a:buClr>
                <a:srgbClr val="000000"/>
              </a:buClr>
              <a:buSzPts val="1700"/>
            </a:pPr>
            <a:r>
              <a:rPr lang="en" sz="1700" b="0" i="0" u="none" strike="noStrike" cap="none" dirty="0" smtClean="0">
                <a:solidFill>
                  <a:srgbClr val="000000"/>
                </a:solidFill>
                <a:latin typeface="+mj-lt"/>
                <a:ea typeface="Source Sans Pro"/>
                <a:cs typeface="Source Sans Pro"/>
                <a:sym typeface="Source Sans Pro"/>
              </a:rPr>
              <a:t>Server </a:t>
            </a:r>
            <a:r>
              <a:rPr lang="en" sz="1700" b="0" i="0" u="none" strike="noStrike" cap="none" dirty="0">
                <a:solidFill>
                  <a:srgbClr val="000000"/>
                </a:solidFill>
                <a:latin typeface="+mj-lt"/>
                <a:ea typeface="Source Sans Pro"/>
                <a:cs typeface="Source Sans Pro"/>
                <a:sym typeface="Source Sans Pro"/>
              </a:rPr>
              <a:t>redirect you to a redirect url every time they find out someone is trying to scrape data</a:t>
            </a:r>
            <a:r>
              <a:rPr lang="en" sz="1700" b="0" i="0" u="none" strike="noStrike" cap="none" dirty="0" smtClean="0">
                <a:solidFill>
                  <a:srgbClr val="000000"/>
                </a:solidFill>
                <a:latin typeface="+mj-lt"/>
                <a:ea typeface="Source Sans Pro"/>
                <a:cs typeface="Source Sans Pro"/>
                <a:sym typeface="Source Sans Pro"/>
              </a:rPr>
              <a:t>.</a:t>
            </a:r>
            <a:endParaRPr lang="en-US" sz="1700" dirty="0">
              <a:latin typeface="+mj-lt"/>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700"/>
              <a:buFont typeface="Arial"/>
              <a:buNone/>
            </a:pPr>
            <a:endParaRPr lang="en-US" sz="1700" b="0" i="0" u="none" strike="noStrike" cap="none" dirty="0" smtClean="0">
              <a:solidFill>
                <a:srgbClr val="000000"/>
              </a:solidFill>
              <a:latin typeface="+mj-lt"/>
              <a:ea typeface="Source Sans Pro"/>
              <a:cs typeface="Source Sans Pro"/>
              <a:sym typeface="Source Sans Pro"/>
            </a:endParaRPr>
          </a:p>
          <a:p>
            <a:pPr marL="120650" lvl="0">
              <a:buSzPts val="1700"/>
            </a:pPr>
            <a:r>
              <a:rPr lang="en-US" sz="1700" b="1" dirty="0" smtClean="0">
                <a:latin typeface="+mj-lt"/>
                <a:ea typeface="Source Sans Pro"/>
                <a:cs typeface="Source Sans Pro"/>
                <a:sym typeface="Source Sans Pro"/>
              </a:rPr>
              <a:t>CAPTCHA</a:t>
            </a:r>
          </a:p>
          <a:p>
            <a:pPr marL="120650" lvl="0">
              <a:buSzPts val="1700"/>
            </a:pPr>
            <a:r>
              <a:rPr lang="en-US" sz="1700" dirty="0" smtClean="0">
                <a:latin typeface="+mj-lt"/>
                <a:ea typeface="Source Sans Pro"/>
                <a:cs typeface="Source Sans Pro"/>
                <a:sym typeface="Source Sans Pro"/>
              </a:rPr>
              <a:t>Adding </a:t>
            </a:r>
            <a:r>
              <a:rPr lang="en-US" sz="1700" dirty="0">
                <a:latin typeface="+mj-lt"/>
                <a:ea typeface="Source Sans Pro"/>
                <a:cs typeface="Source Sans Pro"/>
                <a:sym typeface="Source Sans Pro"/>
              </a:rPr>
              <a:t>CAPTCHA to block user and bots to scraping data from web</a:t>
            </a:r>
            <a:r>
              <a:rPr lang="en-US" sz="1700" dirty="0" smtClean="0">
                <a:latin typeface="+mj-lt"/>
                <a:ea typeface="Source Sans Pro"/>
                <a:cs typeface="Source Sans Pro"/>
                <a:sym typeface="Source Sans Pro"/>
              </a:rPr>
              <a:t>.</a:t>
            </a:r>
            <a:endParaRPr lang="en-US" sz="1700" dirty="0">
              <a:latin typeface="+mj-lt"/>
              <a:ea typeface="Source Sans Pro"/>
              <a:cs typeface="Source Sans Pro"/>
              <a:sym typeface="Source Sans Pro"/>
            </a:endParaRPr>
          </a:p>
        </p:txBody>
      </p:sp>
      <p:sp>
        <p:nvSpPr>
          <p:cNvPr id="200" name="Google Shape;200;gec46727de1_0_44"/>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Source Sans Pro"/>
                <a:ea typeface="Source Sans Pro"/>
                <a:cs typeface="Source Sans Pro"/>
                <a:sym typeface="Source Sans Pro"/>
              </a:rPr>
              <a:t>23</a:t>
            </a:fld>
            <a:endParaRPr sz="1300" b="1" i="0" u="none" strike="noStrike" cap="none">
              <a:solidFill>
                <a:srgbClr val="0091EA"/>
              </a:solidFill>
              <a:latin typeface="Source Sans Pro"/>
              <a:ea typeface="Source Sans Pro"/>
              <a:cs typeface="Source Sans Pro"/>
              <a:sym typeface="Source Sans Pro"/>
            </a:endParaRPr>
          </a:p>
        </p:txBody>
      </p:sp>
      <p:sp>
        <p:nvSpPr>
          <p:cNvPr id="201" name="Google Shape;201;gec46727de1_0_44"/>
          <p:cNvSpPr txBox="1"/>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700"/>
              <a:buFont typeface="Arial"/>
              <a:buNone/>
            </a:pPr>
            <a:r>
              <a:rPr lang="en" sz="2700" b="1" i="0" u="none" strike="noStrike" cap="none" dirty="0">
                <a:solidFill>
                  <a:srgbClr val="0091EA"/>
                </a:solidFill>
                <a:latin typeface="+mj-lt"/>
                <a:ea typeface="Roboto Slab"/>
                <a:cs typeface="Roboto Slab"/>
                <a:sym typeface="Roboto Slab"/>
              </a:rPr>
              <a:t>Building Web Scraping Strategy</a:t>
            </a:r>
            <a:endParaRPr sz="1800" b="1" i="0" u="none" strike="noStrike" cap="none" dirty="0">
              <a:solidFill>
                <a:srgbClr val="0091EA"/>
              </a:solidFill>
              <a:latin typeface="+mj-lt"/>
              <a:ea typeface="Roboto Slab"/>
              <a:cs typeface="Roboto Slab"/>
              <a:sym typeface="Roboto Slab"/>
            </a:endParaRPr>
          </a:p>
        </p:txBody>
      </p:sp>
      <p:sp>
        <p:nvSpPr>
          <p:cNvPr id="202" name="Google Shape;202;gec46727de1_0_44"/>
          <p:cNvSpPr txBox="1"/>
          <p:nvPr/>
        </p:nvSpPr>
        <p:spPr>
          <a:xfrm>
            <a:off x="643799" y="694574"/>
            <a:ext cx="4794109"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Ways Websites Try to Block Us</a:t>
            </a:r>
            <a:endParaRPr sz="1600" b="1" i="0" u="none" strike="noStrike" cap="none" dirty="0">
              <a:solidFill>
                <a:srgbClr val="000000"/>
              </a:solidFill>
              <a:latin typeface="+mj-lt"/>
              <a:ea typeface="Source Sans Pro"/>
              <a:cs typeface="Source Sans Pro"/>
              <a:sym typeface="Source Sans Pro"/>
            </a:endParaRPr>
          </a:p>
        </p:txBody>
      </p:sp>
    </p:spTree>
    <p:extLst>
      <p:ext uri="{BB962C8B-B14F-4D97-AF65-F5344CB8AC3E}">
        <p14:creationId xmlns:p14="http://schemas.microsoft.com/office/powerpoint/2010/main" val="3792543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1000"/>
                                        <p:tgtEl>
                                          <p:spTgt spid="2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9">
                                            <p:txEl>
                                              <p:pRg st="0" end="0"/>
                                            </p:txEl>
                                          </p:spTgt>
                                        </p:tgtEl>
                                        <p:attrNameLst>
                                          <p:attrName>style.visibility</p:attrName>
                                        </p:attrNameLst>
                                      </p:cBhvr>
                                      <p:to>
                                        <p:strVal val="visible"/>
                                      </p:to>
                                    </p:set>
                                    <p:animEffect transition="in" filter="fade">
                                      <p:cBhvr>
                                        <p:cTn id="12" dur="1000"/>
                                        <p:tgtEl>
                                          <p:spTgt spid="1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9">
                                            <p:txEl>
                                              <p:pRg st="1" end="1"/>
                                            </p:txEl>
                                          </p:spTgt>
                                        </p:tgtEl>
                                        <p:attrNameLst>
                                          <p:attrName>style.visibility</p:attrName>
                                        </p:attrNameLst>
                                      </p:cBhvr>
                                      <p:to>
                                        <p:strVal val="visible"/>
                                      </p:to>
                                    </p:set>
                                    <p:animEffect transition="in" filter="fade">
                                      <p:cBhvr>
                                        <p:cTn id="17" dur="1000"/>
                                        <p:tgtEl>
                                          <p:spTgt spid="19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9">
                                            <p:txEl>
                                              <p:pRg st="3" end="3"/>
                                            </p:txEl>
                                          </p:spTgt>
                                        </p:tgtEl>
                                        <p:attrNameLst>
                                          <p:attrName>style.visibility</p:attrName>
                                        </p:attrNameLst>
                                      </p:cBhvr>
                                      <p:to>
                                        <p:strVal val="visible"/>
                                      </p:to>
                                    </p:set>
                                    <p:animEffect transition="in" filter="fade">
                                      <p:cBhvr>
                                        <p:cTn id="22" dur="1000"/>
                                        <p:tgtEl>
                                          <p:spTgt spid="1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9">
                                            <p:txEl>
                                              <p:pRg st="4" end="4"/>
                                            </p:txEl>
                                          </p:spTgt>
                                        </p:tgtEl>
                                        <p:attrNameLst>
                                          <p:attrName>style.visibility</p:attrName>
                                        </p:attrNameLst>
                                      </p:cBhvr>
                                      <p:to>
                                        <p:strVal val="visible"/>
                                      </p:to>
                                    </p:set>
                                    <p:animEffect transition="in" filter="fade">
                                      <p:cBhvr>
                                        <p:cTn id="27" dur="1000"/>
                                        <p:tgtEl>
                                          <p:spTgt spid="1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ecc5717692_0_131"/>
          <p:cNvSpPr txBox="1"/>
          <p:nvPr/>
        </p:nvSpPr>
        <p:spPr>
          <a:xfrm>
            <a:off x="625349" y="1139750"/>
            <a:ext cx="7382400" cy="2893069"/>
          </a:xfrm>
          <a:prstGeom prst="rect">
            <a:avLst/>
          </a:prstGeom>
          <a:noFill/>
          <a:ln>
            <a:noFill/>
          </a:ln>
        </p:spPr>
        <p:txBody>
          <a:bodyPr spcFirstLastPara="1" wrap="square" lIns="91425" tIns="91425" rIns="91425" bIns="91425" anchor="t" anchorCtr="0">
            <a:spAutoFit/>
          </a:bodyPr>
          <a:lstStyle/>
          <a:p>
            <a:pPr marL="120650" marR="0" lvl="0" algn="l" rtl="0">
              <a:lnSpc>
                <a:spcPct val="100000"/>
              </a:lnSpc>
              <a:spcBef>
                <a:spcPts val="0"/>
              </a:spcBef>
              <a:spcAft>
                <a:spcPts val="0"/>
              </a:spcAft>
              <a:buClr>
                <a:srgbClr val="000000"/>
              </a:buClr>
              <a:buSzPts val="1700"/>
            </a:pPr>
            <a:r>
              <a:rPr lang="en" sz="1600" b="1" i="0" u="none" strike="noStrike" cap="none" dirty="0" smtClean="0">
                <a:solidFill>
                  <a:srgbClr val="000000"/>
                </a:solidFill>
                <a:latin typeface="+mj-lt"/>
                <a:ea typeface="Source Sans Pro"/>
                <a:cs typeface="Source Sans Pro"/>
                <a:sym typeface="Source Sans Pro"/>
              </a:rPr>
              <a:t>Login</a:t>
            </a:r>
            <a:endParaRPr lang="en" sz="1600" b="1" dirty="0">
              <a:latin typeface="+mj-lt"/>
              <a:ea typeface="Source Sans Pro"/>
              <a:cs typeface="Source Sans Pro"/>
              <a:sym typeface="Source Sans Pro"/>
            </a:endParaRPr>
          </a:p>
          <a:p>
            <a:pPr marL="120650" lvl="0">
              <a:buSzPts val="1700"/>
            </a:pPr>
            <a:r>
              <a:rPr lang="en-US" sz="1600" dirty="0"/>
              <a:t>A login requirement means that a website restricts access to its content behind a user authentication </a:t>
            </a:r>
            <a:r>
              <a:rPr lang="en-US" sz="1600" dirty="0" smtClean="0"/>
              <a:t>system. Before </a:t>
            </a:r>
            <a:r>
              <a:rPr lang="en-US" sz="1600" dirty="0"/>
              <a:t>you can view or interact with the data, you must log in with valid credentials (username/password, social login, etc.).</a:t>
            </a:r>
            <a:endParaRPr sz="1600" b="0" i="0" u="none" strike="noStrike" cap="none" dirty="0">
              <a:solidFill>
                <a:srgbClr val="000000"/>
              </a:solidFill>
              <a:latin typeface="+mj-lt"/>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700"/>
              <a:buFont typeface="Arial"/>
              <a:buNone/>
            </a:pPr>
            <a:endParaRPr sz="1600" b="0" i="0" u="none" strike="noStrike" cap="none" dirty="0">
              <a:solidFill>
                <a:srgbClr val="000000"/>
              </a:solidFill>
              <a:latin typeface="+mj-lt"/>
              <a:ea typeface="Source Sans Pro"/>
              <a:cs typeface="Source Sans Pro"/>
              <a:sym typeface="Source Sans Pro"/>
            </a:endParaRPr>
          </a:p>
          <a:p>
            <a:pPr marL="120650" marR="0" lvl="0" algn="l" rtl="0">
              <a:lnSpc>
                <a:spcPct val="100000"/>
              </a:lnSpc>
              <a:spcBef>
                <a:spcPts val="0"/>
              </a:spcBef>
              <a:spcAft>
                <a:spcPts val="0"/>
              </a:spcAft>
              <a:buClr>
                <a:srgbClr val="000000"/>
              </a:buClr>
              <a:buSzPts val="1700"/>
            </a:pPr>
            <a:r>
              <a:rPr lang="en" sz="1600" b="1" i="0" u="none" strike="noStrike" cap="none" dirty="0">
                <a:solidFill>
                  <a:srgbClr val="000000"/>
                </a:solidFill>
                <a:latin typeface="+mj-lt"/>
                <a:ea typeface="Source Sans Pro"/>
                <a:cs typeface="Source Sans Pro"/>
                <a:sym typeface="Source Sans Pro"/>
              </a:rPr>
              <a:t>Ad </a:t>
            </a:r>
            <a:r>
              <a:rPr lang="en" sz="1600" b="1" i="0" u="none" strike="noStrike" cap="none" dirty="0" smtClean="0">
                <a:solidFill>
                  <a:srgbClr val="000000"/>
                </a:solidFill>
                <a:latin typeface="+mj-lt"/>
                <a:ea typeface="Source Sans Pro"/>
                <a:cs typeface="Source Sans Pro"/>
                <a:sym typeface="Source Sans Pro"/>
              </a:rPr>
              <a:t>Popups</a:t>
            </a:r>
            <a:endParaRPr lang="en" sz="1600" b="1" dirty="0">
              <a:latin typeface="+mj-lt"/>
              <a:ea typeface="Source Sans Pro"/>
              <a:cs typeface="Source Sans Pro"/>
              <a:sym typeface="Source Sans Pro"/>
            </a:endParaRPr>
          </a:p>
          <a:p>
            <a:pPr marL="120650" marR="0" lvl="0" algn="l" rtl="0">
              <a:lnSpc>
                <a:spcPct val="100000"/>
              </a:lnSpc>
              <a:spcBef>
                <a:spcPts val="0"/>
              </a:spcBef>
              <a:spcAft>
                <a:spcPts val="0"/>
              </a:spcAft>
              <a:buClr>
                <a:srgbClr val="000000"/>
              </a:buClr>
              <a:buSzPts val="1700"/>
            </a:pPr>
            <a:r>
              <a:rPr lang="en" sz="1600" b="0" i="0" u="none" strike="noStrike" cap="none" dirty="0" smtClean="0">
                <a:solidFill>
                  <a:srgbClr val="000000"/>
                </a:solidFill>
                <a:latin typeface="+mj-lt"/>
                <a:ea typeface="Source Sans Pro"/>
                <a:cs typeface="Source Sans Pro"/>
                <a:sym typeface="Source Sans Pro"/>
              </a:rPr>
              <a:t>Adding ad popups or simple popups that required user interaction to take off that popup from screen otherwise you cannot scrape required data.</a:t>
            </a:r>
            <a:endParaRPr sz="1600" b="0" i="0" u="none" strike="noStrike" cap="none" dirty="0" smtClean="0">
              <a:solidFill>
                <a:srgbClr val="000000"/>
              </a:solidFill>
              <a:latin typeface="+mj-lt"/>
              <a:ea typeface="Source Sans Pro"/>
              <a:cs typeface="Source Sans Pro"/>
              <a:sym typeface="Source Sans Pro"/>
            </a:endParaRPr>
          </a:p>
          <a:p>
            <a:pPr marL="457200" marR="0" lvl="0" indent="0" algn="l" rtl="0">
              <a:lnSpc>
                <a:spcPct val="100000"/>
              </a:lnSpc>
              <a:spcBef>
                <a:spcPts val="0"/>
              </a:spcBef>
              <a:spcAft>
                <a:spcPts val="0"/>
              </a:spcAft>
              <a:buClr>
                <a:srgbClr val="000000"/>
              </a:buClr>
              <a:buSzPts val="1700"/>
              <a:buFont typeface="Arial"/>
              <a:buNone/>
            </a:pPr>
            <a:endParaRPr sz="1600" b="0" i="0" u="none" strike="noStrike" cap="none" dirty="0">
              <a:solidFill>
                <a:srgbClr val="000000"/>
              </a:solidFill>
              <a:latin typeface="+mj-lt"/>
              <a:ea typeface="Source Sans Pro"/>
              <a:cs typeface="Source Sans Pro"/>
              <a:sym typeface="Source Sans Pro"/>
            </a:endParaRPr>
          </a:p>
          <a:p>
            <a:pPr marL="120650" marR="0" lvl="0" algn="l" rtl="0">
              <a:lnSpc>
                <a:spcPct val="100000"/>
              </a:lnSpc>
              <a:spcBef>
                <a:spcPts val="0"/>
              </a:spcBef>
              <a:spcAft>
                <a:spcPts val="0"/>
              </a:spcAft>
              <a:buClr>
                <a:srgbClr val="000000"/>
              </a:buClr>
              <a:buSzPts val="1700"/>
            </a:pPr>
            <a:r>
              <a:rPr lang="en" sz="1600" b="1" i="0" u="none" strike="noStrike" cap="none" dirty="0">
                <a:solidFill>
                  <a:srgbClr val="000000"/>
                </a:solidFill>
                <a:latin typeface="+mj-lt"/>
                <a:ea typeface="Source Sans Pro"/>
                <a:cs typeface="Source Sans Pro"/>
                <a:sym typeface="Source Sans Pro"/>
              </a:rPr>
              <a:t>IP </a:t>
            </a:r>
            <a:r>
              <a:rPr lang="en" sz="1600" b="1" i="0" u="none" strike="noStrike" cap="none" dirty="0" smtClean="0">
                <a:solidFill>
                  <a:srgbClr val="000000"/>
                </a:solidFill>
                <a:latin typeface="+mj-lt"/>
                <a:ea typeface="Source Sans Pro"/>
                <a:cs typeface="Source Sans Pro"/>
                <a:sym typeface="Source Sans Pro"/>
              </a:rPr>
              <a:t>Blocking</a:t>
            </a:r>
            <a:endParaRPr lang="en" sz="1600" b="1" dirty="0">
              <a:latin typeface="+mj-lt"/>
              <a:ea typeface="Source Sans Pro"/>
              <a:cs typeface="Source Sans Pro"/>
              <a:sym typeface="Source Sans Pro"/>
            </a:endParaRPr>
          </a:p>
          <a:p>
            <a:pPr marL="120650" marR="0" lvl="0" algn="l" rtl="0">
              <a:lnSpc>
                <a:spcPct val="100000"/>
              </a:lnSpc>
              <a:spcBef>
                <a:spcPts val="0"/>
              </a:spcBef>
              <a:spcAft>
                <a:spcPts val="0"/>
              </a:spcAft>
              <a:buClr>
                <a:srgbClr val="000000"/>
              </a:buClr>
              <a:buSzPts val="1700"/>
            </a:pPr>
            <a:r>
              <a:rPr lang="en" sz="1600" b="0" i="0" u="none" strike="noStrike" cap="none" dirty="0" smtClean="0">
                <a:solidFill>
                  <a:srgbClr val="000000"/>
                </a:solidFill>
                <a:latin typeface="+mj-lt"/>
                <a:ea typeface="Source Sans Pro"/>
                <a:cs typeface="Source Sans Pro"/>
                <a:sym typeface="Source Sans Pro"/>
              </a:rPr>
              <a:t>Permanently </a:t>
            </a:r>
            <a:r>
              <a:rPr lang="en" sz="1600" b="0" i="0" u="none" strike="noStrike" cap="none" dirty="0">
                <a:solidFill>
                  <a:srgbClr val="000000"/>
                </a:solidFill>
                <a:latin typeface="+mj-lt"/>
                <a:ea typeface="Source Sans Pro"/>
                <a:cs typeface="Source Sans Pro"/>
                <a:sym typeface="Source Sans Pro"/>
              </a:rPr>
              <a:t>blocking IP from making request to server</a:t>
            </a:r>
            <a:r>
              <a:rPr lang="en" sz="1600" b="0" i="0" u="none" strike="noStrike" cap="none" dirty="0" smtClean="0">
                <a:solidFill>
                  <a:srgbClr val="000000"/>
                </a:solidFill>
                <a:latin typeface="+mj-lt"/>
                <a:ea typeface="Source Sans Pro"/>
                <a:cs typeface="Source Sans Pro"/>
                <a:sym typeface="Source Sans Pro"/>
              </a:rPr>
              <a:t>.</a:t>
            </a:r>
            <a:endParaRPr sz="1600" b="0" i="0" u="none" strike="noStrike" cap="none" dirty="0">
              <a:solidFill>
                <a:srgbClr val="000000"/>
              </a:solidFill>
              <a:latin typeface="+mj-lt"/>
              <a:ea typeface="Source Sans Pro"/>
              <a:cs typeface="Source Sans Pro"/>
              <a:sym typeface="Source Sans Pro"/>
            </a:endParaRPr>
          </a:p>
        </p:txBody>
      </p:sp>
      <p:sp>
        <p:nvSpPr>
          <p:cNvPr id="208" name="Google Shape;208;gecc5717692_0_131"/>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24</a:t>
            </a:fld>
            <a:endParaRPr/>
          </a:p>
        </p:txBody>
      </p:sp>
      <p:sp>
        <p:nvSpPr>
          <p:cNvPr id="209" name="Google Shape;209;gecc5717692_0_131"/>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Building Web Scraping Strategy</a:t>
            </a:r>
            <a:endParaRPr sz="1800" b="1"/>
          </a:p>
        </p:txBody>
      </p:sp>
      <p:sp>
        <p:nvSpPr>
          <p:cNvPr id="210" name="Google Shape;210;gecc5717692_0_131"/>
          <p:cNvSpPr txBox="1"/>
          <p:nvPr/>
        </p:nvSpPr>
        <p:spPr>
          <a:xfrm>
            <a:off x="625349" y="694574"/>
            <a:ext cx="4355359"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Ways Websites Try to Block Us</a:t>
            </a:r>
            <a:endParaRPr sz="1600" b="1" i="0" u="none" strike="noStrike" cap="none" dirty="0">
              <a:solidFill>
                <a:srgbClr val="000000"/>
              </a:solidFill>
              <a:latin typeface="+mj-lt"/>
              <a:ea typeface="Source Sans Pro"/>
              <a:cs typeface="Source Sans Pro"/>
              <a:sym typeface="Source Sans Pr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1000"/>
                                        <p:tgtEl>
                                          <p:spTgt spid="2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7">
                                            <p:txEl>
                                              <p:pRg st="0" end="0"/>
                                            </p:txEl>
                                          </p:spTgt>
                                        </p:tgtEl>
                                        <p:attrNameLst>
                                          <p:attrName>style.visibility</p:attrName>
                                        </p:attrNameLst>
                                      </p:cBhvr>
                                      <p:to>
                                        <p:strVal val="visible"/>
                                      </p:to>
                                    </p:set>
                                    <p:animEffect transition="in" filter="fade">
                                      <p:cBhvr>
                                        <p:cTn id="12" dur="1000"/>
                                        <p:tgtEl>
                                          <p:spTgt spid="20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7">
                                            <p:txEl>
                                              <p:pRg st="1" end="1"/>
                                            </p:txEl>
                                          </p:spTgt>
                                        </p:tgtEl>
                                        <p:attrNameLst>
                                          <p:attrName>style.visibility</p:attrName>
                                        </p:attrNameLst>
                                      </p:cBhvr>
                                      <p:to>
                                        <p:strVal val="visible"/>
                                      </p:to>
                                    </p:set>
                                    <p:animEffect transition="in" filter="fade">
                                      <p:cBhvr>
                                        <p:cTn id="17" dur="1000"/>
                                        <p:tgtEl>
                                          <p:spTgt spid="20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7">
                                            <p:txEl>
                                              <p:pRg st="3" end="3"/>
                                            </p:txEl>
                                          </p:spTgt>
                                        </p:tgtEl>
                                        <p:attrNameLst>
                                          <p:attrName>style.visibility</p:attrName>
                                        </p:attrNameLst>
                                      </p:cBhvr>
                                      <p:to>
                                        <p:strVal val="visible"/>
                                      </p:to>
                                    </p:set>
                                    <p:animEffect transition="in" filter="fade">
                                      <p:cBhvr>
                                        <p:cTn id="22" dur="1000"/>
                                        <p:tgtEl>
                                          <p:spTgt spid="2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7">
                                            <p:txEl>
                                              <p:pRg st="4" end="4"/>
                                            </p:txEl>
                                          </p:spTgt>
                                        </p:tgtEl>
                                        <p:attrNameLst>
                                          <p:attrName>style.visibility</p:attrName>
                                        </p:attrNameLst>
                                      </p:cBhvr>
                                      <p:to>
                                        <p:strVal val="visible"/>
                                      </p:to>
                                    </p:set>
                                    <p:animEffect transition="in" filter="fade">
                                      <p:cBhvr>
                                        <p:cTn id="27" dur="1000"/>
                                        <p:tgtEl>
                                          <p:spTgt spid="2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7">
                                            <p:txEl>
                                              <p:pRg st="6" end="6"/>
                                            </p:txEl>
                                          </p:spTgt>
                                        </p:tgtEl>
                                        <p:attrNameLst>
                                          <p:attrName>style.visibility</p:attrName>
                                        </p:attrNameLst>
                                      </p:cBhvr>
                                      <p:to>
                                        <p:strVal val="visible"/>
                                      </p:to>
                                    </p:set>
                                    <p:animEffect transition="in" filter="fade">
                                      <p:cBhvr>
                                        <p:cTn id="32" dur="1000"/>
                                        <p:tgtEl>
                                          <p:spTgt spid="20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7">
                                            <p:txEl>
                                              <p:pRg st="7" end="7"/>
                                            </p:txEl>
                                          </p:spTgt>
                                        </p:tgtEl>
                                        <p:attrNameLst>
                                          <p:attrName>style.visibility</p:attrName>
                                        </p:attrNameLst>
                                      </p:cBhvr>
                                      <p:to>
                                        <p:strVal val="visible"/>
                                      </p:to>
                                    </p:set>
                                    <p:animEffect transition="in" filter="fade">
                                      <p:cBhvr>
                                        <p:cTn id="37" dur="1000"/>
                                        <p:tgtEl>
                                          <p:spTgt spid="20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ef0424f90f_0_122"/>
          <p:cNvSpPr txBox="1"/>
          <p:nvPr/>
        </p:nvSpPr>
        <p:spPr>
          <a:xfrm>
            <a:off x="662575" y="986850"/>
            <a:ext cx="7382400" cy="126185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50"/>
              <a:buFont typeface="Arial"/>
              <a:buNone/>
            </a:pPr>
            <a:r>
              <a:rPr lang="en" b="1" i="0" u="none" strike="noStrike" cap="none" dirty="0">
                <a:solidFill>
                  <a:srgbClr val="111111"/>
                </a:solidFill>
                <a:highlight>
                  <a:srgbClr val="FFFFFF"/>
                </a:highlight>
                <a:latin typeface="+mj-lt"/>
                <a:ea typeface="Georgia"/>
                <a:cs typeface="Georgia"/>
                <a:sym typeface="Georgia"/>
              </a:rPr>
              <a:t>Sessions and Cookies</a:t>
            </a:r>
            <a:endParaRPr b="1"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600"/>
              <a:buFont typeface="Arial"/>
              <a:buNone/>
            </a:pPr>
            <a:r>
              <a:rPr lang="en" b="0" i="0" u="none" strike="noStrike" cap="none" dirty="0">
                <a:solidFill>
                  <a:srgbClr val="000000"/>
                </a:solidFill>
                <a:latin typeface="+mj-lt"/>
                <a:ea typeface="Source Sans Pro"/>
                <a:cs typeface="Source Sans Pro"/>
                <a:sym typeface="Source Sans Pro"/>
              </a:rPr>
              <a:t>While HTTP is stateless, sometimes you want to use cookies to identify yourself consistently across requests to the site you’re scraping.</a:t>
            </a:r>
            <a:endParaRPr b="0" i="0" u="none" strike="noStrike" cap="none" dirty="0">
              <a:solidFill>
                <a:srgbClr val="000000"/>
              </a:solidFill>
              <a:latin typeface="+mj-lt"/>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600"/>
              <a:buFont typeface="Arial"/>
              <a:buNone/>
            </a:pPr>
            <a:r>
              <a:rPr lang="en" b="0" i="0" u="none" strike="noStrike" cap="none" dirty="0">
                <a:solidFill>
                  <a:srgbClr val="000000"/>
                </a:solidFill>
                <a:latin typeface="+mj-lt"/>
                <a:ea typeface="Source Sans Pro"/>
                <a:cs typeface="Source Sans Pro"/>
                <a:sym typeface="Source Sans Pro"/>
              </a:rPr>
              <a:t>A session cookie identifies who you are to the website. As long as future requests send this cookie along, the site knows who you are and what you have access to.</a:t>
            </a:r>
            <a:endParaRPr b="0" i="0" u="none" strike="noStrike" cap="none" dirty="0">
              <a:solidFill>
                <a:srgbClr val="000000"/>
              </a:solidFill>
              <a:latin typeface="+mj-lt"/>
              <a:ea typeface="Source Sans Pro"/>
              <a:cs typeface="Source Sans Pro"/>
              <a:sym typeface="Source Sans Pro"/>
            </a:endParaRPr>
          </a:p>
        </p:txBody>
      </p:sp>
      <p:sp>
        <p:nvSpPr>
          <p:cNvPr id="216" name="Google Shape;216;gef0424f90f_0_12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25</a:t>
            </a:fld>
            <a:endParaRPr/>
          </a:p>
        </p:txBody>
      </p:sp>
      <p:sp>
        <p:nvSpPr>
          <p:cNvPr id="217" name="Google Shape;217;gef0424f90f_0_122"/>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Building Web Scraping Strategy</a:t>
            </a:r>
            <a:endParaRPr sz="1800" b="1"/>
          </a:p>
        </p:txBody>
      </p:sp>
      <p:sp>
        <p:nvSpPr>
          <p:cNvPr id="218" name="Google Shape;218;gef0424f90f_0_122"/>
          <p:cNvSpPr txBox="1"/>
          <p:nvPr/>
        </p:nvSpPr>
        <p:spPr>
          <a:xfrm>
            <a:off x="625350" y="577850"/>
            <a:ext cx="3060600"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600" b="1" i="0" u="none" strike="noStrike" cap="none" dirty="0" smtClean="0">
                <a:solidFill>
                  <a:srgbClr val="EF4F63"/>
                </a:solidFill>
                <a:latin typeface="+mj-lt"/>
                <a:ea typeface="Merriweather"/>
                <a:cs typeface="Merriweather"/>
                <a:sym typeface="Merriweather"/>
              </a:rPr>
              <a:t>Avoid Getting Blacklisted</a:t>
            </a:r>
            <a:endParaRPr sz="1600" b="1" i="0" u="none" strike="noStrike" cap="none" dirty="0">
              <a:solidFill>
                <a:srgbClr val="000000"/>
              </a:solidFill>
              <a:latin typeface="+mj-lt"/>
              <a:ea typeface="Source Sans Pro"/>
              <a:cs typeface="Source Sans Pro"/>
              <a:sym typeface="Source Sans Pro"/>
            </a:endParaRPr>
          </a:p>
        </p:txBody>
      </p:sp>
      <p:sp>
        <p:nvSpPr>
          <p:cNvPr id="219" name="Google Shape;219;gef0424f90f_0_122"/>
          <p:cNvSpPr txBox="1"/>
          <p:nvPr/>
        </p:nvSpPr>
        <p:spPr>
          <a:xfrm>
            <a:off x="662575" y="2282250"/>
            <a:ext cx="7382400" cy="214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 sz="1250" b="1" i="0" u="none" strike="noStrike" cap="none" dirty="0">
                <a:solidFill>
                  <a:srgbClr val="111111"/>
                </a:solidFill>
                <a:highlight>
                  <a:srgbClr val="FFFFFF"/>
                </a:highlight>
                <a:latin typeface="Courier New"/>
                <a:ea typeface="Courier New"/>
                <a:cs typeface="Courier New"/>
                <a:sym typeface="Courier New"/>
              </a:rPr>
              <a:t>Code</a:t>
            </a:r>
            <a:endParaRPr sz="1250" b="1"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 create a session</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session = requests.Session()</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50"/>
              <a:buFont typeface="Arial"/>
              <a:buNone/>
            </a:pP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 make a login POST request, using the session</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session.post("http://example.com/login", data=dict(</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    email="me@domain.com",</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    password="secret_value"</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 subsequent requests that use the session will automatically handle cookies</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r = session.get("http://example.com/protected_page")</a:t>
            </a:r>
            <a:endParaRPr sz="1700" b="0" i="0" u="none" strike="noStrike" cap="none" dirty="0">
              <a:solidFill>
                <a:srgbClr val="000000"/>
              </a:solidFill>
              <a:latin typeface="Source Sans Pro"/>
              <a:ea typeface="Source Sans Pro"/>
              <a:cs typeface="Source Sans Pro"/>
              <a:sym typeface="Source Sans Pr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animEffect transition="in" filter="fade">
                                      <p:cBhvr>
                                        <p:cTn id="7" dur="1000"/>
                                        <p:tgtEl>
                                          <p:spTgt spid="2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
                                        </p:tgtEl>
                                        <p:attrNameLst>
                                          <p:attrName>style.visibility</p:attrName>
                                        </p:attrNameLst>
                                      </p:cBhvr>
                                      <p:to>
                                        <p:strVal val="visible"/>
                                      </p:to>
                                    </p:set>
                                    <p:animEffect transition="in" filter="fade">
                                      <p:cBhvr>
                                        <p:cTn id="12" dur="1000"/>
                                        <p:tgtEl>
                                          <p:spTgt spid="2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9"/>
                                        </p:tgtEl>
                                        <p:attrNameLst>
                                          <p:attrName>style.visibility</p:attrName>
                                        </p:attrNameLst>
                                      </p:cBhvr>
                                      <p:to>
                                        <p:strVal val="visible"/>
                                      </p:to>
                                    </p:set>
                                    <p:animEffect transition="in" filter="fade">
                                      <p:cBhvr>
                                        <p:cTn id="17" dur="1000"/>
                                        <p:tgtEl>
                                          <p:spTgt spid="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ef0424f90f_0_147"/>
          <p:cNvSpPr txBox="1"/>
          <p:nvPr/>
        </p:nvSpPr>
        <p:spPr>
          <a:xfrm>
            <a:off x="662575" y="1825050"/>
            <a:ext cx="7382400" cy="16008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250"/>
              <a:buFont typeface="Arial"/>
              <a:buNone/>
            </a:pPr>
            <a:r>
              <a:rPr lang="en" sz="1250" b="1" i="0" u="none" strike="noStrike" cap="none" dirty="0">
                <a:solidFill>
                  <a:srgbClr val="111111"/>
                </a:solidFill>
                <a:highlight>
                  <a:srgbClr val="FFFFFF"/>
                </a:highlight>
                <a:latin typeface="Courier New"/>
                <a:ea typeface="Courier New"/>
                <a:cs typeface="Courier New"/>
                <a:sym typeface="Courier New"/>
              </a:rPr>
              <a:t>Code</a:t>
            </a:r>
            <a:endParaRPr sz="1250" b="1"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import time</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for term in ["web scraping", "web crawling", "scrape this site"]:</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    r = requests.get("http://example.com/search", params=dict(</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        query=term</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    ))</a:t>
            </a:r>
            <a:endParaRPr sz="1150" b="0" i="0" u="none" strike="noStrike" cap="none" dirty="0">
              <a:solidFill>
                <a:srgbClr val="111111"/>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1150"/>
              <a:buFont typeface="Arial"/>
              <a:buNone/>
            </a:pPr>
            <a:r>
              <a:rPr lang="en" sz="1150" b="0" i="0" u="none" strike="noStrike" cap="none" dirty="0">
                <a:solidFill>
                  <a:srgbClr val="111111"/>
                </a:solidFill>
                <a:highlight>
                  <a:srgbClr val="FFFFFF"/>
                </a:highlight>
                <a:latin typeface="Courier New"/>
                <a:ea typeface="Courier New"/>
                <a:cs typeface="Courier New"/>
                <a:sym typeface="Courier New"/>
              </a:rPr>
              <a:t>    time.sleep(5)  # wait 5 seconds before we make the next request</a:t>
            </a:r>
            <a:endParaRPr sz="1500" b="0" i="0" u="none" strike="noStrike" cap="none" dirty="0">
              <a:solidFill>
                <a:srgbClr val="111111"/>
              </a:solidFill>
              <a:highlight>
                <a:srgbClr val="FFFFFF"/>
              </a:highlight>
              <a:latin typeface="Georgia"/>
              <a:ea typeface="Georgia"/>
              <a:cs typeface="Georgia"/>
              <a:sym typeface="Georgia"/>
            </a:endParaRPr>
          </a:p>
        </p:txBody>
      </p:sp>
      <p:sp>
        <p:nvSpPr>
          <p:cNvPr id="225" name="Google Shape;225;gef0424f90f_0_147"/>
          <p:cNvSpPr txBox="1"/>
          <p:nvPr/>
        </p:nvSpPr>
        <p:spPr>
          <a:xfrm>
            <a:off x="662575" y="986850"/>
            <a:ext cx="7382400" cy="915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50"/>
              <a:buFont typeface="Arial"/>
              <a:buNone/>
            </a:pPr>
            <a:r>
              <a:rPr lang="en" sz="1600" b="1" i="0" u="none" strike="noStrike" cap="none" dirty="0">
                <a:solidFill>
                  <a:srgbClr val="111111"/>
                </a:solidFill>
                <a:highlight>
                  <a:srgbClr val="FFFFFF"/>
                </a:highlight>
                <a:latin typeface="+mj-lt"/>
                <a:ea typeface="Georgia"/>
                <a:cs typeface="Georgia"/>
                <a:sym typeface="Georgia"/>
              </a:rPr>
              <a:t>Delays and Backing Off</a:t>
            </a:r>
            <a:endParaRPr sz="1600" b="1"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rgbClr val="000000"/>
                </a:solidFill>
                <a:latin typeface="+mj-lt"/>
                <a:ea typeface="Source Sans Pro"/>
                <a:cs typeface="Source Sans Pro"/>
                <a:sym typeface="Source Sans Pro"/>
              </a:rPr>
              <a:t>If you want to be polite and not overwhelm the target site you’re scraping, you can introduce an intentional delay or lag in your scraper to slow it down</a:t>
            </a:r>
            <a:endParaRPr sz="1600" b="0" i="0" u="none" strike="noStrike" cap="none" dirty="0">
              <a:solidFill>
                <a:srgbClr val="111111"/>
              </a:solidFill>
              <a:highlight>
                <a:srgbClr val="FFFFFF"/>
              </a:highlight>
              <a:latin typeface="+mj-lt"/>
              <a:ea typeface="Georgia"/>
              <a:cs typeface="Georgia"/>
              <a:sym typeface="Georgia"/>
            </a:endParaRPr>
          </a:p>
        </p:txBody>
      </p:sp>
      <p:sp>
        <p:nvSpPr>
          <p:cNvPr id="226" name="Google Shape;226;gef0424f90f_0_147"/>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26</a:t>
            </a:fld>
            <a:endParaRPr/>
          </a:p>
        </p:txBody>
      </p:sp>
      <p:sp>
        <p:nvSpPr>
          <p:cNvPr id="227" name="Google Shape;227;gef0424f90f_0_147"/>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Building Web Scraping Strategy</a:t>
            </a:r>
            <a:endParaRPr sz="1800" b="1"/>
          </a:p>
        </p:txBody>
      </p:sp>
      <p:sp>
        <p:nvSpPr>
          <p:cNvPr id="228" name="Google Shape;228;gef0424f90f_0_147"/>
          <p:cNvSpPr txBox="1"/>
          <p:nvPr/>
        </p:nvSpPr>
        <p:spPr>
          <a:xfrm>
            <a:off x="625350" y="577850"/>
            <a:ext cx="3060600"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Avoid Getting Blacklisted</a:t>
            </a:r>
            <a:endParaRPr sz="1600" b="1" i="0" u="none" strike="noStrike" cap="none" dirty="0">
              <a:solidFill>
                <a:srgbClr val="000000"/>
              </a:solidFill>
              <a:latin typeface="+mj-lt"/>
              <a:ea typeface="Source Sans Pro"/>
              <a:cs typeface="Source Sans Pro"/>
              <a:sym typeface="Source Sans Pro"/>
            </a:endParaRPr>
          </a:p>
        </p:txBody>
      </p:sp>
      <p:sp>
        <p:nvSpPr>
          <p:cNvPr id="229" name="Google Shape;229;gef0424f90f_0_147"/>
          <p:cNvSpPr txBox="1"/>
          <p:nvPr/>
        </p:nvSpPr>
        <p:spPr>
          <a:xfrm>
            <a:off x="662575" y="3425250"/>
            <a:ext cx="7382400" cy="139317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1400"/>
              </a:spcAft>
              <a:buClr>
                <a:srgbClr val="000000"/>
              </a:buClr>
              <a:buSzPts val="1600"/>
              <a:buFont typeface="Arial"/>
              <a:buNone/>
            </a:pPr>
            <a:r>
              <a:rPr lang="en" sz="1600" b="0" i="0" u="none" strike="noStrike" cap="none" dirty="0">
                <a:solidFill>
                  <a:srgbClr val="000000"/>
                </a:solidFill>
                <a:latin typeface="+mj-lt"/>
                <a:ea typeface="Source Sans Pro"/>
                <a:cs typeface="Source Sans Pro"/>
                <a:sym typeface="Source Sans Pro"/>
              </a:rPr>
              <a:t>Some also recommend adding a backoff that’s proportional to how long the site took to respond to your request. That way if the site gets overwhelmed and starts to slow down, your code will automatically back off.</a:t>
            </a:r>
            <a:endParaRPr sz="1500" b="0" i="0" u="none" strike="noStrike" cap="none" dirty="0">
              <a:solidFill>
                <a:srgbClr val="111111"/>
              </a:solidFill>
              <a:highlight>
                <a:srgbClr val="FFFFFF"/>
              </a:highlight>
              <a:latin typeface="+mj-lt"/>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fade">
                                      <p:cBhvr>
                                        <p:cTn id="7" dur="1000"/>
                                        <p:tgtEl>
                                          <p:spTgt spid="2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
                                        </p:tgtEl>
                                        <p:attrNameLst>
                                          <p:attrName>style.visibility</p:attrName>
                                        </p:attrNameLst>
                                      </p:cBhvr>
                                      <p:to>
                                        <p:strVal val="visible"/>
                                      </p:to>
                                    </p:set>
                                    <p:animEffect transition="in" filter="fade">
                                      <p:cBhvr>
                                        <p:cTn id="12" dur="1000"/>
                                        <p:tgtEl>
                                          <p:spTgt spid="2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4"/>
                                        </p:tgtEl>
                                        <p:attrNameLst>
                                          <p:attrName>style.visibility</p:attrName>
                                        </p:attrNameLst>
                                      </p:cBhvr>
                                      <p:to>
                                        <p:strVal val="visible"/>
                                      </p:to>
                                    </p:set>
                                    <p:animEffect transition="in" filter="fade">
                                      <p:cBhvr>
                                        <p:cTn id="17" dur="1000"/>
                                        <p:tgtEl>
                                          <p:spTgt spid="2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9"/>
                                        </p:tgtEl>
                                        <p:attrNameLst>
                                          <p:attrName>style.visibility</p:attrName>
                                        </p:attrNameLst>
                                      </p:cBhvr>
                                      <p:to>
                                        <p:strVal val="visible"/>
                                      </p:to>
                                    </p:set>
                                    <p:animEffect transition="in" filter="fade">
                                      <p:cBhvr>
                                        <p:cTn id="22" dur="10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ef0424f90f_0_133"/>
          <p:cNvSpPr txBox="1"/>
          <p:nvPr/>
        </p:nvSpPr>
        <p:spPr>
          <a:xfrm>
            <a:off x="690650" y="3444000"/>
            <a:ext cx="7354200" cy="1282200"/>
          </a:xfrm>
          <a:prstGeom prst="rect">
            <a:avLst/>
          </a:prstGeom>
          <a:noFill/>
          <a:ln>
            <a:noFill/>
          </a:ln>
        </p:spPr>
        <p:txBody>
          <a:bodyPr spcFirstLastPara="1" wrap="square" lIns="91425" tIns="91425" rIns="91425" bIns="91425" anchor="t" anchorCtr="0">
            <a:spAutoFit/>
          </a:bodyPr>
          <a:lstStyle/>
          <a:p>
            <a:pPr marL="0" marR="0" lvl="0" indent="0" algn="l" rtl="0">
              <a:lnSpc>
                <a:spcPct val="130000"/>
              </a:lnSpc>
              <a:spcBef>
                <a:spcPts val="0"/>
              </a:spcBef>
              <a:spcAft>
                <a:spcPts val="0"/>
              </a:spcAft>
              <a:buClr>
                <a:srgbClr val="000000"/>
              </a:buClr>
              <a:buSzPts val="1150"/>
              <a:buFont typeface="Arial"/>
              <a:buNone/>
            </a:pPr>
            <a:r>
              <a:rPr lang="en" sz="1150" b="1" i="0" u="none" strike="noStrike" cap="none">
                <a:solidFill>
                  <a:srgbClr val="111111"/>
                </a:solidFill>
                <a:highlight>
                  <a:srgbClr val="FFFFFF"/>
                </a:highlight>
                <a:latin typeface="Courier New"/>
                <a:ea typeface="Courier New"/>
                <a:cs typeface="Courier New"/>
                <a:sym typeface="Courier New"/>
              </a:rPr>
              <a:t>Code</a:t>
            </a:r>
            <a:endParaRPr sz="1150" b="1" i="0" u="none" strike="noStrike" cap="none">
              <a:solidFill>
                <a:srgbClr val="111111"/>
              </a:solidFill>
              <a:highlight>
                <a:srgbClr val="FFFFFF"/>
              </a:highlight>
              <a:latin typeface="Courier New"/>
              <a:ea typeface="Courier New"/>
              <a:cs typeface="Courier New"/>
              <a:sym typeface="Courier New"/>
            </a:endParaRPr>
          </a:p>
          <a:p>
            <a:pPr marL="0" marR="0" lvl="0" indent="0" algn="l" rtl="0">
              <a:lnSpc>
                <a:spcPct val="130000"/>
              </a:lnSpc>
              <a:spcBef>
                <a:spcPts val="0"/>
              </a:spcBef>
              <a:spcAft>
                <a:spcPts val="0"/>
              </a:spcAft>
              <a:buClr>
                <a:srgbClr val="000000"/>
              </a:buClr>
              <a:buSzPts val="1150"/>
              <a:buFont typeface="Arial"/>
              <a:buNone/>
            </a:pPr>
            <a:r>
              <a:rPr lang="en" sz="1150" b="0" i="0" u="none" strike="noStrike" cap="none">
                <a:solidFill>
                  <a:srgbClr val="111111"/>
                </a:solidFill>
                <a:highlight>
                  <a:srgbClr val="FFFFFF"/>
                </a:highlight>
                <a:latin typeface="Courier New"/>
                <a:ea typeface="Courier New"/>
                <a:cs typeface="Courier New"/>
                <a:sym typeface="Courier New"/>
              </a:rPr>
              <a:t>headers = {</a:t>
            </a:r>
            <a:endParaRPr sz="1150" b="0" i="0" u="none" strike="noStrike" cap="none">
              <a:solidFill>
                <a:srgbClr val="111111"/>
              </a:solidFill>
              <a:highlight>
                <a:srgbClr val="FFFFFF"/>
              </a:highlight>
              <a:latin typeface="Courier New"/>
              <a:ea typeface="Courier New"/>
              <a:cs typeface="Courier New"/>
              <a:sym typeface="Courier New"/>
            </a:endParaRPr>
          </a:p>
          <a:p>
            <a:pPr marL="0" marR="0" lvl="0" indent="0" algn="l" rtl="0">
              <a:lnSpc>
                <a:spcPct val="130000"/>
              </a:lnSpc>
              <a:spcBef>
                <a:spcPts val="0"/>
              </a:spcBef>
              <a:spcAft>
                <a:spcPts val="0"/>
              </a:spcAft>
              <a:buClr>
                <a:srgbClr val="000000"/>
              </a:buClr>
              <a:buSzPts val="1150"/>
              <a:buFont typeface="Arial"/>
              <a:buNone/>
            </a:pPr>
            <a:r>
              <a:rPr lang="en" sz="1150" b="0" i="0" u="none" strike="noStrike" cap="none">
                <a:solidFill>
                  <a:srgbClr val="111111"/>
                </a:solidFill>
                <a:highlight>
                  <a:srgbClr val="FFFFFF"/>
                </a:highlight>
                <a:latin typeface="Courier New"/>
                <a:ea typeface="Courier New"/>
                <a:cs typeface="Courier New"/>
                <a:sym typeface="Courier New"/>
              </a:rPr>
              <a:t>    "User-Agent": "my web scraping program. contact me at admin@domain.com"</a:t>
            </a:r>
            <a:endParaRPr sz="1150" b="0" i="0" u="none" strike="noStrike" cap="none">
              <a:solidFill>
                <a:srgbClr val="111111"/>
              </a:solidFill>
              <a:highlight>
                <a:srgbClr val="FFFFFF"/>
              </a:highlight>
              <a:latin typeface="Courier New"/>
              <a:ea typeface="Courier New"/>
              <a:cs typeface="Courier New"/>
              <a:sym typeface="Courier New"/>
            </a:endParaRPr>
          </a:p>
          <a:p>
            <a:pPr marL="0" marR="0" lvl="0" indent="0" algn="l" rtl="0">
              <a:lnSpc>
                <a:spcPct val="130000"/>
              </a:lnSpc>
              <a:spcBef>
                <a:spcPts val="0"/>
              </a:spcBef>
              <a:spcAft>
                <a:spcPts val="0"/>
              </a:spcAft>
              <a:buClr>
                <a:srgbClr val="000000"/>
              </a:buClr>
              <a:buSzPts val="1150"/>
              <a:buFont typeface="Arial"/>
              <a:buNone/>
            </a:pPr>
            <a:r>
              <a:rPr lang="en" sz="1150" b="0" i="0" u="none" strike="noStrike" cap="none">
                <a:solidFill>
                  <a:srgbClr val="111111"/>
                </a:solidFill>
                <a:highlight>
                  <a:srgbClr val="FFFFFF"/>
                </a:highlight>
                <a:latin typeface="Courier New"/>
                <a:ea typeface="Courier New"/>
                <a:cs typeface="Courier New"/>
                <a:sym typeface="Courier New"/>
              </a:rPr>
              <a:t>}</a:t>
            </a:r>
            <a:endParaRPr sz="1150" b="0" i="0" u="none" strike="noStrike" cap="none">
              <a:solidFill>
                <a:srgbClr val="111111"/>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1150"/>
              <a:buFont typeface="Arial"/>
              <a:buNone/>
            </a:pPr>
            <a:r>
              <a:rPr lang="en" sz="1150" b="0" i="0" u="none" strike="noStrike" cap="none">
                <a:solidFill>
                  <a:srgbClr val="111111"/>
                </a:solidFill>
                <a:highlight>
                  <a:srgbClr val="FFFFFF"/>
                </a:highlight>
                <a:latin typeface="Courier New"/>
                <a:ea typeface="Courier New"/>
                <a:cs typeface="Courier New"/>
                <a:sym typeface="Courier New"/>
              </a:rPr>
              <a:t>r = requests.get("http://example.com", headers=headers)</a:t>
            </a:r>
            <a:endParaRPr sz="1500" b="0" i="0" u="none" strike="noStrike" cap="none">
              <a:solidFill>
                <a:srgbClr val="000000"/>
              </a:solidFill>
              <a:latin typeface="Source Sans Pro"/>
              <a:ea typeface="Source Sans Pro"/>
              <a:cs typeface="Source Sans Pro"/>
              <a:sym typeface="Source Sans Pro"/>
            </a:endParaRPr>
          </a:p>
        </p:txBody>
      </p:sp>
      <p:sp>
        <p:nvSpPr>
          <p:cNvPr id="235" name="Google Shape;235;gef0424f90f_0_133"/>
          <p:cNvSpPr txBox="1"/>
          <p:nvPr/>
        </p:nvSpPr>
        <p:spPr>
          <a:xfrm>
            <a:off x="662575" y="910650"/>
            <a:ext cx="7382400" cy="2639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50"/>
              <a:buFont typeface="Arial"/>
              <a:buNone/>
            </a:pPr>
            <a:r>
              <a:rPr lang="en" sz="1550" b="1" i="0" u="none" strike="noStrike" cap="none" dirty="0">
                <a:solidFill>
                  <a:srgbClr val="111111"/>
                </a:solidFill>
                <a:highlight>
                  <a:srgbClr val="FFFFFF"/>
                </a:highlight>
                <a:latin typeface="+mj-lt"/>
                <a:ea typeface="Georgia"/>
                <a:cs typeface="Georgia"/>
                <a:sym typeface="Georgia"/>
              </a:rPr>
              <a:t>Spoofing the User Agent</a:t>
            </a:r>
            <a:endParaRPr sz="1950" b="1"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rgbClr val="000000"/>
                </a:solidFill>
                <a:latin typeface="+mj-lt"/>
                <a:ea typeface="Source Sans Pro"/>
                <a:cs typeface="Source Sans Pro"/>
                <a:sym typeface="Source Sans Pro"/>
              </a:rPr>
              <a:t>By default, the </a:t>
            </a:r>
            <a:r>
              <a:rPr lang="en" sz="1500" b="0" i="0" u="none" strike="noStrike" cap="none" dirty="0">
                <a:solidFill>
                  <a:srgbClr val="000000"/>
                </a:solidFill>
                <a:highlight>
                  <a:schemeClr val="lt2"/>
                </a:highlight>
                <a:latin typeface="+mj-lt"/>
                <a:ea typeface="Roboto Mono"/>
                <a:cs typeface="Roboto Mono"/>
                <a:sym typeface="Roboto Mono"/>
              </a:rPr>
              <a:t>requests</a:t>
            </a:r>
            <a:r>
              <a:rPr lang="en" sz="1600" b="0" i="0" u="none" strike="noStrike" cap="none" dirty="0">
                <a:solidFill>
                  <a:srgbClr val="000000"/>
                </a:solidFill>
                <a:latin typeface="+mj-lt"/>
                <a:ea typeface="Source Sans Pro"/>
                <a:cs typeface="Source Sans Pro"/>
                <a:sym typeface="Source Sans Pro"/>
              </a:rPr>
              <a:t> library sets the </a:t>
            </a:r>
            <a:r>
              <a:rPr lang="en" sz="1500" b="0" i="0" u="none" strike="noStrike" cap="none" dirty="0">
                <a:solidFill>
                  <a:srgbClr val="000000"/>
                </a:solidFill>
                <a:highlight>
                  <a:schemeClr val="lt2"/>
                </a:highlight>
                <a:latin typeface="+mj-lt"/>
                <a:ea typeface="Roboto Mono"/>
                <a:cs typeface="Roboto Mono"/>
                <a:sym typeface="Roboto Mono"/>
              </a:rPr>
              <a:t>User-Agent</a:t>
            </a:r>
            <a:r>
              <a:rPr lang="en" sz="1600" b="0" i="0" u="none" strike="noStrike" cap="none" dirty="0">
                <a:solidFill>
                  <a:srgbClr val="000000"/>
                </a:solidFill>
                <a:latin typeface="+mj-lt"/>
                <a:ea typeface="Source Sans Pro"/>
                <a:cs typeface="Source Sans Pro"/>
                <a:sym typeface="Source Sans Pro"/>
              </a:rPr>
              <a:t> header on each request to something like “python-requests/2.12.4”.  You might want to change it to identify your web scraper, perhaps providing a contact email address so that an admin from the target website can reach out if they see you in their logs.</a:t>
            </a:r>
            <a:endParaRPr sz="1600" b="0" i="0" u="none" strike="noStrike" cap="none" dirty="0">
              <a:solidFill>
                <a:srgbClr val="000000"/>
              </a:solidFill>
              <a:latin typeface="+mj-lt"/>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rgbClr val="000000"/>
                </a:solidFill>
                <a:latin typeface="+mj-lt"/>
                <a:ea typeface="Source Sans Pro"/>
                <a:cs typeface="Source Sans Pro"/>
                <a:sym typeface="Source Sans Pro"/>
              </a:rPr>
              <a:t>You can change it to something like a real browser </a:t>
            </a:r>
            <a:r>
              <a:rPr lang="en" sz="1500" b="0" i="0" u="none" strike="noStrike" cap="none" dirty="0">
                <a:solidFill>
                  <a:srgbClr val="000000"/>
                </a:solidFill>
                <a:highlight>
                  <a:schemeClr val="lt2"/>
                </a:highlight>
                <a:latin typeface="+mj-lt"/>
                <a:ea typeface="Roboto Mono"/>
                <a:cs typeface="Roboto Mono"/>
                <a:sym typeface="Roboto Mono"/>
              </a:rPr>
              <a:t>User-Agent</a:t>
            </a:r>
            <a:r>
              <a:rPr lang="en" sz="1600" b="0" i="0" u="none" strike="noStrike" cap="none" dirty="0">
                <a:solidFill>
                  <a:srgbClr val="000000"/>
                </a:solidFill>
                <a:latin typeface="+mj-lt"/>
                <a:ea typeface="Source Sans Pro"/>
                <a:cs typeface="Source Sans Pro"/>
                <a:sym typeface="Source Sans Pro"/>
              </a:rPr>
              <a:t> that way you can avoid any type of restriction from the website.</a:t>
            </a:r>
            <a:endParaRPr sz="1600" b="0" i="0" u="none" strike="noStrike" cap="none" dirty="0">
              <a:solidFill>
                <a:srgbClr val="000000"/>
              </a:solidFill>
              <a:latin typeface="+mj-lt"/>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rgbClr val="000000"/>
                </a:solidFill>
                <a:latin typeface="+mj-lt"/>
                <a:ea typeface="Source Sans Pro"/>
                <a:cs typeface="Source Sans Pro"/>
                <a:sym typeface="Source Sans Pro"/>
              </a:rPr>
              <a:t>E.g </a:t>
            </a:r>
            <a:r>
              <a:rPr lang="en" sz="1050" b="0" i="0" u="none" strike="noStrike" cap="none" dirty="0">
                <a:solidFill>
                  <a:srgbClr val="111111"/>
                </a:solidFill>
                <a:highlight>
                  <a:srgbClr val="FFFFFF"/>
                </a:highlight>
                <a:latin typeface="+mj-lt"/>
                <a:ea typeface="Courier New"/>
                <a:cs typeface="Courier New"/>
                <a:sym typeface="Courier New"/>
              </a:rPr>
              <a:t>Mozilla/5.0 (Macintosh; Intel Mac OS X x.y; rv:42.0) Gecko/20100101 Firefox/42.0</a:t>
            </a:r>
            <a:endParaRPr sz="1600" b="0" i="0" u="none" strike="noStrike" cap="none" dirty="0">
              <a:solidFill>
                <a:srgbClr val="000000"/>
              </a:solidFill>
              <a:latin typeface="+mj-lt"/>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rgbClr val="000000"/>
                </a:solidFill>
                <a:latin typeface="+mj-lt"/>
                <a:ea typeface="Source Sans Pro"/>
                <a:cs typeface="Source Sans Pro"/>
                <a:sym typeface="Source Sans Pro"/>
              </a:rPr>
              <a:t>This is used to make it appear that the request is coming from a</a:t>
            </a:r>
            <a:br>
              <a:rPr lang="en" sz="1600" b="0" i="0" u="none" strike="noStrike" cap="none" dirty="0">
                <a:solidFill>
                  <a:srgbClr val="000000"/>
                </a:solidFill>
                <a:latin typeface="+mj-lt"/>
                <a:ea typeface="Source Sans Pro"/>
                <a:cs typeface="Source Sans Pro"/>
                <a:sym typeface="Source Sans Pro"/>
              </a:rPr>
            </a:br>
            <a:r>
              <a:rPr lang="en" sz="1600" b="0" i="0" u="none" strike="noStrike" cap="none" dirty="0">
                <a:solidFill>
                  <a:srgbClr val="000000"/>
                </a:solidFill>
                <a:latin typeface="+mj-lt"/>
                <a:ea typeface="Source Sans Pro"/>
                <a:cs typeface="Source Sans Pro"/>
                <a:sym typeface="Source Sans Pro"/>
              </a:rPr>
              <a:t>normal web browser, and not a web scraping program.</a:t>
            </a:r>
            <a:endParaRPr sz="1550" b="1" i="0" u="none" strike="noStrike" cap="none" dirty="0">
              <a:solidFill>
                <a:srgbClr val="111111"/>
              </a:solidFill>
              <a:highlight>
                <a:srgbClr val="FFFFFF"/>
              </a:highlight>
              <a:latin typeface="+mj-lt"/>
              <a:ea typeface="Georgia"/>
              <a:cs typeface="Georgia"/>
              <a:sym typeface="Georgia"/>
            </a:endParaRPr>
          </a:p>
        </p:txBody>
      </p:sp>
      <p:sp>
        <p:nvSpPr>
          <p:cNvPr id="236" name="Google Shape;236;gef0424f90f_0_133"/>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27</a:t>
            </a:fld>
            <a:endParaRPr/>
          </a:p>
        </p:txBody>
      </p:sp>
      <p:sp>
        <p:nvSpPr>
          <p:cNvPr id="237" name="Google Shape;237;gef0424f90f_0_133"/>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Building Web Scraping Strategy</a:t>
            </a:r>
            <a:endParaRPr sz="1800" b="1"/>
          </a:p>
        </p:txBody>
      </p:sp>
      <p:sp>
        <p:nvSpPr>
          <p:cNvPr id="238" name="Google Shape;238;gef0424f90f_0_133"/>
          <p:cNvSpPr txBox="1"/>
          <p:nvPr/>
        </p:nvSpPr>
        <p:spPr>
          <a:xfrm>
            <a:off x="625350" y="577850"/>
            <a:ext cx="3060600"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Avoid Getting Blacklisted</a:t>
            </a:r>
            <a:endParaRPr sz="1600" b="1" i="0" u="none" strike="noStrike" cap="none" dirty="0">
              <a:solidFill>
                <a:srgbClr val="000000"/>
              </a:solidFill>
              <a:latin typeface="+mj-lt"/>
              <a:ea typeface="Source Sans Pro"/>
              <a:cs typeface="Source Sans Pro"/>
              <a:sym typeface="Source Sans Pr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Effect transition="in" filter="fade">
                                      <p:cBhvr>
                                        <p:cTn id="7" dur="1000"/>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ef0424f90f_0_165"/>
          <p:cNvSpPr txBox="1"/>
          <p:nvPr/>
        </p:nvSpPr>
        <p:spPr>
          <a:xfrm>
            <a:off x="662575" y="2510850"/>
            <a:ext cx="7382400" cy="983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500"/>
              <a:buFont typeface="Arial"/>
              <a:buNone/>
            </a:pPr>
            <a:r>
              <a:rPr lang="en" sz="1500" b="1" i="0" u="none" strike="noStrike" cap="none">
                <a:solidFill>
                  <a:srgbClr val="111111"/>
                </a:solidFill>
                <a:highlight>
                  <a:srgbClr val="FFFFFF"/>
                </a:highlight>
                <a:latin typeface="Georgia"/>
                <a:ea typeface="Georgia"/>
                <a:cs typeface="Georgia"/>
                <a:sym typeface="Georgia"/>
              </a:rPr>
              <a:t>Code</a:t>
            </a:r>
            <a:endParaRPr sz="1500" b="1" i="0" u="none" strike="noStrike" cap="none">
              <a:solidFill>
                <a:srgbClr val="111111"/>
              </a:solidFill>
              <a:highlight>
                <a:srgbClr val="FFFFFF"/>
              </a:highlight>
              <a:latin typeface="Georgia"/>
              <a:ea typeface="Georgia"/>
              <a:cs typeface="Georgia"/>
              <a:sym typeface="Georgia"/>
            </a:endParaRPr>
          </a:p>
          <a:p>
            <a:pPr marL="0" marR="0" lvl="0" indent="0" algn="l" rtl="0">
              <a:lnSpc>
                <a:spcPct val="115000"/>
              </a:lnSpc>
              <a:spcBef>
                <a:spcPts val="0"/>
              </a:spcBef>
              <a:spcAft>
                <a:spcPts val="0"/>
              </a:spcAft>
              <a:buClr>
                <a:srgbClr val="000000"/>
              </a:buClr>
              <a:buSzPts val="1050"/>
              <a:buFont typeface="Arial"/>
              <a:buNone/>
            </a:pPr>
            <a:r>
              <a:rPr lang="en" sz="1050" b="0" i="0" u="none" strike="noStrike" cap="none">
                <a:solidFill>
                  <a:srgbClr val="111111"/>
                </a:solidFill>
                <a:highlight>
                  <a:srgbClr val="FFFFFF"/>
                </a:highlight>
                <a:latin typeface="Courier New"/>
                <a:ea typeface="Courier New"/>
                <a:cs typeface="Courier New"/>
                <a:sym typeface="Courier New"/>
              </a:rPr>
              <a:t>r = requests.get("http://example.com/", proxies=dict(</a:t>
            </a:r>
            <a:endParaRPr sz="1050" b="0" i="0" u="none" strike="noStrike" cap="none">
              <a:solidFill>
                <a:srgbClr val="111111"/>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1050"/>
              <a:buFont typeface="Arial"/>
              <a:buNone/>
            </a:pPr>
            <a:r>
              <a:rPr lang="en" sz="1050" b="0" i="0" u="none" strike="noStrike" cap="none">
                <a:solidFill>
                  <a:srgbClr val="111111"/>
                </a:solidFill>
                <a:highlight>
                  <a:srgbClr val="FFFFFF"/>
                </a:highlight>
                <a:latin typeface="Courier New"/>
                <a:ea typeface="Courier New"/>
                <a:cs typeface="Courier New"/>
                <a:sym typeface="Courier New"/>
              </a:rPr>
              <a:t>    http="http://proxy_user:proxy_pass@104.255.255.255:port",</a:t>
            </a:r>
            <a:endParaRPr sz="1050" b="0" i="0" u="none" strike="noStrike" cap="none">
              <a:solidFill>
                <a:srgbClr val="111111"/>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1050"/>
              <a:buFont typeface="Arial"/>
              <a:buNone/>
            </a:pPr>
            <a:r>
              <a:rPr lang="en" sz="1050" b="0" i="0" u="none" strike="noStrike" cap="none">
                <a:solidFill>
                  <a:srgbClr val="111111"/>
                </a:solidFill>
                <a:highlight>
                  <a:srgbClr val="FFFFFF"/>
                </a:highlight>
                <a:latin typeface="Courier New"/>
                <a:ea typeface="Courier New"/>
                <a:cs typeface="Courier New"/>
                <a:sym typeface="Courier New"/>
              </a:rPr>
              <a:t>))</a:t>
            </a:r>
            <a:endParaRPr sz="1600" b="0" i="0" u="none" strike="noStrike" cap="none">
              <a:solidFill>
                <a:srgbClr val="000000"/>
              </a:solidFill>
              <a:latin typeface="Source Sans Pro"/>
              <a:ea typeface="Source Sans Pro"/>
              <a:cs typeface="Source Sans Pro"/>
              <a:sym typeface="Source Sans Pro"/>
            </a:endParaRPr>
          </a:p>
        </p:txBody>
      </p:sp>
      <p:sp>
        <p:nvSpPr>
          <p:cNvPr id="244" name="Google Shape;244;gef0424f90f_0_165"/>
          <p:cNvSpPr txBox="1"/>
          <p:nvPr/>
        </p:nvSpPr>
        <p:spPr>
          <a:xfrm>
            <a:off x="662575" y="910650"/>
            <a:ext cx="7827000" cy="157424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50"/>
              <a:buFont typeface="Arial"/>
              <a:buNone/>
            </a:pPr>
            <a:r>
              <a:rPr lang="en" b="1" i="0" u="none" strike="noStrike" cap="none" dirty="0">
                <a:solidFill>
                  <a:srgbClr val="111111"/>
                </a:solidFill>
                <a:highlight>
                  <a:srgbClr val="FFFFFF"/>
                </a:highlight>
                <a:latin typeface="+mj-lt"/>
                <a:ea typeface="Georgia"/>
                <a:cs typeface="Georgia"/>
                <a:sym typeface="Georgia"/>
              </a:rPr>
              <a:t>Using Proxy Servers</a:t>
            </a:r>
            <a:endParaRPr b="1" i="0" u="none" strike="noStrike" cap="none" dirty="0">
              <a:solidFill>
                <a:srgbClr val="111111"/>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600"/>
              <a:buFont typeface="Arial"/>
              <a:buNone/>
            </a:pPr>
            <a:r>
              <a:rPr lang="en" b="0" i="0" u="none" strike="noStrike" cap="none" dirty="0">
                <a:solidFill>
                  <a:srgbClr val="000000"/>
                </a:solidFill>
                <a:latin typeface="+mj-lt"/>
                <a:ea typeface="Source Sans Pro"/>
                <a:cs typeface="Source Sans Pro"/>
                <a:sym typeface="Source Sans Pro"/>
              </a:rPr>
              <a:t>Even if you spoof your User Agent, the site you are scraping can still see your IP address, since they have to know where to send the response.</a:t>
            </a:r>
            <a:endParaRPr b="0" i="0" u="none" strike="noStrike" cap="none" dirty="0">
              <a:solidFill>
                <a:srgbClr val="000000"/>
              </a:solidFill>
              <a:latin typeface="+mj-lt"/>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600"/>
              <a:buFont typeface="Arial"/>
              <a:buNone/>
            </a:pPr>
            <a:r>
              <a:rPr lang="en" b="0" i="0" u="none" strike="noStrike" cap="none" dirty="0">
                <a:solidFill>
                  <a:srgbClr val="000000"/>
                </a:solidFill>
                <a:latin typeface="+mj-lt"/>
                <a:ea typeface="Source Sans Pro"/>
                <a:cs typeface="Source Sans Pro"/>
                <a:sym typeface="Source Sans Pro"/>
              </a:rPr>
              <a:t>If you’d like to obfuscate where the request is coming from, you can use a proxy server in between you and the target site. The scraped site will see the request coming from that server instead of your actual scraping machine.</a:t>
            </a:r>
            <a:endParaRPr b="0" i="0" u="none" strike="noStrike" cap="none" dirty="0">
              <a:solidFill>
                <a:srgbClr val="000000"/>
              </a:solidFill>
              <a:latin typeface="+mj-lt"/>
              <a:ea typeface="Source Sans Pro"/>
              <a:cs typeface="Source Sans Pro"/>
              <a:sym typeface="Source Sans Pro"/>
            </a:endParaRPr>
          </a:p>
        </p:txBody>
      </p:sp>
      <p:sp>
        <p:nvSpPr>
          <p:cNvPr id="245" name="Google Shape;245;gef0424f90f_0_165"/>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28</a:t>
            </a:fld>
            <a:endParaRPr/>
          </a:p>
        </p:txBody>
      </p:sp>
      <p:sp>
        <p:nvSpPr>
          <p:cNvPr id="246" name="Google Shape;246;gef0424f90f_0_165"/>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a:t>Building Web Scraping Strategy</a:t>
            </a:r>
            <a:endParaRPr sz="1800" b="1"/>
          </a:p>
        </p:txBody>
      </p:sp>
      <p:sp>
        <p:nvSpPr>
          <p:cNvPr id="247" name="Google Shape;247;gef0424f90f_0_165"/>
          <p:cNvSpPr txBox="1"/>
          <p:nvPr/>
        </p:nvSpPr>
        <p:spPr>
          <a:xfrm>
            <a:off x="625350" y="577850"/>
            <a:ext cx="3060600"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600" b="1" i="0" u="none" strike="noStrike" cap="none" dirty="0">
                <a:solidFill>
                  <a:srgbClr val="EF4F63"/>
                </a:solidFill>
                <a:latin typeface="+mj-lt"/>
                <a:ea typeface="Merriweather"/>
                <a:cs typeface="Merriweather"/>
                <a:sym typeface="Merriweather"/>
              </a:rPr>
              <a:t>Avoid Getting Blacklisted</a:t>
            </a:r>
            <a:endParaRPr sz="1600" b="1" i="0" u="none" strike="noStrike" cap="none" dirty="0">
              <a:solidFill>
                <a:srgbClr val="000000"/>
              </a:solidFill>
              <a:latin typeface="+mj-lt"/>
              <a:ea typeface="Source Sans Pro"/>
              <a:cs typeface="Source Sans Pro"/>
              <a:sym typeface="Source Sans Pro"/>
            </a:endParaRPr>
          </a:p>
        </p:txBody>
      </p:sp>
      <p:sp>
        <p:nvSpPr>
          <p:cNvPr id="248" name="Google Shape;248;gef0424f90f_0_165"/>
          <p:cNvSpPr txBox="1"/>
          <p:nvPr/>
        </p:nvSpPr>
        <p:spPr>
          <a:xfrm>
            <a:off x="662575" y="3349050"/>
            <a:ext cx="7827000" cy="1664015"/>
          </a:xfrm>
          <a:prstGeom prst="rect">
            <a:avLst/>
          </a:prstGeom>
          <a:noFill/>
          <a:ln>
            <a:noFill/>
          </a:ln>
        </p:spPr>
        <p:txBody>
          <a:bodyPr spcFirstLastPara="1" wrap="square" lIns="91425" tIns="91425" rIns="91425" bIns="91425" anchor="t" anchorCtr="0">
            <a:spAutoFit/>
          </a:bodyPr>
          <a:lstStyle/>
          <a:p>
            <a:pPr marL="0" marR="0" lvl="0" indent="0" algn="l" rtl="0">
              <a:lnSpc>
                <a:spcPct val="130000"/>
              </a:lnSpc>
              <a:spcBef>
                <a:spcPts val="1400"/>
              </a:spcBef>
              <a:spcAft>
                <a:spcPts val="1400"/>
              </a:spcAft>
              <a:buClr>
                <a:srgbClr val="000000"/>
              </a:buClr>
              <a:buSzPts val="1600"/>
              <a:buFont typeface="Arial"/>
              <a:buNone/>
            </a:pPr>
            <a:r>
              <a:rPr lang="en" b="0" i="0" u="none" strike="noStrike" cap="none" dirty="0">
                <a:solidFill>
                  <a:srgbClr val="000000"/>
                </a:solidFill>
                <a:latin typeface="+mj-lt"/>
                <a:ea typeface="Source Sans Pro"/>
                <a:cs typeface="Source Sans Pro"/>
                <a:sym typeface="Source Sans Pro"/>
              </a:rPr>
              <a:t>If you’d like to make your requests appear to be spread out across many IP addresses, then you’ll need access to many different proxy servers. You can keep track of them in a </a:t>
            </a:r>
            <a:r>
              <a:rPr lang="en" b="1" i="0" u="none" strike="noStrike" cap="none" dirty="0">
                <a:solidFill>
                  <a:srgbClr val="000000"/>
                </a:solidFill>
                <a:latin typeface="+mj-lt"/>
                <a:ea typeface="Source Sans Pro"/>
                <a:cs typeface="Source Sans Pro"/>
                <a:sym typeface="Source Sans Pro"/>
              </a:rPr>
              <a:t>list</a:t>
            </a:r>
            <a:r>
              <a:rPr lang="en" b="0" i="0" u="none" strike="noStrike" cap="none" dirty="0">
                <a:solidFill>
                  <a:srgbClr val="000000"/>
                </a:solidFill>
                <a:latin typeface="+mj-lt"/>
                <a:ea typeface="Source Sans Pro"/>
                <a:cs typeface="Source Sans Pro"/>
                <a:sym typeface="Source Sans Pro"/>
              </a:rPr>
              <a:t> and then have your scraping program simply go down the list, picking off the next one for each new request, so that the proxy servers get even rotation.</a:t>
            </a:r>
            <a:endParaRPr b="0" i="0" u="none" strike="noStrike" cap="none" dirty="0">
              <a:solidFill>
                <a:srgbClr val="000000"/>
              </a:solidFill>
              <a:latin typeface="+mj-lt"/>
              <a:ea typeface="Source Sans Pro"/>
              <a:cs typeface="Source Sans Pro"/>
              <a:sym typeface="Source Sans Pr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7"/>
                                        </p:tgtEl>
                                        <p:attrNameLst>
                                          <p:attrName>style.visibility</p:attrName>
                                        </p:attrNameLst>
                                      </p:cBhvr>
                                      <p:to>
                                        <p:strVal val="visible"/>
                                      </p:to>
                                    </p:set>
                                    <p:animEffect transition="in" filter="fade">
                                      <p:cBhvr>
                                        <p:cTn id="7" dur="1000"/>
                                        <p:tgtEl>
                                          <p:spTgt spid="2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4"/>
                                        </p:tgtEl>
                                        <p:attrNameLst>
                                          <p:attrName>style.visibility</p:attrName>
                                        </p:attrNameLst>
                                      </p:cBhvr>
                                      <p:to>
                                        <p:strVal val="visible"/>
                                      </p:to>
                                    </p:set>
                                    <p:animEffect transition="in" filter="fade">
                                      <p:cBhvr>
                                        <p:cTn id="12" dur="1000"/>
                                        <p:tgtEl>
                                          <p:spTgt spid="2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3"/>
                                        </p:tgtEl>
                                        <p:attrNameLst>
                                          <p:attrName>style.visibility</p:attrName>
                                        </p:attrNameLst>
                                      </p:cBhvr>
                                      <p:to>
                                        <p:strVal val="visible"/>
                                      </p:to>
                                    </p:set>
                                    <p:animEffect transition="in" filter="fade">
                                      <p:cBhvr>
                                        <p:cTn id="17" dur="1000"/>
                                        <p:tgtEl>
                                          <p:spTgt spid="24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8"/>
                                        </p:tgtEl>
                                        <p:attrNameLst>
                                          <p:attrName>style.visibility</p:attrName>
                                        </p:attrNameLst>
                                      </p:cBhvr>
                                      <p:to>
                                        <p:strVal val="visible"/>
                                      </p:to>
                                    </p:set>
                                    <p:animEffect transition="in" filter="fade">
                                      <p:cBhvr>
                                        <p:cTn id="22" dur="1000"/>
                                        <p:tgtEl>
                                          <p:spTgt spid="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25"/>
          <p:cNvSpPr txBox="1">
            <a:spLocks noGrp="1"/>
          </p:cNvSpPr>
          <p:nvPr>
            <p:ph type="ctrTitle" idx="4294967295"/>
          </p:nvPr>
        </p:nvSpPr>
        <p:spPr>
          <a:xfrm>
            <a:off x="685800" y="516542"/>
            <a:ext cx="7772400" cy="1159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accent1"/>
              </a:buClr>
              <a:buSzPts val="2000"/>
              <a:buFont typeface="Roboto Slab"/>
              <a:buNone/>
            </a:pPr>
            <a:r>
              <a:rPr lang="en" sz="6000" b="1" i="0" u="none" strike="noStrike" cap="none" dirty="0">
                <a:solidFill>
                  <a:schemeClr val="accent1"/>
                </a:solidFill>
                <a:latin typeface="Roboto Slab"/>
                <a:ea typeface="Roboto Slab"/>
                <a:cs typeface="Roboto Slab"/>
                <a:sym typeface="Roboto Slab"/>
              </a:rPr>
              <a:t>Thanks!</a:t>
            </a:r>
            <a:endParaRPr sz="6000" b="1" i="0" u="none" strike="noStrike" cap="none" dirty="0">
              <a:solidFill>
                <a:schemeClr val="accent1"/>
              </a:solidFill>
              <a:latin typeface="Roboto Slab"/>
              <a:ea typeface="Roboto Slab"/>
              <a:cs typeface="Roboto Slab"/>
              <a:sym typeface="Roboto Slab"/>
            </a:endParaRPr>
          </a:p>
        </p:txBody>
      </p:sp>
      <p:sp>
        <p:nvSpPr>
          <p:cNvPr id="653" name="Google Shape;653;p25"/>
          <p:cNvSpPr txBox="1">
            <a:spLocks noGrp="1"/>
          </p:cNvSpPr>
          <p:nvPr>
            <p:ph type="subTitle" idx="4294967295"/>
          </p:nvPr>
        </p:nvSpPr>
        <p:spPr>
          <a:xfrm>
            <a:off x="685800" y="1639913"/>
            <a:ext cx="6593700" cy="78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chemeClr val="accent4"/>
              </a:buClr>
              <a:buSzPts val="3000"/>
              <a:buFont typeface="Arial"/>
              <a:buNone/>
            </a:pPr>
            <a:r>
              <a:rPr lang="en" sz="3600" b="1" i="0" u="none" strike="noStrike" cap="none" dirty="0">
                <a:solidFill>
                  <a:schemeClr val="dk1"/>
                </a:solidFill>
                <a:latin typeface="Arial"/>
                <a:ea typeface="Arial"/>
                <a:cs typeface="Arial"/>
                <a:sym typeface="Arial"/>
              </a:rPr>
              <a:t>Any questions?</a:t>
            </a:r>
            <a:endParaRPr sz="3600" b="1" i="0" u="none" strike="noStrike" cap="none" dirty="0">
              <a:solidFill>
                <a:schemeClr val="dk1"/>
              </a:solidFill>
              <a:latin typeface="Arial"/>
              <a:ea typeface="Arial"/>
              <a:cs typeface="Arial"/>
              <a:sym typeface="Arial"/>
            </a:endParaRPr>
          </a:p>
        </p:txBody>
      </p:sp>
      <p:sp>
        <p:nvSpPr>
          <p:cNvPr id="654" name="Google Shape;654;p25"/>
          <p:cNvSpPr txBox="1">
            <a:spLocks noGrp="1"/>
          </p:cNvSpPr>
          <p:nvPr>
            <p:ph type="body" idx="4294967295"/>
          </p:nvPr>
        </p:nvSpPr>
        <p:spPr>
          <a:xfrm>
            <a:off x="685799" y="2464406"/>
            <a:ext cx="7973292" cy="2461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3000"/>
              <a:buNone/>
            </a:pPr>
            <a:r>
              <a:rPr lang="en" dirty="0"/>
              <a:t>You can find me </a:t>
            </a:r>
            <a:r>
              <a:rPr lang="en" dirty="0" smtClean="0"/>
              <a:t>on Linkedin: </a:t>
            </a:r>
            <a:r>
              <a:rPr lang="en" dirty="0" smtClean="0">
                <a:hlinkClick r:id="rId3"/>
              </a:rPr>
              <a:t>@zainkhanln</a:t>
            </a:r>
            <a:endParaRPr dirty="0"/>
          </a:p>
        </p:txBody>
      </p:sp>
      <p:sp>
        <p:nvSpPr>
          <p:cNvPr id="655" name="Google Shape;655;p25"/>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29</a:t>
            </a:fld>
            <a:endParaRPr/>
          </a:p>
        </p:txBody>
      </p:sp>
    </p:spTree>
    <p:extLst>
      <p:ext uri="{BB962C8B-B14F-4D97-AF65-F5344CB8AC3E}">
        <p14:creationId xmlns:p14="http://schemas.microsoft.com/office/powerpoint/2010/main" val="605207802"/>
      </p:ext>
    </p:extLst>
  </p:cSld>
  <p:clrMapOvr>
    <a:masterClrMapping/>
  </p:clrMapOvr>
</p:sld>
</file>

<file path=ppt/theme/theme1.xml><?xml version="1.0" encoding="utf-8"?>
<a:theme xmlns:a="http://schemas.openxmlformats.org/drawingml/2006/main"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412</TotalTime>
  <Words>2386</Words>
  <Application>Microsoft Office PowerPoint</Application>
  <PresentationFormat>On-screen Show (16:9)</PresentationFormat>
  <Paragraphs>263</Paragraphs>
  <Slides>29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Courier New</vt:lpstr>
      <vt:lpstr>Roboto Mono</vt:lpstr>
      <vt:lpstr>Georgia</vt:lpstr>
      <vt:lpstr>Roboto Slab</vt:lpstr>
      <vt:lpstr>Arial</vt:lpstr>
      <vt:lpstr>Source Sans Pro</vt:lpstr>
      <vt:lpstr>Roboto</vt:lpstr>
      <vt:lpstr>Merriweather</vt:lpstr>
      <vt:lpstr>Consolas</vt:lpstr>
      <vt:lpstr>Cordelia template</vt:lpstr>
      <vt:lpstr>Introduction to Web Scraping</vt:lpstr>
      <vt:lpstr>Why Scrape the Web</vt:lpstr>
      <vt:lpstr>Why Scrape the Web</vt:lpstr>
      <vt:lpstr>Why Scrape the Web</vt:lpstr>
      <vt:lpstr>Why Scrape the Web</vt:lpstr>
      <vt:lpstr>Why Scrape the Web</vt:lpstr>
      <vt:lpstr>Why Scrape the Web</vt:lpstr>
      <vt:lpstr>Building Web Scraping Strategy</vt:lpstr>
      <vt:lpstr> Inspecting the Website   </vt:lpstr>
      <vt:lpstr>Inspect Your Data Source</vt:lpstr>
      <vt:lpstr>Inspect Your Data Source</vt:lpstr>
      <vt:lpstr>Inspect Your Data Source</vt:lpstr>
      <vt:lpstr>Inspect Your Data Source</vt:lpstr>
      <vt:lpstr>Inspect Your Data Source</vt:lpstr>
      <vt:lpstr>Inspect Your Data Source</vt:lpstr>
      <vt:lpstr>Inspect Your Data Source</vt:lpstr>
      <vt:lpstr>Inspect Your Data Source</vt:lpstr>
      <vt:lpstr>Inspect Your Data Source</vt:lpstr>
      <vt:lpstr>Inspect Your Data Source</vt:lpstr>
      <vt:lpstr>Inspect Your Data Source</vt:lpstr>
      <vt:lpstr> Building Web Scraping Strategy </vt:lpstr>
      <vt:lpstr>PowerPoint Presentation</vt:lpstr>
      <vt:lpstr>PowerPoint Presentation</vt:lpstr>
      <vt:lpstr>Building Web Scraping Strategy</vt:lpstr>
      <vt:lpstr>Building Web Scraping Strategy</vt:lpstr>
      <vt:lpstr>Building Web Scraping Strategy</vt:lpstr>
      <vt:lpstr>Building Web Scraping Strategy</vt:lpstr>
      <vt:lpstr>Building Web Scraping Strategy</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Scraping Data from Web &amp; Cleansing </dc:title>
  <cp:lastModifiedBy>Zain</cp:lastModifiedBy>
  <cp:revision>101</cp:revision>
  <dcterms:modified xsi:type="dcterms:W3CDTF">2026-02-09T19:12:52Z</dcterms:modified>
</cp:coreProperties>
</file>