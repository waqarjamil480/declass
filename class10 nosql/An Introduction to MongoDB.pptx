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6" r:id="rId25"/>
    <p:sldId id="29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81F161-B54D-4FF0-9BCE-D861C45D45A5}" v="1" dt="2023-09-22T20:49:43.060"/>
  </p1510:revLst>
</p1510:revInfo>
</file>

<file path=ppt/tableStyles.xml><?xml version="1.0" encoding="utf-8"?>
<a:tblStyleLst xmlns:a="http://schemas.openxmlformats.org/drawingml/2006/main" def="{087D71AD-D7B5-4794-8008-342F30F8FDEA}">
  <a:tblStyle styleId="{087D71AD-D7B5-4794-8008-342F30F8FD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us Nathaniel" userId="237a6a35-c465-44c0-ad4f-fdd28357640c" providerId="ADAL" clId="{6381F161-B54D-4FF0-9BCE-D861C45D45A5}"/>
    <pc:docChg chg="undo custSel addSld delSld modSld">
      <pc:chgData name="Linus Nathaniel" userId="237a6a35-c465-44c0-ad4f-fdd28357640c" providerId="ADAL" clId="{6381F161-B54D-4FF0-9BCE-D861C45D45A5}" dt="2023-09-22T20:50:57.716" v="64" actId="1076"/>
      <pc:docMkLst>
        <pc:docMk/>
      </pc:docMkLst>
      <pc:sldChg chg="addSp delSp modSp mod">
        <pc:chgData name="Linus Nathaniel" userId="237a6a35-c465-44c0-ad4f-fdd28357640c" providerId="ADAL" clId="{6381F161-B54D-4FF0-9BCE-D861C45D45A5}" dt="2023-09-22T19:44:51.961" v="7" actId="478"/>
        <pc:sldMkLst>
          <pc:docMk/>
          <pc:sldMk cId="0" sldId="256"/>
        </pc:sldMkLst>
        <pc:spChg chg="add del mod">
          <ac:chgData name="Linus Nathaniel" userId="237a6a35-c465-44c0-ad4f-fdd28357640c" providerId="ADAL" clId="{6381F161-B54D-4FF0-9BCE-D861C45D45A5}" dt="2023-09-22T19:44:51.961" v="7" actId="478"/>
          <ac:spMkLst>
            <pc:docMk/>
            <pc:sldMk cId="0" sldId="256"/>
            <ac:spMk id="3" creationId="{7A8B798E-7175-E53E-156C-79072E1A0BC2}"/>
          </ac:spMkLst>
        </pc:spChg>
        <pc:spChg chg="del mod">
          <ac:chgData name="Linus Nathaniel" userId="237a6a35-c465-44c0-ad4f-fdd28357640c" providerId="ADAL" clId="{6381F161-B54D-4FF0-9BCE-D861C45D45A5}" dt="2023-09-22T19:44:33.833" v="1" actId="478"/>
          <ac:spMkLst>
            <pc:docMk/>
            <pc:sldMk cId="0" sldId="256"/>
            <ac:spMk id="33" creationId="{00000000-0000-0000-0000-000000000000}"/>
          </ac:spMkLst>
        </pc:spChg>
        <pc:spChg chg="del">
          <ac:chgData name="Linus Nathaniel" userId="237a6a35-c465-44c0-ad4f-fdd28357640c" providerId="ADAL" clId="{6381F161-B54D-4FF0-9BCE-D861C45D45A5}" dt="2023-09-22T19:44:39.408" v="2" actId="478"/>
          <ac:spMkLst>
            <pc:docMk/>
            <pc:sldMk cId="0" sldId="256"/>
            <ac:spMk id="36" creationId="{00000000-0000-0000-0000-000000000000}"/>
          </ac:spMkLst>
        </pc:spChg>
        <pc:spChg chg="del mod">
          <ac:chgData name="Linus Nathaniel" userId="237a6a35-c465-44c0-ad4f-fdd28357640c" providerId="ADAL" clId="{6381F161-B54D-4FF0-9BCE-D861C45D45A5}" dt="2023-09-22T19:44:45.614" v="5" actId="478"/>
          <ac:spMkLst>
            <pc:docMk/>
            <pc:sldMk cId="0" sldId="256"/>
            <ac:spMk id="38" creationId="{00000000-0000-0000-0000-000000000000}"/>
          </ac:spMkLst>
        </pc:spChg>
        <pc:picChg chg="del">
          <ac:chgData name="Linus Nathaniel" userId="237a6a35-c465-44c0-ad4f-fdd28357640c" providerId="ADAL" clId="{6381F161-B54D-4FF0-9BCE-D861C45D45A5}" dt="2023-09-22T19:44:41.103" v="3" actId="478"/>
          <ac:picMkLst>
            <pc:docMk/>
            <pc:sldMk cId="0" sldId="256"/>
            <ac:picMk id="35" creationId="{00000000-0000-0000-0000-000000000000}"/>
          </ac:picMkLst>
        </pc:picChg>
        <pc:picChg chg="del">
          <ac:chgData name="Linus Nathaniel" userId="237a6a35-c465-44c0-ad4f-fdd28357640c" providerId="ADAL" clId="{6381F161-B54D-4FF0-9BCE-D861C45D45A5}" dt="2023-09-22T19:44:47.261" v="6" actId="478"/>
          <ac:picMkLst>
            <pc:docMk/>
            <pc:sldMk cId="0" sldId="256"/>
            <ac:picMk id="37" creationId="{00000000-0000-0000-0000-000000000000}"/>
          </ac:picMkLst>
        </pc:picChg>
      </pc:sldChg>
      <pc:sldChg chg="del">
        <pc:chgData name="Linus Nathaniel" userId="237a6a35-c465-44c0-ad4f-fdd28357640c" providerId="ADAL" clId="{6381F161-B54D-4FF0-9BCE-D861C45D45A5}" dt="2023-09-22T19:45:24.495" v="8" actId="2696"/>
        <pc:sldMkLst>
          <pc:docMk/>
          <pc:sldMk cId="0" sldId="295"/>
        </pc:sldMkLst>
      </pc:sldChg>
      <pc:sldChg chg="new del">
        <pc:chgData name="Linus Nathaniel" userId="237a6a35-c465-44c0-ad4f-fdd28357640c" providerId="ADAL" clId="{6381F161-B54D-4FF0-9BCE-D861C45D45A5}" dt="2023-09-22T20:44:00.534" v="10" actId="680"/>
        <pc:sldMkLst>
          <pc:docMk/>
          <pc:sldMk cId="619343839" sldId="295"/>
        </pc:sldMkLst>
      </pc:sldChg>
      <pc:sldChg chg="modSp new mod">
        <pc:chgData name="Linus Nathaniel" userId="237a6a35-c465-44c0-ad4f-fdd28357640c" providerId="ADAL" clId="{6381F161-B54D-4FF0-9BCE-D861C45D45A5}" dt="2023-09-22T20:45:39.327" v="31" actId="403"/>
        <pc:sldMkLst>
          <pc:docMk/>
          <pc:sldMk cId="2942431606" sldId="295"/>
        </pc:sldMkLst>
        <pc:spChg chg="mod">
          <ac:chgData name="Linus Nathaniel" userId="237a6a35-c465-44c0-ad4f-fdd28357640c" providerId="ADAL" clId="{6381F161-B54D-4FF0-9BCE-D861C45D45A5}" dt="2023-09-22T20:44:37.494" v="18" actId="1076"/>
          <ac:spMkLst>
            <pc:docMk/>
            <pc:sldMk cId="2942431606" sldId="295"/>
            <ac:spMk id="2" creationId="{4CB6A3F7-0623-2DEA-664C-9442F2AB4017}"/>
          </ac:spMkLst>
        </pc:spChg>
        <pc:spChg chg="mod">
          <ac:chgData name="Linus Nathaniel" userId="237a6a35-c465-44c0-ad4f-fdd28357640c" providerId="ADAL" clId="{6381F161-B54D-4FF0-9BCE-D861C45D45A5}" dt="2023-09-22T20:45:39.327" v="31" actId="403"/>
          <ac:spMkLst>
            <pc:docMk/>
            <pc:sldMk cId="2942431606" sldId="295"/>
            <ac:spMk id="3" creationId="{74B93442-F922-FCDF-5F34-33BFD8E5EFD6}"/>
          </ac:spMkLst>
        </pc:spChg>
      </pc:sldChg>
      <pc:sldChg chg="modSp new mod">
        <pc:chgData name="Linus Nathaniel" userId="237a6a35-c465-44c0-ad4f-fdd28357640c" providerId="ADAL" clId="{6381F161-B54D-4FF0-9BCE-D861C45D45A5}" dt="2023-09-22T20:49:47.422" v="57" actId="404"/>
        <pc:sldMkLst>
          <pc:docMk/>
          <pc:sldMk cId="1620091970" sldId="296"/>
        </pc:sldMkLst>
        <pc:spChg chg="mod">
          <ac:chgData name="Linus Nathaniel" userId="237a6a35-c465-44c0-ad4f-fdd28357640c" providerId="ADAL" clId="{6381F161-B54D-4FF0-9BCE-D861C45D45A5}" dt="2023-09-22T20:49:07.215" v="49" actId="5793"/>
          <ac:spMkLst>
            <pc:docMk/>
            <pc:sldMk cId="1620091970" sldId="296"/>
            <ac:spMk id="2" creationId="{975ABB84-C785-F889-F5AE-A1E7CB2A7254}"/>
          </ac:spMkLst>
        </pc:spChg>
        <pc:spChg chg="mod">
          <ac:chgData name="Linus Nathaniel" userId="237a6a35-c465-44c0-ad4f-fdd28357640c" providerId="ADAL" clId="{6381F161-B54D-4FF0-9BCE-D861C45D45A5}" dt="2023-09-22T20:49:47.422" v="57" actId="404"/>
          <ac:spMkLst>
            <pc:docMk/>
            <pc:sldMk cId="1620091970" sldId="296"/>
            <ac:spMk id="3" creationId="{6F4B0BFF-5B4D-0530-B530-36FF1F7B7765}"/>
          </ac:spMkLst>
        </pc:spChg>
      </pc:sldChg>
      <pc:sldChg chg="addSp delSp modSp add mod">
        <pc:chgData name="Linus Nathaniel" userId="237a6a35-c465-44c0-ad4f-fdd28357640c" providerId="ADAL" clId="{6381F161-B54D-4FF0-9BCE-D861C45D45A5}" dt="2023-09-22T20:50:57.716" v="64" actId="1076"/>
        <pc:sldMkLst>
          <pc:docMk/>
          <pc:sldMk cId="1932035891" sldId="297"/>
        </pc:sldMkLst>
        <pc:spChg chg="del">
          <ac:chgData name="Linus Nathaniel" userId="237a6a35-c465-44c0-ad4f-fdd28357640c" providerId="ADAL" clId="{6381F161-B54D-4FF0-9BCE-D861C45D45A5}" dt="2023-09-22T20:50:38.711" v="59" actId="478"/>
          <ac:spMkLst>
            <pc:docMk/>
            <pc:sldMk cId="1932035891" sldId="297"/>
            <ac:spMk id="3" creationId="{6F4B0BFF-5B4D-0530-B530-36FF1F7B7765}"/>
          </ac:spMkLst>
        </pc:spChg>
        <pc:spChg chg="add mod">
          <ac:chgData name="Linus Nathaniel" userId="237a6a35-c465-44c0-ad4f-fdd28357640c" providerId="ADAL" clId="{6381F161-B54D-4FF0-9BCE-D861C45D45A5}" dt="2023-09-22T20:50:38.711" v="59" actId="478"/>
          <ac:spMkLst>
            <pc:docMk/>
            <pc:sldMk cId="1932035891" sldId="297"/>
            <ac:spMk id="5" creationId="{C06CDEBA-7E68-2150-AFAA-E2BB5394D5B3}"/>
          </ac:spMkLst>
        </pc:spChg>
        <pc:picChg chg="add mod">
          <ac:chgData name="Linus Nathaniel" userId="237a6a35-c465-44c0-ad4f-fdd28357640c" providerId="ADAL" clId="{6381F161-B54D-4FF0-9BCE-D861C45D45A5}" dt="2023-09-22T20:50:57.716" v="64" actId="1076"/>
          <ac:picMkLst>
            <pc:docMk/>
            <pc:sldMk cId="1932035891" sldId="297"/>
            <ac:picMk id="7" creationId="{AB78CED8-87EA-417C-879F-35C5DA9A8A0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174ecfce8_0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174ecfce8_0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74ecfce8_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74ecfce8_0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74ecfce8_0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74ecfce8_0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74ecfce8_0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74ecfce8_0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74ecfce8_0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74ecfce8_0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74ecfce8_0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74ecfce8_0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74ecfce8_0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74ecfce8_0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74ecfce8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74ecfce8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74ecfce8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74ecfce8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74ecfce8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74ecfce8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74ecfce8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74ecfce8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74ecfce8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74ecfce8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74ecfce8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74ecfce8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74ecfce8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74ecfce8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74ecfce8_1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74ecfce8_1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74ecfce8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74ecfce8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74ecfce8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74ecfce8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74ecfce8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74ecfce8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74ecfce8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74ecfce8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74ecfce8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74ecfce8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74ecfce8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74ecfce8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74ecfce8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74ecfce8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74ecfce8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74ecfce8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74ecfce8_1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74ecfce8_1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74ecfce8_1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74ecfce8_1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74ecfce8_1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74ecfce8_1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74ecfce8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74ecfce8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74ecfce8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74ecfce8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74ecfce8_1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74ecfce8_1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74ecfce8_1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74ecfce8_1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74ecfce8_1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74ecfce8_1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74ecfce8_1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74ecfce8_1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74ecfce8_1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74ecfce8_1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74ecfce8_1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74ecfce8_1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74ecfce8_1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74ecfce8_1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74ecfce8_1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74ecfce8_1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74ecfce8_1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74ecfce8_1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74ecfce8_1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74ecfce8_1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 flipH="1">
            <a:off x="0" y="3093235"/>
            <a:ext cx="8458200" cy="71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85800" y="1300757"/>
            <a:ext cx="7772400" cy="16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85800" y="3093357"/>
            <a:ext cx="7772400" cy="71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 b="1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 b="1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 b="1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 b="1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 b="1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 b="1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 b="1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40302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2"/>
          </p:nvPr>
        </p:nvSpPr>
        <p:spPr>
          <a:xfrm>
            <a:off x="4656667" y="1461909"/>
            <a:ext cx="40302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/>
        </p:nvSpPr>
        <p:spPr>
          <a:xfrm>
            <a:off x="0" y="4406309"/>
            <a:ext cx="8686800" cy="51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dern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○"/>
              <a:defRPr sz="2400">
                <a:solidFill>
                  <a:schemeClr val="dk2"/>
                </a:solidFill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sz="2400">
                <a:solidFill>
                  <a:schemeClr val="dk2"/>
                </a:solidFill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b-engines.com/en/ranki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ngodb/mongo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mongodb.org/manual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ongodb.com/press/carfax%C2%AE-selects-mongodb-power-11-billion-record-databas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mongodb.org/manual/reference/glossary/#term-objectid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docs.mongodb.org/manual/reference/glossary/#term-bson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ctrTitle"/>
          </p:nvPr>
        </p:nvSpPr>
        <p:spPr>
          <a:xfrm>
            <a:off x="837075" y="-3"/>
            <a:ext cx="7772400" cy="71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Droid Sans"/>
                <a:ea typeface="Droid Sans"/>
                <a:cs typeface="Droid Sans"/>
                <a:sym typeface="Droid Sans"/>
              </a:rPr>
              <a:t>An Introduction to</a:t>
            </a:r>
            <a:r>
              <a:rPr lang="en" sz="3000"/>
              <a:t> </a:t>
            </a:r>
            <a:endParaRPr sz="3000"/>
          </a:p>
        </p:txBody>
      </p:sp>
      <p:pic>
        <p:nvPicPr>
          <p:cNvPr id="34" name="Google Shape;3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7500" y="842400"/>
            <a:ext cx="5535400" cy="163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Popularity</a:t>
            </a:r>
            <a:endParaRPr/>
          </a:p>
        </p:txBody>
      </p:sp>
      <p:graphicFrame>
        <p:nvGraphicFramePr>
          <p:cNvPr id="44" name="Google Shape;44;p9"/>
          <p:cNvGraphicFramePr/>
          <p:nvPr/>
        </p:nvGraphicFramePr>
        <p:xfrm>
          <a:off x="2205163" y="1462400"/>
          <a:ext cx="4733675" cy="3657300"/>
        </p:xfrm>
        <a:graphic>
          <a:graphicData uri="http://schemas.openxmlformats.org/drawingml/2006/table">
            <a:tbl>
              <a:tblPr>
                <a:noFill/>
                <a:tableStyleId>{087D71AD-D7B5-4794-8008-342F30F8FDEA}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Rank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846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1200">
                        <a:solidFill>
                          <a:srgbClr val="22222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0500" marR="47625" marT="49525" marB="495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Oracle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846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1617.19</a:t>
                      </a:r>
                      <a:endParaRPr sz="1200">
                        <a:solidFill>
                          <a:srgbClr val="22222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0500" marR="47625" marT="49525" marB="495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MySql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1254.27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SQL Server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846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1234.46</a:t>
                      </a:r>
                      <a:endParaRPr sz="1200">
                        <a:solidFill>
                          <a:srgbClr val="22222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0500" marR="47625" marT="49525" marB="495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PostgreSQL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190.83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165.9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1C232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MongoDB</a:t>
                      </a:r>
                      <a:endParaRPr sz="1200">
                        <a:highlight>
                          <a:srgbClr val="F1C232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161.87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Microsoft Access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141.6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SQLite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78.78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Sybase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77.75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5" name="Google Shape;45;p9"/>
          <p:cNvSpPr txBox="1"/>
          <p:nvPr/>
        </p:nvSpPr>
        <p:spPr>
          <a:xfrm>
            <a:off x="6997975" y="4809300"/>
            <a:ext cx="23733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http://db-engines.com/en/ranking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0849" y="0"/>
            <a:ext cx="569364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	</a:t>
            </a:r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2004 - Google BigTable Paper</a:t>
            </a:r>
            <a:endParaRPr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NoSql becomes mainstream technology</a:t>
            </a:r>
            <a:endParaRPr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Kicks off movement to create “web scale” databases</a:t>
            </a:r>
            <a:br>
              <a:rPr lang="en"/>
            </a:b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2007 - 10Gen releases MongoDB</a:t>
            </a:r>
            <a:endParaRPr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solidFill>
                  <a:schemeClr val="dk1"/>
                </a:solidFill>
              </a:rPr>
              <a:t>Bridges gap between key-values and RDBMS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2009 - Open Sourced - </a:t>
            </a:r>
            <a:r>
              <a:rPr lang="en" u="sng">
                <a:solidFill>
                  <a:schemeClr val="hlink"/>
                </a:solidFill>
                <a:hlinkClick r:id="rId3"/>
              </a:rPr>
              <a:t>GitHub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</a:t>
            </a:r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10Gen -&gt; MongoDB Company</a:t>
            </a:r>
            <a:endParaRPr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Sells enterprise version</a:t>
            </a:r>
            <a:endParaRPr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Security and backup tools</a:t>
            </a:r>
            <a:endParaRPr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Training</a:t>
            </a:r>
            <a:endParaRPr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Integration</a:t>
            </a:r>
            <a:endParaRPr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Support</a:t>
            </a:r>
            <a:endParaRPr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Just raised $150,000,000</a:t>
            </a:r>
            <a:endParaRPr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Documention - </a:t>
            </a:r>
            <a:r>
              <a:rPr lang="en" u="sng">
                <a:solidFill>
                  <a:schemeClr val="hlink"/>
                </a:solidFill>
                <a:hlinkClick r:id="rId3"/>
              </a:rPr>
              <a:t>MongoDB.org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Drivers</a:t>
            </a:r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JavaScript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Python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Ruby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PHP 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Perl 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Java 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Scala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C#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C 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C++ 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Haskell 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Erlang</a:t>
            </a:r>
            <a:endParaRPr sz="1400"/>
          </a:p>
        </p:txBody>
      </p:sp>
      <p:sp>
        <p:nvSpPr>
          <p:cNvPr id="69" name="Google Shape;69;p13"/>
          <p:cNvSpPr txBox="1"/>
          <p:nvPr/>
        </p:nvSpPr>
        <p:spPr>
          <a:xfrm>
            <a:off x="2428500" y="4686300"/>
            <a:ext cx="4287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Plus numerous 3rd party tools and libraries!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 Deployments</a:t>
            </a:r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Groupon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Craigslist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Bit.ly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eBay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eHarmony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Answers.com (St. Louis)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CarFax (</a:t>
            </a:r>
            <a:r>
              <a:rPr lang="en" u="sng">
                <a:solidFill>
                  <a:schemeClr val="hlink"/>
                </a:solidFill>
                <a:hlinkClick r:id="rId3"/>
              </a:rPr>
              <a:t>St. Louis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Benefits</a:t>
            </a:r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>
            <a:off x="457200" y="1300224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Speed Speed Speed!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Rich Dynamic Queries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Lazy Creation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Schema-less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Returns JSON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Easy Replication and Failover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Auto-Sharding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MapReduce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Fast?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1600" y="1423675"/>
            <a:ext cx="3528300" cy="359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7100" y="0"/>
            <a:ext cx="685577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6A3F7-0623-2DEA-664C-9442F2AB4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19" y="356839"/>
            <a:ext cx="8229600" cy="931166"/>
          </a:xfrm>
        </p:spPr>
        <p:txBody>
          <a:bodyPr/>
          <a:lstStyle/>
          <a:p>
            <a:r>
              <a:rPr lang="en-US" sz="4400" dirty="0"/>
              <a:t>SQL vs Document Databases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93442-F922-FCDF-5F34-33BFD8E5E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SQL databases are considered relational databases. They store related data in separate tables. When data is needed, it is queried from multiple tables to join the data back together.</a:t>
            </a:r>
          </a:p>
          <a:p>
            <a:endParaRPr lang="en-US" sz="1400" dirty="0"/>
          </a:p>
          <a:p>
            <a:r>
              <a:rPr lang="en-US" sz="1400" dirty="0"/>
              <a:t>MongoDB is a document database which is often referred to as a non-relational database. This does not mean that relational data cannot be stored in document databases. It means that relational data is stored differently. A better way to refer to it is as a non-tabular database.</a:t>
            </a:r>
          </a:p>
          <a:p>
            <a:endParaRPr lang="en-US" sz="1400" dirty="0"/>
          </a:p>
          <a:p>
            <a:r>
              <a:rPr lang="en-US" sz="1400" dirty="0"/>
              <a:t>MongoDB stores data in flexible documents. Instead of having multiple tables you can simply keep all of your related data together. This makes reading your data very fast.</a:t>
            </a:r>
          </a:p>
          <a:p>
            <a:endParaRPr lang="en-US" sz="1400" dirty="0"/>
          </a:p>
          <a:p>
            <a:r>
              <a:rPr lang="en-US" sz="1400" dirty="0"/>
              <a:t>You can still have multiple groups of data too. In MongoDB, instead of tables these are called collections.</a:t>
            </a:r>
          </a:p>
        </p:txBody>
      </p:sp>
    </p:spTree>
    <p:extLst>
      <p:ext uri="{BB962C8B-B14F-4D97-AF65-F5344CB8AC3E}">
        <p14:creationId xmlns:p14="http://schemas.microsoft.com/office/powerpoint/2010/main" val="2942431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 BSON (binary JSON) document</a:t>
            </a:r>
            <a:endParaRPr sz="3600"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106200" y="1420000"/>
            <a:ext cx="876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{</a:t>
            </a:r>
            <a:endParaRPr sz="1400"/>
          </a:p>
          <a:p>
            <a:pPr marL="0" lvl="0" indent="4572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"_id" : ObjectId("52832eb59f36fe144eeea8dc"),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	"baseprice" : 8.99,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	"category" : "toys",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	"colors" : [ "red", "green", "cosmic purple"],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	"name" : "Cosmic Yo-yo",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	"promotions" : [ </a:t>
            </a:r>
            <a:endParaRPr sz="1400"/>
          </a:p>
          <a:p>
            <a:pPr marL="13716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{ "coupon" : "XY678", "saleprice" : 7.99, "expires" : ISODate("2013-12-12T00:00:00Z") },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			{ "coupon" : "AB8888", "saleprice" : 7.49, "expires" : ISODate("2014-01-01T00:00:00Z") }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		       ]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}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</a:t>
            </a: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Database -&gt; Database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Table -&gt; Collection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Record / Row -&gt; Document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Field -&gt; Field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find()</a:t>
            </a:r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db.products.findOne()</a:t>
            </a:r>
            <a:endParaRPr sz="2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db.products.find()</a:t>
            </a:r>
            <a:endParaRPr sz="2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db.products.find().pretty()</a:t>
            </a:r>
            <a:endParaRPr sz="2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db.products.find({ _id : ObjectId("52832eb59f36fe144eeea8dc") })</a:t>
            </a:r>
            <a:endParaRPr sz="2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db.products.find({ name : "Cosmic Yo-yo" })</a:t>
            </a:r>
            <a:endParaRPr sz="14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db.products.find({ name : /^hack/i }).pretty()</a:t>
            </a:r>
            <a:endParaRPr sz="2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Index fields used for find!</a:t>
            </a:r>
            <a:endParaRPr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Projections</a:t>
            </a:r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db.products.find({ "name" : "Hacky Sack Maxx" },{  baseprice : 1 } )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db.products.find({ "name": "Hacky Sack Maxx" },{  baseprice: 1, category : 1 } )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db.products.find( { }, {  promotions : 1 } 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db.products.find( { }, {  promotions : 1 } )[0].promotions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Ids	</a:t>
            </a:r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428BCA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ObjectId</a:t>
            </a:r>
            <a:r>
              <a:rPr lang="en" sz="2400">
                <a:solidFill>
                  <a:srgbClr val="333333"/>
                </a:solidFill>
                <a:highlight>
                  <a:srgbClr val="FFFFFF"/>
                </a:highlight>
              </a:rPr>
              <a:t> is a 12-byte </a:t>
            </a:r>
            <a:r>
              <a:rPr lang="en" sz="2400">
                <a:solidFill>
                  <a:srgbClr val="428BCA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BSON</a:t>
            </a:r>
            <a:r>
              <a:rPr lang="en" sz="2400">
                <a:solidFill>
                  <a:srgbClr val="333333"/>
                </a:solidFill>
                <a:highlight>
                  <a:srgbClr val="FFFFFF"/>
                </a:highlight>
              </a:rPr>
              <a:t> type, constructed using:</a:t>
            </a:r>
            <a:endParaRPr sz="2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 sz="2400">
                <a:solidFill>
                  <a:srgbClr val="333333"/>
                </a:solidFill>
                <a:highlight>
                  <a:srgbClr val="FFFFFF"/>
                </a:highlight>
              </a:rPr>
              <a:t>a 4-byte value representing the seconds since the Unix epoch,</a:t>
            </a:r>
            <a:endParaRPr sz="2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 sz="2400">
                <a:solidFill>
                  <a:srgbClr val="333333"/>
                </a:solidFill>
                <a:highlight>
                  <a:srgbClr val="FFFFFF"/>
                </a:highlight>
              </a:rPr>
              <a:t>a 3-byte machine identifier,</a:t>
            </a:r>
            <a:endParaRPr sz="2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 sz="2400">
                <a:solidFill>
                  <a:srgbClr val="333333"/>
                </a:solidFill>
                <a:highlight>
                  <a:srgbClr val="FFFFFF"/>
                </a:highlight>
              </a:rPr>
              <a:t>a 2-byte process id, and</a:t>
            </a:r>
            <a:endParaRPr sz="2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 sz="2400">
                <a:solidFill>
                  <a:srgbClr val="333333"/>
                </a:solidFill>
                <a:highlight>
                  <a:srgbClr val="FFFFFF"/>
                </a:highlight>
              </a:rPr>
              <a:t>a 3-byte counter, starting with a random value</a:t>
            </a:r>
            <a:endParaRPr sz="2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 sz="2400">
                <a:solidFill>
                  <a:srgbClr val="333333"/>
                </a:solidFill>
                <a:highlight>
                  <a:srgbClr val="FFFFFF"/>
                </a:highlight>
              </a:rPr>
              <a:t>Show with .getTimestamp()</a:t>
            </a:r>
            <a:endParaRPr sz="2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Shell</a:t>
            </a:r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Runs native JavaScript</a:t>
            </a:r>
            <a:endParaRPr/>
          </a:p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Google V8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Can run native functions, but not recommended in production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Queries</a:t>
            </a:r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db.products.find().sort( { baseprice : -1 }).pretty()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db.products.find().limit(1).pretty()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db.products.find().limit(1).skip(1).pretty()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Conditions</a:t>
            </a:r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body" idx="1"/>
          </p:nvPr>
        </p:nvSpPr>
        <p:spPr>
          <a:xfrm>
            <a:off x="457200" y="12318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db.products.find({ baseprice : { $gt : 4.99 }})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db.products.find({ baseprice : { $lte : 4.99 }})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db.products.find({ promotions : { $lte : 4.99 }})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db.products.find( { colors : { $in :  ["red"] }})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db.products.find( { "promotions.coupon" : { $in :  [  "XY678" ] }}).pretty()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db.products.find({ $and : [{ category : "toys"},{ baseprice : { $gt : 4.99 }}]}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Queries</a:t>
            </a:r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db.products.count()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db.products.find({ baseprice : { $gt : 2.99 }}).count()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db.products.insert({ name : "Juggle-O-rama", baseprice : 11.99 })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db.products.update({ name : "Juggle-O-rama" }, { $set : { category : "toys" }})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db.products.update({ name: “Juggle-O-rama” }, { $set : {  colors : ["silver", "gold"]}})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db.products.update({ name: "Juggle-O-rama" }, { $push : {  colors : "sea foam green"}})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/>
              <a:t>Don’t forget $set!</a:t>
            </a:r>
            <a:endParaRPr sz="18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Aggregation</a:t>
            </a:r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db.products.aggregate({ $group : { _id : "$category", totalprice : { $sum : "$baseprice" }}})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Indexes</a:t>
            </a:r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Single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Compound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Nested Elements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In Array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Whole Document!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db.products.ensureIndex({ name : 1})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Geospatial Indexes</a:t>
            </a:r>
            <a:endParaRPr/>
          </a:p>
        </p:txBody>
      </p:sp>
      <p:sp>
        <p:nvSpPr>
          <p:cNvPr id="164" name="Google Shape;164;p29"/>
          <p:cNvSpPr txBox="1">
            <a:spLocks noGrp="1"/>
          </p:cNvSpPr>
          <p:nvPr>
            <p:ph type="body" idx="1"/>
          </p:nvPr>
        </p:nvSpPr>
        <p:spPr>
          <a:xfrm>
            <a:off x="121075" y="1347475"/>
            <a:ext cx="8229600" cy="37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{ </a:t>
            </a:r>
            <a:endParaRPr sz="1800">
              <a:solidFill>
                <a:srgbClr val="333333"/>
              </a:solidFill>
              <a:highlight>
                <a:srgbClr val="F5F5F5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_id </a:t>
            </a:r>
            <a:r>
              <a:rPr lang="en" sz="1800">
                <a:solidFill>
                  <a:srgbClr val="66666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ObjectId(...),</a:t>
            </a:r>
            <a:b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 	name </a:t>
            </a:r>
            <a:r>
              <a:rPr lang="en" sz="1800">
                <a:solidFill>
                  <a:srgbClr val="66666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800">
                <a:solidFill>
                  <a:srgbClr val="4070A0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"Brad Urani"</a:t>
            </a: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,</a:t>
            </a:r>
            <a:b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 	addresses </a:t>
            </a:r>
            <a:r>
              <a:rPr lang="en" sz="1800">
                <a:solidFill>
                  <a:srgbClr val="66666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[ </a:t>
            </a:r>
            <a:endParaRPr sz="1800">
              <a:solidFill>
                <a:srgbClr val="333333"/>
              </a:solidFill>
              <a:highlight>
                <a:srgbClr val="F5F5F5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457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{ context </a:t>
            </a:r>
            <a:r>
              <a:rPr lang="en" sz="1800">
                <a:solidFill>
                  <a:srgbClr val="66666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800">
                <a:solidFill>
                  <a:srgbClr val="4070A0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"home"</a:t>
            </a: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, loc </a:t>
            </a:r>
            <a:r>
              <a:rPr lang="en" sz="1800">
                <a:solidFill>
                  <a:srgbClr val="66666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[ </a:t>
            </a:r>
            <a:r>
              <a:rPr lang="en" sz="1800">
                <a:solidFill>
                  <a:srgbClr val="208050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55.5</a:t>
            </a: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800">
                <a:solidFill>
                  <a:srgbClr val="208050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42.3</a:t>
            </a: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] },</a:t>
            </a:r>
            <a:b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           { context </a:t>
            </a:r>
            <a:r>
              <a:rPr lang="en" sz="1800">
                <a:solidFill>
                  <a:srgbClr val="66666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800">
                <a:solidFill>
                  <a:srgbClr val="4070A0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"office"</a:t>
            </a: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,  loc </a:t>
            </a:r>
            <a:r>
              <a:rPr lang="en" sz="1800">
                <a:solidFill>
                  <a:srgbClr val="66666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[ </a:t>
            </a:r>
            <a:r>
              <a:rPr lang="en" sz="1800">
                <a:solidFill>
                  <a:srgbClr val="66666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" sz="1800">
                <a:solidFill>
                  <a:srgbClr val="208050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74</a:t>
            </a: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, </a:t>
            </a:r>
            <a:r>
              <a:rPr lang="en" sz="1800">
                <a:solidFill>
                  <a:srgbClr val="208050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44.74</a:t>
            </a: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] }</a:t>
            </a:r>
            <a:b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      ]</a:t>
            </a:r>
            <a:endParaRPr sz="1800">
              <a:solidFill>
                <a:srgbClr val="333333"/>
              </a:solidFill>
              <a:highlight>
                <a:srgbClr val="F5F5F5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}</a:t>
            </a:r>
            <a:endParaRPr sz="2400">
              <a:solidFill>
                <a:srgbClr val="333333"/>
              </a:solidFill>
              <a:highlight>
                <a:srgbClr val="F5F5F5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9"/>
          <p:cNvSpPr txBox="1"/>
          <p:nvPr/>
        </p:nvSpPr>
        <p:spPr>
          <a:xfrm>
            <a:off x="5087625" y="1573675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9"/>
          <p:cNvSpPr txBox="1"/>
          <p:nvPr/>
        </p:nvSpPr>
        <p:spPr>
          <a:xfrm>
            <a:off x="5446675" y="161185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9"/>
          <p:cNvSpPr txBox="1"/>
          <p:nvPr/>
        </p:nvSpPr>
        <p:spPr>
          <a:xfrm>
            <a:off x="5778975" y="1703500"/>
            <a:ext cx="332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9"/>
          <p:cNvSpPr txBox="1"/>
          <p:nvPr/>
        </p:nvSpPr>
        <p:spPr>
          <a:xfrm>
            <a:off x="5553625" y="161185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Can Query</a:t>
            </a:r>
            <a:endParaRPr sz="2400">
              <a:solidFill>
                <a:srgbClr val="333333"/>
              </a:solidFill>
              <a:highlight>
                <a:srgbClr val="F5F5F5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Within Certain Distance</a:t>
            </a:r>
            <a:endParaRPr sz="2400">
              <a:solidFill>
                <a:srgbClr val="333333"/>
              </a:solidFill>
              <a:highlight>
                <a:srgbClr val="F5F5F5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Within Polygons</a:t>
            </a:r>
            <a:endParaRPr sz="2400">
              <a:solidFill>
                <a:srgbClr val="333333"/>
              </a:solidFill>
              <a:highlight>
                <a:srgbClr val="F5F5F5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Where Polygons Intersect</a:t>
            </a:r>
            <a:endParaRPr sz="2400">
              <a:solidFill>
                <a:srgbClr val="333333"/>
              </a:solidFill>
              <a:highlight>
                <a:srgbClr val="F5F5F5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Others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ABB84-C785-F889-F5AE-A1E7CB2A7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</a:t>
            </a:r>
            <a:r>
              <a:rPr lang="en-US" dirty="0" err="1"/>
              <a:t>contd</a:t>
            </a:r>
            <a:r>
              <a:rPr lang="en-US" dirty="0"/>
              <a:t>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B0BFF-5B4D-0530-B530-36FF1F7B7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From the Atlas dashboard, click on your Cluster name then the Search tab.</a:t>
            </a:r>
          </a:p>
          <a:p>
            <a:r>
              <a:rPr lang="en-US" sz="1800" dirty="0"/>
              <a:t>Click on the Create Search Index button.</a:t>
            </a:r>
          </a:p>
          <a:p>
            <a:r>
              <a:rPr lang="en-US" sz="1800" dirty="0"/>
              <a:t>Use the Visual Editor and click Next.</a:t>
            </a:r>
          </a:p>
          <a:p>
            <a:r>
              <a:rPr lang="en-US" sz="1800" dirty="0"/>
              <a:t>Name your index, choose the Database and Collection you want to index and click Next.</a:t>
            </a:r>
          </a:p>
          <a:p>
            <a:r>
              <a:rPr lang="en-US" sz="1800" dirty="0"/>
              <a:t>If you name your index "default" you will not have to specify the index name in the $search pipeline stage.</a:t>
            </a:r>
          </a:p>
          <a:p>
            <a:r>
              <a:rPr lang="en-US" sz="1800" dirty="0"/>
              <a:t>Choose the </a:t>
            </a:r>
            <a:r>
              <a:rPr lang="en-US" sz="1800" dirty="0" err="1"/>
              <a:t>sample_mflix</a:t>
            </a:r>
            <a:r>
              <a:rPr lang="en-US" sz="1800" dirty="0"/>
              <a:t> database and the movies collection.</a:t>
            </a:r>
          </a:p>
          <a:p>
            <a:r>
              <a:rPr lang="en-US" sz="1800" dirty="0"/>
              <a:t>Click Create Search Index and wait for the index to complete.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20091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ABB84-C785-F889-F5AE-A1E7CB2A7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</a:t>
            </a:r>
            <a:r>
              <a:rPr lang="en-US" dirty="0" err="1"/>
              <a:t>contd</a:t>
            </a:r>
            <a:r>
              <a:rPr lang="en-US" dirty="0"/>
              <a:t>…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6CDEBA-7E68-2150-AFAA-E2BB5394D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78CED8-87EA-417C-879F-35C5DA9A8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95" y="1496604"/>
            <a:ext cx="7367239" cy="342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035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Temporary Records	</a:t>
            </a:r>
            <a:endParaRPr/>
          </a:p>
        </p:txBody>
      </p:sp>
      <p:sp>
        <p:nvSpPr>
          <p:cNvPr id="174" name="Google Shape;174;p30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Time to Live (TTL)</a:t>
            </a:r>
            <a:endParaRPr/>
          </a:p>
          <a:p>
            <a:pPr marL="914400" lvl="1" indent="-34925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○"/>
            </a:pPr>
            <a:r>
              <a:rPr lang="en" sz="19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db.log.events.ensureIndex( { </a:t>
            </a:r>
            <a:r>
              <a:rPr lang="en" sz="1900">
                <a:solidFill>
                  <a:srgbClr val="4070A0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"status"</a:t>
            </a:r>
            <a:r>
              <a:rPr lang="en" sz="1900">
                <a:solidFill>
                  <a:srgbClr val="66666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19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900">
                <a:solidFill>
                  <a:srgbClr val="208050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 sz="19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}, { expireAfterSeconds</a:t>
            </a:r>
            <a:r>
              <a:rPr lang="en" sz="1900">
                <a:solidFill>
                  <a:srgbClr val="66666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19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900">
                <a:solidFill>
                  <a:srgbClr val="208050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3600</a:t>
            </a:r>
            <a:r>
              <a:rPr lang="en" sz="1900">
                <a:solidFill>
                  <a:srgbClr val="333333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} )</a:t>
            </a:r>
            <a:endParaRPr sz="1900">
              <a:solidFill>
                <a:srgbClr val="333333"/>
              </a:solidFill>
              <a:highlight>
                <a:srgbClr val="F5F5F5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Capped Collections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Set a maximum number of records in the collection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Provides very fast writing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Benefits</a:t>
            </a:r>
            <a:endParaRPr/>
          </a:p>
        </p:txBody>
      </p:sp>
      <p:sp>
        <p:nvSpPr>
          <p:cNvPr id="180" name="Google Shape;180;p31"/>
          <p:cNvSpPr txBox="1">
            <a:spLocks noGrp="1"/>
          </p:cNvSpPr>
          <p:nvPr>
            <p:ph type="body" idx="1"/>
          </p:nvPr>
        </p:nvSpPr>
        <p:spPr>
          <a:xfrm>
            <a:off x="457200" y="1347474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Speed Speed Speed!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Rich Dynamic Queries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Lazy Creation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Flexible Schema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Returns JSON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Easy Replication and Failover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Auto-Sharding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MapReduce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Lazy Creation</a:t>
            </a:r>
            <a:endParaRPr/>
          </a:p>
        </p:txBody>
      </p:sp>
      <p:sp>
        <p:nvSpPr>
          <p:cNvPr id="186" name="Google Shape;186;p32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Lazy Creation Saves Developer Time</a:t>
            </a:r>
            <a:endParaRPr/>
          </a:p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Instant Set-up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No Change Scripts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Easier Data Migration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Great for Data Warehousing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Flexible Schemas</a:t>
            </a:r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I.E. Different data for different for different product types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Flexible nesting rules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Simplifies Internationalization 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Easy Custom Fields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JSON Front-to-Back!</a:t>
            </a:r>
            <a:endParaRPr/>
          </a:p>
        </p:txBody>
      </p:sp>
      <p:sp>
        <p:nvSpPr>
          <p:cNvPr id="198" name="Google Shape;198;p34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Queries return JSON</a:t>
            </a:r>
            <a:endParaRPr/>
          </a:p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Dirt simple APIs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No Data Manipulation Needed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Ditch the ORM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Easy JavaScript Integration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Fits perfectly with KnockoutJS, AngularJS etc.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Replica Sets</a:t>
            </a:r>
            <a:endParaRPr/>
          </a:p>
        </p:txBody>
      </p:sp>
      <p:sp>
        <p:nvSpPr>
          <p:cNvPr id="204" name="Google Shape;204;p35"/>
          <p:cNvSpPr txBox="1">
            <a:spLocks noGrp="1"/>
          </p:cNvSpPr>
          <p:nvPr>
            <p:ph type="body" idx="1"/>
          </p:nvPr>
        </p:nvSpPr>
        <p:spPr>
          <a:xfrm>
            <a:off x="457200" y="1460500"/>
            <a:ext cx="8229600" cy="30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Master / Slave</a:t>
            </a:r>
            <a:endParaRPr/>
          </a:p>
        </p:txBody>
      </p:sp>
      <p:pic>
        <p:nvPicPr>
          <p:cNvPr id="205" name="Google Shape;20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3500" y="1891088"/>
            <a:ext cx="6667500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Replica Set Election</a:t>
            </a:r>
            <a:endParaRPr/>
          </a:p>
        </p:txBody>
      </p:sp>
      <p:sp>
        <p:nvSpPr>
          <p:cNvPr id="211" name="Google Shape;211;p36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</a:rPr>
              <a:t>If a primary fails, the secondaries automatically elect a new primary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2" name="Google Shape;21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9563" y="1933173"/>
            <a:ext cx="4144875" cy="314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Sharding</a:t>
            </a:r>
            <a:endParaRPr/>
          </a:p>
        </p:txBody>
      </p:sp>
      <p:pic>
        <p:nvPicPr>
          <p:cNvPr id="218" name="Google Shape;21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0875" y="1398450"/>
            <a:ext cx="3910851" cy="374505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7"/>
          <p:cNvSpPr txBox="1"/>
          <p:nvPr/>
        </p:nvSpPr>
        <p:spPr>
          <a:xfrm>
            <a:off x="5251500" y="16200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Collections are split amongst multiple servers by a shard key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Used to scale writes</a:t>
            </a:r>
            <a:endParaRPr sz="2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25" name="Google Shape;225;p38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No Transactions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No Joins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RAM intensive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No referential integrity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Eventual Consistency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Considerations</a:t>
            </a:r>
            <a:endParaRPr/>
          </a:p>
        </p:txBody>
      </p:sp>
      <p:sp>
        <p:nvSpPr>
          <p:cNvPr id="231" name="Google Shape;231;p39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Embed vs. Reference</a:t>
            </a:r>
            <a:endParaRPr/>
          </a:p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Instead of joining junction tables, embed subdocuments in documents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90% of the time choose embed over reference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You may have to store the same data twice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Denormalized Data</a:t>
            </a:r>
            <a:endParaRPr/>
          </a:p>
        </p:txBody>
      </p:sp>
      <p:sp>
        <p:nvSpPr>
          <p:cNvPr id="237" name="Google Shape;237;p40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{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_id : ObjectId(...),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Name: “November Specials”,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Promotions : [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		 { Title: “20% off all Yo-yos”,	Coupon: “AB345” },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		{ Title: “Free shipping on Hacky Sacks”, Coupon : “XY456” }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		],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Dates : [ ISODate(“2013-11-01”), ISODate(“2013-11-31) ]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}, { _id : ObjectId(...),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	Name: “December Specials”,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	Promotions : [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			 { Title: “10% off all frisbees”, Coupon: “BA445” },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			{ Title: “Free overnight shipping on all jump ropes”, Coupon : “XY456” }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					</a:t>
            </a:r>
            <a:r>
              <a:rPr lang="en"/>
              <a:t>	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 Design</a:t>
            </a:r>
            <a:endParaRPr/>
          </a:p>
        </p:txBody>
      </p:sp>
      <p:sp>
        <p:nvSpPr>
          <p:cNvPr id="243" name="Google Shape;243;p41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SQL: Optimizing how data is stored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MongoDB: Optimize how data is used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SQL: What answers do I have?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MongoDB: What questions do I have?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Choices</a:t>
            </a:r>
            <a:endParaRPr/>
          </a:p>
        </p:txBody>
      </p:sp>
      <p:sp>
        <p:nvSpPr>
          <p:cNvPr id="249" name="Google Shape;249;p42"/>
          <p:cNvSpPr txBox="1">
            <a:spLocks noGrp="1"/>
          </p:cNvSpPr>
          <p:nvPr>
            <p:ph type="body" idx="1"/>
          </p:nvPr>
        </p:nvSpPr>
        <p:spPr>
          <a:xfrm>
            <a:off x="98150" y="1468150"/>
            <a:ext cx="85008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{ 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	OrderId(“....”)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	Items : [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			{ _id : ObjectId(“...”), name : “Cosmic Yo-yo”, color : “red”, qty : 1 },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			{ _id : ObjectId(“...”), name : Hackey Sack Maxx”, color : “tiger orange”, qty: 2 }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		]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	Promotions : [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				{ _id : ObjectId(“...”), Coupon : “AB456” : 6.99 }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			]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}</a:t>
            </a:r>
            <a:endParaRPr sz="16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</a:t>
            </a:r>
            <a:endParaRPr/>
          </a:p>
        </p:txBody>
      </p:sp>
      <p:sp>
        <p:nvSpPr>
          <p:cNvPr id="255" name="Google Shape;255;p43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Anything with user generated data</a:t>
            </a:r>
            <a:endParaRPr sz="1800"/>
          </a:p>
          <a:p>
            <a:pPr marL="13716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Social Media</a:t>
            </a:r>
            <a:endParaRPr sz="1800"/>
          </a:p>
          <a:p>
            <a:pPr marL="13716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CMS</a:t>
            </a:r>
            <a:endParaRPr sz="1800"/>
          </a:p>
          <a:p>
            <a:pPr marL="13716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Blogs</a:t>
            </a:r>
            <a:endParaRPr sz="1800"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Product Data (Ecommerce)</a:t>
            </a:r>
            <a:endParaRPr sz="1800"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Games</a:t>
            </a:r>
            <a:endParaRPr sz="1800"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Location services</a:t>
            </a:r>
            <a:endParaRPr sz="1800"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Logging</a:t>
            </a:r>
            <a:endParaRPr sz="1800"/>
          </a:p>
          <a:p>
            <a:pPr marL="13716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Clickstream</a:t>
            </a:r>
            <a:endParaRPr sz="1800"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Analytics</a:t>
            </a:r>
            <a:endParaRPr sz="1800"/>
          </a:p>
          <a:p>
            <a:pPr marL="13716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Real-Time</a:t>
            </a:r>
            <a:endParaRPr sz="1800"/>
          </a:p>
          <a:p>
            <a:pPr marL="13716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Data Warehouses</a:t>
            </a:r>
            <a:endParaRPr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Great For</a:t>
            </a:r>
            <a:endParaRPr/>
          </a:p>
        </p:txBody>
      </p:sp>
      <p:sp>
        <p:nvSpPr>
          <p:cNvPr id="261" name="Google Shape;261;p44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Transaction Critical Data</a:t>
            </a:r>
            <a:endParaRPr/>
          </a:p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Purchases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Banking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Inventory Control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Both!</a:t>
            </a:r>
            <a:endParaRPr/>
          </a:p>
        </p:txBody>
      </p:sp>
      <p:sp>
        <p:nvSpPr>
          <p:cNvPr id="267" name="Google Shape;267;p45"/>
          <p:cNvSpPr txBox="1">
            <a:spLocks noGrp="1"/>
          </p:cNvSpPr>
          <p:nvPr>
            <p:ph type="body" idx="1"/>
          </p:nvPr>
        </p:nvSpPr>
        <p:spPr>
          <a:xfrm>
            <a:off x="76400" y="1505775"/>
            <a:ext cx="89820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{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	"_id" : ObjectId("52833435add826d9da839268"),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	"baseprice" : 4.99,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	"category" : "toys",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	"colors" : [ "tiger orange", " canary yellow" ],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	"name" : "Hacky Sack Maxx",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	"promotions" : [ { "coupon" : "ZY678", "saleprice" : 4.49, "expires" 13-12-12T00:00:00Z") },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			        { "coupon" : "CD8888", "promo" : "free shipping", "expires" 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			]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}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000"/>
          </a:p>
        </p:txBody>
      </p:sp>
      <p:pic>
        <p:nvPicPr>
          <p:cNvPr id="268" name="Google Shape;26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3906725" y="2902424"/>
            <a:ext cx="111350" cy="8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0175" y="1812323"/>
            <a:ext cx="4338224" cy="317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45"/>
          <p:cNvSpPr txBox="1"/>
          <p:nvPr/>
        </p:nvSpPr>
        <p:spPr>
          <a:xfrm>
            <a:off x="126725" y="1355125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Products in MongoDB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45"/>
          <p:cNvSpPr txBox="1"/>
          <p:nvPr/>
        </p:nvSpPr>
        <p:spPr>
          <a:xfrm>
            <a:off x="4915200" y="13132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Orders in SQL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 for Scalability</a:t>
            </a:r>
            <a:endParaRPr/>
          </a:p>
        </p:txBody>
      </p:sp>
      <p:sp>
        <p:nvSpPr>
          <p:cNvPr id="277" name="Google Shape;277;p46"/>
          <p:cNvSpPr txBox="1">
            <a:spLocks noGrp="1"/>
          </p:cNvSpPr>
          <p:nvPr>
            <p:ph type="body" idx="1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Databases need to handle peak load, not average load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Avoid Unnecessary Data Transformations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Developer productivity is part of scalability</a:t>
            </a:r>
            <a:endParaRPr/>
          </a:p>
        </p:txBody>
      </p:sp>
      <p:pic>
        <p:nvPicPr>
          <p:cNvPr id="278" name="Google Shape;27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9113" y="3506400"/>
            <a:ext cx="5025775" cy="14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dern">
  <a:themeElements>
    <a:clrScheme name="Custom 348">
      <a:dk1>
        <a:srgbClr val="000000"/>
      </a:dk1>
      <a:lt1>
        <a:srgbClr val="FFFFFF"/>
      </a:lt1>
      <a:dk2>
        <a:srgbClr val="191919"/>
      </a:dk2>
      <a:lt2>
        <a:srgbClr val="CCCCCC"/>
      </a:lt2>
      <a:accent1>
        <a:srgbClr val="7E5554"/>
      </a:accent1>
      <a:accent2>
        <a:srgbClr val="910A10"/>
      </a:accent2>
      <a:accent3>
        <a:srgbClr val="84294D"/>
      </a:accent3>
      <a:accent4>
        <a:srgbClr val="DA823B"/>
      </a:accent4>
      <a:accent5>
        <a:srgbClr val="625D3C"/>
      </a:accent5>
      <a:accent6>
        <a:srgbClr val="00384A"/>
      </a:accent6>
      <a:hlink>
        <a:srgbClr val="227A78"/>
      </a:hlink>
      <a:folHlink>
        <a:srgbClr val="39474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1813</Words>
  <Application>Microsoft Office PowerPoint</Application>
  <PresentationFormat>On-screen Show (16:9)</PresentationFormat>
  <Paragraphs>301</Paragraphs>
  <Slides>42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Droid Sans</vt:lpstr>
      <vt:lpstr>Modern</vt:lpstr>
      <vt:lpstr>An Introduction to </vt:lpstr>
      <vt:lpstr>Database Popularity</vt:lpstr>
      <vt:lpstr>PowerPoint Presentation</vt:lpstr>
      <vt:lpstr>History </vt:lpstr>
      <vt:lpstr>Support</vt:lpstr>
      <vt:lpstr>Drivers</vt:lpstr>
      <vt:lpstr>Major Deployments</vt:lpstr>
      <vt:lpstr>Primary Benefits</vt:lpstr>
      <vt:lpstr>How Fast?</vt:lpstr>
      <vt:lpstr>PowerPoint Presentation</vt:lpstr>
      <vt:lpstr>SQL vs Document Databases</vt:lpstr>
      <vt:lpstr>A BSON (binary JSON) document</vt:lpstr>
      <vt:lpstr>Terminology</vt:lpstr>
      <vt:lpstr>find()</vt:lpstr>
      <vt:lpstr>Projections</vt:lpstr>
      <vt:lpstr>Ids </vt:lpstr>
      <vt:lpstr>Shell</vt:lpstr>
      <vt:lpstr>Queries</vt:lpstr>
      <vt:lpstr>Conditions</vt:lpstr>
      <vt:lpstr>Other Queries</vt:lpstr>
      <vt:lpstr>Aggregation</vt:lpstr>
      <vt:lpstr>Indexes</vt:lpstr>
      <vt:lpstr>Geospatial Indexes</vt:lpstr>
      <vt:lpstr>Index contd…</vt:lpstr>
      <vt:lpstr>Index contd…</vt:lpstr>
      <vt:lpstr>Temporary Records </vt:lpstr>
      <vt:lpstr>Primary Benefits</vt:lpstr>
      <vt:lpstr>Lazy Creation</vt:lpstr>
      <vt:lpstr>Flexible Schemas</vt:lpstr>
      <vt:lpstr>JSON Front-to-Back!</vt:lpstr>
      <vt:lpstr>Replica Sets</vt:lpstr>
      <vt:lpstr>Replica Set Election</vt:lpstr>
      <vt:lpstr>Sharding</vt:lpstr>
      <vt:lpstr>Limitations</vt:lpstr>
      <vt:lpstr>Design Considerations</vt:lpstr>
      <vt:lpstr>Denormalized Data</vt:lpstr>
      <vt:lpstr>Schema Design</vt:lpstr>
      <vt:lpstr>Choices</vt:lpstr>
      <vt:lpstr>Use Cases</vt:lpstr>
      <vt:lpstr>Not Great For</vt:lpstr>
      <vt:lpstr>Use Both!</vt:lpstr>
      <vt:lpstr>Architect for Scalability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</dc:title>
  <cp:lastModifiedBy>Linus Nathaniel</cp:lastModifiedBy>
  <cp:revision>1</cp:revision>
  <dcterms:modified xsi:type="dcterms:W3CDTF">2023-09-22T20:50:59Z</dcterms:modified>
</cp:coreProperties>
</file>