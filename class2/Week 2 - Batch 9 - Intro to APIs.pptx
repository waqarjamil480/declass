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4"/>
  </p:notesMasterIdLst>
  <p:sldIdLst>
    <p:sldId id="256" r:id="rId2"/>
    <p:sldId id="258" r:id="rId3"/>
    <p:sldId id="260" r:id="rId4"/>
    <p:sldId id="261" r:id="rId5"/>
    <p:sldId id="262" r:id="rId6"/>
    <p:sldId id="263" r:id="rId7"/>
    <p:sldId id="323" r:id="rId8"/>
    <p:sldId id="326" r:id="rId9"/>
    <p:sldId id="327" r:id="rId10"/>
    <p:sldId id="324" r:id="rId11"/>
    <p:sldId id="328" r:id="rId12"/>
    <p:sldId id="325" r:id="rId13"/>
    <p:sldId id="329" r:id="rId14"/>
    <p:sldId id="330" r:id="rId15"/>
    <p:sldId id="267" r:id="rId16"/>
    <p:sldId id="332" r:id="rId17"/>
    <p:sldId id="333" r:id="rId18"/>
    <p:sldId id="265" r:id="rId19"/>
    <p:sldId id="268" r:id="rId20"/>
    <p:sldId id="272" r:id="rId21"/>
    <p:sldId id="334" r:id="rId22"/>
    <p:sldId id="322" r:id="rId23"/>
    <p:sldId id="335" r:id="rId24"/>
    <p:sldId id="336" r:id="rId25"/>
    <p:sldId id="337" r:id="rId26"/>
    <p:sldId id="273" r:id="rId27"/>
    <p:sldId id="338" r:id="rId28"/>
    <p:sldId id="339" r:id="rId29"/>
    <p:sldId id="340" r:id="rId30"/>
    <p:sldId id="269" r:id="rId31"/>
    <p:sldId id="270" r:id="rId32"/>
    <p:sldId id="271" r:id="rId33"/>
    <p:sldId id="284" r:id="rId34"/>
    <p:sldId id="285" r:id="rId35"/>
    <p:sldId id="286" r:id="rId36"/>
    <p:sldId id="287" r:id="rId37"/>
    <p:sldId id="288" r:id="rId38"/>
    <p:sldId id="289" r:id="rId39"/>
    <p:sldId id="290" r:id="rId40"/>
    <p:sldId id="291" r:id="rId41"/>
    <p:sldId id="292" r:id="rId42"/>
    <p:sldId id="274" r:id="rId43"/>
    <p:sldId id="275" r:id="rId44"/>
    <p:sldId id="276" r:id="rId45"/>
    <p:sldId id="277" r:id="rId46"/>
    <p:sldId id="278" r:id="rId47"/>
    <p:sldId id="279" r:id="rId48"/>
    <p:sldId id="280" r:id="rId49"/>
    <p:sldId id="293" r:id="rId50"/>
    <p:sldId id="264" r:id="rId51"/>
    <p:sldId id="266" r:id="rId52"/>
    <p:sldId id="321" r:id="rId53"/>
  </p:sldIdLst>
  <p:sldSz cx="9144000" cy="5143500" type="screen16x9"/>
  <p:notesSz cx="6858000" cy="9144000"/>
  <p:embeddedFontLst>
    <p:embeddedFont>
      <p:font typeface="Merriweather" panose="020B0604020202020204" charset="0"/>
      <p:regular r:id="rId55"/>
      <p:bold r:id="rId56"/>
      <p:italic r:id="rId57"/>
      <p:boldItalic r:id="rId58"/>
    </p:embeddedFont>
    <p:embeddedFont>
      <p:font typeface="Roboto Mono Light" panose="020B0604020202020204" charset="0"/>
      <p:regular r:id="rId59"/>
      <p:bold r:id="rId60"/>
      <p:italic r:id="rId61"/>
      <p:boldItalic r:id="rId62"/>
    </p:embeddedFont>
    <p:embeddedFont>
      <p:font typeface="Roboto" panose="020B0604020202020204" charset="0"/>
      <p:regular r:id="rId63"/>
      <p:bold r:id="rId64"/>
      <p:italic r:id="rId65"/>
      <p:boldItalic r:id="rId66"/>
    </p:embeddedFont>
    <p:embeddedFont>
      <p:font typeface="Consolas" panose="020B0609020204030204" pitchFamily="49" charset="0"/>
      <p:regular r:id="rId67"/>
      <p:bold r:id="rId68"/>
      <p:italic r:id="rId69"/>
      <p:boldItalic r:id="rId70"/>
    </p:embeddedFont>
    <p:embeddedFont>
      <p:font typeface="Verdana" panose="020B0604030504040204" pitchFamily="34" charset="0"/>
      <p:regular r:id="rId71"/>
      <p:bold r:id="rId72"/>
      <p:italic r:id="rId73"/>
      <p:boldItalic r:id="rId74"/>
    </p:embeddedFont>
    <p:embeddedFont>
      <p:font typeface="Georgia" panose="02040502050405020303" pitchFamily="18" charset="0"/>
      <p:regular r:id="rId75"/>
      <p:bold r:id="rId76"/>
      <p:italic r:id="rId77"/>
      <p:boldItalic r:id="rId78"/>
    </p:embeddedFont>
    <p:embeddedFont>
      <p:font typeface="Roboto Slab" panose="020B0604020202020204" charset="0"/>
      <p:regular r:id="rId79"/>
      <p:bold r:id="rId80"/>
    </p:embeddedFont>
    <p:embeddedFont>
      <p:font typeface="Roboto Mono" panose="020B0604020202020204"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9" roundtripDataSignature="AMtx7mgaStinl0USKZePohloziD8O7V7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font" Target="fonts/font14.fntdata"/><Relationship Id="rId84" Type="http://schemas.openxmlformats.org/officeDocument/2006/relationships/font" Target="fonts/font30.fntdata"/><Relationship Id="rId89" Type="http://customschemas.google.com/relationships/presentationmetadata" Target="meta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4.fntdata"/><Relationship Id="rId74" Type="http://schemas.openxmlformats.org/officeDocument/2006/relationships/font" Target="fonts/font20.fntdata"/><Relationship Id="rId79" Type="http://schemas.openxmlformats.org/officeDocument/2006/relationships/font" Target="fonts/font25.fntdata"/><Relationship Id="rId5" Type="http://schemas.openxmlformats.org/officeDocument/2006/relationships/slide" Target="slides/slide4.xml"/><Relationship Id="rId90" Type="http://schemas.openxmlformats.org/officeDocument/2006/relationships/presProps" Target="pres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80" Type="http://schemas.openxmlformats.org/officeDocument/2006/relationships/font" Target="fonts/font26.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font" Target="fonts/font21.fntdata"/><Relationship Id="rId83" Type="http://schemas.openxmlformats.org/officeDocument/2006/relationships/font" Target="fonts/font29.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font" Target="fonts/font24.fntdata"/><Relationship Id="rId81" Type="http://schemas.openxmlformats.org/officeDocument/2006/relationships/font" Target="fonts/font2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 Id="rId76" Type="http://schemas.openxmlformats.org/officeDocument/2006/relationships/font" Target="fonts/font22.fntdata"/><Relationship Id="rId7" Type="http://schemas.openxmlformats.org/officeDocument/2006/relationships/slide" Target="slides/slide6.xml"/><Relationship Id="rId71" Type="http://schemas.openxmlformats.org/officeDocument/2006/relationships/font" Target="fonts/font17.fntdata"/><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2.fntdata"/><Relationship Id="rId61" Type="http://schemas.openxmlformats.org/officeDocument/2006/relationships/font" Target="fonts/font7.fntdata"/><Relationship Id="rId82" Type="http://schemas.openxmlformats.org/officeDocument/2006/relationships/font" Target="fonts/font28.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7678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04847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956693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666595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15b29ca9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15b29ca9c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551845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e103274ca6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e103274ca6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50835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601864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903887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25347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3664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974407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119879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159153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082533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e103274ca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e103274ca6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888471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e1936f3aa2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e1936f3aa2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93062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e1936f3aa2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e1936f3aa2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525625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e1936f3aa2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e1936f3aa2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63756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e1936f3aa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e1936f3aa2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23693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925575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571245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080912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23607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82010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e1936f3aa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e1936f3aa2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08933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252f61ac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e252f61ace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177086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252f61ac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e252f61ace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1234878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252f61ac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e252f61ace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704416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252f61ac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e252f61ace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79493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e1936f3aa2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e1936f3aa2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077847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355814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e252f61ac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e252f61ace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44762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ef0424f90f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ef0424f90f_0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499050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ecc571769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ecc5717692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49073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ecc5717692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ecc5717692_0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820492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ecc5717692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gecc5717692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37183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ecc5717692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ecc5717692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944497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ecc5717692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7" name="Google Shape;377;gecc5717692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849516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ecc571769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gecc5717692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2016963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ecc5717692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gecc5717692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762883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ecc5717692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ecc5717692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2686674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e252f61ac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e252f61ace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1850094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e252f61ac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e252f61ace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588080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e18596844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e185968441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285618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e18596844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e185968441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156505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e18596844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e185968441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8607460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e185968441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e185968441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5545999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e185968441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ge185968441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948892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ef0424f90f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ef0424f90f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6655885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ecc571769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ecc571769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00452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e1936f3aa2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e1936f3aa2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1883669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0" name="Google Shape;65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242271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ctrTitle"/>
          </p:nvPr>
        </p:nvSpPr>
        <p:spPr>
          <a:xfrm>
            <a:off x="1700185" y="1991850"/>
            <a:ext cx="5807400" cy="1159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800"/>
              <a:buNone/>
              <a:defRPr sz="5800" b="1"/>
            </a:lvl1pPr>
            <a:lvl2pPr lvl="1" algn="l">
              <a:lnSpc>
                <a:spcPct val="100000"/>
              </a:lnSpc>
              <a:spcBef>
                <a:spcPts val="0"/>
              </a:spcBef>
              <a:spcAft>
                <a:spcPts val="0"/>
              </a:spcAft>
              <a:buSzPts val="5800"/>
              <a:buNone/>
              <a:defRPr sz="5800" b="1"/>
            </a:lvl2pPr>
            <a:lvl3pPr lvl="2" algn="l">
              <a:lnSpc>
                <a:spcPct val="100000"/>
              </a:lnSpc>
              <a:spcBef>
                <a:spcPts val="0"/>
              </a:spcBef>
              <a:spcAft>
                <a:spcPts val="0"/>
              </a:spcAft>
              <a:buSzPts val="5800"/>
              <a:buNone/>
              <a:defRPr sz="5800" b="1"/>
            </a:lvl3pPr>
            <a:lvl4pPr lvl="3" algn="l">
              <a:lnSpc>
                <a:spcPct val="100000"/>
              </a:lnSpc>
              <a:spcBef>
                <a:spcPts val="0"/>
              </a:spcBef>
              <a:spcAft>
                <a:spcPts val="0"/>
              </a:spcAft>
              <a:buSzPts val="5800"/>
              <a:buNone/>
              <a:defRPr sz="5800" b="1"/>
            </a:lvl4pPr>
            <a:lvl5pPr lvl="4" algn="l">
              <a:lnSpc>
                <a:spcPct val="100000"/>
              </a:lnSpc>
              <a:spcBef>
                <a:spcPts val="0"/>
              </a:spcBef>
              <a:spcAft>
                <a:spcPts val="0"/>
              </a:spcAft>
              <a:buSzPts val="5800"/>
              <a:buNone/>
              <a:defRPr sz="5800" b="1"/>
            </a:lvl5pPr>
            <a:lvl6pPr lvl="5" algn="l">
              <a:lnSpc>
                <a:spcPct val="100000"/>
              </a:lnSpc>
              <a:spcBef>
                <a:spcPts val="0"/>
              </a:spcBef>
              <a:spcAft>
                <a:spcPts val="0"/>
              </a:spcAft>
              <a:buSzPts val="5800"/>
              <a:buNone/>
              <a:defRPr sz="5800" b="1"/>
            </a:lvl6pPr>
            <a:lvl7pPr lvl="6" algn="l">
              <a:lnSpc>
                <a:spcPct val="100000"/>
              </a:lnSpc>
              <a:spcBef>
                <a:spcPts val="0"/>
              </a:spcBef>
              <a:spcAft>
                <a:spcPts val="0"/>
              </a:spcAft>
              <a:buSzPts val="5800"/>
              <a:buNone/>
              <a:defRPr sz="5800" b="1"/>
            </a:lvl7pPr>
            <a:lvl8pPr lvl="7" algn="l">
              <a:lnSpc>
                <a:spcPct val="100000"/>
              </a:lnSpc>
              <a:spcBef>
                <a:spcPts val="0"/>
              </a:spcBef>
              <a:spcAft>
                <a:spcPts val="0"/>
              </a:spcAft>
              <a:buSzPts val="5800"/>
              <a:buNone/>
              <a:defRPr sz="5800" b="1"/>
            </a:lvl8pPr>
            <a:lvl9pPr lvl="8" algn="l">
              <a:lnSpc>
                <a:spcPct val="100000"/>
              </a:lnSpc>
              <a:spcBef>
                <a:spcPts val="0"/>
              </a:spcBef>
              <a:spcAft>
                <a:spcPts val="0"/>
              </a:spcAft>
              <a:buSzPts val="5800"/>
              <a:buNone/>
              <a:defRPr sz="5800" b="1"/>
            </a:lvl9pPr>
          </a:lstStyle>
          <a:p>
            <a:endParaRPr/>
          </a:p>
        </p:txBody>
      </p:sp>
      <p:sp>
        <p:nvSpPr>
          <p:cNvPr id="11" name="Google Shape;11;p4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4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4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6"/>
        <p:cNvGrpSpPr/>
        <p:nvPr/>
      </p:nvGrpSpPr>
      <p:grpSpPr>
        <a:xfrm>
          <a:off x="0" y="0"/>
          <a:ext cx="0" cy="0"/>
          <a:chOff x="0" y="0"/>
          <a:chExt cx="0" cy="0"/>
        </a:xfrm>
      </p:grpSpPr>
      <p:sp>
        <p:nvSpPr>
          <p:cNvPr id="27" name="Google Shape;27;p43"/>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a:p>
        </p:txBody>
      </p:sp>
      <p:sp>
        <p:nvSpPr>
          <p:cNvPr id="28" name="Google Shape;28;p43"/>
          <p:cNvSpPr txBox="1">
            <a:spLocks noGrp="1"/>
          </p:cNvSpPr>
          <p:nvPr>
            <p:ph type="body" idx="1"/>
          </p:nvPr>
        </p:nvSpPr>
        <p:spPr>
          <a:xfrm>
            <a:off x="786137" y="1200150"/>
            <a:ext cx="3675300" cy="37257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600"/>
              </a:spcBef>
              <a:spcAft>
                <a:spcPts val="0"/>
              </a:spcAft>
              <a:buSzPts val="2000"/>
              <a:buChar char="◎"/>
              <a:defRPr sz="2000"/>
            </a:lvl1pPr>
            <a:lvl2pPr marL="914400" lvl="1" indent="-355600" algn="l">
              <a:lnSpc>
                <a:spcPct val="100000"/>
              </a:lnSpc>
              <a:spcBef>
                <a:spcPts val="0"/>
              </a:spcBef>
              <a:spcAft>
                <a:spcPts val="0"/>
              </a:spcAft>
              <a:buSzPts val="2000"/>
              <a:buChar char="○"/>
              <a:defRPr sz="2000"/>
            </a:lvl2pPr>
            <a:lvl3pPr marL="1371600" lvl="2" indent="-355600" algn="l">
              <a:lnSpc>
                <a:spcPct val="100000"/>
              </a:lnSpc>
              <a:spcBef>
                <a:spcPts val="0"/>
              </a:spcBef>
              <a:spcAft>
                <a:spcPts val="0"/>
              </a:spcAft>
              <a:buSzPts val="2000"/>
              <a:buChar char="◉"/>
              <a:defRPr sz="2000"/>
            </a:lvl3pPr>
            <a:lvl4pPr marL="1828800" lvl="3" indent="-355600" algn="l">
              <a:lnSpc>
                <a:spcPct val="100000"/>
              </a:lnSpc>
              <a:spcBef>
                <a:spcPts val="0"/>
              </a:spcBef>
              <a:spcAft>
                <a:spcPts val="0"/>
              </a:spcAft>
              <a:buSzPts val="2000"/>
              <a:buChar char="●"/>
              <a:defRPr sz="2000"/>
            </a:lvl4pPr>
            <a:lvl5pPr marL="2286000" lvl="4" indent="-355600" algn="l">
              <a:lnSpc>
                <a:spcPct val="100000"/>
              </a:lnSpc>
              <a:spcBef>
                <a:spcPts val="0"/>
              </a:spcBef>
              <a:spcAft>
                <a:spcPts val="0"/>
              </a:spcAft>
              <a:buSzPts val="2000"/>
              <a:buChar char="○"/>
              <a:defRPr sz="2000"/>
            </a:lvl5pPr>
            <a:lvl6pPr marL="2743200" lvl="5" indent="-355600" algn="l">
              <a:lnSpc>
                <a:spcPct val="100000"/>
              </a:lnSpc>
              <a:spcBef>
                <a:spcPts val="0"/>
              </a:spcBef>
              <a:spcAft>
                <a:spcPts val="0"/>
              </a:spcAft>
              <a:buSzPts val="2000"/>
              <a:buChar char="■"/>
              <a:defRPr sz="2000"/>
            </a:lvl6pPr>
            <a:lvl7pPr marL="3200400" lvl="6" indent="-355600" algn="l">
              <a:lnSpc>
                <a:spcPct val="100000"/>
              </a:lnSpc>
              <a:spcBef>
                <a:spcPts val="0"/>
              </a:spcBef>
              <a:spcAft>
                <a:spcPts val="0"/>
              </a:spcAft>
              <a:buSzPts val="2000"/>
              <a:buChar char="●"/>
              <a:defRPr sz="2000"/>
            </a:lvl7pPr>
            <a:lvl8pPr marL="3657600" lvl="7" indent="-355600" algn="l">
              <a:lnSpc>
                <a:spcPct val="100000"/>
              </a:lnSpc>
              <a:spcBef>
                <a:spcPts val="0"/>
              </a:spcBef>
              <a:spcAft>
                <a:spcPts val="0"/>
              </a:spcAft>
              <a:buSzPts val="2000"/>
              <a:buChar char="○"/>
              <a:defRPr sz="2000"/>
            </a:lvl8pPr>
            <a:lvl9pPr marL="4114800" lvl="8" indent="-355600" algn="l">
              <a:lnSpc>
                <a:spcPct val="100000"/>
              </a:lnSpc>
              <a:spcBef>
                <a:spcPts val="0"/>
              </a:spcBef>
              <a:spcAft>
                <a:spcPts val="0"/>
              </a:spcAft>
              <a:buSzPts val="2000"/>
              <a:buChar char="■"/>
              <a:defRPr sz="2000"/>
            </a:lvl9pPr>
          </a:lstStyle>
          <a:p>
            <a:endParaRPr/>
          </a:p>
        </p:txBody>
      </p:sp>
      <p:sp>
        <p:nvSpPr>
          <p:cNvPr id="29" name="Google Shape;29;p43"/>
          <p:cNvSpPr txBox="1">
            <a:spLocks noGrp="1"/>
          </p:cNvSpPr>
          <p:nvPr>
            <p:ph type="body" idx="2"/>
          </p:nvPr>
        </p:nvSpPr>
        <p:spPr>
          <a:xfrm>
            <a:off x="4682659" y="1200150"/>
            <a:ext cx="3675300" cy="37257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600"/>
              </a:spcBef>
              <a:spcAft>
                <a:spcPts val="0"/>
              </a:spcAft>
              <a:buSzPts val="2000"/>
              <a:buChar char="◎"/>
              <a:defRPr sz="2000"/>
            </a:lvl1pPr>
            <a:lvl2pPr marL="914400" lvl="1" indent="-355600" algn="l">
              <a:lnSpc>
                <a:spcPct val="100000"/>
              </a:lnSpc>
              <a:spcBef>
                <a:spcPts val="0"/>
              </a:spcBef>
              <a:spcAft>
                <a:spcPts val="0"/>
              </a:spcAft>
              <a:buSzPts val="2000"/>
              <a:buChar char="○"/>
              <a:defRPr sz="2000"/>
            </a:lvl2pPr>
            <a:lvl3pPr marL="1371600" lvl="2" indent="-355600" algn="l">
              <a:lnSpc>
                <a:spcPct val="100000"/>
              </a:lnSpc>
              <a:spcBef>
                <a:spcPts val="0"/>
              </a:spcBef>
              <a:spcAft>
                <a:spcPts val="0"/>
              </a:spcAft>
              <a:buSzPts val="2000"/>
              <a:buChar char="◉"/>
              <a:defRPr sz="2000"/>
            </a:lvl3pPr>
            <a:lvl4pPr marL="1828800" lvl="3" indent="-355600" algn="l">
              <a:lnSpc>
                <a:spcPct val="100000"/>
              </a:lnSpc>
              <a:spcBef>
                <a:spcPts val="0"/>
              </a:spcBef>
              <a:spcAft>
                <a:spcPts val="0"/>
              </a:spcAft>
              <a:buSzPts val="2000"/>
              <a:buChar char="●"/>
              <a:defRPr sz="2000"/>
            </a:lvl4pPr>
            <a:lvl5pPr marL="2286000" lvl="4" indent="-355600" algn="l">
              <a:lnSpc>
                <a:spcPct val="100000"/>
              </a:lnSpc>
              <a:spcBef>
                <a:spcPts val="0"/>
              </a:spcBef>
              <a:spcAft>
                <a:spcPts val="0"/>
              </a:spcAft>
              <a:buSzPts val="2000"/>
              <a:buChar char="○"/>
              <a:defRPr sz="2000"/>
            </a:lvl5pPr>
            <a:lvl6pPr marL="2743200" lvl="5" indent="-355600" algn="l">
              <a:lnSpc>
                <a:spcPct val="100000"/>
              </a:lnSpc>
              <a:spcBef>
                <a:spcPts val="0"/>
              </a:spcBef>
              <a:spcAft>
                <a:spcPts val="0"/>
              </a:spcAft>
              <a:buSzPts val="2000"/>
              <a:buChar char="■"/>
              <a:defRPr sz="2000"/>
            </a:lvl6pPr>
            <a:lvl7pPr marL="3200400" lvl="6" indent="-355600" algn="l">
              <a:lnSpc>
                <a:spcPct val="100000"/>
              </a:lnSpc>
              <a:spcBef>
                <a:spcPts val="0"/>
              </a:spcBef>
              <a:spcAft>
                <a:spcPts val="0"/>
              </a:spcAft>
              <a:buSzPts val="2000"/>
              <a:buChar char="●"/>
              <a:defRPr sz="2000"/>
            </a:lvl7pPr>
            <a:lvl8pPr marL="3657600" lvl="7" indent="-355600" algn="l">
              <a:lnSpc>
                <a:spcPct val="100000"/>
              </a:lnSpc>
              <a:spcBef>
                <a:spcPts val="0"/>
              </a:spcBef>
              <a:spcAft>
                <a:spcPts val="0"/>
              </a:spcAft>
              <a:buSzPts val="2000"/>
              <a:buChar char="○"/>
              <a:defRPr sz="2000"/>
            </a:lvl8pPr>
            <a:lvl9pPr marL="4114800" lvl="8" indent="-355600" algn="l">
              <a:lnSpc>
                <a:spcPct val="100000"/>
              </a:lnSpc>
              <a:spcBef>
                <a:spcPts val="0"/>
              </a:spcBef>
              <a:spcAft>
                <a:spcPts val="0"/>
              </a:spcAft>
              <a:buSzPts val="2000"/>
              <a:buChar char="■"/>
              <a:defRPr sz="2000"/>
            </a:lvl9pPr>
          </a:lstStyle>
          <a:p>
            <a:endParaRPr/>
          </a:p>
        </p:txBody>
      </p:sp>
      <p:sp>
        <p:nvSpPr>
          <p:cNvPr id="30" name="Google Shape;30;p43"/>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5"/>
          <p:cNvSpPr txBox="1">
            <a:spLocks noGrp="1"/>
          </p:cNvSpPr>
          <p:nvPr>
            <p:ph type="ctrTitle"/>
          </p:nvPr>
        </p:nvSpPr>
        <p:spPr>
          <a:xfrm>
            <a:off x="1546025" y="1754794"/>
            <a:ext cx="58326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400"/>
              <a:buNone/>
              <a:defRPr sz="4400" b="1"/>
            </a:lvl1pPr>
            <a:lvl2pPr lvl="1" algn="l">
              <a:lnSpc>
                <a:spcPct val="100000"/>
              </a:lnSpc>
              <a:spcBef>
                <a:spcPts val="0"/>
              </a:spcBef>
              <a:spcAft>
                <a:spcPts val="0"/>
              </a:spcAft>
              <a:buSzPts val="4400"/>
              <a:buNone/>
              <a:defRPr sz="4400" b="1"/>
            </a:lvl2pPr>
            <a:lvl3pPr lvl="2" algn="l">
              <a:lnSpc>
                <a:spcPct val="100000"/>
              </a:lnSpc>
              <a:spcBef>
                <a:spcPts val="0"/>
              </a:spcBef>
              <a:spcAft>
                <a:spcPts val="0"/>
              </a:spcAft>
              <a:buSzPts val="4400"/>
              <a:buNone/>
              <a:defRPr sz="4400" b="1"/>
            </a:lvl3pPr>
            <a:lvl4pPr lvl="3" algn="l">
              <a:lnSpc>
                <a:spcPct val="100000"/>
              </a:lnSpc>
              <a:spcBef>
                <a:spcPts val="0"/>
              </a:spcBef>
              <a:spcAft>
                <a:spcPts val="0"/>
              </a:spcAft>
              <a:buSzPts val="4400"/>
              <a:buNone/>
              <a:defRPr sz="4400" b="1"/>
            </a:lvl4pPr>
            <a:lvl5pPr lvl="4" algn="l">
              <a:lnSpc>
                <a:spcPct val="100000"/>
              </a:lnSpc>
              <a:spcBef>
                <a:spcPts val="0"/>
              </a:spcBef>
              <a:spcAft>
                <a:spcPts val="0"/>
              </a:spcAft>
              <a:buSzPts val="4400"/>
              <a:buNone/>
              <a:defRPr sz="4400" b="1"/>
            </a:lvl5pPr>
            <a:lvl6pPr lvl="5" algn="l">
              <a:lnSpc>
                <a:spcPct val="100000"/>
              </a:lnSpc>
              <a:spcBef>
                <a:spcPts val="0"/>
              </a:spcBef>
              <a:spcAft>
                <a:spcPts val="0"/>
              </a:spcAft>
              <a:buSzPts val="4400"/>
              <a:buNone/>
              <a:defRPr sz="4400" b="1"/>
            </a:lvl6pPr>
            <a:lvl7pPr lvl="6" algn="l">
              <a:lnSpc>
                <a:spcPct val="100000"/>
              </a:lnSpc>
              <a:spcBef>
                <a:spcPts val="0"/>
              </a:spcBef>
              <a:spcAft>
                <a:spcPts val="0"/>
              </a:spcAft>
              <a:buSzPts val="4400"/>
              <a:buNone/>
              <a:defRPr sz="4400" b="1"/>
            </a:lvl7pPr>
            <a:lvl8pPr lvl="7" algn="l">
              <a:lnSpc>
                <a:spcPct val="100000"/>
              </a:lnSpc>
              <a:spcBef>
                <a:spcPts val="0"/>
              </a:spcBef>
              <a:spcAft>
                <a:spcPts val="0"/>
              </a:spcAft>
              <a:buSzPts val="4400"/>
              <a:buNone/>
              <a:defRPr sz="4400" b="1"/>
            </a:lvl8pPr>
            <a:lvl9pPr lvl="8" algn="l">
              <a:lnSpc>
                <a:spcPct val="100000"/>
              </a:lnSpc>
              <a:spcBef>
                <a:spcPts val="0"/>
              </a:spcBef>
              <a:spcAft>
                <a:spcPts val="0"/>
              </a:spcAft>
              <a:buSzPts val="4400"/>
              <a:buNone/>
              <a:defRPr sz="4400" b="1"/>
            </a:lvl9pPr>
          </a:lstStyle>
          <a:p>
            <a:endParaRPr/>
          </a:p>
        </p:txBody>
      </p:sp>
      <p:sp>
        <p:nvSpPr>
          <p:cNvPr id="33" name="Google Shape;33;p45"/>
          <p:cNvSpPr txBox="1">
            <a:spLocks noGrp="1"/>
          </p:cNvSpPr>
          <p:nvPr>
            <p:ph type="subTitle" idx="1"/>
          </p:nvPr>
        </p:nvSpPr>
        <p:spPr>
          <a:xfrm>
            <a:off x="1546025" y="3011511"/>
            <a:ext cx="5832600" cy="7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3"/>
              </a:buClr>
              <a:buSzPts val="3000"/>
              <a:buNone/>
              <a:defRPr>
                <a:solidFill>
                  <a:schemeClr val="accent3"/>
                </a:solidFill>
              </a:defRPr>
            </a:lvl1pPr>
            <a:lvl2pPr lvl="1" algn="l">
              <a:lnSpc>
                <a:spcPct val="100000"/>
              </a:lnSpc>
              <a:spcBef>
                <a:spcPts val="0"/>
              </a:spcBef>
              <a:spcAft>
                <a:spcPts val="0"/>
              </a:spcAft>
              <a:buClr>
                <a:schemeClr val="accent3"/>
              </a:buClr>
              <a:buSzPts val="3000"/>
              <a:buNone/>
              <a:defRPr sz="3000">
                <a:solidFill>
                  <a:schemeClr val="accent3"/>
                </a:solidFill>
              </a:defRPr>
            </a:lvl2pPr>
            <a:lvl3pPr lvl="2" algn="l">
              <a:lnSpc>
                <a:spcPct val="100000"/>
              </a:lnSpc>
              <a:spcBef>
                <a:spcPts val="0"/>
              </a:spcBef>
              <a:spcAft>
                <a:spcPts val="0"/>
              </a:spcAft>
              <a:buClr>
                <a:schemeClr val="accent3"/>
              </a:buClr>
              <a:buSzPts val="3000"/>
              <a:buNone/>
              <a:defRPr sz="3000">
                <a:solidFill>
                  <a:schemeClr val="accent3"/>
                </a:solidFill>
              </a:defRPr>
            </a:lvl3pPr>
            <a:lvl4pPr lvl="3" algn="l">
              <a:lnSpc>
                <a:spcPct val="100000"/>
              </a:lnSpc>
              <a:spcBef>
                <a:spcPts val="0"/>
              </a:spcBef>
              <a:spcAft>
                <a:spcPts val="0"/>
              </a:spcAft>
              <a:buClr>
                <a:schemeClr val="accent3"/>
              </a:buClr>
              <a:buSzPts val="3000"/>
              <a:buNone/>
              <a:defRPr sz="3000">
                <a:solidFill>
                  <a:schemeClr val="accent3"/>
                </a:solidFill>
              </a:defRPr>
            </a:lvl4pPr>
            <a:lvl5pPr lvl="4" algn="l">
              <a:lnSpc>
                <a:spcPct val="100000"/>
              </a:lnSpc>
              <a:spcBef>
                <a:spcPts val="0"/>
              </a:spcBef>
              <a:spcAft>
                <a:spcPts val="0"/>
              </a:spcAft>
              <a:buClr>
                <a:schemeClr val="accent3"/>
              </a:buClr>
              <a:buSzPts val="3000"/>
              <a:buNone/>
              <a:defRPr sz="3000">
                <a:solidFill>
                  <a:schemeClr val="accent3"/>
                </a:solidFill>
              </a:defRPr>
            </a:lvl5pPr>
            <a:lvl6pPr lvl="5" algn="l">
              <a:lnSpc>
                <a:spcPct val="100000"/>
              </a:lnSpc>
              <a:spcBef>
                <a:spcPts val="0"/>
              </a:spcBef>
              <a:spcAft>
                <a:spcPts val="0"/>
              </a:spcAft>
              <a:buClr>
                <a:schemeClr val="accent3"/>
              </a:buClr>
              <a:buSzPts val="3000"/>
              <a:buNone/>
              <a:defRPr sz="3000">
                <a:solidFill>
                  <a:schemeClr val="accent3"/>
                </a:solidFill>
              </a:defRPr>
            </a:lvl6pPr>
            <a:lvl7pPr lvl="6" algn="l">
              <a:lnSpc>
                <a:spcPct val="100000"/>
              </a:lnSpc>
              <a:spcBef>
                <a:spcPts val="0"/>
              </a:spcBef>
              <a:spcAft>
                <a:spcPts val="0"/>
              </a:spcAft>
              <a:buClr>
                <a:schemeClr val="accent3"/>
              </a:buClr>
              <a:buSzPts val="3000"/>
              <a:buNone/>
              <a:defRPr sz="3000">
                <a:solidFill>
                  <a:schemeClr val="accent3"/>
                </a:solidFill>
              </a:defRPr>
            </a:lvl7pPr>
            <a:lvl8pPr lvl="7" algn="l">
              <a:lnSpc>
                <a:spcPct val="100000"/>
              </a:lnSpc>
              <a:spcBef>
                <a:spcPts val="0"/>
              </a:spcBef>
              <a:spcAft>
                <a:spcPts val="0"/>
              </a:spcAft>
              <a:buClr>
                <a:schemeClr val="accent3"/>
              </a:buClr>
              <a:buSzPts val="3000"/>
              <a:buNone/>
              <a:defRPr sz="3000">
                <a:solidFill>
                  <a:schemeClr val="accent3"/>
                </a:solidFill>
              </a:defRPr>
            </a:lvl8pPr>
            <a:lvl9pPr lvl="8" algn="l">
              <a:lnSpc>
                <a:spcPct val="100000"/>
              </a:lnSpc>
              <a:spcBef>
                <a:spcPts val="0"/>
              </a:spcBef>
              <a:spcAft>
                <a:spcPts val="0"/>
              </a:spcAft>
              <a:buClr>
                <a:schemeClr val="accent3"/>
              </a:buClr>
              <a:buSzPts val="3000"/>
              <a:buNone/>
              <a:defRPr sz="3000">
                <a:solidFill>
                  <a:schemeClr val="accent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4"/>
        <p:cNvGrpSpPr/>
        <p:nvPr/>
      </p:nvGrpSpPr>
      <p:grpSpPr>
        <a:xfrm>
          <a:off x="0" y="0"/>
          <a:ext cx="0" cy="0"/>
          <a:chOff x="0" y="0"/>
          <a:chExt cx="0" cy="0"/>
        </a:xfrm>
      </p:grpSpPr>
      <p:sp>
        <p:nvSpPr>
          <p:cNvPr id="35" name="Google Shape;35;p47"/>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a:p>
        </p:txBody>
      </p:sp>
      <p:sp>
        <p:nvSpPr>
          <p:cNvPr id="36" name="Google Shape;36;p47"/>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600"/>
              </a:spcBef>
              <a:spcAft>
                <a:spcPts val="0"/>
              </a:spcAft>
              <a:buSzPts val="2400"/>
              <a:buChar char="◎"/>
              <a:defRPr sz="2400"/>
            </a:lvl1pPr>
            <a:lvl2pPr marL="914400" lvl="1" indent="-381000" algn="l">
              <a:lnSpc>
                <a:spcPct val="100000"/>
              </a:lnSpc>
              <a:spcBef>
                <a:spcPts val="0"/>
              </a:spcBef>
              <a:spcAft>
                <a:spcPts val="0"/>
              </a:spcAft>
              <a:buSzPts val="2400"/>
              <a:buChar char="○"/>
              <a:defRPr/>
            </a:lvl2pPr>
            <a:lvl3pPr marL="1371600" lvl="2" indent="-381000" algn="l">
              <a:lnSpc>
                <a:spcPct val="100000"/>
              </a:lnSpc>
              <a:spcBef>
                <a:spcPts val="0"/>
              </a:spcBef>
              <a:spcAft>
                <a:spcPts val="0"/>
              </a:spcAft>
              <a:buSzPts val="2400"/>
              <a:buChar char="◉"/>
              <a:defRPr/>
            </a:lvl3pPr>
            <a:lvl4pPr marL="1828800" lvl="3" indent="-381000" algn="l">
              <a:lnSpc>
                <a:spcPct val="100000"/>
              </a:lnSpc>
              <a:spcBef>
                <a:spcPts val="0"/>
              </a:spcBef>
              <a:spcAft>
                <a:spcPts val="0"/>
              </a:spcAft>
              <a:buSzPts val="2400"/>
              <a:buChar char="●"/>
              <a:defRPr sz="2400"/>
            </a:lvl4pPr>
            <a:lvl5pPr marL="2286000" lvl="4" indent="-381000" algn="l">
              <a:lnSpc>
                <a:spcPct val="100000"/>
              </a:lnSpc>
              <a:spcBef>
                <a:spcPts val="0"/>
              </a:spcBef>
              <a:spcAft>
                <a:spcPts val="0"/>
              </a:spcAft>
              <a:buSzPts val="2400"/>
              <a:buChar char="○"/>
              <a:defRPr sz="2400"/>
            </a:lvl5pPr>
            <a:lvl6pPr marL="2743200" lvl="5" indent="-381000" algn="l">
              <a:lnSpc>
                <a:spcPct val="100000"/>
              </a:lnSpc>
              <a:spcBef>
                <a:spcPts val="0"/>
              </a:spcBef>
              <a:spcAft>
                <a:spcPts val="0"/>
              </a:spcAft>
              <a:buSzPts val="2400"/>
              <a:buChar char="■"/>
              <a:defRPr sz="2400"/>
            </a:lvl6pPr>
            <a:lvl7pPr marL="3200400" lvl="6" indent="-381000" algn="l">
              <a:lnSpc>
                <a:spcPct val="100000"/>
              </a:lnSpc>
              <a:spcBef>
                <a:spcPts val="0"/>
              </a:spcBef>
              <a:spcAft>
                <a:spcPts val="0"/>
              </a:spcAft>
              <a:buSzPts val="2400"/>
              <a:buChar char="●"/>
              <a:defRPr sz="2400"/>
            </a:lvl7pPr>
            <a:lvl8pPr marL="3657600" lvl="7" indent="-381000" algn="l">
              <a:lnSpc>
                <a:spcPct val="100000"/>
              </a:lnSpc>
              <a:spcBef>
                <a:spcPts val="0"/>
              </a:spcBef>
              <a:spcAft>
                <a:spcPts val="0"/>
              </a:spcAft>
              <a:buSzPts val="2400"/>
              <a:buChar char="○"/>
              <a:defRPr sz="2400"/>
            </a:lvl8pPr>
            <a:lvl9pPr marL="4114800" lvl="8" indent="-381000" algn="l">
              <a:lnSpc>
                <a:spcPct val="100000"/>
              </a:lnSpc>
              <a:spcBef>
                <a:spcPts val="0"/>
              </a:spcBef>
              <a:spcAft>
                <a:spcPts val="0"/>
              </a:spcAft>
              <a:buSzPts val="2400"/>
              <a:buChar char="■"/>
              <a:defRPr sz="2400"/>
            </a:lvl9pPr>
          </a:lstStyle>
          <a:p>
            <a:endParaRPr/>
          </a:p>
        </p:txBody>
      </p:sp>
      <p:sp>
        <p:nvSpPr>
          <p:cNvPr id="37" name="Google Shape;37;p4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4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50"/>
          <p:cNvSpPr/>
          <p:nvPr/>
        </p:nvSpPr>
        <p:spPr>
          <a:xfrm>
            <a:off x="-26550" y="-14850"/>
            <a:ext cx="9197100" cy="5173200"/>
          </a:xfrm>
          <a:prstGeom prst="rect">
            <a:avLst/>
          </a:prstGeom>
          <a:solidFill>
            <a:srgbClr val="CFD8DC">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46"/>
        <p:cNvGrpSpPr/>
        <p:nvPr/>
      </p:nvGrpSpPr>
      <p:grpSpPr>
        <a:xfrm>
          <a:off x="0" y="0"/>
          <a:ext cx="0" cy="0"/>
          <a:chOff x="0" y="0"/>
          <a:chExt cx="0" cy="0"/>
        </a:xfrm>
      </p:grpSpPr>
      <p:pic>
        <p:nvPicPr>
          <p:cNvPr id="47" name="Google Shape;47;p46"/>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48" name="Google Shape;48;p46"/>
          <p:cNvSpPr txBox="1">
            <a:spLocks noGrp="1"/>
          </p:cNvSpPr>
          <p:nvPr>
            <p:ph type="body" idx="1"/>
          </p:nvPr>
        </p:nvSpPr>
        <p:spPr>
          <a:xfrm>
            <a:off x="1215300" y="1723650"/>
            <a:ext cx="6713400" cy="819900"/>
          </a:xfrm>
          <a:prstGeom prst="rect">
            <a:avLst/>
          </a:prstGeom>
          <a:noFill/>
          <a:ln>
            <a:noFill/>
          </a:ln>
        </p:spPr>
        <p:txBody>
          <a:bodyPr spcFirstLastPara="1" wrap="square" lIns="91425" tIns="91425" rIns="91425" bIns="91425" anchor="t" anchorCtr="0">
            <a:noAutofit/>
          </a:bodyPr>
          <a:lstStyle>
            <a:lvl1pPr marL="457200" lvl="0" indent="-457200" algn="ctr">
              <a:lnSpc>
                <a:spcPct val="100000"/>
              </a:lnSpc>
              <a:spcBef>
                <a:spcPts val="600"/>
              </a:spcBef>
              <a:spcAft>
                <a:spcPts val="0"/>
              </a:spcAft>
              <a:buClr>
                <a:schemeClr val="dk1"/>
              </a:buClr>
              <a:buSzPts val="3600"/>
              <a:buChar char="◎"/>
              <a:defRPr sz="3600" i="1"/>
            </a:lvl1pPr>
            <a:lvl2pPr marL="914400" lvl="1" indent="-457200" algn="ctr">
              <a:lnSpc>
                <a:spcPct val="100000"/>
              </a:lnSpc>
              <a:spcBef>
                <a:spcPts val="0"/>
              </a:spcBef>
              <a:spcAft>
                <a:spcPts val="0"/>
              </a:spcAft>
              <a:buClr>
                <a:schemeClr val="dk1"/>
              </a:buClr>
              <a:buSzPts val="3600"/>
              <a:buChar char="○"/>
              <a:defRPr sz="3600" i="1"/>
            </a:lvl2pPr>
            <a:lvl3pPr marL="1371600" lvl="2" indent="-457200" algn="ctr">
              <a:lnSpc>
                <a:spcPct val="100000"/>
              </a:lnSpc>
              <a:spcBef>
                <a:spcPts val="0"/>
              </a:spcBef>
              <a:spcAft>
                <a:spcPts val="0"/>
              </a:spcAft>
              <a:buClr>
                <a:schemeClr val="dk1"/>
              </a:buClr>
              <a:buSzPts val="3600"/>
              <a:buChar char="◉"/>
              <a:defRPr sz="3600" i="1"/>
            </a:lvl3pPr>
            <a:lvl4pPr marL="1828800" lvl="3" indent="-457200" algn="ctr">
              <a:lnSpc>
                <a:spcPct val="100000"/>
              </a:lnSpc>
              <a:spcBef>
                <a:spcPts val="0"/>
              </a:spcBef>
              <a:spcAft>
                <a:spcPts val="0"/>
              </a:spcAft>
              <a:buSzPts val="3600"/>
              <a:buChar char="●"/>
              <a:defRPr sz="3600" i="1"/>
            </a:lvl4pPr>
            <a:lvl5pPr marL="2286000" lvl="4" indent="-457200" algn="ctr">
              <a:lnSpc>
                <a:spcPct val="100000"/>
              </a:lnSpc>
              <a:spcBef>
                <a:spcPts val="0"/>
              </a:spcBef>
              <a:spcAft>
                <a:spcPts val="0"/>
              </a:spcAft>
              <a:buSzPts val="3600"/>
              <a:buChar char="○"/>
              <a:defRPr sz="3600" i="1"/>
            </a:lvl5pPr>
            <a:lvl6pPr marL="2743200" lvl="5" indent="-457200" algn="ctr">
              <a:lnSpc>
                <a:spcPct val="100000"/>
              </a:lnSpc>
              <a:spcBef>
                <a:spcPts val="0"/>
              </a:spcBef>
              <a:spcAft>
                <a:spcPts val="0"/>
              </a:spcAft>
              <a:buSzPts val="3600"/>
              <a:buChar char="■"/>
              <a:defRPr sz="3600" i="1"/>
            </a:lvl6pPr>
            <a:lvl7pPr marL="3200400" lvl="6" indent="-457200" algn="ctr">
              <a:lnSpc>
                <a:spcPct val="100000"/>
              </a:lnSpc>
              <a:spcBef>
                <a:spcPts val="0"/>
              </a:spcBef>
              <a:spcAft>
                <a:spcPts val="0"/>
              </a:spcAft>
              <a:buSzPts val="3600"/>
              <a:buChar char="●"/>
              <a:defRPr sz="3600" i="1"/>
            </a:lvl7pPr>
            <a:lvl8pPr marL="3657600" lvl="7" indent="-457200" algn="ctr">
              <a:lnSpc>
                <a:spcPct val="100000"/>
              </a:lnSpc>
              <a:spcBef>
                <a:spcPts val="0"/>
              </a:spcBef>
              <a:spcAft>
                <a:spcPts val="0"/>
              </a:spcAft>
              <a:buSzPts val="3600"/>
              <a:buChar char="○"/>
              <a:defRPr sz="3600" i="1"/>
            </a:lvl8pPr>
            <a:lvl9pPr marL="4114800" lvl="8" indent="-457200" algn="ctr">
              <a:lnSpc>
                <a:spcPct val="100000"/>
              </a:lnSpc>
              <a:spcBef>
                <a:spcPts val="0"/>
              </a:spcBef>
              <a:spcAft>
                <a:spcPts val="0"/>
              </a:spcAft>
              <a:buSzPts val="3600"/>
              <a:buChar char="■"/>
              <a:defRPr sz="3600" i="1"/>
            </a:lvl9pPr>
          </a:lstStyle>
          <a:p>
            <a:endParaRPr/>
          </a:p>
        </p:txBody>
      </p:sp>
      <p:grpSp>
        <p:nvGrpSpPr>
          <p:cNvPr id="49" name="Google Shape;49;p46"/>
          <p:cNvGrpSpPr/>
          <p:nvPr/>
        </p:nvGrpSpPr>
        <p:grpSpPr>
          <a:xfrm>
            <a:off x="3839646" y="782918"/>
            <a:ext cx="1464573" cy="842707"/>
            <a:chOff x="3593400" y="1729675"/>
            <a:chExt cx="1957200" cy="1123610"/>
          </a:xfrm>
        </p:grpSpPr>
        <p:sp>
          <p:nvSpPr>
            <p:cNvPr id="50" name="Google Shape;50;p46"/>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a:solidFill>
                    <a:schemeClr val="accent1"/>
                  </a:solidFill>
                  <a:latin typeface="Arial"/>
                  <a:ea typeface="Arial"/>
                  <a:cs typeface="Arial"/>
                  <a:sym typeface="Arial"/>
                </a:rPr>
                <a:t>“</a:t>
              </a:r>
              <a:endParaRPr sz="6000" b="1" i="0" u="none" strike="noStrike" cap="none">
                <a:solidFill>
                  <a:schemeClr val="accent1"/>
                </a:solidFill>
                <a:latin typeface="Arial"/>
                <a:ea typeface="Arial"/>
                <a:cs typeface="Arial"/>
                <a:sym typeface="Arial"/>
              </a:endParaRPr>
            </a:p>
          </p:txBody>
        </p:sp>
        <p:sp>
          <p:nvSpPr>
            <p:cNvPr id="51" name="Google Shape;51;p46"/>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6"/>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53" name="Google Shape;53;p46"/>
          <p:cNvCxnSpPr>
            <a:endCxn id="51" idx="1"/>
          </p:cNvCxnSpPr>
          <p:nvPr/>
        </p:nvCxnSpPr>
        <p:spPr>
          <a:xfrm>
            <a:off x="3750511" y="390297"/>
            <a:ext cx="532200" cy="535500"/>
          </a:xfrm>
          <a:prstGeom prst="straightConnector1">
            <a:avLst/>
          </a:prstGeom>
          <a:noFill/>
          <a:ln w="9525" cap="flat" cmpd="sng">
            <a:solidFill>
              <a:srgbClr val="CFD8DC"/>
            </a:solidFill>
            <a:prstDash val="solid"/>
            <a:round/>
            <a:headEnd type="none" w="sm" len="sm"/>
            <a:tailEnd type="none" w="sm" len="sm"/>
          </a:ln>
        </p:spPr>
      </p:cxnSp>
      <p:cxnSp>
        <p:nvCxnSpPr>
          <p:cNvPr id="54" name="Google Shape;54;p46"/>
          <p:cNvCxnSpPr/>
          <p:nvPr/>
        </p:nvCxnSpPr>
        <p:spPr>
          <a:xfrm rot="10800000">
            <a:off x="4362902" y="436125"/>
            <a:ext cx="209100" cy="369600"/>
          </a:xfrm>
          <a:prstGeom prst="straightConnector1">
            <a:avLst/>
          </a:prstGeom>
          <a:noFill/>
          <a:ln w="9525" cap="flat" cmpd="sng">
            <a:solidFill>
              <a:srgbClr val="CFD8DC"/>
            </a:solidFill>
            <a:prstDash val="solid"/>
            <a:round/>
            <a:headEnd type="none" w="sm" len="sm"/>
            <a:tailEnd type="none" w="sm" len="sm"/>
          </a:ln>
        </p:spPr>
      </p:cxnSp>
      <p:cxnSp>
        <p:nvCxnSpPr>
          <p:cNvPr id="55" name="Google Shape;55;p46"/>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sm" len="sm"/>
            <a:tailEnd type="none" w="sm" len="sm"/>
          </a:ln>
        </p:spPr>
      </p:cxnSp>
      <p:sp>
        <p:nvSpPr>
          <p:cNvPr id="56" name="Google Shape;56;p46"/>
          <p:cNvSpPr txBox="1">
            <a:spLocks noGrp="1"/>
          </p:cNvSpPr>
          <p:nvPr>
            <p:ph type="sldNum" idx="12"/>
          </p:nvPr>
        </p:nvSpPr>
        <p:spPr>
          <a:xfrm>
            <a:off x="-87"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57"/>
        <p:cNvGrpSpPr/>
        <p:nvPr/>
      </p:nvGrpSpPr>
      <p:grpSpPr>
        <a:xfrm>
          <a:off x="0" y="0"/>
          <a:ext cx="0" cy="0"/>
          <a:chOff x="0" y="0"/>
          <a:chExt cx="0" cy="0"/>
        </a:xfrm>
      </p:grpSpPr>
      <p:sp>
        <p:nvSpPr>
          <p:cNvPr id="58" name="Google Shape;58;p48"/>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a:p>
        </p:txBody>
      </p:sp>
      <p:sp>
        <p:nvSpPr>
          <p:cNvPr id="59" name="Google Shape;59;p48"/>
          <p:cNvSpPr txBox="1">
            <a:spLocks noGrp="1"/>
          </p:cNvSpPr>
          <p:nvPr>
            <p:ph type="body" idx="1"/>
          </p:nvPr>
        </p:nvSpPr>
        <p:spPr>
          <a:xfrm>
            <a:off x="786150"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0" name="Google Shape;60;p48"/>
          <p:cNvSpPr txBox="1">
            <a:spLocks noGrp="1"/>
          </p:cNvSpPr>
          <p:nvPr>
            <p:ph type="body" idx="2"/>
          </p:nvPr>
        </p:nvSpPr>
        <p:spPr>
          <a:xfrm>
            <a:off x="3329992"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1" name="Google Shape;61;p48"/>
          <p:cNvSpPr txBox="1">
            <a:spLocks noGrp="1"/>
          </p:cNvSpPr>
          <p:nvPr>
            <p:ph type="body" idx="3"/>
          </p:nvPr>
        </p:nvSpPr>
        <p:spPr>
          <a:xfrm>
            <a:off x="5873834"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a:p>
        </p:txBody>
      </p:sp>
      <p:sp>
        <p:nvSpPr>
          <p:cNvPr id="62" name="Google Shape;62;p4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1"/>
          <p:cNvSpPr txBox="1">
            <a:spLocks noGrp="1"/>
          </p:cNvSpPr>
          <p:nvPr>
            <p:ph type="body" idx="1"/>
          </p:nvPr>
        </p:nvSpPr>
        <p:spPr>
          <a:xfrm>
            <a:off x="457200" y="4055343"/>
            <a:ext cx="8229600" cy="368700"/>
          </a:xfrm>
          <a:prstGeom prst="rect">
            <a:avLst/>
          </a:prstGeom>
          <a:noFill/>
          <a:ln>
            <a:noFill/>
          </a:ln>
        </p:spPr>
        <p:txBody>
          <a:bodyPr spcFirstLastPara="1" wrap="square" lIns="91425" tIns="91425" rIns="91425" bIns="91425" anchor="t" anchorCtr="0">
            <a:noAutofit/>
          </a:bodyPr>
          <a:lstStyle>
            <a:lvl1pPr marL="457200" lvl="0" indent="-228600" algn="ctr">
              <a:lnSpc>
                <a:spcPct val="100000"/>
              </a:lnSpc>
              <a:spcBef>
                <a:spcPts val="360"/>
              </a:spcBef>
              <a:spcAft>
                <a:spcPts val="0"/>
              </a:spcAft>
              <a:buSzPts val="1800"/>
              <a:buNone/>
              <a:defRPr sz="1800"/>
            </a:lvl1pPr>
          </a:lstStyle>
          <a:p>
            <a:endParaRPr/>
          </a:p>
        </p:txBody>
      </p:sp>
      <p:sp>
        <p:nvSpPr>
          <p:cNvPr id="65" name="Google Shape;65;p51"/>
          <p:cNvSpPr txBox="1">
            <a:spLocks noGrp="1"/>
          </p:cNvSpPr>
          <p:nvPr>
            <p:ph type="sldNum" idx="12"/>
          </p:nvPr>
        </p:nvSpPr>
        <p:spPr>
          <a:xfrm>
            <a:off x="-92"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4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endParaRPr/>
          </a:p>
        </p:txBody>
      </p:sp>
      <p:sp>
        <p:nvSpPr>
          <p:cNvPr id="7" name="Google Shape;7;p4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marR="0" lvl="0" indent="-419100" algn="l" rtl="0">
              <a:lnSpc>
                <a:spcPct val="100000"/>
              </a:lnSpc>
              <a:spcBef>
                <a:spcPts val="600"/>
              </a:spcBef>
              <a:spcAft>
                <a:spcPts val="0"/>
              </a:spcAft>
              <a:buClr>
                <a:schemeClr val="accent4"/>
              </a:buClr>
              <a:buSzPts val="3000"/>
              <a:buFont typeface="Arial"/>
              <a:buChar char="◎"/>
              <a:defRPr sz="3000" b="0" i="0" u="none" strike="noStrike" cap="none">
                <a:solidFill>
                  <a:schemeClr val="dk1"/>
                </a:solidFill>
                <a:latin typeface="Arial"/>
                <a:ea typeface="Arial"/>
                <a:cs typeface="Arial"/>
                <a:sym typeface="Arial"/>
              </a:defRPr>
            </a:lvl1pPr>
            <a:lvl2pPr marL="914400" marR="0" lvl="1" indent="-381000" algn="l" rtl="0">
              <a:lnSpc>
                <a:spcPct val="100000"/>
              </a:lnSpc>
              <a:spcBef>
                <a:spcPts val="0"/>
              </a:spcBef>
              <a:spcAft>
                <a:spcPts val="0"/>
              </a:spcAft>
              <a:buClr>
                <a:schemeClr val="accent4"/>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81000" algn="l" rtl="0">
              <a:lnSpc>
                <a:spcPct val="100000"/>
              </a:lnSpc>
              <a:spcBef>
                <a:spcPts val="0"/>
              </a:spcBef>
              <a:spcAft>
                <a:spcPts val="0"/>
              </a:spcAft>
              <a:buClr>
                <a:schemeClr val="accent4"/>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hyperlink" Target="https://docs.github.com/en/github/authenticating-to-github/keeping-your-account-and-data-secure/creating-a-personal-access-token"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erkzeug.palletsprojects.com/en/1.0.x/datastructures/#werkzeug.datastructures.Authorization"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hyperlink" Target="http://example.com/',headers=header" TargetMode="External"/><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hyperlink" Target="http://example.com/',params=(%7b'api_key':api_key%7d)" TargetMode="External"/><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hyperlink" Target="http://example.com/',headers=header"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hyperlink" Target="http://example.com/',params=(%7b'api_key':api_key%7d)" TargetMode="External"/><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hyperlink" Target="http://example.com/',headers=header"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hyperlink" Target="https://www.linkedin.com/in/zainkhanln/" TargetMode="External"/><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ctrTitle"/>
          </p:nvPr>
        </p:nvSpPr>
        <p:spPr>
          <a:xfrm>
            <a:off x="1519199" y="1153650"/>
            <a:ext cx="6410400" cy="1159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800"/>
              <a:buNone/>
            </a:pPr>
            <a:r>
              <a:rPr lang="en"/>
              <a:t>Data Acquisition</a:t>
            </a:r>
            <a:endParaRPr/>
          </a:p>
        </p:txBody>
      </p:sp>
      <p:sp>
        <p:nvSpPr>
          <p:cNvPr id="71" name="Google Shape;71;p1"/>
          <p:cNvSpPr txBox="1"/>
          <p:nvPr/>
        </p:nvSpPr>
        <p:spPr>
          <a:xfrm>
            <a:off x="1497800" y="2400975"/>
            <a:ext cx="10659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chemeClr val="accent1"/>
                </a:solidFill>
                <a:latin typeface="Roboto Slab"/>
                <a:ea typeface="Roboto Slab"/>
                <a:cs typeface="Roboto Slab"/>
                <a:sym typeface="Roboto Slab"/>
              </a:rPr>
              <a:t>Week 2</a:t>
            </a:r>
            <a:endParaRPr sz="1800" b="1" i="0" u="none" strike="noStrike" cap="none">
              <a:solidFill>
                <a:schemeClr val="accent1"/>
              </a:solidFill>
              <a:latin typeface="Roboto Slab"/>
              <a:ea typeface="Roboto Slab"/>
              <a:cs typeface="Roboto Slab"/>
              <a:sym typeface="Roboto Slab"/>
            </a:endParaRPr>
          </a:p>
        </p:txBody>
      </p:sp>
      <p:sp>
        <p:nvSpPr>
          <p:cNvPr id="72" name="Google Shape;72;p1"/>
          <p:cNvSpPr txBox="1"/>
          <p:nvPr/>
        </p:nvSpPr>
        <p:spPr>
          <a:xfrm>
            <a:off x="1497800" y="2839625"/>
            <a:ext cx="5344800" cy="40007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accent1"/>
                </a:solidFill>
                <a:latin typeface="Arial"/>
                <a:ea typeface="Arial"/>
                <a:cs typeface="Arial"/>
                <a:sym typeface="Arial"/>
              </a:rPr>
              <a:t>Getting</a:t>
            </a:r>
            <a:r>
              <a:rPr lang="en" sz="1400" b="0" i="0" u="none" strike="noStrike" cap="none" dirty="0">
                <a:solidFill>
                  <a:srgbClr val="000000"/>
                </a:solidFill>
                <a:latin typeface="Arial"/>
                <a:ea typeface="Arial"/>
                <a:cs typeface="Arial"/>
                <a:sym typeface="Arial"/>
              </a:rPr>
              <a:t> </a:t>
            </a:r>
            <a:r>
              <a:rPr lang="en" sz="1400" b="1" i="0" u="none" strike="noStrike" cap="none" dirty="0">
                <a:solidFill>
                  <a:srgbClr val="000000"/>
                </a:solidFill>
                <a:latin typeface="Arial"/>
                <a:ea typeface="Arial"/>
                <a:cs typeface="Arial"/>
                <a:sym typeface="Arial"/>
              </a:rPr>
              <a:t>data</a:t>
            </a:r>
            <a:r>
              <a:rPr lang="en" sz="1400" b="0" i="0" u="none" strike="noStrike" cap="none" dirty="0">
                <a:solidFill>
                  <a:srgbClr val="000000"/>
                </a:solidFill>
                <a:latin typeface="Arial"/>
                <a:ea typeface="Arial"/>
                <a:cs typeface="Arial"/>
                <a:sym typeface="Arial"/>
              </a:rPr>
              <a:t> </a:t>
            </a:r>
            <a:r>
              <a:rPr lang="en" sz="1400" b="0" i="0" u="none" strike="noStrike" cap="none" dirty="0">
                <a:solidFill>
                  <a:schemeClr val="accent1"/>
                </a:solidFill>
                <a:latin typeface="Arial"/>
                <a:ea typeface="Arial"/>
                <a:cs typeface="Arial"/>
                <a:sym typeface="Arial"/>
              </a:rPr>
              <a:t>from different</a:t>
            </a:r>
            <a:r>
              <a:rPr lang="en" sz="1400" b="0" i="0" u="none" strike="noStrike" cap="none" dirty="0">
                <a:solidFill>
                  <a:srgbClr val="000000"/>
                </a:solidFill>
                <a:latin typeface="Arial"/>
                <a:ea typeface="Arial"/>
                <a:cs typeface="Arial"/>
                <a:sym typeface="Arial"/>
              </a:rPr>
              <a:t> </a:t>
            </a:r>
            <a:r>
              <a:rPr lang="en" sz="1400" b="1" i="0" u="none" strike="noStrike" cap="none" dirty="0" smtClean="0">
                <a:solidFill>
                  <a:srgbClr val="000000"/>
                </a:solidFill>
                <a:latin typeface="Arial"/>
                <a:ea typeface="Arial"/>
                <a:cs typeface="Arial"/>
                <a:sym typeface="Arial"/>
              </a:rPr>
              <a:t>sources</a:t>
            </a:r>
            <a:r>
              <a:rPr lang="en" sz="1400" b="0" i="0" u="none" strike="noStrike" cap="none" dirty="0" smtClean="0">
                <a:solidFill>
                  <a:srgbClr val="000000"/>
                </a:solidFill>
                <a:latin typeface="Arial"/>
                <a:ea typeface="Arial"/>
                <a:cs typeface="Arial"/>
                <a:sym typeface="Arial"/>
              </a:rPr>
              <a:t> </a:t>
            </a:r>
            <a:r>
              <a:rPr lang="en" sz="1400" b="0" i="0" u="none" strike="noStrike" cap="none" dirty="0">
                <a:solidFill>
                  <a:schemeClr val="accent1"/>
                </a:solidFill>
                <a:latin typeface="Arial"/>
                <a:ea typeface="Arial"/>
                <a:cs typeface="Arial"/>
                <a:sym typeface="Arial"/>
              </a:rPr>
              <a:t>using</a:t>
            </a:r>
            <a:r>
              <a:rPr lang="en" sz="1400" b="0" i="0" u="none" strike="noStrike" cap="none" dirty="0">
                <a:solidFill>
                  <a:srgbClr val="000000"/>
                </a:solidFill>
                <a:latin typeface="Arial"/>
                <a:ea typeface="Arial"/>
                <a:cs typeface="Arial"/>
                <a:sym typeface="Arial"/>
              </a:rPr>
              <a:t> </a:t>
            </a:r>
            <a:r>
              <a:rPr lang="en" sz="1400" b="1" i="0" u="none" strike="noStrike" cap="none" dirty="0" smtClean="0">
                <a:solidFill>
                  <a:srgbClr val="000000"/>
                </a:solidFill>
                <a:latin typeface="Arial"/>
                <a:ea typeface="Arial"/>
                <a:cs typeface="Arial"/>
                <a:sym typeface="Arial"/>
              </a:rPr>
              <a:t>api</a:t>
            </a: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4"/>
          <p:cNvSpPr txBox="1">
            <a:spLocks noGrp="1"/>
          </p:cNvSpPr>
          <p:nvPr>
            <p:ph type="ctrTitle"/>
          </p:nvPr>
        </p:nvSpPr>
        <p:spPr>
          <a:xfrm>
            <a:off x="1546025" y="1754794"/>
            <a:ext cx="58326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endParaRPr sz="6000" dirty="0">
              <a:solidFill>
                <a:schemeClr val="accent4"/>
              </a:solidFill>
            </a:endParaRPr>
          </a:p>
          <a:p>
            <a:pPr marL="0" lvl="0" indent="0" algn="l" rtl="0">
              <a:lnSpc>
                <a:spcPct val="100000"/>
              </a:lnSpc>
              <a:spcBef>
                <a:spcPts val="0"/>
              </a:spcBef>
              <a:spcAft>
                <a:spcPts val="0"/>
              </a:spcAft>
              <a:buSzPts val="4400"/>
              <a:buNone/>
            </a:pPr>
            <a:r>
              <a:rPr lang="en" sz="3600" dirty="0"/>
              <a:t>Application Programming Interface</a:t>
            </a:r>
            <a:endParaRPr sz="3600" dirty="0"/>
          </a:p>
        </p:txBody>
      </p:sp>
      <p:sp>
        <p:nvSpPr>
          <p:cNvPr id="85" name="Google Shape;85;p4"/>
          <p:cNvSpPr txBox="1">
            <a:spLocks noGrp="1"/>
          </p:cNvSpPr>
          <p:nvPr>
            <p:ph type="sldNum" idx="4294967295"/>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6"/>
          <p:cNvSpPr txBox="1">
            <a:spLocks noGrp="1"/>
          </p:cNvSpPr>
          <p:nvPr>
            <p:ph type="body" idx="1"/>
          </p:nvPr>
        </p:nvSpPr>
        <p:spPr>
          <a:xfrm>
            <a:off x="786150" y="1109300"/>
            <a:ext cx="7571700" cy="382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2400"/>
              <a:buNone/>
            </a:pPr>
            <a:r>
              <a:rPr lang="en" sz="2000" dirty="0"/>
              <a:t>To build </a:t>
            </a:r>
            <a:r>
              <a:rPr lang="en" sz="2000" b="1" dirty="0"/>
              <a:t>interactive</a:t>
            </a:r>
            <a:r>
              <a:rPr lang="en" sz="2000" dirty="0"/>
              <a:t> and </a:t>
            </a:r>
            <a:r>
              <a:rPr lang="en" sz="2000" b="1" dirty="0"/>
              <a:t>scalable</a:t>
            </a:r>
            <a:r>
              <a:rPr lang="en" sz="2000" dirty="0"/>
              <a:t> applications, it is natural for programs to be able to </a:t>
            </a:r>
            <a:r>
              <a:rPr lang="en" sz="2000" b="1" dirty="0"/>
              <a:t>communicate</a:t>
            </a:r>
            <a:r>
              <a:rPr lang="en" sz="2000" dirty="0"/>
              <a:t> with each other. An API is a set of rules to facilitate this communication between different programs</a:t>
            </a:r>
            <a:r>
              <a:rPr lang="en" sz="2000" dirty="0" smtClean="0"/>
              <a:t>.</a:t>
            </a:r>
          </a:p>
          <a:p>
            <a:pPr marL="0" lvl="0" indent="0" algn="l" rtl="0">
              <a:lnSpc>
                <a:spcPct val="100000"/>
              </a:lnSpc>
              <a:spcBef>
                <a:spcPts val="600"/>
              </a:spcBef>
              <a:spcAft>
                <a:spcPts val="0"/>
              </a:spcAft>
              <a:buSzPts val="2400"/>
              <a:buNone/>
            </a:pPr>
            <a:r>
              <a:rPr lang="en" sz="2000" dirty="0"/>
              <a:t/>
            </a:r>
            <a:br>
              <a:rPr lang="en" sz="2000" dirty="0"/>
            </a:br>
            <a:r>
              <a:rPr lang="en" sz="2000" dirty="0"/>
              <a:t>It is a server that you can use to retrieve and send data using code.</a:t>
            </a:r>
            <a:endParaRPr sz="2000" dirty="0"/>
          </a:p>
        </p:txBody>
      </p:sp>
      <p:sp>
        <p:nvSpPr>
          <p:cNvPr id="97" name="Google Shape;97;p6"/>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3000" b="1"/>
              <a:t>Introduction to API</a:t>
            </a:r>
            <a:endParaRPr sz="3000" b="1"/>
          </a:p>
        </p:txBody>
      </p:sp>
      <p:sp>
        <p:nvSpPr>
          <p:cNvPr id="98" name="Google Shape;98;p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15b29ca9c4_0_0"/>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3000" b="1"/>
              <a:t>Introduction to API</a:t>
            </a:r>
            <a:endParaRPr sz="3000" b="1"/>
          </a:p>
        </p:txBody>
      </p:sp>
      <p:sp>
        <p:nvSpPr>
          <p:cNvPr id="104" name="Google Shape;104;g115b29ca9c4_0_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a:t>
            </a:fld>
            <a:endParaRPr/>
          </a:p>
        </p:txBody>
      </p:sp>
      <p:sp>
        <p:nvSpPr>
          <p:cNvPr id="105" name="Google Shape;105;g115b29ca9c4_0_0"/>
          <p:cNvSpPr txBox="1">
            <a:spLocks noGrp="1"/>
          </p:cNvSpPr>
          <p:nvPr>
            <p:ph type="body" idx="1"/>
          </p:nvPr>
        </p:nvSpPr>
        <p:spPr>
          <a:xfrm>
            <a:off x="786150" y="1109300"/>
            <a:ext cx="7571700" cy="382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2400"/>
              <a:buNone/>
            </a:pPr>
            <a:r>
              <a:rPr lang="en" sz="2000"/>
              <a:t>A web API allows for information or functionality to be manipulated by other programs via the internet. For example, with Twitter’s web API, you can write a program in a language like Python or Javascript that can perform tasks such as favoriting tweets or collecting tweet metadata.</a:t>
            </a:r>
            <a:endParaRPr sz="2000"/>
          </a:p>
          <a:p>
            <a:pPr marL="0" lvl="0" indent="0" algn="l" rtl="0">
              <a:lnSpc>
                <a:spcPct val="100000"/>
              </a:lnSpc>
              <a:spcBef>
                <a:spcPts val="600"/>
              </a:spcBef>
              <a:spcAft>
                <a:spcPts val="0"/>
              </a:spcAft>
              <a:buSzPts val="2400"/>
              <a:buNone/>
            </a:pP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e103274ca6_0_27"/>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 sz="3000" b="1"/>
              <a:t>APIs real life examples</a:t>
            </a:r>
            <a:endParaRPr sz="3000" b="1"/>
          </a:p>
        </p:txBody>
      </p:sp>
      <p:sp>
        <p:nvSpPr>
          <p:cNvPr id="111" name="Google Shape;111;ge103274ca6_0_27"/>
          <p:cNvSpPr txBox="1">
            <a:spLocks noGrp="1"/>
          </p:cNvSpPr>
          <p:nvPr>
            <p:ph type="body" idx="1"/>
          </p:nvPr>
        </p:nvSpPr>
        <p:spPr>
          <a:xfrm>
            <a:off x="786150" y="1109300"/>
            <a:ext cx="7571700" cy="38283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600"/>
              </a:spcBef>
              <a:spcAft>
                <a:spcPts val="0"/>
              </a:spcAft>
              <a:buClr>
                <a:schemeClr val="dk1"/>
              </a:buClr>
              <a:buSzPts val="2400"/>
              <a:buChar char="●"/>
            </a:pPr>
            <a:r>
              <a:rPr lang="en"/>
              <a:t>Log-in Using facebook/google</a:t>
            </a:r>
            <a:endParaRPr/>
          </a:p>
          <a:p>
            <a:pPr marL="457200" lvl="0" indent="-381000" algn="l" rtl="0">
              <a:lnSpc>
                <a:spcPct val="150000"/>
              </a:lnSpc>
              <a:spcBef>
                <a:spcPts val="0"/>
              </a:spcBef>
              <a:spcAft>
                <a:spcPts val="0"/>
              </a:spcAft>
              <a:buClr>
                <a:schemeClr val="dk1"/>
              </a:buClr>
              <a:buSzPts val="2400"/>
              <a:buChar char="●"/>
            </a:pPr>
            <a:r>
              <a:rPr lang="en"/>
              <a:t>Weather Snippets</a:t>
            </a:r>
            <a:endParaRPr sz="2700">
              <a:solidFill>
                <a:srgbClr val="6B7B80"/>
              </a:solidFill>
              <a:highlight>
                <a:srgbClr val="FFFFFF"/>
              </a:highlight>
              <a:latin typeface="Arial"/>
              <a:ea typeface="Arial"/>
              <a:cs typeface="Arial"/>
              <a:sym typeface="Arial"/>
            </a:endParaRPr>
          </a:p>
          <a:p>
            <a:pPr marL="457200" lvl="0" indent="-381000" algn="l" rtl="0">
              <a:lnSpc>
                <a:spcPct val="150000"/>
              </a:lnSpc>
              <a:spcBef>
                <a:spcPts val="0"/>
              </a:spcBef>
              <a:spcAft>
                <a:spcPts val="0"/>
              </a:spcAft>
              <a:buClr>
                <a:schemeClr val="dk1"/>
              </a:buClr>
              <a:buSzPts val="2400"/>
              <a:buChar char="●"/>
            </a:pPr>
            <a:r>
              <a:rPr lang="en"/>
              <a:t>Twitter/Slack Bots</a:t>
            </a:r>
            <a:endParaRPr/>
          </a:p>
          <a:p>
            <a:pPr marL="457200" lvl="0" indent="-381000" algn="l" rtl="0">
              <a:lnSpc>
                <a:spcPct val="150000"/>
              </a:lnSpc>
              <a:spcBef>
                <a:spcPts val="0"/>
              </a:spcBef>
              <a:spcAft>
                <a:spcPts val="0"/>
              </a:spcAft>
              <a:buClr>
                <a:schemeClr val="dk1"/>
              </a:buClr>
              <a:buSzPts val="2400"/>
              <a:buChar char="●"/>
            </a:pPr>
            <a:r>
              <a:rPr lang="en"/>
              <a:t>IoT devices </a:t>
            </a:r>
            <a:endParaRPr/>
          </a:p>
          <a:p>
            <a:pPr marL="457200" lvl="0" indent="-381000" algn="l" rtl="0">
              <a:lnSpc>
                <a:spcPct val="150000"/>
              </a:lnSpc>
              <a:spcBef>
                <a:spcPts val="0"/>
              </a:spcBef>
              <a:spcAft>
                <a:spcPts val="0"/>
              </a:spcAft>
              <a:buClr>
                <a:schemeClr val="dk1"/>
              </a:buClr>
              <a:buSzPts val="2400"/>
              <a:buChar char="●"/>
            </a:pPr>
            <a:r>
              <a:rPr lang="en"/>
              <a:t>Cloud services (maps, image processing etc)</a:t>
            </a:r>
            <a:endParaRPr/>
          </a:p>
          <a:p>
            <a:pPr marL="457200" lvl="0" indent="-381000" algn="l" rtl="0">
              <a:lnSpc>
                <a:spcPct val="150000"/>
              </a:lnSpc>
              <a:spcBef>
                <a:spcPts val="0"/>
              </a:spcBef>
              <a:spcAft>
                <a:spcPts val="0"/>
              </a:spcAft>
              <a:buClr>
                <a:schemeClr val="dk1"/>
              </a:buClr>
              <a:buSzPts val="2400"/>
              <a:buChar char="●"/>
            </a:pPr>
            <a:r>
              <a:rPr lang="en"/>
              <a:t>Travel Booking</a:t>
            </a:r>
            <a:endParaRPr/>
          </a:p>
        </p:txBody>
      </p:sp>
      <p:sp>
        <p:nvSpPr>
          <p:cNvPr id="112" name="Google Shape;112;ge103274ca6_0_2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fade">
                                      <p:cBhvr>
                                        <p:cTn id="7" dur="10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fade">
                                      <p:cBhvr>
                                        <p:cTn id="12" dur="10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1">
                                            <p:txEl>
                                              <p:pRg st="2" end="2"/>
                                            </p:txEl>
                                          </p:spTgt>
                                        </p:tgtEl>
                                        <p:attrNameLst>
                                          <p:attrName>style.visibility</p:attrName>
                                        </p:attrNameLst>
                                      </p:cBhvr>
                                      <p:to>
                                        <p:strVal val="visible"/>
                                      </p:to>
                                    </p:set>
                                    <p:animEffect transition="in" filter="fade">
                                      <p:cBhvr>
                                        <p:cTn id="17" dur="1000"/>
                                        <p:tgtEl>
                                          <p:spTgt spid="1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
                                            <p:txEl>
                                              <p:pRg st="3" end="3"/>
                                            </p:txEl>
                                          </p:spTgt>
                                        </p:tgtEl>
                                        <p:attrNameLst>
                                          <p:attrName>style.visibility</p:attrName>
                                        </p:attrNameLst>
                                      </p:cBhvr>
                                      <p:to>
                                        <p:strVal val="visible"/>
                                      </p:to>
                                    </p:set>
                                    <p:animEffect transition="in" filter="fade">
                                      <p:cBhvr>
                                        <p:cTn id="22" dur="1000"/>
                                        <p:tgtEl>
                                          <p:spTgt spid="1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1">
                                            <p:txEl>
                                              <p:pRg st="4" end="4"/>
                                            </p:txEl>
                                          </p:spTgt>
                                        </p:tgtEl>
                                        <p:attrNameLst>
                                          <p:attrName>style.visibility</p:attrName>
                                        </p:attrNameLst>
                                      </p:cBhvr>
                                      <p:to>
                                        <p:strVal val="visible"/>
                                      </p:to>
                                    </p:set>
                                    <p:animEffect transition="in" filter="fade">
                                      <p:cBhvr>
                                        <p:cTn id="27" dur="1000"/>
                                        <p:tgtEl>
                                          <p:spTgt spid="1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1">
                                            <p:txEl>
                                              <p:pRg st="5" end="5"/>
                                            </p:txEl>
                                          </p:spTgt>
                                        </p:tgtEl>
                                        <p:attrNameLst>
                                          <p:attrName>style.visibility</p:attrName>
                                        </p:attrNameLst>
                                      </p:cBhvr>
                                      <p:to>
                                        <p:strVal val="visible"/>
                                      </p:to>
                                    </p:set>
                                    <p:animEffect transition="in" filter="fade">
                                      <p:cBhvr>
                                        <p:cTn id="32" dur="1000"/>
                                        <p:tgtEl>
                                          <p:spTgt spid="1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ge103274ca6_0_40"/>
          <p:cNvSpPr txBox="1"/>
          <p:nvPr/>
        </p:nvSpPr>
        <p:spPr>
          <a:xfrm>
            <a:off x="850350" y="930325"/>
            <a:ext cx="7369800" cy="3585567"/>
          </a:xfrm>
          <a:prstGeom prst="rect">
            <a:avLst/>
          </a:prstGeom>
          <a:noFill/>
          <a:ln>
            <a:noFill/>
          </a:ln>
        </p:spPr>
        <p:txBody>
          <a:bodyPr spcFirstLastPara="1" wrap="square" lIns="91425" tIns="91425" rIns="91425" bIns="91425" anchor="t" anchorCtr="0">
            <a:spAutoFit/>
          </a:bodyPr>
          <a:lstStyle/>
          <a:p>
            <a:pPr lvl="0">
              <a:buSzPts val="1700"/>
            </a:pPr>
            <a:r>
              <a:rPr lang="en-US" sz="1800" b="1" dirty="0"/>
              <a:t>What is JSON? (JavaScript Object Notation</a:t>
            </a:r>
            <a:r>
              <a:rPr lang="en-US" sz="1800" b="1" dirty="0" smtClean="0"/>
              <a:t>)</a:t>
            </a:r>
          </a:p>
          <a:p>
            <a:pPr lvl="0">
              <a:buSzPts val="1700"/>
            </a:pPr>
            <a:endParaRPr lang="en-US" sz="1450" dirty="0" smtClean="0">
              <a:solidFill>
                <a:srgbClr val="292929"/>
              </a:solidFill>
            </a:endParaRPr>
          </a:p>
          <a:p>
            <a:pPr lvl="0">
              <a:buSzPts val="1700"/>
            </a:pPr>
            <a:r>
              <a:rPr lang="en-US" sz="1450" dirty="0" smtClean="0">
                <a:solidFill>
                  <a:srgbClr val="292929"/>
                </a:solidFill>
              </a:rPr>
              <a:t>Think </a:t>
            </a:r>
            <a:r>
              <a:rPr lang="en-US" sz="1450" dirty="0">
                <a:solidFill>
                  <a:srgbClr val="292929"/>
                </a:solidFill>
              </a:rPr>
              <a:t>of JSON like a digital version of a grocery list or notebook where you write things down in pairs — for example, “Name: </a:t>
            </a:r>
            <a:r>
              <a:rPr lang="en-US" sz="1450" dirty="0" smtClean="0">
                <a:solidFill>
                  <a:srgbClr val="292929"/>
                </a:solidFill>
              </a:rPr>
              <a:t>Zain” </a:t>
            </a:r>
            <a:r>
              <a:rPr lang="en-US" sz="1450" dirty="0">
                <a:solidFill>
                  <a:srgbClr val="292929"/>
                </a:solidFill>
              </a:rPr>
              <a:t>or “Age: 25”.</a:t>
            </a:r>
          </a:p>
          <a:p>
            <a:pPr lvl="0">
              <a:buSzPts val="1700"/>
            </a:pPr>
            <a:endParaRPr lang="en-US" sz="1450" dirty="0">
              <a:solidFill>
                <a:srgbClr val="292929"/>
              </a:solidFill>
            </a:endParaRPr>
          </a:p>
          <a:p>
            <a:pPr lvl="0">
              <a:buSzPts val="1700"/>
            </a:pPr>
            <a:r>
              <a:rPr lang="en-US" sz="1450" dirty="0">
                <a:solidFill>
                  <a:srgbClr val="292929"/>
                </a:solidFill>
              </a:rPr>
              <a:t>It stores data in a simple and clean format:</a:t>
            </a:r>
          </a:p>
          <a:p>
            <a:pPr lvl="0">
              <a:buSzPts val="1700"/>
            </a:pPr>
            <a:r>
              <a:rPr lang="en-US" sz="1450" dirty="0">
                <a:solidFill>
                  <a:srgbClr val="292929"/>
                </a:solidFill>
              </a:rPr>
              <a:t>{"name": "Zain", "age": 25, "city": "Lahore"}</a:t>
            </a:r>
          </a:p>
          <a:p>
            <a:pPr lvl="0">
              <a:buSzPts val="1700"/>
            </a:pPr>
            <a:endParaRPr lang="en-US" sz="1450" dirty="0">
              <a:solidFill>
                <a:srgbClr val="292929"/>
              </a:solidFill>
            </a:endParaRPr>
          </a:p>
          <a:p>
            <a:pPr lvl="0">
              <a:buSzPts val="1700"/>
            </a:pPr>
            <a:r>
              <a:rPr lang="en-US" sz="1450" dirty="0">
                <a:solidFill>
                  <a:srgbClr val="292929"/>
                </a:solidFill>
              </a:rPr>
              <a:t>It’s very easy for humans to read and for computers to understand.</a:t>
            </a:r>
          </a:p>
          <a:p>
            <a:pPr lvl="0">
              <a:buSzPts val="1700"/>
            </a:pPr>
            <a:endParaRPr lang="en-US" sz="1450" dirty="0">
              <a:solidFill>
                <a:srgbClr val="292929"/>
              </a:solidFill>
            </a:endParaRPr>
          </a:p>
          <a:p>
            <a:pPr lvl="0">
              <a:buSzPts val="1700"/>
            </a:pPr>
            <a:r>
              <a:rPr lang="en-US" sz="1450" dirty="0">
                <a:solidFill>
                  <a:srgbClr val="292929"/>
                </a:solidFill>
              </a:rPr>
              <a:t>It’s like sending a WhatsApp message between two apps. One app says, “Hey, here’s the data,” and sends it in JSON format.</a:t>
            </a:r>
          </a:p>
          <a:p>
            <a:pPr lvl="0">
              <a:buSzPts val="1700"/>
            </a:pPr>
            <a:endParaRPr lang="en-US" sz="1450" dirty="0">
              <a:solidFill>
                <a:srgbClr val="292929"/>
              </a:solidFill>
            </a:endParaRPr>
          </a:p>
          <a:p>
            <a:pPr lvl="0">
              <a:buSzPts val="1700"/>
            </a:pPr>
            <a:r>
              <a:rPr lang="en-US" sz="1450" dirty="0">
                <a:solidFill>
                  <a:srgbClr val="292929"/>
                </a:solidFill>
              </a:rPr>
              <a:t>✅ Used mostly when websites and apps talk to each other using APIs.</a:t>
            </a:r>
          </a:p>
          <a:p>
            <a:pPr lvl="0">
              <a:buSzPts val="1700"/>
            </a:pPr>
            <a:r>
              <a:rPr lang="en-US" sz="1450" dirty="0">
                <a:solidFill>
                  <a:srgbClr val="292929"/>
                </a:solidFill>
              </a:rPr>
              <a:t>✅ Looks like a dictionary in Python or object in JavaScript.</a:t>
            </a:r>
            <a:endParaRPr sz="1450" b="0" i="0" u="none" strike="noStrike" cap="none" dirty="0">
              <a:solidFill>
                <a:srgbClr val="292929"/>
              </a:solidFill>
              <a:latin typeface="Arial"/>
              <a:ea typeface="Arial"/>
              <a:cs typeface="Arial"/>
              <a:sym typeface="Arial"/>
            </a:endParaRP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6</a:t>
            </a:fld>
            <a:endParaRPr sz="1300" b="1" i="0" u="none" strike="noStrike" cap="none">
              <a:solidFill>
                <a:srgbClr val="0091EA"/>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ge103274ca6_0_40"/>
          <p:cNvSpPr txBox="1"/>
          <p:nvPr/>
        </p:nvSpPr>
        <p:spPr>
          <a:xfrm>
            <a:off x="786150" y="945320"/>
            <a:ext cx="7571700" cy="3085430"/>
          </a:xfrm>
          <a:prstGeom prst="rect">
            <a:avLst/>
          </a:prstGeom>
          <a:noFill/>
          <a:ln>
            <a:noFill/>
          </a:ln>
        </p:spPr>
        <p:txBody>
          <a:bodyPr spcFirstLastPara="1" wrap="square" lIns="91425" tIns="91425" rIns="91425" bIns="91425" anchor="t" anchorCtr="0">
            <a:spAutoFit/>
          </a:bodyPr>
          <a:lstStyle/>
          <a:p>
            <a:pPr lvl="0">
              <a:spcBef>
                <a:spcPts val="600"/>
              </a:spcBef>
              <a:buSzPts val="1700"/>
            </a:pPr>
            <a:r>
              <a:rPr lang="en-US" sz="1800" b="1" dirty="0"/>
              <a:t>HTTP – </a:t>
            </a:r>
            <a:r>
              <a:rPr lang="en-US" sz="1800" b="1" i="1" dirty="0"/>
              <a:t>Hypertext Transfer </a:t>
            </a:r>
            <a:r>
              <a:rPr lang="en-US" sz="1800" b="1" i="1" dirty="0" smtClean="0"/>
              <a:t>Protocol</a:t>
            </a:r>
          </a:p>
          <a:p>
            <a:pPr lvl="0">
              <a:spcBef>
                <a:spcPts val="600"/>
              </a:spcBef>
              <a:buSzPts val="1700"/>
            </a:pPr>
            <a:r>
              <a:rPr lang="en-US" sz="1450" dirty="0">
                <a:solidFill>
                  <a:srgbClr val="292929"/>
                </a:solidFill>
              </a:rPr>
              <a:t>HTTP is like the language or rulebook that your web browser and a website use to talk to each other.</a:t>
            </a:r>
          </a:p>
          <a:p>
            <a:pPr lvl="0">
              <a:spcBef>
                <a:spcPts val="600"/>
              </a:spcBef>
              <a:buSzPts val="1700"/>
            </a:pPr>
            <a:endParaRPr lang="en-US" sz="1450" dirty="0">
              <a:solidFill>
                <a:srgbClr val="292929"/>
              </a:solidFill>
            </a:endParaRPr>
          </a:p>
          <a:p>
            <a:pPr lvl="0">
              <a:spcBef>
                <a:spcPts val="600"/>
              </a:spcBef>
              <a:buSzPts val="1700"/>
            </a:pPr>
            <a:r>
              <a:rPr lang="en-US" sz="1450" dirty="0">
                <a:solidFill>
                  <a:srgbClr val="292929"/>
                </a:solidFill>
              </a:rPr>
              <a:t>When you visit a website like www.google.com, your browser sends an HTTP request to Google’s server saying:</a:t>
            </a:r>
          </a:p>
          <a:p>
            <a:pPr lvl="0">
              <a:spcBef>
                <a:spcPts val="600"/>
              </a:spcBef>
              <a:buSzPts val="1700"/>
            </a:pPr>
            <a:endParaRPr lang="en-US" sz="1450" dirty="0">
              <a:solidFill>
                <a:srgbClr val="292929"/>
              </a:solidFill>
            </a:endParaRPr>
          </a:p>
          <a:p>
            <a:pPr lvl="0">
              <a:spcBef>
                <a:spcPts val="600"/>
              </a:spcBef>
              <a:buSzPts val="1700"/>
            </a:pPr>
            <a:r>
              <a:rPr lang="en-US" sz="1450" dirty="0">
                <a:solidFill>
                  <a:srgbClr val="292929"/>
                </a:solidFill>
              </a:rPr>
              <a:t>"Hey, can you send me the homepage?"</a:t>
            </a:r>
          </a:p>
          <a:p>
            <a:pPr lvl="0">
              <a:spcBef>
                <a:spcPts val="600"/>
              </a:spcBef>
              <a:buSzPts val="1700"/>
            </a:pPr>
            <a:endParaRPr lang="en-US" sz="1450" dirty="0">
              <a:solidFill>
                <a:srgbClr val="292929"/>
              </a:solidFill>
            </a:endParaRPr>
          </a:p>
          <a:p>
            <a:pPr lvl="0">
              <a:spcBef>
                <a:spcPts val="600"/>
              </a:spcBef>
              <a:buSzPts val="1700"/>
            </a:pPr>
            <a:r>
              <a:rPr lang="en-US" sz="1450" dirty="0">
                <a:solidFill>
                  <a:srgbClr val="292929"/>
                </a:solidFill>
              </a:rPr>
              <a:t>The server replies with the page and all the content (images, text, etc.).</a:t>
            </a:r>
            <a:endParaRPr sz="1450" b="0" i="0" u="none" strike="noStrike" cap="none" dirty="0">
              <a:solidFill>
                <a:srgbClr val="292929"/>
              </a:solidFill>
              <a:latin typeface="Arial"/>
              <a:ea typeface="Arial"/>
              <a:cs typeface="Arial"/>
              <a:sym typeface="Arial"/>
            </a:endParaRP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7</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82564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ge103274ca6_0_40"/>
          <p:cNvSpPr txBox="1"/>
          <p:nvPr/>
        </p:nvSpPr>
        <p:spPr>
          <a:xfrm>
            <a:off x="786150" y="945320"/>
            <a:ext cx="7571700" cy="2485265"/>
          </a:xfrm>
          <a:prstGeom prst="rect">
            <a:avLst/>
          </a:prstGeom>
          <a:noFill/>
          <a:ln>
            <a:noFill/>
          </a:ln>
        </p:spPr>
        <p:txBody>
          <a:bodyPr spcFirstLastPara="1" wrap="square" lIns="91425" tIns="91425" rIns="91425" bIns="91425" anchor="t" anchorCtr="0">
            <a:spAutoFit/>
          </a:bodyPr>
          <a:lstStyle/>
          <a:p>
            <a:pPr lvl="0">
              <a:spcBef>
                <a:spcPts val="600"/>
              </a:spcBef>
              <a:buSzPts val="1700"/>
            </a:pPr>
            <a:r>
              <a:rPr lang="en-US" sz="1800" b="1" dirty="0"/>
              <a:t>HTTPS – </a:t>
            </a:r>
            <a:r>
              <a:rPr lang="en-US" sz="1800" b="1" i="1" dirty="0"/>
              <a:t>HTTP </a:t>
            </a:r>
            <a:r>
              <a:rPr lang="en-US" sz="1800" b="1" i="1" dirty="0" smtClean="0"/>
              <a:t>Secure</a:t>
            </a:r>
          </a:p>
          <a:p>
            <a:pPr lvl="0">
              <a:spcBef>
                <a:spcPts val="600"/>
              </a:spcBef>
              <a:buSzPts val="1700"/>
            </a:pPr>
            <a:r>
              <a:rPr lang="en-US" sz="1450" dirty="0">
                <a:solidFill>
                  <a:srgbClr val="292929"/>
                </a:solidFill>
              </a:rPr>
              <a:t>This is the secure version of HTTP. The ‘S’ stands for Secure. It adds a </a:t>
            </a:r>
            <a:r>
              <a:rPr lang="en-US" sz="1450" dirty="0" smtClean="0">
                <a:solidFill>
                  <a:srgbClr val="292929"/>
                </a:solidFill>
              </a:rPr>
              <a:t>lock </a:t>
            </a:r>
            <a:r>
              <a:rPr lang="en-US" sz="1450" dirty="0">
                <a:solidFill>
                  <a:srgbClr val="292929"/>
                </a:solidFill>
              </a:rPr>
              <a:t>to the conversation between your browser and the website.</a:t>
            </a:r>
          </a:p>
          <a:p>
            <a:pPr lvl="0">
              <a:spcBef>
                <a:spcPts val="600"/>
              </a:spcBef>
              <a:buSzPts val="1700"/>
            </a:pPr>
            <a:endParaRPr lang="en-US" sz="1450" dirty="0">
              <a:solidFill>
                <a:srgbClr val="292929"/>
              </a:solidFill>
            </a:endParaRPr>
          </a:p>
          <a:p>
            <a:pPr lvl="0">
              <a:spcBef>
                <a:spcPts val="600"/>
              </a:spcBef>
              <a:buSzPts val="1700"/>
            </a:pPr>
            <a:r>
              <a:rPr lang="en-US" sz="1450" dirty="0">
                <a:solidFill>
                  <a:srgbClr val="292929"/>
                </a:solidFill>
              </a:rPr>
              <a:t>With HTTPS, any data (like passwords or credit card info) is encrypted — meaning even if someone tries to "listen in," they won’t understand it.</a:t>
            </a:r>
          </a:p>
          <a:p>
            <a:pPr lvl="0">
              <a:spcBef>
                <a:spcPts val="600"/>
              </a:spcBef>
              <a:buSzPts val="1700"/>
            </a:pPr>
            <a:endParaRPr lang="en-US" sz="1450" dirty="0">
              <a:solidFill>
                <a:srgbClr val="292929"/>
              </a:solidFill>
            </a:endParaRPr>
          </a:p>
          <a:p>
            <a:pPr lvl="0">
              <a:spcBef>
                <a:spcPts val="600"/>
              </a:spcBef>
              <a:buSzPts val="1700"/>
            </a:pPr>
            <a:r>
              <a:rPr lang="en-US" sz="1450" dirty="0">
                <a:solidFill>
                  <a:srgbClr val="292929"/>
                </a:solidFill>
              </a:rPr>
              <a:t>✅ You’ll usually see a lock icon 🔒 in your browser’s address bar when using HTTPS.</a:t>
            </a:r>
            <a:endParaRPr sz="1450" b="0" i="0" u="none" strike="noStrike" cap="none" dirty="0">
              <a:solidFill>
                <a:srgbClr val="292929"/>
              </a:solidFill>
              <a:latin typeface="Arial"/>
              <a:ea typeface="Arial"/>
              <a:cs typeface="Arial"/>
              <a:sym typeface="Arial"/>
            </a:endParaRP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8</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204966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ge103274ca6_0_40"/>
          <p:cNvSpPr txBox="1"/>
          <p:nvPr/>
        </p:nvSpPr>
        <p:spPr>
          <a:xfrm>
            <a:off x="786150" y="945320"/>
            <a:ext cx="7571700" cy="2231350"/>
          </a:xfrm>
          <a:prstGeom prst="rect">
            <a:avLst/>
          </a:prstGeom>
          <a:noFill/>
          <a:ln>
            <a:noFill/>
          </a:ln>
        </p:spPr>
        <p:txBody>
          <a:bodyPr spcFirstLastPara="1" wrap="square" lIns="91425" tIns="91425" rIns="91425" bIns="91425" anchor="t" anchorCtr="0">
            <a:spAutoFit/>
          </a:bodyPr>
          <a:lstStyle/>
          <a:p>
            <a:pPr lvl="0">
              <a:spcBef>
                <a:spcPts val="600"/>
              </a:spcBef>
              <a:buSzPts val="1700"/>
            </a:pPr>
            <a:r>
              <a:rPr lang="en-US" sz="1800" b="1" dirty="0"/>
              <a:t>How it Works (Simple Terms</a:t>
            </a:r>
            <a:r>
              <a:rPr lang="en-US" sz="1800" b="1" dirty="0" smtClean="0"/>
              <a:t>)</a:t>
            </a:r>
          </a:p>
          <a:p>
            <a:pPr lvl="0">
              <a:spcBef>
                <a:spcPts val="600"/>
              </a:spcBef>
              <a:buSzPts val="1700"/>
            </a:pPr>
            <a:endParaRPr lang="en-US" sz="1800" b="1" dirty="0"/>
          </a:p>
          <a:p>
            <a:pPr marL="285750" lvl="0" indent="-285750">
              <a:spcBef>
                <a:spcPts val="600"/>
              </a:spcBef>
              <a:buSzPts val="1700"/>
              <a:buFont typeface="Arial" panose="020B0604020202020204" pitchFamily="34" charset="0"/>
              <a:buChar char="•"/>
            </a:pPr>
            <a:r>
              <a:rPr lang="en-US" sz="1800" dirty="0"/>
              <a:t>GET = "Give me something" (like getting a webpage or image</a:t>
            </a:r>
            <a:r>
              <a:rPr lang="en-US" sz="1800" dirty="0" smtClean="0"/>
              <a:t>)</a:t>
            </a:r>
          </a:p>
          <a:p>
            <a:pPr lvl="0">
              <a:spcBef>
                <a:spcPts val="600"/>
              </a:spcBef>
              <a:buSzPts val="1700"/>
            </a:pPr>
            <a:endParaRPr lang="en-US" sz="1800" dirty="0" smtClean="0"/>
          </a:p>
          <a:p>
            <a:pPr marL="285750" lvl="0" indent="-285750">
              <a:spcBef>
                <a:spcPts val="600"/>
              </a:spcBef>
              <a:buSzPts val="1700"/>
              <a:buFont typeface="Arial" panose="020B0604020202020204" pitchFamily="34" charset="0"/>
              <a:buChar char="•"/>
            </a:pPr>
            <a:r>
              <a:rPr lang="en-US" sz="1800" dirty="0" smtClean="0"/>
              <a:t>POST </a:t>
            </a:r>
            <a:r>
              <a:rPr lang="en-US" sz="1800" dirty="0"/>
              <a:t>= "Here’s something for you" (like sending a message or filling a form)</a:t>
            </a:r>
            <a:endParaRPr sz="1450" i="0" u="none" strike="noStrike" cap="none" dirty="0">
              <a:solidFill>
                <a:srgbClr val="292929"/>
              </a:solidFill>
              <a:sym typeface="Arial"/>
            </a:endParaRP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9</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354524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10</a:t>
            </a:fld>
            <a:endParaRPr sz="1300" b="1" i="0" u="none" strike="noStrike" cap="none">
              <a:solidFill>
                <a:srgbClr val="0091EA"/>
              </a:solidFill>
              <a:latin typeface="Arial"/>
              <a:ea typeface="Arial"/>
              <a:cs typeface="Arial"/>
              <a:sym typeface="Arial"/>
            </a:endParaRPr>
          </a:p>
        </p:txBody>
      </p:sp>
      <p:sp>
        <p:nvSpPr>
          <p:cNvPr id="122" name="Google Shape;122;ge103274ca6_0_40"/>
          <p:cNvSpPr txBox="1"/>
          <p:nvPr/>
        </p:nvSpPr>
        <p:spPr>
          <a:xfrm>
            <a:off x="786150" y="871897"/>
            <a:ext cx="7478400" cy="3631733"/>
          </a:xfrm>
          <a:prstGeom prst="rect">
            <a:avLst/>
          </a:prstGeom>
          <a:noFill/>
          <a:ln>
            <a:noFill/>
          </a:ln>
        </p:spPr>
        <p:txBody>
          <a:bodyPr spcFirstLastPara="1" wrap="square" lIns="91425" tIns="91425" rIns="91425" bIns="91425" anchor="t" anchorCtr="0">
            <a:spAutoFit/>
          </a:bodyPr>
          <a:lstStyle/>
          <a:p>
            <a:r>
              <a:rPr lang="en-US" sz="1600" b="1" dirty="0"/>
              <a:t>What is REST? (Representational State Transfer)</a:t>
            </a:r>
          </a:p>
          <a:p>
            <a:endParaRPr lang="en-US" sz="1600" dirty="0" smtClean="0"/>
          </a:p>
          <a:p>
            <a:r>
              <a:rPr lang="en-US" sz="1600" dirty="0" smtClean="0"/>
              <a:t>REST </a:t>
            </a:r>
            <a:r>
              <a:rPr lang="en-US" sz="1600" dirty="0"/>
              <a:t>is not a tool or software — it’s more like a </a:t>
            </a:r>
            <a:r>
              <a:rPr lang="en-US" sz="1600" b="1" dirty="0"/>
              <a:t>set of rules or guidelines</a:t>
            </a:r>
            <a:r>
              <a:rPr lang="en-US" sz="1600" dirty="0"/>
              <a:t> for how apps should </a:t>
            </a:r>
            <a:r>
              <a:rPr lang="en-US" sz="1600" b="1" dirty="0"/>
              <a:t>talk to each other</a:t>
            </a:r>
            <a:r>
              <a:rPr lang="en-US" sz="1600" dirty="0"/>
              <a:t> using the internet.</a:t>
            </a:r>
          </a:p>
          <a:p>
            <a:r>
              <a:rPr lang="en-US" sz="1600" dirty="0"/>
              <a:t>Imagine REST as a set of </a:t>
            </a:r>
            <a:r>
              <a:rPr lang="en-US" sz="1600" b="1" dirty="0"/>
              <a:t>etiquette rules</a:t>
            </a:r>
            <a:r>
              <a:rPr lang="en-US" sz="1600" dirty="0"/>
              <a:t> for communication — like saying “please” and “thank you” — but for computers and apps. If two systems follow these rules, they can easily understand and work with each other</a:t>
            </a:r>
            <a:r>
              <a:rPr lang="en-US" sz="1600" dirty="0" smtClean="0"/>
              <a:t>.</a:t>
            </a:r>
          </a:p>
          <a:p>
            <a:endParaRPr lang="en-US" sz="1600" dirty="0" smtClean="0"/>
          </a:p>
          <a:p>
            <a:r>
              <a:rPr lang="en-US" sz="1600" b="1" dirty="0"/>
              <a:t>What REST Helps With</a:t>
            </a:r>
          </a:p>
          <a:p>
            <a:endParaRPr lang="en-US" sz="1600" dirty="0" smtClean="0"/>
          </a:p>
          <a:p>
            <a:r>
              <a:rPr lang="en-US" sz="1600" b="1" dirty="0" smtClean="0"/>
              <a:t>GET </a:t>
            </a:r>
            <a:r>
              <a:rPr lang="en-US" sz="1600" b="1" dirty="0"/>
              <a:t>data</a:t>
            </a:r>
            <a:r>
              <a:rPr lang="en-US" sz="1600" dirty="0"/>
              <a:t> from a server (like your Facebook profile info)</a:t>
            </a:r>
          </a:p>
          <a:p>
            <a:r>
              <a:rPr lang="en-US" sz="1600" b="1" dirty="0" smtClean="0"/>
              <a:t>SEND </a:t>
            </a:r>
            <a:r>
              <a:rPr lang="en-US" sz="1600" b="1" dirty="0"/>
              <a:t>data</a:t>
            </a:r>
            <a:r>
              <a:rPr lang="en-US" sz="1600" dirty="0"/>
              <a:t> to a server (like a new Instagram post)</a:t>
            </a:r>
          </a:p>
          <a:p>
            <a:r>
              <a:rPr lang="en-US" sz="1600" b="1" dirty="0" smtClean="0"/>
              <a:t>UPDATE </a:t>
            </a:r>
            <a:r>
              <a:rPr lang="en-US" sz="1600" dirty="0"/>
              <a:t>something (like editing your name)</a:t>
            </a:r>
          </a:p>
          <a:p>
            <a:r>
              <a:rPr lang="en-US" sz="1600" b="1" dirty="0" smtClean="0"/>
              <a:t>DELETE </a:t>
            </a:r>
            <a:r>
              <a:rPr lang="en-US" sz="1600" dirty="0"/>
              <a:t>something (like removing a photo</a:t>
            </a:r>
            <a:r>
              <a:rPr lang="en-US" sz="1600" dirty="0" smtClean="0"/>
              <a:t>)</a:t>
            </a:r>
            <a:endParaRPr lang="en-US" sz="1600" dirty="0"/>
          </a:p>
        </p:txBody>
      </p:sp>
    </p:spTree>
    <p:extLst>
      <p:ext uri="{BB962C8B-B14F-4D97-AF65-F5344CB8AC3E}">
        <p14:creationId xmlns:p14="http://schemas.microsoft.com/office/powerpoint/2010/main" val="230660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11</a:t>
            </a:fld>
            <a:endParaRPr sz="1300" b="1" i="0" u="none" strike="noStrike" cap="none">
              <a:solidFill>
                <a:srgbClr val="0091EA"/>
              </a:solidFill>
              <a:latin typeface="Arial"/>
              <a:ea typeface="Arial"/>
              <a:cs typeface="Arial"/>
              <a:sym typeface="Arial"/>
            </a:endParaRPr>
          </a:p>
        </p:txBody>
      </p:sp>
      <p:sp>
        <p:nvSpPr>
          <p:cNvPr id="122" name="Google Shape;122;ge103274ca6_0_40"/>
          <p:cNvSpPr txBox="1"/>
          <p:nvPr/>
        </p:nvSpPr>
        <p:spPr>
          <a:xfrm>
            <a:off x="786150" y="871897"/>
            <a:ext cx="7478400" cy="1908184"/>
          </a:xfrm>
          <a:prstGeom prst="rect">
            <a:avLst/>
          </a:prstGeom>
          <a:noFill/>
          <a:ln>
            <a:noFill/>
          </a:ln>
        </p:spPr>
        <p:txBody>
          <a:bodyPr spcFirstLastPara="1" wrap="square" lIns="91425" tIns="91425" rIns="91425" bIns="91425" anchor="t" anchorCtr="0">
            <a:spAutoFit/>
          </a:bodyPr>
          <a:lstStyle/>
          <a:p>
            <a:r>
              <a:rPr lang="en-US" sz="1600" dirty="0" smtClean="0"/>
              <a:t>Think </a:t>
            </a:r>
            <a:r>
              <a:rPr lang="en-US" sz="1600" dirty="0"/>
              <a:t>of a </a:t>
            </a:r>
            <a:r>
              <a:rPr lang="en-US" sz="1600" b="1" dirty="0" smtClean="0"/>
              <a:t>food panda app</a:t>
            </a:r>
            <a:r>
              <a:rPr lang="en-US" sz="1600" dirty="0"/>
              <a:t>:</a:t>
            </a:r>
          </a:p>
          <a:p>
            <a:endParaRPr lang="en-US" sz="1600" dirty="0" smtClean="0"/>
          </a:p>
          <a:p>
            <a:pPr marL="342900" indent="-342900">
              <a:buFont typeface="+mj-lt"/>
              <a:buAutoNum type="arabicPeriod"/>
            </a:pPr>
            <a:r>
              <a:rPr lang="en-US" sz="1600" dirty="0" smtClean="0"/>
              <a:t>You </a:t>
            </a:r>
            <a:r>
              <a:rPr lang="en-US" sz="1600" dirty="0"/>
              <a:t>(the user) open the app and tap on a restaurant.</a:t>
            </a:r>
          </a:p>
          <a:p>
            <a:pPr marL="342900" indent="-342900">
              <a:buFont typeface="+mj-lt"/>
              <a:buAutoNum type="arabicPeriod"/>
            </a:pPr>
            <a:r>
              <a:rPr lang="en-US" sz="1600" dirty="0"/>
              <a:t>The app sends a </a:t>
            </a:r>
            <a:r>
              <a:rPr lang="en-US" sz="1600" b="1" dirty="0"/>
              <a:t>request</a:t>
            </a:r>
            <a:r>
              <a:rPr lang="en-US" sz="1600" dirty="0"/>
              <a:t> to the server: "Give me the menu."</a:t>
            </a:r>
          </a:p>
          <a:p>
            <a:pPr marL="342900" indent="-342900">
              <a:buFont typeface="+mj-lt"/>
              <a:buAutoNum type="arabicPeriod"/>
            </a:pPr>
            <a:r>
              <a:rPr lang="en-US" sz="1600" dirty="0"/>
              <a:t>You place an order — this is like a </a:t>
            </a:r>
            <a:r>
              <a:rPr lang="en-US" sz="1600" b="1" dirty="0"/>
              <a:t>POST</a:t>
            </a:r>
            <a:r>
              <a:rPr lang="en-US" sz="1600" dirty="0"/>
              <a:t> request: "Here’s my food order."</a:t>
            </a:r>
          </a:p>
          <a:p>
            <a:pPr marL="342900" indent="-342900">
              <a:buFont typeface="+mj-lt"/>
              <a:buAutoNum type="arabicPeriod"/>
            </a:pPr>
            <a:r>
              <a:rPr lang="en-US" sz="1600" dirty="0"/>
              <a:t>REST makes sure these requests and responses happen in a </a:t>
            </a:r>
            <a:r>
              <a:rPr lang="en-US" sz="1600" b="1" dirty="0"/>
              <a:t>simple, standard, and reliable</a:t>
            </a:r>
            <a:r>
              <a:rPr lang="en-US" sz="1600" dirty="0"/>
              <a:t> way.</a:t>
            </a:r>
          </a:p>
        </p:txBody>
      </p:sp>
    </p:spTree>
    <p:extLst>
      <p:ext uri="{BB962C8B-B14F-4D97-AF65-F5344CB8AC3E}">
        <p14:creationId xmlns:p14="http://schemas.microsoft.com/office/powerpoint/2010/main" val="415426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e103274ca6_0_40"/>
          <p:cNvSpPr txBox="1"/>
          <p:nvPr/>
        </p:nvSpPr>
        <p:spPr>
          <a:xfrm>
            <a:off x="832800" y="828213"/>
            <a:ext cx="7478400" cy="2893069"/>
          </a:xfrm>
          <a:prstGeom prst="rect">
            <a:avLst/>
          </a:prstGeom>
          <a:noFill/>
          <a:ln>
            <a:noFill/>
          </a:ln>
        </p:spPr>
        <p:txBody>
          <a:bodyPr spcFirstLastPara="1" wrap="square" lIns="91425" tIns="91425" rIns="91425" bIns="91425" anchor="t" anchorCtr="0">
            <a:spAutoFit/>
          </a:bodyPr>
          <a:lstStyle/>
          <a:p>
            <a:r>
              <a:rPr lang="en-US" sz="1600" b="1" dirty="0"/>
              <a:t>What is </a:t>
            </a:r>
            <a:r>
              <a:rPr lang="en-US" sz="1600" b="1" dirty="0" smtClean="0"/>
              <a:t>Request?</a:t>
            </a:r>
          </a:p>
          <a:p>
            <a:endParaRPr lang="en-US" sz="1600" b="1" dirty="0"/>
          </a:p>
          <a:p>
            <a:r>
              <a:rPr lang="en-US" sz="1600" dirty="0"/>
              <a:t>Think of it like a </a:t>
            </a:r>
            <a:r>
              <a:rPr lang="en-US" sz="1600" b="1" dirty="0"/>
              <a:t>conversation between your browser (or app) and a server</a:t>
            </a:r>
            <a:r>
              <a:rPr lang="en-US" sz="1600" dirty="0" smtClean="0"/>
              <a:t>.</a:t>
            </a:r>
          </a:p>
          <a:p>
            <a:endParaRPr lang="en-US" sz="1600" dirty="0" smtClean="0"/>
          </a:p>
          <a:p>
            <a:r>
              <a:rPr lang="en-US" sz="1600" b="1" dirty="0"/>
              <a:t>Request</a:t>
            </a:r>
            <a:r>
              <a:rPr lang="en-US" sz="1600" dirty="0"/>
              <a:t> – You Ask for </a:t>
            </a:r>
            <a:r>
              <a:rPr lang="en-US" sz="1600" dirty="0" smtClean="0"/>
              <a:t>Something</a:t>
            </a:r>
          </a:p>
          <a:p>
            <a:endParaRPr lang="en-US" sz="1600" dirty="0"/>
          </a:p>
          <a:p>
            <a:r>
              <a:rPr lang="en-US" sz="1600" dirty="0"/>
              <a:t>When you open a website or app, your browser or app sends a request to the server</a:t>
            </a:r>
            <a:r>
              <a:rPr lang="en-US" sz="1600" dirty="0" smtClean="0"/>
              <a:t>.</a:t>
            </a:r>
          </a:p>
          <a:p>
            <a:endParaRPr lang="en-US" sz="1600" dirty="0"/>
          </a:p>
          <a:p>
            <a:r>
              <a:rPr lang="en-US" sz="1600" dirty="0"/>
              <a:t>It’s like saying</a:t>
            </a:r>
            <a:r>
              <a:rPr lang="en-US" sz="1600" dirty="0" smtClean="0"/>
              <a:t>: “</a:t>
            </a:r>
            <a:r>
              <a:rPr lang="en-US" sz="1600" dirty="0"/>
              <a:t>Hey server, can you give me something?”</a:t>
            </a:r>
          </a:p>
          <a:p>
            <a:endParaRPr lang="en-US" sz="1600" dirty="0"/>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12</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427772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e103274ca6_0_40"/>
          <p:cNvSpPr txBox="1"/>
          <p:nvPr/>
        </p:nvSpPr>
        <p:spPr>
          <a:xfrm>
            <a:off x="832800" y="828213"/>
            <a:ext cx="7478400" cy="2893069"/>
          </a:xfrm>
          <a:prstGeom prst="rect">
            <a:avLst/>
          </a:prstGeom>
          <a:noFill/>
          <a:ln>
            <a:noFill/>
          </a:ln>
        </p:spPr>
        <p:txBody>
          <a:bodyPr spcFirstLastPara="1" wrap="square" lIns="91425" tIns="91425" rIns="91425" bIns="91425" anchor="t" anchorCtr="0">
            <a:spAutoFit/>
          </a:bodyPr>
          <a:lstStyle/>
          <a:p>
            <a:r>
              <a:rPr lang="en-US" sz="1600" b="1" dirty="0" smtClean="0"/>
              <a:t>Example</a:t>
            </a:r>
            <a:r>
              <a:rPr lang="en-US" sz="1600" b="1" dirty="0"/>
              <a:t>:</a:t>
            </a:r>
          </a:p>
          <a:p>
            <a:r>
              <a:rPr lang="en-US" sz="1600" dirty="0"/>
              <a:t>When you open www.google.com, your browser sends a GET request saying</a:t>
            </a:r>
            <a:r>
              <a:rPr lang="en-US" sz="1600" dirty="0" smtClean="0"/>
              <a:t>:</a:t>
            </a:r>
          </a:p>
          <a:p>
            <a:endParaRPr lang="en-US" sz="1600" dirty="0" smtClean="0"/>
          </a:p>
          <a:p>
            <a:r>
              <a:rPr lang="en-US" sz="1600" dirty="0" smtClean="0"/>
              <a:t>"</a:t>
            </a:r>
            <a:r>
              <a:rPr lang="en-US" sz="1600" dirty="0"/>
              <a:t>Give me the homepage."</a:t>
            </a:r>
          </a:p>
          <a:p>
            <a:endParaRPr lang="en-US" sz="1600" dirty="0"/>
          </a:p>
          <a:p>
            <a:r>
              <a:rPr lang="en-US" sz="1600" dirty="0"/>
              <a:t>You can also send other types of requests:</a:t>
            </a:r>
          </a:p>
          <a:p>
            <a:endParaRPr lang="en-US" sz="1600" dirty="0"/>
          </a:p>
          <a:p>
            <a:r>
              <a:rPr lang="en-US" sz="1600" b="1" dirty="0"/>
              <a:t>GET</a:t>
            </a:r>
            <a:r>
              <a:rPr lang="en-US" sz="1600" dirty="0"/>
              <a:t> → “Give me data</a:t>
            </a:r>
            <a:r>
              <a:rPr lang="en-US" sz="1600" dirty="0" smtClean="0"/>
              <a:t>”</a:t>
            </a:r>
            <a:endParaRPr lang="en-US" sz="1600" dirty="0"/>
          </a:p>
          <a:p>
            <a:r>
              <a:rPr lang="en-US" sz="1600" b="1" dirty="0"/>
              <a:t>POST</a:t>
            </a:r>
            <a:r>
              <a:rPr lang="en-US" sz="1600" dirty="0"/>
              <a:t> → “Here’s some data I want to send you</a:t>
            </a:r>
            <a:r>
              <a:rPr lang="en-US" sz="1600" dirty="0" smtClean="0"/>
              <a:t>”</a:t>
            </a:r>
            <a:endParaRPr lang="en-US" sz="1600" dirty="0"/>
          </a:p>
          <a:p>
            <a:r>
              <a:rPr lang="en-US" sz="1600" b="1" dirty="0"/>
              <a:t>PUT</a:t>
            </a:r>
            <a:r>
              <a:rPr lang="en-US" sz="1600" dirty="0"/>
              <a:t> → “Update something for me</a:t>
            </a:r>
            <a:r>
              <a:rPr lang="en-US" sz="1600" dirty="0" smtClean="0"/>
              <a:t>”</a:t>
            </a:r>
            <a:endParaRPr lang="en-US" sz="1600" dirty="0"/>
          </a:p>
          <a:p>
            <a:r>
              <a:rPr lang="en-US" sz="1600" b="1" dirty="0"/>
              <a:t>DELETE</a:t>
            </a:r>
            <a:r>
              <a:rPr lang="en-US" sz="1600" dirty="0"/>
              <a:t> → “Remove something for me”</a:t>
            </a: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13</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335995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e103274ca6_0_40"/>
          <p:cNvSpPr txBox="1"/>
          <p:nvPr/>
        </p:nvSpPr>
        <p:spPr>
          <a:xfrm>
            <a:off x="832800" y="828213"/>
            <a:ext cx="7478400" cy="3631733"/>
          </a:xfrm>
          <a:prstGeom prst="rect">
            <a:avLst/>
          </a:prstGeom>
          <a:noFill/>
          <a:ln>
            <a:noFill/>
          </a:ln>
        </p:spPr>
        <p:txBody>
          <a:bodyPr spcFirstLastPara="1" wrap="square" lIns="91425" tIns="91425" rIns="91425" bIns="91425" anchor="t" anchorCtr="0">
            <a:spAutoFit/>
          </a:bodyPr>
          <a:lstStyle/>
          <a:p>
            <a:r>
              <a:rPr lang="en-US" sz="1600" b="1" dirty="0"/>
              <a:t>What is </a:t>
            </a:r>
            <a:r>
              <a:rPr lang="en-US" sz="1600" b="1" dirty="0" smtClean="0"/>
              <a:t>Response?</a:t>
            </a:r>
          </a:p>
          <a:p>
            <a:endParaRPr lang="en-US" sz="1600" dirty="0" smtClean="0"/>
          </a:p>
          <a:p>
            <a:r>
              <a:rPr lang="en-US" sz="1600" b="1" dirty="0"/>
              <a:t>Response</a:t>
            </a:r>
            <a:r>
              <a:rPr lang="en-US" sz="1600" dirty="0"/>
              <a:t> – Server Replies</a:t>
            </a:r>
          </a:p>
          <a:p>
            <a:r>
              <a:rPr lang="en-US" sz="1600" dirty="0"/>
              <a:t>The response is what the server sends back after receiving your request.</a:t>
            </a:r>
          </a:p>
          <a:p>
            <a:endParaRPr lang="en-US" sz="1600" dirty="0"/>
          </a:p>
          <a:p>
            <a:r>
              <a:rPr lang="en-US" sz="1600" dirty="0"/>
              <a:t>It could be:</a:t>
            </a:r>
          </a:p>
          <a:p>
            <a:endParaRPr lang="en-US" sz="1600" dirty="0"/>
          </a:p>
          <a:p>
            <a:pPr marL="285750" indent="-285750">
              <a:buFont typeface="Arial" panose="020B0604020202020204" pitchFamily="34" charset="0"/>
              <a:buChar char="•"/>
            </a:pPr>
            <a:r>
              <a:rPr lang="en-US" sz="1600" dirty="0"/>
              <a:t>A web </a:t>
            </a:r>
            <a:r>
              <a:rPr lang="en-US" sz="1600" dirty="0" smtClean="0"/>
              <a:t>page</a:t>
            </a:r>
            <a:endParaRPr lang="en-US" sz="1600" dirty="0"/>
          </a:p>
          <a:p>
            <a:pPr marL="285750" indent="-285750">
              <a:buFont typeface="Arial" panose="020B0604020202020204" pitchFamily="34" charset="0"/>
              <a:buChar char="•"/>
            </a:pPr>
            <a:r>
              <a:rPr lang="en-US" sz="1600" dirty="0"/>
              <a:t>Some text or data (like your profile info</a:t>
            </a:r>
            <a:r>
              <a:rPr lang="en-US" sz="1600" dirty="0" smtClean="0"/>
              <a:t>)</a:t>
            </a:r>
            <a:endParaRPr lang="en-US" sz="1600" dirty="0"/>
          </a:p>
          <a:p>
            <a:pPr marL="285750" indent="-285750">
              <a:buFont typeface="Arial" panose="020B0604020202020204" pitchFamily="34" charset="0"/>
              <a:buChar char="•"/>
            </a:pPr>
            <a:r>
              <a:rPr lang="en-US" sz="1600" dirty="0"/>
              <a:t>A message saying "Success" or "Error"</a:t>
            </a:r>
          </a:p>
          <a:p>
            <a:endParaRPr lang="en-US" sz="1600" dirty="0"/>
          </a:p>
          <a:p>
            <a:r>
              <a:rPr lang="en-US" sz="1600" b="1" dirty="0"/>
              <a:t>Example:</a:t>
            </a:r>
          </a:p>
          <a:p>
            <a:endParaRPr lang="en-US" sz="1600" dirty="0"/>
          </a:p>
          <a:p>
            <a:r>
              <a:rPr lang="en-US" sz="1600" dirty="0"/>
              <a:t>“Here’s the homepage!” or “Sorry, page not found.”</a:t>
            </a:r>
          </a:p>
        </p:txBody>
      </p:sp>
      <p:sp>
        <p:nvSpPr>
          <p:cNvPr id="120" name="Google Shape;120;ge103274ca6_0_40"/>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21" name="Google Shape;121;ge103274ca6_0_40"/>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14</a:t>
            </a:fld>
            <a:endParaRPr sz="1300" b="1" i="0" u="none" strike="noStrike" cap="none">
              <a:solidFill>
                <a:srgbClr val="0091EA"/>
              </a:solidFill>
              <a:latin typeface="Arial"/>
              <a:ea typeface="Arial"/>
              <a:cs typeface="Arial"/>
              <a:sym typeface="Arial"/>
            </a:endParaRPr>
          </a:p>
        </p:txBody>
      </p:sp>
    </p:spTree>
    <p:extLst>
      <p:ext uri="{BB962C8B-B14F-4D97-AF65-F5344CB8AC3E}">
        <p14:creationId xmlns:p14="http://schemas.microsoft.com/office/powerpoint/2010/main" val="40385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ge1936f3aa2_0_46"/>
          <p:cNvSpPr txBox="1"/>
          <p:nvPr/>
        </p:nvSpPr>
        <p:spPr>
          <a:xfrm>
            <a:off x="701050" y="1088899"/>
            <a:ext cx="7535000" cy="2776520"/>
          </a:xfrm>
          <a:prstGeom prst="rect">
            <a:avLst/>
          </a:prstGeom>
          <a:noFill/>
          <a:ln>
            <a:noFill/>
          </a:ln>
        </p:spPr>
        <p:txBody>
          <a:bodyPr spcFirstLastPara="1" wrap="square" lIns="91425" tIns="91425" rIns="91425" bIns="91425" anchor="t" anchorCtr="0">
            <a:noAutofit/>
          </a:bodyPr>
          <a:lstStyle/>
          <a:p>
            <a:pPr lvl="0">
              <a:buSzPts val="1200"/>
            </a:pPr>
            <a:r>
              <a:rPr lang="en-US" sz="1600" b="1" dirty="0">
                <a:highlight>
                  <a:srgbClr val="FFFFFF"/>
                </a:highlight>
              </a:rPr>
              <a:t>Python's </a:t>
            </a:r>
            <a:r>
              <a:rPr lang="en-US" sz="1600" b="1" dirty="0" err="1">
                <a:highlight>
                  <a:srgbClr val="FFFFFF"/>
                </a:highlight>
              </a:rPr>
              <a:t>json</a:t>
            </a:r>
            <a:r>
              <a:rPr lang="en-US" sz="1600" b="1" dirty="0">
                <a:highlight>
                  <a:srgbClr val="FFFFFF"/>
                </a:highlight>
              </a:rPr>
              <a:t> </a:t>
            </a:r>
            <a:r>
              <a:rPr lang="en-US" sz="1600" b="1" dirty="0" smtClean="0">
                <a:highlight>
                  <a:srgbClr val="FFFFFF"/>
                </a:highlight>
              </a:rPr>
              <a:t>Module</a:t>
            </a:r>
          </a:p>
          <a:p>
            <a:pPr lvl="0">
              <a:buSzPts val="1200"/>
            </a:pPr>
            <a:endParaRPr lang="en-US" sz="1600" b="1" dirty="0">
              <a:highlight>
                <a:srgbClr val="FFFFFF"/>
              </a:highlight>
            </a:endParaRPr>
          </a:p>
          <a:p>
            <a:pPr lvl="0">
              <a:buSzPts val="1200"/>
            </a:pPr>
            <a:r>
              <a:rPr lang="en-US" sz="1600" dirty="0">
                <a:highlight>
                  <a:srgbClr val="FFFFFF"/>
                </a:highlight>
              </a:rPr>
              <a:t>Python has a built-in module called </a:t>
            </a:r>
            <a:r>
              <a:rPr lang="en-US" sz="1600" b="1" dirty="0" err="1">
                <a:highlight>
                  <a:srgbClr val="FFFFFF"/>
                </a:highlight>
              </a:rPr>
              <a:t>json</a:t>
            </a:r>
            <a:r>
              <a:rPr lang="en-US" sz="1600" dirty="0">
                <a:highlight>
                  <a:srgbClr val="FFFFFF"/>
                </a:highlight>
              </a:rPr>
              <a:t>. You don’t need to install anything — just import and start using it!</a:t>
            </a:r>
          </a:p>
          <a:p>
            <a:pPr lvl="0">
              <a:buSzPts val="1200"/>
            </a:pPr>
            <a:endParaRPr lang="en-US" sz="1600" dirty="0">
              <a:highlight>
                <a:srgbClr val="FFFFFF"/>
              </a:highlight>
            </a:endParaRPr>
          </a:p>
          <a:p>
            <a:pPr lvl="0">
              <a:buSzPts val="1200"/>
            </a:pPr>
            <a:r>
              <a:rPr lang="en-US" sz="1600" dirty="0">
                <a:highlight>
                  <a:srgbClr val="FFFFFF"/>
                </a:highlight>
              </a:rPr>
              <a:t>This module lets your Python program talk to APIs or read/write JSON files easily</a:t>
            </a:r>
            <a:r>
              <a:rPr lang="en-US" sz="1600" dirty="0" smtClean="0">
                <a:highlight>
                  <a:srgbClr val="FFFFFF"/>
                </a:highlight>
              </a:rPr>
              <a:t>.</a:t>
            </a:r>
          </a:p>
        </p:txBody>
      </p:sp>
      <p:sp>
        <p:nvSpPr>
          <p:cNvPr id="165" name="Google Shape;165;ge1936f3aa2_0_46"/>
          <p:cNvSpPr txBox="1">
            <a:spLocks noGrp="1"/>
          </p:cNvSpPr>
          <p:nvPr>
            <p:ph type="sldNum" idx="12"/>
          </p:nvPr>
        </p:nvSpPr>
        <p:spPr>
          <a:xfrm>
            <a:off x="7985402" y="4749851"/>
            <a:ext cx="5184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15</a:t>
            </a:fld>
            <a:endParaRPr/>
          </a:p>
        </p:txBody>
      </p:sp>
      <p:sp>
        <p:nvSpPr>
          <p:cNvPr id="172" name="Google Shape;172;ge1936f3aa2_0_46"/>
          <p:cNvSpPr txBox="1">
            <a:spLocks noGrp="1"/>
          </p:cNvSpPr>
          <p:nvPr>
            <p:ph type="title"/>
          </p:nvPr>
        </p:nvSpPr>
        <p:spPr>
          <a:xfrm>
            <a:off x="701050" y="315053"/>
            <a:ext cx="7830900" cy="702600"/>
          </a:xfrm>
          <a:prstGeom prst="rect">
            <a:avLst/>
          </a:prstGeom>
          <a:noFill/>
          <a:ln>
            <a:noFill/>
          </a:ln>
        </p:spPr>
        <p:txBody>
          <a:bodyPr spcFirstLastPara="1" wrap="square" lIns="91425" tIns="91425" rIns="91425" bIns="91425" anchor="b" anchorCtr="0">
            <a:noAutofit/>
          </a:bodyPr>
          <a:lstStyle/>
          <a:p>
            <a:pPr lvl="0">
              <a:lnSpc>
                <a:spcPct val="110000"/>
              </a:lnSpc>
              <a:spcBef>
                <a:spcPts val="2400"/>
              </a:spcBef>
              <a:spcAft>
                <a:spcPts val="600"/>
              </a:spcAft>
            </a:pPr>
            <a:r>
              <a:rPr lang="en-US" sz="3000" b="1" dirty="0"/>
              <a:t>Working with JSON in Python</a:t>
            </a:r>
            <a:endParaRPr sz="3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ge1936f3aa2_0_46"/>
          <p:cNvSpPr txBox="1"/>
          <p:nvPr/>
        </p:nvSpPr>
        <p:spPr>
          <a:xfrm>
            <a:off x="701050" y="1088898"/>
            <a:ext cx="7535000" cy="3095175"/>
          </a:xfrm>
          <a:prstGeom prst="rect">
            <a:avLst/>
          </a:prstGeom>
          <a:noFill/>
          <a:ln>
            <a:noFill/>
          </a:ln>
        </p:spPr>
        <p:txBody>
          <a:bodyPr spcFirstLastPara="1" wrap="square" lIns="91425" tIns="91425" rIns="91425" bIns="91425" anchor="t" anchorCtr="0">
            <a:noAutofit/>
          </a:bodyPr>
          <a:lstStyle/>
          <a:p>
            <a:pPr lvl="0">
              <a:buSzPts val="1200"/>
            </a:pPr>
            <a:r>
              <a:rPr lang="en-US" sz="1600" dirty="0" smtClean="0"/>
              <a:t>Two </a:t>
            </a:r>
            <a:r>
              <a:rPr lang="en-US" sz="1600" dirty="0"/>
              <a:t>Main Functions You Need to </a:t>
            </a:r>
            <a:r>
              <a:rPr lang="en-US" sz="1600" dirty="0" smtClean="0"/>
              <a:t>Know:</a:t>
            </a:r>
            <a:endParaRPr lang="en-US" sz="1600" b="0" i="0" u="none" strike="noStrike" cap="none" dirty="0" smtClean="0">
              <a:solidFill>
                <a:srgbClr val="000000"/>
              </a:solidFill>
              <a:highlight>
                <a:srgbClr val="FFFFFF"/>
              </a:highlight>
              <a:sym typeface="Arial"/>
            </a:endParaRPr>
          </a:p>
          <a:p>
            <a:pPr marL="0" marR="0" lvl="0" indent="0" algn="l" rtl="0">
              <a:lnSpc>
                <a:spcPct val="40000"/>
              </a:lnSpc>
              <a:spcBef>
                <a:spcPts val="0"/>
              </a:spcBef>
              <a:spcAft>
                <a:spcPts val="0"/>
              </a:spcAft>
              <a:buClr>
                <a:srgbClr val="000000"/>
              </a:buClr>
              <a:buSzPts val="1200"/>
              <a:buFont typeface="Arial"/>
              <a:buNone/>
            </a:pPr>
            <a:endParaRPr lang="en-US" sz="1600" dirty="0">
              <a:highlight>
                <a:srgbClr val="FFFFFF"/>
              </a:highlight>
            </a:endParaRPr>
          </a:p>
          <a:p>
            <a:pPr marL="0" marR="0" lvl="0" indent="0" algn="l" rtl="0">
              <a:lnSpc>
                <a:spcPct val="40000"/>
              </a:lnSpc>
              <a:spcBef>
                <a:spcPts val="0"/>
              </a:spcBef>
              <a:spcAft>
                <a:spcPts val="0"/>
              </a:spcAft>
              <a:buClr>
                <a:srgbClr val="000000"/>
              </a:buClr>
              <a:buSzPts val="1200"/>
              <a:buFont typeface="Arial"/>
              <a:buNone/>
            </a:pPr>
            <a:endParaRPr sz="1600" b="0" i="0" u="none" strike="noStrike" cap="none" dirty="0">
              <a:solidFill>
                <a:srgbClr val="000000"/>
              </a:solidFill>
              <a:highlight>
                <a:srgbClr val="FFFFFF"/>
              </a:highlight>
              <a:sym typeface="Arial"/>
            </a:endParaRPr>
          </a:p>
          <a:p>
            <a:pPr lvl="0">
              <a:buSzPts val="1200"/>
            </a:pPr>
            <a:r>
              <a:rPr lang="en-US" sz="1600" b="1" dirty="0" err="1">
                <a:highlight>
                  <a:srgbClr val="FFFFFF"/>
                </a:highlight>
                <a:latin typeface="Courier New"/>
                <a:ea typeface="Courier New"/>
                <a:cs typeface="Courier New"/>
                <a:sym typeface="Courier New"/>
              </a:rPr>
              <a:t>json.loads</a:t>
            </a:r>
            <a:r>
              <a:rPr lang="en-US" sz="1600" b="1" dirty="0">
                <a:highlight>
                  <a:srgbClr val="FFFFFF"/>
                </a:highlight>
                <a:latin typeface="Courier New"/>
                <a:ea typeface="Courier New"/>
                <a:cs typeface="Courier New"/>
                <a:sym typeface="Courier New"/>
              </a:rPr>
              <a:t>()</a:t>
            </a:r>
          </a:p>
          <a:p>
            <a:pPr lvl="0">
              <a:buSzPts val="1200"/>
            </a:pPr>
            <a:r>
              <a:rPr lang="en-US" sz="1600" dirty="0">
                <a:highlight>
                  <a:srgbClr val="FFFFFF"/>
                </a:highlight>
                <a:latin typeface="Courier New"/>
                <a:ea typeface="Courier New"/>
                <a:cs typeface="Courier New"/>
                <a:sym typeface="Courier New"/>
              </a:rPr>
              <a:t>This means: </a:t>
            </a:r>
            <a:r>
              <a:rPr lang="en-US" sz="1600" dirty="0" err="1">
                <a:highlight>
                  <a:srgbClr val="FFFFFF"/>
                </a:highlight>
                <a:latin typeface="Courier New"/>
                <a:ea typeface="Courier New"/>
                <a:cs typeface="Courier New"/>
                <a:sym typeface="Courier New"/>
              </a:rPr>
              <a:t>LOaD</a:t>
            </a:r>
            <a:r>
              <a:rPr lang="en-US" sz="1600" dirty="0">
                <a:highlight>
                  <a:srgbClr val="FFFFFF"/>
                </a:highlight>
                <a:latin typeface="Courier New"/>
                <a:ea typeface="Courier New"/>
                <a:cs typeface="Courier New"/>
                <a:sym typeface="Courier New"/>
              </a:rPr>
              <a:t> String ➡️ Python Object</a:t>
            </a:r>
          </a:p>
          <a:p>
            <a:pPr lvl="0">
              <a:buSzPts val="1200"/>
            </a:pPr>
            <a:r>
              <a:rPr lang="en-US" sz="1600" dirty="0" smtClean="0">
                <a:highlight>
                  <a:srgbClr val="FFFFFF"/>
                </a:highlight>
                <a:latin typeface="Courier New"/>
                <a:ea typeface="Courier New"/>
                <a:cs typeface="Courier New"/>
                <a:sym typeface="Courier New"/>
              </a:rPr>
              <a:t>Takes </a:t>
            </a:r>
            <a:r>
              <a:rPr lang="en-US" sz="1600" dirty="0">
                <a:highlight>
                  <a:srgbClr val="FFFFFF"/>
                </a:highlight>
                <a:latin typeface="Courier New"/>
                <a:ea typeface="Courier New"/>
                <a:cs typeface="Courier New"/>
                <a:sym typeface="Courier New"/>
              </a:rPr>
              <a:t>a JSON string and converts it into a Python object (like dictionary, list, etc</a:t>
            </a:r>
            <a:r>
              <a:rPr lang="en-US" sz="1600" dirty="0" smtClean="0">
                <a:highlight>
                  <a:srgbClr val="FFFFFF"/>
                </a:highlight>
                <a:latin typeface="Courier New"/>
                <a:ea typeface="Courier New"/>
                <a:cs typeface="Courier New"/>
                <a:sym typeface="Courier New"/>
              </a:rPr>
              <a:t>.)</a:t>
            </a:r>
          </a:p>
          <a:p>
            <a:pPr lvl="0">
              <a:buSzPts val="1200"/>
            </a:pPr>
            <a:endParaRPr lang="en-US" sz="1600" dirty="0">
              <a:highlight>
                <a:srgbClr val="FFFFFF"/>
              </a:highlight>
              <a:latin typeface="Courier New"/>
              <a:ea typeface="Courier New"/>
              <a:cs typeface="Courier New"/>
              <a:sym typeface="Courier New"/>
            </a:endParaRPr>
          </a:p>
          <a:p>
            <a:pPr lvl="0">
              <a:buSzPts val="1200"/>
            </a:pPr>
            <a:r>
              <a:rPr lang="en-US" sz="1600" b="1" dirty="0" err="1">
                <a:highlight>
                  <a:srgbClr val="FFFFFF"/>
                </a:highlight>
                <a:latin typeface="Courier New"/>
                <a:ea typeface="Courier New"/>
                <a:cs typeface="Courier New"/>
                <a:sym typeface="Courier New"/>
              </a:rPr>
              <a:t>json.dumps</a:t>
            </a:r>
            <a:r>
              <a:rPr lang="en-US" sz="1600" b="1" dirty="0">
                <a:highlight>
                  <a:srgbClr val="FFFFFF"/>
                </a:highlight>
                <a:latin typeface="Courier New"/>
                <a:ea typeface="Courier New"/>
                <a:cs typeface="Courier New"/>
                <a:sym typeface="Courier New"/>
              </a:rPr>
              <a:t>()</a:t>
            </a:r>
          </a:p>
          <a:p>
            <a:pPr lvl="0">
              <a:buSzPts val="1200"/>
            </a:pPr>
            <a:r>
              <a:rPr lang="en-US" sz="1600" dirty="0">
                <a:highlight>
                  <a:srgbClr val="FFFFFF"/>
                </a:highlight>
                <a:latin typeface="Courier New"/>
                <a:ea typeface="Courier New"/>
                <a:cs typeface="Courier New"/>
                <a:sym typeface="Courier New"/>
              </a:rPr>
              <a:t>This means: DUMP Python ➡️ String</a:t>
            </a:r>
          </a:p>
          <a:p>
            <a:pPr lvl="0">
              <a:buSzPts val="1200"/>
            </a:pPr>
            <a:endParaRPr lang="en-US" sz="1600" dirty="0">
              <a:highlight>
                <a:srgbClr val="FFFFFF"/>
              </a:highlight>
              <a:latin typeface="Courier New"/>
              <a:ea typeface="Courier New"/>
              <a:cs typeface="Courier New"/>
              <a:sym typeface="Courier New"/>
            </a:endParaRPr>
          </a:p>
          <a:p>
            <a:pPr lvl="0">
              <a:buSzPts val="1200"/>
            </a:pPr>
            <a:r>
              <a:rPr lang="en-US" sz="1600" dirty="0">
                <a:highlight>
                  <a:srgbClr val="FFFFFF"/>
                </a:highlight>
                <a:latin typeface="Courier New"/>
                <a:ea typeface="Courier New"/>
                <a:cs typeface="Courier New"/>
                <a:sym typeface="Courier New"/>
              </a:rPr>
              <a:t>Takes a Python object and converts it into a JSON string — useful for sending data to APIs or saving into a file.</a:t>
            </a:r>
            <a:endParaRPr lang="en-US" sz="1600" dirty="0" smtClean="0">
              <a:highlight>
                <a:srgbClr val="FFFFFF"/>
              </a:highlight>
              <a:latin typeface="Courier New"/>
              <a:ea typeface="Courier New"/>
              <a:cs typeface="Courier New"/>
              <a:sym typeface="Courier New"/>
            </a:endParaRPr>
          </a:p>
        </p:txBody>
      </p:sp>
      <p:sp>
        <p:nvSpPr>
          <p:cNvPr id="165" name="Google Shape;165;ge1936f3aa2_0_46"/>
          <p:cNvSpPr txBox="1">
            <a:spLocks noGrp="1"/>
          </p:cNvSpPr>
          <p:nvPr>
            <p:ph type="sldNum" idx="12"/>
          </p:nvPr>
        </p:nvSpPr>
        <p:spPr>
          <a:xfrm>
            <a:off x="7985402" y="4749851"/>
            <a:ext cx="5184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16</a:t>
            </a:fld>
            <a:endParaRPr/>
          </a:p>
        </p:txBody>
      </p:sp>
      <p:sp>
        <p:nvSpPr>
          <p:cNvPr id="172" name="Google Shape;172;ge1936f3aa2_0_46"/>
          <p:cNvSpPr txBox="1">
            <a:spLocks noGrp="1"/>
          </p:cNvSpPr>
          <p:nvPr>
            <p:ph type="title"/>
          </p:nvPr>
        </p:nvSpPr>
        <p:spPr>
          <a:xfrm>
            <a:off x="701050" y="315053"/>
            <a:ext cx="7830900" cy="702600"/>
          </a:xfrm>
          <a:prstGeom prst="rect">
            <a:avLst/>
          </a:prstGeom>
          <a:noFill/>
          <a:ln>
            <a:noFill/>
          </a:ln>
        </p:spPr>
        <p:txBody>
          <a:bodyPr spcFirstLastPara="1" wrap="square" lIns="91425" tIns="91425" rIns="91425" bIns="91425" anchor="b" anchorCtr="0">
            <a:noAutofit/>
          </a:bodyPr>
          <a:lstStyle/>
          <a:p>
            <a:pPr lvl="0">
              <a:lnSpc>
                <a:spcPct val="110000"/>
              </a:lnSpc>
              <a:spcBef>
                <a:spcPts val="2400"/>
              </a:spcBef>
              <a:spcAft>
                <a:spcPts val="600"/>
              </a:spcAft>
            </a:pPr>
            <a:r>
              <a:rPr lang="en-US" sz="3000" b="1" dirty="0"/>
              <a:t>Working with JSON in Python</a:t>
            </a:r>
            <a:endParaRPr sz="3000" b="1" dirty="0"/>
          </a:p>
        </p:txBody>
      </p:sp>
    </p:spTree>
    <p:extLst>
      <p:ext uri="{BB962C8B-B14F-4D97-AF65-F5344CB8AC3E}">
        <p14:creationId xmlns:p14="http://schemas.microsoft.com/office/powerpoint/2010/main" val="414588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 name="Rectangle 2"/>
          <p:cNvSpPr/>
          <p:nvPr/>
        </p:nvSpPr>
        <p:spPr>
          <a:xfrm>
            <a:off x="443347" y="416845"/>
            <a:ext cx="5708072" cy="2123658"/>
          </a:xfrm>
          <a:prstGeom prst="rect">
            <a:avLst/>
          </a:prstGeom>
          <a:solidFill>
            <a:schemeClr val="accent4"/>
          </a:solidFill>
        </p:spPr>
        <p:txBody>
          <a:bodyPr wrap="square">
            <a:spAutoFit/>
          </a:bodyPr>
          <a:lstStyle/>
          <a:p>
            <a:r>
              <a:rPr lang="en-US" sz="1200" dirty="0"/>
              <a:t>import </a:t>
            </a:r>
            <a:r>
              <a:rPr lang="en-US" sz="1200" dirty="0" err="1"/>
              <a:t>json</a:t>
            </a:r>
            <a:r>
              <a:rPr lang="en-US" sz="1200" dirty="0"/>
              <a:t>  # Step 1: Import </a:t>
            </a:r>
            <a:r>
              <a:rPr lang="en-US" sz="1200" dirty="0" err="1"/>
              <a:t>json</a:t>
            </a:r>
            <a:r>
              <a:rPr lang="en-US" sz="1200" dirty="0"/>
              <a:t> module</a:t>
            </a:r>
          </a:p>
          <a:p>
            <a:endParaRPr lang="en-US" sz="1200" dirty="0"/>
          </a:p>
          <a:p>
            <a:r>
              <a:rPr lang="en-US" sz="1200" dirty="0" smtClean="0"/>
              <a:t># Step 2: This is a JSON string (looks like Python </a:t>
            </a:r>
            <a:r>
              <a:rPr lang="en-US" sz="1200" dirty="0" err="1" smtClean="0"/>
              <a:t>dict</a:t>
            </a:r>
            <a:r>
              <a:rPr lang="en-US" sz="1200" dirty="0" smtClean="0"/>
              <a:t>, but it's just text)</a:t>
            </a:r>
          </a:p>
          <a:p>
            <a:r>
              <a:rPr lang="en-US" sz="1200" dirty="0" err="1" smtClean="0"/>
              <a:t>json_string</a:t>
            </a:r>
            <a:r>
              <a:rPr lang="en-US" sz="1200" dirty="0" smtClean="0"/>
              <a:t> = '''{</a:t>
            </a:r>
          </a:p>
          <a:p>
            <a:r>
              <a:rPr lang="en-US" sz="1200" dirty="0" smtClean="0"/>
              <a:t>   "name": "john",</a:t>
            </a:r>
          </a:p>
          <a:p>
            <a:r>
              <a:rPr lang="en-US" sz="1200" dirty="0" smtClean="0"/>
              <a:t>   "age": 40,</a:t>
            </a:r>
          </a:p>
          <a:p>
            <a:r>
              <a:rPr lang="en-US" sz="1200" dirty="0" smtClean="0"/>
              <a:t>   "children": [</a:t>
            </a:r>
          </a:p>
          <a:p>
            <a:r>
              <a:rPr lang="en-US" sz="1200" dirty="0" smtClean="0"/>
              <a:t>       {"name": "</a:t>
            </a:r>
            <a:r>
              <a:rPr lang="en-US" sz="1200" dirty="0" err="1" smtClean="0"/>
              <a:t>sara</a:t>
            </a:r>
            <a:r>
              <a:rPr lang="en-US" sz="1200" dirty="0" smtClean="0"/>
              <a:t>"},</a:t>
            </a:r>
          </a:p>
          <a:p>
            <a:r>
              <a:rPr lang="en-US" sz="1200" dirty="0" smtClean="0"/>
              <a:t>       {"name": "peter"}</a:t>
            </a:r>
          </a:p>
          <a:p>
            <a:r>
              <a:rPr lang="en-US" sz="1200" dirty="0" smtClean="0"/>
              <a:t>   ]</a:t>
            </a:r>
          </a:p>
          <a:p>
            <a:r>
              <a:rPr lang="en-US" sz="1200" dirty="0" smtClean="0"/>
              <a:t>}'''</a:t>
            </a:r>
          </a:p>
        </p:txBody>
      </p:sp>
      <p:sp>
        <p:nvSpPr>
          <p:cNvPr id="4" name="TextBox 3"/>
          <p:cNvSpPr txBox="1"/>
          <p:nvPr/>
        </p:nvSpPr>
        <p:spPr>
          <a:xfrm>
            <a:off x="2888673" y="1819737"/>
            <a:ext cx="5618017" cy="2862322"/>
          </a:xfrm>
          <a:prstGeom prst="rect">
            <a:avLst/>
          </a:prstGeom>
          <a:solidFill>
            <a:schemeClr val="accent2">
              <a:lumMod val="75000"/>
            </a:schemeClr>
          </a:solidFill>
        </p:spPr>
        <p:txBody>
          <a:bodyPr wrap="square" rtlCol="0">
            <a:spAutoFit/>
          </a:bodyPr>
          <a:lstStyle/>
          <a:p>
            <a:r>
              <a:rPr lang="en-US" sz="1200" dirty="0">
                <a:solidFill>
                  <a:schemeClr val="bg1"/>
                </a:solidFill>
              </a:rPr>
              <a:t># Step 3: Convert JSON string to Python dictionary</a:t>
            </a:r>
          </a:p>
          <a:p>
            <a:r>
              <a:rPr lang="en-US" sz="1200" dirty="0" err="1">
                <a:solidFill>
                  <a:schemeClr val="bg1"/>
                </a:solidFill>
              </a:rPr>
              <a:t>json_obj</a:t>
            </a:r>
            <a:r>
              <a:rPr lang="en-US" sz="1200" dirty="0">
                <a:solidFill>
                  <a:schemeClr val="bg1"/>
                </a:solidFill>
              </a:rPr>
              <a:t> = </a:t>
            </a:r>
            <a:r>
              <a:rPr lang="en-US" sz="1200" dirty="0" err="1">
                <a:solidFill>
                  <a:schemeClr val="bg1"/>
                </a:solidFill>
              </a:rPr>
              <a:t>json.loads</a:t>
            </a:r>
            <a:r>
              <a:rPr lang="en-US" sz="1200" dirty="0">
                <a:solidFill>
                  <a:schemeClr val="bg1"/>
                </a:solidFill>
              </a:rPr>
              <a:t>(</a:t>
            </a:r>
            <a:r>
              <a:rPr lang="en-US" sz="1200" dirty="0" err="1">
                <a:solidFill>
                  <a:schemeClr val="bg1"/>
                </a:solidFill>
              </a:rPr>
              <a:t>json_string</a:t>
            </a:r>
            <a:r>
              <a:rPr lang="en-US" sz="1200" dirty="0">
                <a:solidFill>
                  <a:schemeClr val="bg1"/>
                </a:solidFill>
              </a:rPr>
              <a:t>)</a:t>
            </a:r>
          </a:p>
          <a:p>
            <a:r>
              <a:rPr lang="en-US" sz="1200" dirty="0">
                <a:solidFill>
                  <a:schemeClr val="bg1"/>
                </a:solidFill>
              </a:rPr>
              <a:t>print(</a:t>
            </a:r>
            <a:r>
              <a:rPr lang="en-US" sz="1200" dirty="0" err="1">
                <a:solidFill>
                  <a:schemeClr val="bg1"/>
                </a:solidFill>
              </a:rPr>
              <a:t>json_obj</a:t>
            </a:r>
            <a:r>
              <a:rPr lang="en-US" sz="1200" dirty="0">
                <a:solidFill>
                  <a:schemeClr val="bg1"/>
                </a:solidFill>
              </a:rPr>
              <a:t>["name"])  # Output: john</a:t>
            </a:r>
          </a:p>
          <a:p>
            <a:r>
              <a:rPr lang="en-US" sz="1200" dirty="0">
                <a:solidFill>
                  <a:schemeClr val="bg1"/>
                </a:solidFill>
              </a:rPr>
              <a:t>print(</a:t>
            </a:r>
            <a:r>
              <a:rPr lang="en-US" sz="1200" dirty="0" err="1">
                <a:solidFill>
                  <a:schemeClr val="bg1"/>
                </a:solidFill>
              </a:rPr>
              <a:t>json_obj</a:t>
            </a:r>
            <a:r>
              <a:rPr lang="en-US" sz="1200" dirty="0">
                <a:solidFill>
                  <a:schemeClr val="bg1"/>
                </a:solidFill>
              </a:rPr>
              <a:t>["children"][0]["name"])  # Output: </a:t>
            </a:r>
            <a:r>
              <a:rPr lang="en-US" sz="1200" dirty="0" err="1">
                <a:solidFill>
                  <a:schemeClr val="bg1"/>
                </a:solidFill>
              </a:rPr>
              <a:t>sara</a:t>
            </a:r>
            <a:endParaRPr lang="en-US" sz="1200" dirty="0">
              <a:solidFill>
                <a:schemeClr val="bg1"/>
              </a:solidFill>
            </a:endParaRPr>
          </a:p>
          <a:p>
            <a:endParaRPr lang="en-US" sz="1200" dirty="0">
              <a:solidFill>
                <a:schemeClr val="bg1"/>
              </a:solidFill>
            </a:endParaRPr>
          </a:p>
          <a:p>
            <a:r>
              <a:rPr lang="en-US" sz="1200" dirty="0">
                <a:solidFill>
                  <a:schemeClr val="bg1"/>
                </a:solidFill>
              </a:rPr>
              <a:t># Step 4: Convert Python object to JSON string</a:t>
            </a:r>
          </a:p>
          <a:p>
            <a:r>
              <a:rPr lang="en-US" sz="1200" dirty="0" err="1">
                <a:solidFill>
                  <a:schemeClr val="bg1"/>
                </a:solidFill>
              </a:rPr>
              <a:t>json_as_string</a:t>
            </a:r>
            <a:r>
              <a:rPr lang="en-US" sz="1200" dirty="0">
                <a:solidFill>
                  <a:schemeClr val="bg1"/>
                </a:solidFill>
              </a:rPr>
              <a:t> = </a:t>
            </a:r>
            <a:r>
              <a:rPr lang="en-US" sz="1200" dirty="0" err="1">
                <a:solidFill>
                  <a:schemeClr val="bg1"/>
                </a:solidFill>
              </a:rPr>
              <a:t>json.dumps</a:t>
            </a:r>
            <a:r>
              <a:rPr lang="en-US" sz="1200" dirty="0">
                <a:solidFill>
                  <a:schemeClr val="bg1"/>
                </a:solidFill>
              </a:rPr>
              <a:t>({</a:t>
            </a:r>
          </a:p>
          <a:p>
            <a:r>
              <a:rPr lang="en-US" sz="1200" dirty="0">
                <a:solidFill>
                  <a:schemeClr val="bg1"/>
                </a:solidFill>
              </a:rPr>
              <a:t>   "name": "john",</a:t>
            </a:r>
          </a:p>
          <a:p>
            <a:r>
              <a:rPr lang="en-US" sz="1200" dirty="0">
                <a:solidFill>
                  <a:schemeClr val="bg1"/>
                </a:solidFill>
              </a:rPr>
              <a:t>   "age": 40,</a:t>
            </a:r>
          </a:p>
          <a:p>
            <a:r>
              <a:rPr lang="en-US" sz="1200" dirty="0">
                <a:solidFill>
                  <a:schemeClr val="bg1"/>
                </a:solidFill>
              </a:rPr>
              <a:t>   "children": [</a:t>
            </a:r>
          </a:p>
          <a:p>
            <a:r>
              <a:rPr lang="en-US" sz="1200" dirty="0">
                <a:solidFill>
                  <a:schemeClr val="bg1"/>
                </a:solidFill>
              </a:rPr>
              <a:t>       {"name": "</a:t>
            </a:r>
            <a:r>
              <a:rPr lang="en-US" sz="1200" dirty="0" err="1">
                <a:solidFill>
                  <a:schemeClr val="bg1"/>
                </a:solidFill>
              </a:rPr>
              <a:t>sara</a:t>
            </a:r>
            <a:r>
              <a:rPr lang="en-US" sz="1200" dirty="0">
                <a:solidFill>
                  <a:schemeClr val="bg1"/>
                </a:solidFill>
              </a:rPr>
              <a:t>"},</a:t>
            </a:r>
          </a:p>
          <a:p>
            <a:r>
              <a:rPr lang="en-US" sz="1200" dirty="0">
                <a:solidFill>
                  <a:schemeClr val="bg1"/>
                </a:solidFill>
              </a:rPr>
              <a:t>       {"name": "peter"}</a:t>
            </a:r>
          </a:p>
          <a:p>
            <a:r>
              <a:rPr lang="en-US" sz="1200" dirty="0">
                <a:solidFill>
                  <a:schemeClr val="bg1"/>
                </a:solidFill>
              </a:rPr>
              <a:t>   ]</a:t>
            </a:r>
          </a:p>
          <a:p>
            <a:r>
              <a:rPr lang="en-US" sz="1200" dirty="0">
                <a:solidFill>
                  <a:schemeClr val="bg1"/>
                </a:solidFill>
              </a:rPr>
              <a:t>})</a:t>
            </a:r>
          </a:p>
          <a:p>
            <a:r>
              <a:rPr lang="en-US" sz="1200" dirty="0">
                <a:solidFill>
                  <a:schemeClr val="bg1"/>
                </a:solidFill>
              </a:rPr>
              <a:t>print(</a:t>
            </a:r>
            <a:r>
              <a:rPr lang="en-US" sz="1200" dirty="0" err="1">
                <a:solidFill>
                  <a:schemeClr val="bg1"/>
                </a:solidFill>
              </a:rPr>
              <a:t>json_as_string</a:t>
            </a:r>
            <a:r>
              <a:rPr lang="en-US" sz="1200" dirty="0">
                <a:solidFill>
                  <a:schemeClr val="bg1"/>
                </a:solidFill>
              </a:rPr>
              <a:t>)</a:t>
            </a:r>
          </a:p>
        </p:txBody>
      </p:sp>
    </p:spTree>
    <p:extLst>
      <p:ext uri="{BB962C8B-B14F-4D97-AF65-F5344CB8AC3E}">
        <p14:creationId xmlns:p14="http://schemas.microsoft.com/office/powerpoint/2010/main" val="1324949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e1936f3aa2_0_18"/>
          <p:cNvSpPr txBox="1"/>
          <p:nvPr/>
        </p:nvSpPr>
        <p:spPr>
          <a:xfrm>
            <a:off x="852670" y="2469650"/>
            <a:ext cx="7551714" cy="154500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1400"/>
              <a:buFont typeface="Arial"/>
              <a:buNone/>
            </a:pPr>
            <a:r>
              <a:rPr lang="en" sz="1400" b="1" i="0" u="none" strike="noStrike" cap="none" dirty="0">
                <a:solidFill>
                  <a:srgbClr val="EF4F63"/>
                </a:solidFill>
                <a:latin typeface="Arial"/>
                <a:ea typeface="Arial"/>
                <a:cs typeface="Arial"/>
                <a:sym typeface="Arial"/>
              </a:rPr>
              <a:t>HTTPS </a:t>
            </a:r>
            <a:r>
              <a:rPr lang="en" sz="1400" b="1" i="0" u="none" strike="noStrike" cap="none" dirty="0" smtClean="0">
                <a:solidFill>
                  <a:srgbClr val="EF4F63"/>
                </a:solidFill>
                <a:latin typeface="Arial"/>
                <a:ea typeface="Arial"/>
                <a:cs typeface="Arial"/>
                <a:sym typeface="Arial"/>
              </a:rPr>
              <a:t>METHODS</a:t>
            </a:r>
            <a:endParaRPr sz="1400" b="1" i="0" u="none" strike="noStrike" cap="none" dirty="0">
              <a:solidFill>
                <a:srgbClr val="EF4F63"/>
              </a:solidFill>
              <a:latin typeface="Arial"/>
              <a:ea typeface="Arial"/>
              <a:cs typeface="Arial"/>
              <a:sym typeface="Arial"/>
            </a:endParaRPr>
          </a:p>
          <a:p>
            <a:pPr lvl="0">
              <a:lnSpc>
                <a:spcPct val="115000"/>
              </a:lnSpc>
              <a:spcBef>
                <a:spcPts val="600"/>
              </a:spcBef>
              <a:buSzPts val="1400"/>
            </a:pPr>
            <a:r>
              <a:rPr lang="en" sz="1400" b="0" i="0" u="none" strike="noStrike" cap="none" dirty="0" smtClean="0">
                <a:solidFill>
                  <a:schemeClr val="dk1"/>
                </a:solidFill>
                <a:latin typeface="Arial"/>
                <a:ea typeface="Arial"/>
                <a:cs typeface="Arial"/>
                <a:sym typeface="Arial"/>
              </a:rPr>
              <a:t>C</a:t>
            </a:r>
            <a:r>
              <a:rPr lang="en" dirty="0">
                <a:solidFill>
                  <a:srgbClr val="EF4F63"/>
                </a:solidFill>
              </a:rPr>
              <a:t> </a:t>
            </a:r>
            <a:r>
              <a:rPr lang="en" dirty="0" smtClean="0">
                <a:solidFill>
                  <a:schemeClr val="tx1"/>
                </a:solidFill>
              </a:rPr>
              <a:t>-</a:t>
            </a:r>
            <a:r>
              <a:rPr lang="en" dirty="0" smtClean="0">
                <a:solidFill>
                  <a:srgbClr val="EF4F63"/>
                </a:solidFill>
              </a:rPr>
              <a:t> </a:t>
            </a:r>
            <a:r>
              <a:rPr lang="en" sz="1400" b="0" i="0" u="none" strike="noStrike" cap="none" dirty="0" smtClean="0">
                <a:solidFill>
                  <a:schemeClr val="dk1"/>
                </a:solidFill>
                <a:latin typeface="Arial"/>
                <a:ea typeface="Arial"/>
                <a:cs typeface="Arial"/>
                <a:sym typeface="Arial"/>
              </a:rPr>
              <a:t>CREATE</a:t>
            </a:r>
            <a:r>
              <a:rPr lang="en" sz="1400" b="0" i="0" u="none" strike="noStrike" cap="none" dirty="0">
                <a:solidFill>
                  <a:srgbClr val="EF4F63"/>
                </a:solidFill>
                <a:latin typeface="Arial"/>
                <a:ea typeface="Arial"/>
                <a:cs typeface="Arial"/>
                <a:sym typeface="Arial"/>
              </a:rPr>
              <a:t>		</a:t>
            </a:r>
            <a:r>
              <a:rPr lang="en" sz="1400" b="0" i="0" u="none" strike="noStrike" cap="none" dirty="0" smtClean="0">
                <a:solidFill>
                  <a:srgbClr val="EF4F63"/>
                </a:solidFill>
                <a:latin typeface="Arial"/>
                <a:ea typeface="Arial"/>
                <a:cs typeface="Arial"/>
                <a:sym typeface="Arial"/>
              </a:rPr>
              <a:t>POST -</a:t>
            </a:r>
            <a:r>
              <a:rPr lang="en" dirty="0" smtClean="0">
                <a:solidFill>
                  <a:schemeClr val="dk1"/>
                </a:solidFill>
              </a:rPr>
              <a:t>     S</a:t>
            </a:r>
            <a:r>
              <a:rPr lang="en" sz="1400" b="0" i="0" u="none" strike="noStrike" cap="none" dirty="0" smtClean="0">
                <a:solidFill>
                  <a:schemeClr val="dk1"/>
                </a:solidFill>
                <a:latin typeface="Arial"/>
                <a:ea typeface="Arial"/>
                <a:cs typeface="Arial"/>
                <a:sym typeface="Arial"/>
              </a:rPr>
              <a:t>ubmits </a:t>
            </a:r>
            <a:r>
              <a:rPr lang="en" sz="1400" b="0" i="0" u="none" strike="noStrike" cap="none" dirty="0">
                <a:solidFill>
                  <a:schemeClr val="dk1"/>
                </a:solidFill>
                <a:latin typeface="Arial"/>
                <a:ea typeface="Arial"/>
                <a:cs typeface="Arial"/>
                <a:sym typeface="Arial"/>
              </a:rPr>
              <a:t>new data to the server.</a:t>
            </a:r>
            <a:br>
              <a:rPr lang="en" sz="1400" b="0" i="0" u="none" strike="noStrike" cap="none" dirty="0">
                <a:solidFill>
                  <a:schemeClr val="dk1"/>
                </a:solidFill>
                <a:latin typeface="Arial"/>
                <a:ea typeface="Arial"/>
                <a:cs typeface="Arial"/>
                <a:sym typeface="Arial"/>
              </a:rPr>
            </a:br>
            <a:r>
              <a:rPr lang="en" sz="1400" b="0" i="0" u="none" strike="noStrike" cap="none" dirty="0" smtClean="0">
                <a:solidFill>
                  <a:schemeClr val="dk1"/>
                </a:solidFill>
                <a:latin typeface="Arial"/>
                <a:ea typeface="Arial"/>
                <a:cs typeface="Arial"/>
                <a:sym typeface="Arial"/>
              </a:rPr>
              <a:t>R - READ</a:t>
            </a:r>
            <a:r>
              <a:rPr lang="en" sz="1400" b="0" i="0" u="none" strike="noStrike" cap="none" dirty="0">
                <a:solidFill>
                  <a:schemeClr val="dk1"/>
                </a:solidFill>
                <a:latin typeface="Arial"/>
                <a:ea typeface="Arial"/>
                <a:cs typeface="Arial"/>
                <a:sym typeface="Arial"/>
              </a:rPr>
              <a:t>		</a:t>
            </a:r>
            <a:r>
              <a:rPr lang="en" sz="1400" b="0" i="0" u="none" strike="noStrike" cap="none" dirty="0" smtClean="0">
                <a:solidFill>
                  <a:schemeClr val="dk1"/>
                </a:solidFill>
                <a:latin typeface="Arial"/>
                <a:ea typeface="Arial"/>
                <a:cs typeface="Arial"/>
                <a:sym typeface="Arial"/>
              </a:rPr>
              <a:t>	</a:t>
            </a:r>
            <a:r>
              <a:rPr lang="en" sz="1400" b="0" i="0" u="none" strike="noStrike" cap="none" dirty="0" smtClean="0">
                <a:solidFill>
                  <a:srgbClr val="EF4F63"/>
                </a:solidFill>
                <a:latin typeface="Arial"/>
                <a:ea typeface="Arial"/>
                <a:cs typeface="Arial"/>
                <a:sym typeface="Arial"/>
              </a:rPr>
              <a:t>GET</a:t>
            </a:r>
            <a:r>
              <a:rPr lang="en" sz="1400" b="0" i="0" u="none" strike="noStrike" cap="none" dirty="0" smtClean="0">
                <a:solidFill>
                  <a:schemeClr val="dk1"/>
                </a:solidFill>
                <a:latin typeface="Arial"/>
                <a:ea typeface="Arial"/>
                <a:cs typeface="Arial"/>
                <a:sym typeface="Arial"/>
              </a:rPr>
              <a:t> </a:t>
            </a:r>
            <a:r>
              <a:rPr lang="en" dirty="0" smtClean="0">
                <a:solidFill>
                  <a:srgbClr val="EF4F63"/>
                </a:solidFill>
              </a:rPr>
              <a:t>-</a:t>
            </a:r>
            <a:r>
              <a:rPr lang="en" sz="1400" b="0" i="0" u="none" strike="noStrike" cap="none" dirty="0" smtClean="0">
                <a:solidFill>
                  <a:schemeClr val="dk1"/>
                </a:solidFill>
                <a:latin typeface="Arial"/>
                <a:ea typeface="Arial"/>
                <a:cs typeface="Arial"/>
                <a:sym typeface="Arial"/>
              </a:rPr>
              <a:t>        Retrieves </a:t>
            </a:r>
            <a:r>
              <a:rPr lang="en" sz="1400" b="0" i="0" u="none" strike="noStrike" cap="none" dirty="0">
                <a:solidFill>
                  <a:schemeClr val="dk1"/>
                </a:solidFill>
                <a:latin typeface="Arial"/>
                <a:ea typeface="Arial"/>
                <a:cs typeface="Arial"/>
                <a:sym typeface="Arial"/>
              </a:rPr>
              <a:t>resources.</a:t>
            </a:r>
            <a:br>
              <a:rPr lang="en" sz="1400" b="0" i="0" u="none" strike="noStrike" cap="none" dirty="0">
                <a:solidFill>
                  <a:schemeClr val="dk1"/>
                </a:solidFill>
                <a:latin typeface="Arial"/>
                <a:ea typeface="Arial"/>
                <a:cs typeface="Arial"/>
                <a:sym typeface="Arial"/>
              </a:rPr>
            </a:br>
            <a:r>
              <a:rPr lang="en" sz="1400" b="0" i="0" u="none" strike="noStrike" cap="none" dirty="0" smtClean="0">
                <a:solidFill>
                  <a:schemeClr val="dk1"/>
                </a:solidFill>
                <a:latin typeface="Arial"/>
                <a:ea typeface="Arial"/>
                <a:cs typeface="Arial"/>
                <a:sym typeface="Arial"/>
              </a:rPr>
              <a:t>U - UPDATE</a:t>
            </a:r>
            <a:r>
              <a:rPr lang="en" sz="1400" b="0" i="0" u="none" strike="noStrike" cap="none" dirty="0">
                <a:solidFill>
                  <a:schemeClr val="dk1"/>
                </a:solidFill>
                <a:latin typeface="Arial"/>
                <a:ea typeface="Arial"/>
                <a:cs typeface="Arial"/>
                <a:sym typeface="Arial"/>
              </a:rPr>
              <a:t>		</a:t>
            </a:r>
            <a:r>
              <a:rPr lang="en" sz="1400" b="0" i="0" u="none" strike="noStrike" cap="none" dirty="0" smtClean="0">
                <a:solidFill>
                  <a:srgbClr val="EF4F63"/>
                </a:solidFill>
                <a:latin typeface="Arial"/>
                <a:ea typeface="Arial"/>
                <a:cs typeface="Arial"/>
                <a:sym typeface="Arial"/>
              </a:rPr>
              <a:t>PUT</a:t>
            </a:r>
            <a:r>
              <a:rPr lang="en" sz="1400" b="0" i="0" u="none" strike="noStrike" cap="none" dirty="0" smtClean="0">
                <a:solidFill>
                  <a:schemeClr val="dk1"/>
                </a:solidFill>
                <a:latin typeface="Arial"/>
                <a:ea typeface="Arial"/>
                <a:cs typeface="Arial"/>
                <a:sym typeface="Arial"/>
              </a:rPr>
              <a:t> </a:t>
            </a:r>
            <a:r>
              <a:rPr lang="en" dirty="0">
                <a:solidFill>
                  <a:srgbClr val="EF4F63"/>
                </a:solidFill>
              </a:rPr>
              <a:t>-</a:t>
            </a:r>
            <a:r>
              <a:rPr lang="en" sz="1400" b="0" i="0" u="none" strike="noStrike" cap="none" dirty="0" smtClean="0">
                <a:solidFill>
                  <a:schemeClr val="dk1"/>
                </a:solidFill>
                <a:latin typeface="Arial"/>
                <a:ea typeface="Arial"/>
                <a:cs typeface="Arial"/>
                <a:sym typeface="Arial"/>
              </a:rPr>
              <a:t>        Updates </a:t>
            </a:r>
            <a:r>
              <a:rPr lang="en" sz="1400" b="0" i="0" u="none" strike="noStrike" cap="none" dirty="0">
                <a:solidFill>
                  <a:schemeClr val="dk1"/>
                </a:solidFill>
                <a:latin typeface="Arial"/>
                <a:ea typeface="Arial"/>
                <a:cs typeface="Arial"/>
                <a:sym typeface="Arial"/>
              </a:rPr>
              <a:t>existing data.</a:t>
            </a:r>
            <a:br>
              <a:rPr lang="en" sz="1400" b="0" i="0" u="none" strike="noStrike" cap="none" dirty="0">
                <a:solidFill>
                  <a:schemeClr val="dk1"/>
                </a:solidFill>
                <a:latin typeface="Arial"/>
                <a:ea typeface="Arial"/>
                <a:cs typeface="Arial"/>
                <a:sym typeface="Arial"/>
              </a:rPr>
            </a:br>
            <a:r>
              <a:rPr lang="en" sz="1400" b="0" i="0" u="none" strike="noStrike" cap="none" dirty="0" smtClean="0">
                <a:solidFill>
                  <a:schemeClr val="dk1"/>
                </a:solidFill>
                <a:latin typeface="Arial"/>
                <a:ea typeface="Arial"/>
                <a:cs typeface="Arial"/>
                <a:sym typeface="Arial"/>
              </a:rPr>
              <a:t>D - DELETE</a:t>
            </a:r>
            <a:r>
              <a:rPr lang="en" sz="1400" b="0" i="0" u="none" strike="noStrike" cap="none" dirty="0">
                <a:solidFill>
                  <a:srgbClr val="EF4F63"/>
                </a:solidFill>
                <a:latin typeface="Arial"/>
                <a:ea typeface="Arial"/>
                <a:cs typeface="Arial"/>
                <a:sym typeface="Arial"/>
              </a:rPr>
              <a:t>		</a:t>
            </a:r>
            <a:r>
              <a:rPr lang="en" sz="1400" b="0" i="0" u="none" strike="noStrike" cap="none" dirty="0" smtClean="0">
                <a:solidFill>
                  <a:srgbClr val="EF4F63"/>
                </a:solidFill>
                <a:latin typeface="Arial"/>
                <a:ea typeface="Arial"/>
                <a:cs typeface="Arial"/>
                <a:sym typeface="Arial"/>
              </a:rPr>
              <a:t>DELETE -</a:t>
            </a:r>
            <a:r>
              <a:rPr lang="en" sz="1400" b="0" i="0" u="none" strike="noStrike" cap="none" dirty="0" smtClean="0">
                <a:solidFill>
                  <a:schemeClr val="dk1"/>
                </a:solidFill>
                <a:latin typeface="Arial"/>
                <a:ea typeface="Arial"/>
                <a:cs typeface="Arial"/>
                <a:sym typeface="Arial"/>
              </a:rPr>
              <a:t> </a:t>
            </a:r>
            <a:r>
              <a:rPr lang="en" dirty="0">
                <a:solidFill>
                  <a:schemeClr val="dk1"/>
                </a:solidFill>
              </a:rPr>
              <a:t>R</a:t>
            </a:r>
            <a:r>
              <a:rPr lang="en" sz="1400" b="0" i="0" u="none" strike="noStrike" cap="none" dirty="0" smtClean="0">
                <a:solidFill>
                  <a:schemeClr val="dk1"/>
                </a:solidFill>
                <a:latin typeface="Arial"/>
                <a:ea typeface="Arial"/>
                <a:cs typeface="Arial"/>
                <a:sym typeface="Arial"/>
              </a:rPr>
              <a:t>emoves </a:t>
            </a:r>
            <a:r>
              <a:rPr lang="en" sz="1400" b="0" i="0" u="none" strike="noStrike" cap="none" dirty="0">
                <a:solidFill>
                  <a:schemeClr val="dk1"/>
                </a:solidFill>
                <a:latin typeface="Arial"/>
                <a:ea typeface="Arial"/>
                <a:cs typeface="Arial"/>
                <a:sym typeface="Arial"/>
              </a:rPr>
              <a:t>data.</a:t>
            </a:r>
            <a:endParaRPr sz="1400" b="0" i="0" u="none" strike="noStrike" cap="none" dirty="0">
              <a:solidFill>
                <a:srgbClr val="000000"/>
              </a:solidFill>
              <a:latin typeface="Arial"/>
              <a:ea typeface="Arial"/>
              <a:cs typeface="Arial"/>
              <a:sym typeface="Arial"/>
            </a:endParaRPr>
          </a:p>
        </p:txBody>
      </p:sp>
      <p:sp>
        <p:nvSpPr>
          <p:cNvPr id="141" name="Google Shape;141;ge1936f3aa2_0_18"/>
          <p:cNvSpPr txBox="1">
            <a:spLocks noGrp="1"/>
          </p:cNvSpPr>
          <p:nvPr>
            <p:ph type="body" idx="1"/>
          </p:nvPr>
        </p:nvSpPr>
        <p:spPr>
          <a:xfrm>
            <a:off x="786150" y="1109300"/>
            <a:ext cx="7571700" cy="180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2400"/>
              <a:buNone/>
            </a:pPr>
            <a:r>
              <a:rPr lang="en" sz="1400" dirty="0"/>
              <a:t>The prevailing design philosophy of modern APIs is called REST (</a:t>
            </a:r>
            <a:r>
              <a:rPr lang="en" sz="1400" b="1" dirty="0"/>
              <a:t>Re</a:t>
            </a:r>
            <a:r>
              <a:rPr lang="en" sz="1400" dirty="0"/>
              <a:t>presentational </a:t>
            </a:r>
            <a:r>
              <a:rPr lang="en" sz="1400" b="1" dirty="0"/>
              <a:t>S</a:t>
            </a:r>
            <a:r>
              <a:rPr lang="en" sz="1400" dirty="0"/>
              <a:t>tate </a:t>
            </a:r>
            <a:r>
              <a:rPr lang="en" sz="1400" b="1" dirty="0"/>
              <a:t>T</a:t>
            </a:r>
            <a:r>
              <a:rPr lang="en" sz="1400" dirty="0"/>
              <a:t>ransfer) API. It is an architectural Style for designing networked applications. It determines set of rules that are followed when a rest api is created.</a:t>
            </a:r>
            <a:endParaRPr sz="1400" dirty="0"/>
          </a:p>
          <a:p>
            <a:pPr marL="0" lvl="0" indent="0" algn="l" rtl="0">
              <a:lnSpc>
                <a:spcPct val="100000"/>
              </a:lnSpc>
              <a:spcBef>
                <a:spcPts val="600"/>
              </a:spcBef>
              <a:spcAft>
                <a:spcPts val="0"/>
              </a:spcAft>
              <a:buSzPts val="2400"/>
              <a:buNone/>
            </a:pPr>
            <a:r>
              <a:rPr lang="en" sz="1400" dirty="0"/>
              <a:t>REST is that it’s based on the four methods defined by the HTTP protocol: POST, GET, PUT, and DELETE</a:t>
            </a:r>
            <a:r>
              <a:rPr lang="en" sz="1400" dirty="0" smtClean="0"/>
              <a:t>.</a:t>
            </a:r>
            <a:endParaRPr sz="1400" dirty="0"/>
          </a:p>
        </p:txBody>
      </p:sp>
      <p:sp>
        <p:nvSpPr>
          <p:cNvPr id="142" name="Google Shape;142;ge1936f3aa2_0_18"/>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lvl="0" indent="0" algn="ctr" rtl="0">
              <a:lnSpc>
                <a:spcPct val="110000"/>
              </a:lnSpc>
              <a:spcBef>
                <a:spcPts val="2400"/>
              </a:spcBef>
              <a:spcAft>
                <a:spcPts val="0"/>
              </a:spcAft>
              <a:buSzPts val="2000"/>
              <a:buNone/>
            </a:pPr>
            <a:endParaRPr sz="2300">
              <a:solidFill>
                <a:srgbClr val="000000"/>
              </a:solidFill>
              <a:highlight>
                <a:srgbClr val="FFFFFF"/>
              </a:highlight>
              <a:latin typeface="Times New Roman"/>
              <a:ea typeface="Times New Roman"/>
              <a:cs typeface="Times New Roman"/>
              <a:sym typeface="Times New Roman"/>
            </a:endParaRPr>
          </a:p>
          <a:p>
            <a:pPr marL="0" lvl="0" indent="0" algn="l" rtl="0">
              <a:lnSpc>
                <a:spcPct val="110000"/>
              </a:lnSpc>
              <a:spcBef>
                <a:spcPts val="2400"/>
              </a:spcBef>
              <a:spcAft>
                <a:spcPts val="600"/>
              </a:spcAft>
              <a:buSzPts val="2000"/>
              <a:buNone/>
            </a:pPr>
            <a:r>
              <a:rPr lang="en" sz="3000" b="1"/>
              <a:t>API Design Principles</a:t>
            </a:r>
            <a:endParaRPr sz="3000" b="1"/>
          </a:p>
        </p:txBody>
      </p:sp>
      <p:sp>
        <p:nvSpPr>
          <p:cNvPr id="143" name="Google Shape;143;ge1936f3aa2_0_1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18</a:t>
            </a:fld>
            <a:endParaRPr/>
          </a:p>
        </p:txBody>
      </p:sp>
      <p:sp>
        <p:nvSpPr>
          <p:cNvPr id="148" name="Google Shape;148;ge1936f3aa2_0_18"/>
          <p:cNvSpPr/>
          <p:nvPr/>
        </p:nvSpPr>
        <p:spPr>
          <a:xfrm>
            <a:off x="2365163" y="3035473"/>
            <a:ext cx="854400" cy="84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ge1936f3aa2_0_18"/>
          <p:cNvSpPr/>
          <p:nvPr/>
        </p:nvSpPr>
        <p:spPr>
          <a:xfrm>
            <a:off x="2365163" y="3264748"/>
            <a:ext cx="854400" cy="84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ge1936f3aa2_0_18"/>
          <p:cNvSpPr/>
          <p:nvPr/>
        </p:nvSpPr>
        <p:spPr>
          <a:xfrm>
            <a:off x="2365163" y="3494023"/>
            <a:ext cx="854400" cy="84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ge1936f3aa2_0_18"/>
          <p:cNvSpPr/>
          <p:nvPr/>
        </p:nvSpPr>
        <p:spPr>
          <a:xfrm>
            <a:off x="2365163" y="3723298"/>
            <a:ext cx="854400" cy="84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10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0"/>
                                        </p:tgtEl>
                                        <p:attrNameLst>
                                          <p:attrName>style.visibility</p:attrName>
                                        </p:attrNameLst>
                                      </p:cBhvr>
                                      <p:to>
                                        <p:strVal val="visible"/>
                                      </p:to>
                                    </p:set>
                                    <p:animEffect transition="in" filter="fade">
                                      <p:cBhvr>
                                        <p:cTn id="12" dur="1000"/>
                                        <p:tgtEl>
                                          <p:spTgt spid="140"/>
                                        </p:tgtEl>
                                      </p:cBhvr>
                                    </p:animEffect>
                                  </p:childTnLst>
                                </p:cTn>
                              </p:par>
                              <p:par>
                                <p:cTn id="13" presetID="10" presetClass="entr" presetSubtype="0" fill="hold" nodeType="withEffect">
                                  <p:stCondLst>
                                    <p:cond delay="0"/>
                                  </p:stCondLst>
                                  <p:childTnLst>
                                    <p:set>
                                      <p:cBhvr>
                                        <p:cTn id="14" dur="1" fill="hold">
                                          <p:stCondLst>
                                            <p:cond delay="0"/>
                                          </p:stCondLst>
                                        </p:cTn>
                                        <p:tgtEl>
                                          <p:spTgt spid="148"/>
                                        </p:tgtEl>
                                        <p:attrNameLst>
                                          <p:attrName>style.visibility</p:attrName>
                                        </p:attrNameLst>
                                      </p:cBhvr>
                                      <p:to>
                                        <p:strVal val="visible"/>
                                      </p:to>
                                    </p:set>
                                    <p:animEffect transition="in" filter="fade">
                                      <p:cBhvr>
                                        <p:cTn id="15" dur="1000"/>
                                        <p:tgtEl>
                                          <p:spTgt spid="148"/>
                                        </p:tgtEl>
                                      </p:cBhvr>
                                    </p:animEffect>
                                  </p:childTnLst>
                                </p:cTn>
                              </p:par>
                              <p:par>
                                <p:cTn id="16" presetID="10" presetClass="entr" presetSubtype="0" fill="hold" nodeType="withEffect">
                                  <p:stCondLst>
                                    <p:cond delay="0"/>
                                  </p:stCondLst>
                                  <p:childTnLst>
                                    <p:set>
                                      <p:cBhvr>
                                        <p:cTn id="17" dur="1" fill="hold">
                                          <p:stCondLst>
                                            <p:cond delay="0"/>
                                          </p:stCondLst>
                                        </p:cTn>
                                        <p:tgtEl>
                                          <p:spTgt spid="149"/>
                                        </p:tgtEl>
                                        <p:attrNameLst>
                                          <p:attrName>style.visibility</p:attrName>
                                        </p:attrNameLst>
                                      </p:cBhvr>
                                      <p:to>
                                        <p:strVal val="visible"/>
                                      </p:to>
                                    </p:set>
                                    <p:animEffect transition="in" filter="fade">
                                      <p:cBhvr>
                                        <p:cTn id="18" dur="1000"/>
                                        <p:tgtEl>
                                          <p:spTgt spid="149"/>
                                        </p:tgtEl>
                                      </p:cBhvr>
                                    </p:animEffect>
                                  </p:childTnLst>
                                </p:cTn>
                              </p:par>
                              <p:par>
                                <p:cTn id="19" presetID="10" presetClass="entr" presetSubtype="0" fill="hold" nodeType="withEffect">
                                  <p:stCondLst>
                                    <p:cond delay="0"/>
                                  </p:stCondLst>
                                  <p:childTnLst>
                                    <p:set>
                                      <p:cBhvr>
                                        <p:cTn id="20" dur="1" fill="hold">
                                          <p:stCondLst>
                                            <p:cond delay="0"/>
                                          </p:stCondLst>
                                        </p:cTn>
                                        <p:tgtEl>
                                          <p:spTgt spid="150"/>
                                        </p:tgtEl>
                                        <p:attrNameLst>
                                          <p:attrName>style.visibility</p:attrName>
                                        </p:attrNameLst>
                                      </p:cBhvr>
                                      <p:to>
                                        <p:strVal val="visible"/>
                                      </p:to>
                                    </p:set>
                                    <p:animEffect transition="in" filter="fade">
                                      <p:cBhvr>
                                        <p:cTn id="21" dur="1000"/>
                                        <p:tgtEl>
                                          <p:spTgt spid="150"/>
                                        </p:tgtEl>
                                      </p:cBhvr>
                                    </p:animEffect>
                                  </p:childTnLst>
                                </p:cTn>
                              </p:par>
                              <p:par>
                                <p:cTn id="22" presetID="10" presetClass="entr" presetSubtype="0" fill="hold" nodeType="withEffect">
                                  <p:stCondLst>
                                    <p:cond delay="0"/>
                                  </p:stCondLst>
                                  <p:childTnLst>
                                    <p:set>
                                      <p:cBhvr>
                                        <p:cTn id="23" dur="1" fill="hold">
                                          <p:stCondLst>
                                            <p:cond delay="0"/>
                                          </p:stCondLst>
                                        </p:cTn>
                                        <p:tgtEl>
                                          <p:spTgt spid="151"/>
                                        </p:tgtEl>
                                        <p:attrNameLst>
                                          <p:attrName>style.visibility</p:attrName>
                                        </p:attrNameLst>
                                      </p:cBhvr>
                                      <p:to>
                                        <p:strVal val="visible"/>
                                      </p:to>
                                    </p:set>
                                    <p:animEffect transition="in" filter="fade">
                                      <p:cBhvr>
                                        <p:cTn id="24"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e1936f3aa2_0_92"/>
          <p:cNvSpPr txBox="1">
            <a:spLocks noGrp="1"/>
          </p:cNvSpPr>
          <p:nvPr>
            <p:ph type="ctrTitle"/>
          </p:nvPr>
        </p:nvSpPr>
        <p:spPr>
          <a:xfrm>
            <a:off x="1532170" y="1782504"/>
            <a:ext cx="58326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endParaRPr sz="6000" dirty="0">
              <a:solidFill>
                <a:schemeClr val="accent4"/>
              </a:solidFill>
            </a:endParaRPr>
          </a:p>
          <a:p>
            <a:pPr lvl="0"/>
            <a:r>
              <a:rPr lang="en" sz="3600" dirty="0"/>
              <a:t>Fetching </a:t>
            </a:r>
            <a:r>
              <a:rPr lang="en" sz="3600" dirty="0" smtClean="0"/>
              <a:t>Data </a:t>
            </a:r>
            <a:r>
              <a:rPr lang="en" sz="3600" dirty="0"/>
              <a:t>from API using </a:t>
            </a:r>
            <a:r>
              <a:rPr lang="en" sz="3600" dirty="0" smtClean="0"/>
              <a:t>Python &amp; Postman </a:t>
            </a:r>
            <a:endParaRPr sz="3600" dirty="0"/>
          </a:p>
        </p:txBody>
      </p:sp>
      <p:sp>
        <p:nvSpPr>
          <p:cNvPr id="179" name="Google Shape;179;ge1936f3aa2_0_92"/>
          <p:cNvSpPr txBox="1">
            <a:spLocks noGrp="1"/>
          </p:cNvSpPr>
          <p:nvPr>
            <p:ph type="sldNum" idx="4294967295"/>
          </p:nvPr>
        </p:nvSpPr>
        <p:spPr>
          <a:xfrm>
            <a:off x="8404384" y="54356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20</a:t>
            </a:fld>
            <a:endParaRPr/>
          </a:p>
        </p:txBody>
      </p:sp>
      <p:sp>
        <p:nvSpPr>
          <p:cNvPr id="213" name="Google Shape;213;ge1936f3aa2_0_108"/>
          <p:cNvSpPr txBox="1">
            <a:spLocks noGrp="1"/>
          </p:cNvSpPr>
          <p:nvPr>
            <p:ph type="title"/>
          </p:nvPr>
        </p:nvSpPr>
        <p:spPr>
          <a:xfrm>
            <a:off x="832684" y="155721"/>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dirty="0"/>
              <a:t>Python </a:t>
            </a:r>
            <a:r>
              <a:rPr lang="en" sz="2800" dirty="0">
                <a:highlight>
                  <a:srgbClr val="CFD8DC"/>
                </a:highlight>
                <a:latin typeface="Roboto Mono"/>
                <a:ea typeface="Roboto Mono"/>
                <a:cs typeface="Roboto Mono"/>
                <a:sym typeface="Roboto Mono"/>
              </a:rPr>
              <a:t>request</a:t>
            </a:r>
            <a:r>
              <a:rPr lang="en" sz="2800" b="1" dirty="0"/>
              <a:t> library</a:t>
            </a:r>
            <a:endParaRPr sz="2800" b="1" dirty="0"/>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822946" y="858321"/>
            <a:ext cx="8090700" cy="3416290"/>
          </a:xfrm>
          <a:prstGeom prst="rect">
            <a:avLst/>
          </a:prstGeom>
          <a:noFill/>
          <a:ln>
            <a:noFill/>
          </a:ln>
        </p:spPr>
        <p:txBody>
          <a:bodyPr spcFirstLastPara="1" wrap="square" lIns="91425" tIns="91425" rIns="91425" bIns="91425" anchor="t" anchorCtr="0">
            <a:spAutoFit/>
          </a:bodyPr>
          <a:lstStyle/>
          <a:p>
            <a:pPr lvl="0">
              <a:spcBef>
                <a:spcPts val="600"/>
              </a:spcBef>
              <a:buSzPts val="2000"/>
            </a:pPr>
            <a:r>
              <a:rPr lang="en-US" sz="1600" b="1" dirty="0">
                <a:solidFill>
                  <a:srgbClr val="222222"/>
                </a:solidFill>
                <a:highlight>
                  <a:srgbClr val="FFFFFF"/>
                </a:highlight>
              </a:rPr>
              <a:t>What is the requests Library in Python</a:t>
            </a:r>
            <a:r>
              <a:rPr lang="en-US" sz="1600" b="1" dirty="0" smtClean="0">
                <a:solidFill>
                  <a:srgbClr val="222222"/>
                </a:solidFill>
                <a:highlight>
                  <a:srgbClr val="FFFFFF"/>
                </a:highlight>
              </a:rPr>
              <a:t>?</a:t>
            </a:r>
          </a:p>
          <a:p>
            <a:pPr lvl="0">
              <a:spcBef>
                <a:spcPts val="600"/>
              </a:spcBef>
              <a:buSzPts val="2000"/>
            </a:pPr>
            <a:r>
              <a:rPr lang="en-US" sz="1600" dirty="0"/>
              <a:t>requests is the go-to library for making </a:t>
            </a:r>
            <a:r>
              <a:rPr lang="en-US" sz="1600" dirty="0" smtClean="0"/>
              <a:t>HTTP/HTTPs </a:t>
            </a:r>
            <a:r>
              <a:rPr lang="en-US" sz="1600" dirty="0"/>
              <a:t>requests in Python</a:t>
            </a:r>
            <a:r>
              <a:rPr lang="en-US" sz="1600" dirty="0" smtClean="0"/>
              <a:t>.</a:t>
            </a:r>
          </a:p>
          <a:p>
            <a:pPr lvl="0">
              <a:spcBef>
                <a:spcPts val="600"/>
              </a:spcBef>
              <a:buSzPts val="2000"/>
            </a:pPr>
            <a:endParaRPr lang="en-US" sz="1600" b="0" i="0" u="none" strike="noStrike" cap="none" dirty="0">
              <a:solidFill>
                <a:srgbClr val="000000"/>
              </a:solidFill>
              <a:sym typeface="Arial"/>
            </a:endParaRPr>
          </a:p>
          <a:p>
            <a:pPr lvl="0">
              <a:spcBef>
                <a:spcPts val="600"/>
              </a:spcBef>
              <a:buSzPts val="2000"/>
            </a:pPr>
            <a:r>
              <a:rPr lang="en-US" sz="1600" b="1" dirty="0"/>
              <a:t>Why it’s great:</a:t>
            </a:r>
          </a:p>
          <a:p>
            <a:pPr marL="285750" lvl="0" indent="-285750">
              <a:spcBef>
                <a:spcPts val="600"/>
              </a:spcBef>
              <a:buSzPts val="2000"/>
              <a:buFont typeface="Arial" panose="020B0604020202020204" pitchFamily="34" charset="0"/>
              <a:buChar char="•"/>
            </a:pPr>
            <a:r>
              <a:rPr lang="en-US" sz="1600" dirty="0"/>
              <a:t>Very easy to use (just a few lines of code</a:t>
            </a:r>
            <a:r>
              <a:rPr lang="en-US" sz="1600" dirty="0" smtClean="0"/>
              <a:t>)</a:t>
            </a:r>
            <a:endParaRPr lang="en-US" sz="1600" dirty="0"/>
          </a:p>
          <a:p>
            <a:pPr marL="285750" lvl="0" indent="-285750">
              <a:spcBef>
                <a:spcPts val="600"/>
              </a:spcBef>
              <a:buSzPts val="2000"/>
              <a:buFont typeface="Arial" panose="020B0604020202020204" pitchFamily="34" charset="0"/>
              <a:buChar char="•"/>
            </a:pPr>
            <a:r>
              <a:rPr lang="en-US" sz="1600" dirty="0"/>
              <a:t>Helps your Python app talk to web </a:t>
            </a:r>
            <a:r>
              <a:rPr lang="en-US" sz="1600" dirty="0" smtClean="0"/>
              <a:t>APIs</a:t>
            </a:r>
            <a:endParaRPr lang="en-US" sz="1600" dirty="0"/>
          </a:p>
          <a:p>
            <a:pPr marL="285750" lvl="0" indent="-285750">
              <a:spcBef>
                <a:spcPts val="600"/>
              </a:spcBef>
              <a:buSzPts val="2000"/>
              <a:buFont typeface="Arial" panose="020B0604020202020204" pitchFamily="34" charset="0"/>
              <a:buChar char="•"/>
            </a:pPr>
            <a:r>
              <a:rPr lang="en-US" sz="1600" dirty="0"/>
              <a:t>Makes GET, POST, PUT, DELETE requests simple and </a:t>
            </a:r>
            <a:r>
              <a:rPr lang="en-US" sz="1600" dirty="0" smtClean="0"/>
              <a:t>readable</a:t>
            </a:r>
            <a:endParaRPr lang="en-US" sz="1600" dirty="0"/>
          </a:p>
          <a:p>
            <a:pPr lvl="0">
              <a:spcBef>
                <a:spcPts val="600"/>
              </a:spcBef>
              <a:buSzPts val="2000"/>
            </a:pPr>
            <a:endParaRPr lang="en-US" sz="1600" b="1" dirty="0" smtClean="0"/>
          </a:p>
          <a:p>
            <a:pPr lvl="0">
              <a:spcBef>
                <a:spcPts val="600"/>
              </a:spcBef>
              <a:buSzPts val="2000"/>
            </a:pPr>
            <a:r>
              <a:rPr lang="en-US" sz="1600" b="1" dirty="0" smtClean="0"/>
              <a:t>You </a:t>
            </a:r>
            <a:r>
              <a:rPr lang="en-US" sz="1600" b="1" dirty="0"/>
              <a:t>may need to install it using</a:t>
            </a:r>
            <a:r>
              <a:rPr lang="en-US" sz="1600" b="1" dirty="0" smtClean="0"/>
              <a:t>:</a:t>
            </a:r>
            <a:endParaRPr lang="en-US" sz="1600" b="1" dirty="0"/>
          </a:p>
          <a:p>
            <a:pPr lvl="0">
              <a:spcBef>
                <a:spcPts val="600"/>
              </a:spcBef>
              <a:buSzPts val="2000"/>
            </a:pPr>
            <a:r>
              <a:rPr lang="en-US" sz="1600" dirty="0" smtClean="0"/>
              <a:t>pip </a:t>
            </a:r>
            <a:r>
              <a:rPr lang="en-US" sz="1600" dirty="0"/>
              <a:t>install requests</a:t>
            </a:r>
            <a:endParaRPr sz="1600" b="0" i="0" u="none" strike="noStrike" cap="none" dirty="0">
              <a:solidFill>
                <a:srgbClr val="000000"/>
              </a:solidFil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21</a:t>
            </a:fld>
            <a:endParaRPr/>
          </a:p>
        </p:txBody>
      </p:sp>
      <p:sp>
        <p:nvSpPr>
          <p:cNvPr id="213" name="Google Shape;213;ge1936f3aa2_0_108"/>
          <p:cNvSpPr txBox="1">
            <a:spLocks noGrp="1"/>
          </p:cNvSpPr>
          <p:nvPr>
            <p:ph type="title"/>
          </p:nvPr>
        </p:nvSpPr>
        <p:spPr>
          <a:xfrm>
            <a:off x="832684" y="155721"/>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dirty="0"/>
              <a:t>Python </a:t>
            </a:r>
            <a:r>
              <a:rPr lang="en" sz="2800" dirty="0">
                <a:highlight>
                  <a:srgbClr val="CFD8DC"/>
                </a:highlight>
                <a:latin typeface="Roboto Mono"/>
                <a:ea typeface="Roboto Mono"/>
                <a:cs typeface="Roboto Mono"/>
                <a:sym typeface="Roboto Mono"/>
              </a:rPr>
              <a:t>request</a:t>
            </a:r>
            <a:r>
              <a:rPr lang="en" sz="2800" b="1" dirty="0"/>
              <a:t> library</a:t>
            </a:r>
            <a:endParaRPr sz="2800" b="1" dirty="0"/>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822946" y="858321"/>
            <a:ext cx="7581438" cy="3739455"/>
          </a:xfrm>
          <a:prstGeom prst="rect">
            <a:avLst/>
          </a:prstGeom>
          <a:noFill/>
          <a:ln>
            <a:noFill/>
          </a:ln>
        </p:spPr>
        <p:txBody>
          <a:bodyPr spcFirstLastPara="1" wrap="square" lIns="91425" tIns="91425" rIns="91425" bIns="91425" anchor="t" anchorCtr="0">
            <a:spAutoFit/>
          </a:bodyPr>
          <a:lstStyle/>
          <a:p>
            <a:pPr lvl="0">
              <a:spcBef>
                <a:spcPts val="600"/>
              </a:spcBef>
              <a:buSzPts val="2000"/>
            </a:pPr>
            <a:r>
              <a:rPr lang="en-US" sz="1600" b="1" dirty="0">
                <a:solidFill>
                  <a:srgbClr val="222222"/>
                </a:solidFill>
                <a:highlight>
                  <a:srgbClr val="FFFFFF"/>
                </a:highlight>
              </a:rPr>
              <a:t>Making a GET Request (Real Example)</a:t>
            </a:r>
          </a:p>
          <a:p>
            <a:pPr lvl="0">
              <a:spcBef>
                <a:spcPts val="600"/>
              </a:spcBef>
              <a:buSzPts val="2000"/>
            </a:pPr>
            <a:r>
              <a:rPr lang="en-US" sz="1600" dirty="0" smtClean="0">
                <a:solidFill>
                  <a:srgbClr val="222222"/>
                </a:solidFill>
                <a:highlight>
                  <a:srgbClr val="FFFFFF"/>
                </a:highlight>
              </a:rPr>
              <a:t>Let’s </a:t>
            </a:r>
            <a:r>
              <a:rPr lang="en-US" sz="1600" dirty="0">
                <a:solidFill>
                  <a:srgbClr val="222222"/>
                </a:solidFill>
                <a:highlight>
                  <a:srgbClr val="FFFFFF"/>
                </a:highlight>
              </a:rPr>
              <a:t>say we want to get some public data from </a:t>
            </a:r>
            <a:r>
              <a:rPr lang="en-US" sz="1600" smtClean="0">
                <a:solidFill>
                  <a:srgbClr val="222222"/>
                </a:solidFill>
                <a:highlight>
                  <a:srgbClr val="FFFFFF"/>
                </a:highlight>
              </a:rPr>
              <a:t>GitHub.</a:t>
            </a:r>
            <a:endParaRPr lang="en-US" sz="1600" dirty="0" smtClean="0">
              <a:solidFill>
                <a:srgbClr val="222222"/>
              </a:solidFill>
              <a:highlight>
                <a:srgbClr val="FFFFFF"/>
              </a:highlight>
            </a:endParaRPr>
          </a:p>
          <a:p>
            <a:pPr lvl="0">
              <a:spcBef>
                <a:spcPts val="600"/>
              </a:spcBef>
              <a:buSzPts val="2000"/>
            </a:pPr>
            <a:endParaRPr lang="en-US" sz="1600" i="0" u="none" strike="noStrike" cap="none" dirty="0">
              <a:solidFill>
                <a:srgbClr val="222222"/>
              </a:solidFill>
              <a:highlight>
                <a:srgbClr val="FFFFFF"/>
              </a:highlight>
              <a:sym typeface="Arial"/>
            </a:endParaRPr>
          </a:p>
          <a:p>
            <a:pPr lvl="0">
              <a:spcBef>
                <a:spcPts val="600"/>
              </a:spcBef>
              <a:buSzPts val="2000"/>
            </a:pPr>
            <a:r>
              <a:rPr lang="en-US" sz="1600" b="1" dirty="0" smtClean="0"/>
              <a:t># </a:t>
            </a:r>
            <a:r>
              <a:rPr lang="en-US" sz="1600" b="1" dirty="0"/>
              <a:t>Step 1:</a:t>
            </a:r>
            <a:r>
              <a:rPr lang="en-US" sz="1600" dirty="0"/>
              <a:t> Import the library</a:t>
            </a:r>
          </a:p>
          <a:p>
            <a:pPr lvl="0">
              <a:spcBef>
                <a:spcPts val="600"/>
              </a:spcBef>
              <a:buSzPts val="2000"/>
            </a:pPr>
            <a:r>
              <a:rPr lang="en-US" sz="1600" dirty="0"/>
              <a:t>import </a:t>
            </a:r>
            <a:r>
              <a:rPr lang="en-US" sz="1600" dirty="0" smtClean="0"/>
              <a:t>requests</a:t>
            </a:r>
          </a:p>
          <a:p>
            <a:pPr lvl="0">
              <a:spcBef>
                <a:spcPts val="600"/>
              </a:spcBef>
              <a:buSzPts val="2000"/>
            </a:pPr>
            <a:endParaRPr lang="en-US" sz="1600" dirty="0"/>
          </a:p>
          <a:p>
            <a:pPr lvl="0">
              <a:spcBef>
                <a:spcPts val="600"/>
              </a:spcBef>
              <a:buSzPts val="2000"/>
            </a:pPr>
            <a:r>
              <a:rPr lang="en-US" sz="1600" b="1" dirty="0"/>
              <a:t># Step 2:</a:t>
            </a:r>
            <a:r>
              <a:rPr lang="en-US" sz="1600" dirty="0"/>
              <a:t> Make a GET request to GitHub API</a:t>
            </a:r>
          </a:p>
          <a:p>
            <a:pPr lvl="0">
              <a:spcBef>
                <a:spcPts val="600"/>
              </a:spcBef>
              <a:buSzPts val="2000"/>
            </a:pPr>
            <a:r>
              <a:rPr lang="en-US" sz="1600" dirty="0"/>
              <a:t>r = </a:t>
            </a:r>
            <a:r>
              <a:rPr lang="en-US" sz="1600" dirty="0" err="1"/>
              <a:t>requests.get</a:t>
            </a:r>
            <a:r>
              <a:rPr lang="en-US" sz="1600" dirty="0"/>
              <a:t>('https://api.github.com')</a:t>
            </a:r>
          </a:p>
          <a:p>
            <a:pPr lvl="0">
              <a:spcBef>
                <a:spcPts val="600"/>
              </a:spcBef>
              <a:buSzPts val="2000"/>
            </a:pPr>
            <a:endParaRPr lang="en-US" sz="1600" dirty="0"/>
          </a:p>
          <a:p>
            <a:pPr lvl="0">
              <a:spcBef>
                <a:spcPts val="600"/>
              </a:spcBef>
              <a:buSzPts val="2000"/>
            </a:pPr>
            <a:r>
              <a:rPr lang="en-US" sz="1600" b="1" dirty="0"/>
              <a:t># Step 3:</a:t>
            </a:r>
            <a:r>
              <a:rPr lang="en-US" sz="1600" dirty="0"/>
              <a:t> View the response content (decoded to readable text)</a:t>
            </a:r>
          </a:p>
          <a:p>
            <a:pPr lvl="0">
              <a:spcBef>
                <a:spcPts val="600"/>
              </a:spcBef>
              <a:buSzPts val="2000"/>
            </a:pPr>
            <a:r>
              <a:rPr lang="en-US" sz="1600" dirty="0"/>
              <a:t>print(</a:t>
            </a:r>
            <a:r>
              <a:rPr lang="en-US" sz="1600" dirty="0" err="1"/>
              <a:t>r.content.decode</a:t>
            </a:r>
            <a:r>
              <a:rPr lang="en-US" sz="1600" dirty="0"/>
              <a:t>('utf-8</a:t>
            </a:r>
            <a:r>
              <a:rPr lang="en-US" sz="1600" dirty="0" smtClean="0"/>
              <a:t>'))</a:t>
            </a:r>
            <a:endParaRPr lang="en-US" sz="1600" dirty="0"/>
          </a:p>
        </p:txBody>
      </p:sp>
    </p:spTree>
    <p:extLst>
      <p:ext uri="{BB962C8B-B14F-4D97-AF65-F5344CB8AC3E}">
        <p14:creationId xmlns:p14="http://schemas.microsoft.com/office/powerpoint/2010/main" val="47012728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22</a:t>
            </a:fld>
            <a:endParaRPr/>
          </a:p>
        </p:txBody>
      </p:sp>
      <p:sp>
        <p:nvSpPr>
          <p:cNvPr id="213" name="Google Shape;213;ge1936f3aa2_0_108"/>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786150" y="690975"/>
            <a:ext cx="8090700" cy="3647122"/>
          </a:xfrm>
          <a:prstGeom prst="rect">
            <a:avLst/>
          </a:prstGeom>
          <a:noFill/>
          <a:ln>
            <a:solidFill>
              <a:schemeClr val="accent1"/>
            </a:solidFill>
          </a:ln>
        </p:spPr>
        <p:txBody>
          <a:bodyPr spcFirstLastPara="1" wrap="square" lIns="91425" tIns="91425" rIns="91425" bIns="91425" anchor="t" anchorCtr="0">
            <a:spAutoFit/>
          </a:bodyPr>
          <a:lstStyle/>
          <a:p>
            <a:pPr lvl="0">
              <a:spcBef>
                <a:spcPts val="600"/>
              </a:spcBef>
              <a:buSzPts val="2000"/>
            </a:pPr>
            <a:r>
              <a:rPr lang="en-US" sz="1600" b="1" dirty="0"/>
              <a:t>What Are Query String Parameters</a:t>
            </a:r>
            <a:r>
              <a:rPr lang="en-US" sz="1600" b="1" dirty="0" smtClean="0"/>
              <a:t>?</a:t>
            </a:r>
          </a:p>
          <a:p>
            <a:pPr lvl="0">
              <a:spcBef>
                <a:spcPts val="600"/>
              </a:spcBef>
              <a:buSzPts val="2000"/>
            </a:pPr>
            <a:r>
              <a:rPr lang="en-US" sz="1600" dirty="0"/>
              <a:t>When you're using an API to search or filter data (like searching for GitHub repositories), you can add extra info to your request using query string parameters</a:t>
            </a:r>
            <a:r>
              <a:rPr lang="en-US" sz="1600" dirty="0" smtClean="0"/>
              <a:t>.</a:t>
            </a:r>
            <a:endParaRPr lang="en-US" sz="1600" dirty="0"/>
          </a:p>
          <a:p>
            <a:pPr lvl="0">
              <a:spcBef>
                <a:spcPts val="600"/>
              </a:spcBef>
              <a:buSzPts val="2000"/>
            </a:pPr>
            <a:r>
              <a:rPr lang="en-US" sz="1600" dirty="0"/>
              <a:t>These parameters go at the end of the URL after a </a:t>
            </a:r>
            <a:r>
              <a:rPr lang="en-US" sz="2000" b="1" dirty="0">
                <a:solidFill>
                  <a:srgbClr val="FF0000"/>
                </a:solidFill>
              </a:rPr>
              <a:t>?</a:t>
            </a:r>
            <a:r>
              <a:rPr lang="en-US" sz="1600" dirty="0"/>
              <a:t> and help you customize your request</a:t>
            </a:r>
            <a:r>
              <a:rPr lang="en-US" sz="1600" dirty="0" smtClean="0"/>
              <a:t>.</a:t>
            </a:r>
          </a:p>
          <a:p>
            <a:pPr lvl="0">
              <a:spcBef>
                <a:spcPts val="600"/>
              </a:spcBef>
              <a:buSzPts val="2000"/>
            </a:pPr>
            <a:endParaRPr lang="en-US" sz="1600" i="0" u="none" strike="noStrike" cap="none" dirty="0">
              <a:solidFill>
                <a:srgbClr val="000000"/>
              </a:solidFill>
              <a:sym typeface="Arial"/>
            </a:endParaRPr>
          </a:p>
          <a:p>
            <a:pPr lvl="0">
              <a:spcBef>
                <a:spcPts val="600"/>
              </a:spcBef>
              <a:buSzPts val="2000"/>
            </a:pPr>
            <a:r>
              <a:rPr lang="en-US" sz="1600" b="1" dirty="0" smtClean="0"/>
              <a:t>For Example:</a:t>
            </a:r>
          </a:p>
          <a:p>
            <a:pPr lvl="0">
              <a:spcBef>
                <a:spcPts val="600"/>
              </a:spcBef>
              <a:buSzPts val="2000"/>
            </a:pPr>
            <a:r>
              <a:rPr lang="en-US" sz="1600" dirty="0">
                <a:latin typeface="Consolas" panose="020B0609020204030204" pitchFamily="49" charset="0"/>
              </a:rPr>
              <a:t>GET /search/</a:t>
            </a:r>
            <a:r>
              <a:rPr lang="en-US" sz="1600" dirty="0" err="1">
                <a:latin typeface="Consolas" panose="020B0609020204030204" pitchFamily="49" charset="0"/>
              </a:rPr>
              <a:t>repositories?q</a:t>
            </a:r>
            <a:r>
              <a:rPr lang="en-US" sz="1600" dirty="0">
                <a:latin typeface="Consolas" panose="020B0609020204030204" pitchFamily="49" charset="0"/>
              </a:rPr>
              <a:t>=python </a:t>
            </a:r>
            <a:r>
              <a:rPr lang="en-US" sz="1600" dirty="0" err="1" smtClean="0">
                <a:latin typeface="Consolas" panose="020B0609020204030204" pitchFamily="49" charset="0"/>
              </a:rPr>
              <a:t>api&amp;per_page</a:t>
            </a:r>
            <a:r>
              <a:rPr lang="en-US" sz="1600" dirty="0" smtClean="0">
                <a:latin typeface="Consolas" panose="020B0609020204030204" pitchFamily="49" charset="0"/>
              </a:rPr>
              <a:t>=10</a:t>
            </a:r>
          </a:p>
          <a:p>
            <a:pPr lvl="0">
              <a:spcBef>
                <a:spcPts val="600"/>
              </a:spcBef>
              <a:buSzPts val="2000"/>
            </a:pPr>
            <a:endParaRPr lang="en-US" sz="1600" dirty="0">
              <a:latin typeface="Consolas" panose="020B0609020204030204" pitchFamily="49" charset="0"/>
            </a:endParaRPr>
          </a:p>
          <a:p>
            <a:pPr lvl="0">
              <a:spcBef>
                <a:spcPts val="600"/>
              </a:spcBef>
              <a:buSzPts val="2000"/>
            </a:pPr>
            <a:r>
              <a:rPr lang="en-US" sz="1600" dirty="0"/>
              <a:t>q = What you're searching for (like keywords</a:t>
            </a:r>
            <a:r>
              <a:rPr lang="en-US" sz="1600" dirty="0" smtClean="0"/>
              <a:t>)</a:t>
            </a:r>
            <a:endParaRPr lang="en-US" sz="1600" dirty="0"/>
          </a:p>
          <a:p>
            <a:pPr lvl="0">
              <a:spcBef>
                <a:spcPts val="600"/>
              </a:spcBef>
              <a:buSzPts val="2000"/>
            </a:pPr>
            <a:r>
              <a:rPr lang="en-US" sz="1600" dirty="0" err="1"/>
              <a:t>per_page</a:t>
            </a:r>
            <a:r>
              <a:rPr lang="en-US" sz="1600" dirty="0"/>
              <a:t> = How many results you want per page</a:t>
            </a:r>
          </a:p>
        </p:txBody>
      </p:sp>
    </p:spTree>
    <p:extLst>
      <p:ext uri="{BB962C8B-B14F-4D97-AF65-F5344CB8AC3E}">
        <p14:creationId xmlns:p14="http://schemas.microsoft.com/office/powerpoint/2010/main" val="248296114"/>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23</a:t>
            </a:fld>
            <a:endParaRPr/>
          </a:p>
        </p:txBody>
      </p:sp>
      <p:sp>
        <p:nvSpPr>
          <p:cNvPr id="213" name="Google Shape;213;ge1936f3aa2_0_108"/>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786150" y="690975"/>
            <a:ext cx="8090700" cy="4016454"/>
          </a:xfrm>
          <a:prstGeom prst="rect">
            <a:avLst/>
          </a:prstGeom>
          <a:noFill/>
          <a:ln>
            <a:solidFill>
              <a:schemeClr val="accent1"/>
            </a:solidFill>
          </a:ln>
        </p:spPr>
        <p:txBody>
          <a:bodyPr spcFirstLastPara="1" wrap="square" lIns="91425" tIns="91425" rIns="91425" bIns="91425" anchor="t" anchorCtr="0">
            <a:spAutoFit/>
          </a:bodyPr>
          <a:lstStyle/>
          <a:p>
            <a:pPr lvl="0">
              <a:spcBef>
                <a:spcPts val="600"/>
              </a:spcBef>
              <a:buSzPts val="2000"/>
            </a:pPr>
            <a:r>
              <a:rPr lang="en-US" sz="1600" b="1" dirty="0" smtClean="0"/>
              <a:t>Query </a:t>
            </a:r>
            <a:r>
              <a:rPr lang="en-US" sz="1600" b="1" dirty="0"/>
              <a:t>String </a:t>
            </a:r>
            <a:r>
              <a:rPr lang="en-US" sz="1600" b="1" dirty="0" smtClean="0"/>
              <a:t>Parameters Python Example:</a:t>
            </a:r>
          </a:p>
          <a:p>
            <a:pPr lvl="0">
              <a:spcBef>
                <a:spcPts val="600"/>
              </a:spcBef>
              <a:buSzPts val="2000"/>
            </a:pPr>
            <a:endParaRPr lang="en-US" dirty="0" smtClean="0"/>
          </a:p>
          <a:p>
            <a:pPr lvl="0">
              <a:spcBef>
                <a:spcPts val="600"/>
              </a:spcBef>
              <a:buSzPts val="2000"/>
            </a:pPr>
            <a:r>
              <a:rPr lang="en-US" dirty="0" smtClean="0"/>
              <a:t>import requests</a:t>
            </a:r>
            <a:endParaRPr lang="en-US" sz="1600" dirty="0"/>
          </a:p>
          <a:p>
            <a:pPr lvl="0">
              <a:spcBef>
                <a:spcPts val="600"/>
              </a:spcBef>
              <a:buSzPts val="2000"/>
            </a:pPr>
            <a:r>
              <a:rPr lang="en-US" dirty="0"/>
              <a:t># Making a GET request to GitHub's search API</a:t>
            </a:r>
          </a:p>
          <a:p>
            <a:pPr lvl="0">
              <a:spcBef>
                <a:spcPts val="600"/>
              </a:spcBef>
              <a:buSzPts val="2000"/>
            </a:pPr>
            <a:r>
              <a:rPr lang="en-US" dirty="0"/>
              <a:t>response = </a:t>
            </a:r>
            <a:r>
              <a:rPr lang="en-US" dirty="0" err="1"/>
              <a:t>requests.get</a:t>
            </a:r>
            <a:r>
              <a:rPr lang="en-US" dirty="0"/>
              <a:t>(</a:t>
            </a:r>
          </a:p>
          <a:p>
            <a:pPr lvl="0">
              <a:spcBef>
                <a:spcPts val="600"/>
              </a:spcBef>
              <a:buSzPts val="2000"/>
            </a:pPr>
            <a:r>
              <a:rPr lang="en-US" dirty="0"/>
              <a:t>    'https://api.github.com/search/repositories',</a:t>
            </a:r>
          </a:p>
          <a:p>
            <a:pPr lvl="0">
              <a:spcBef>
                <a:spcPts val="600"/>
              </a:spcBef>
              <a:buSzPts val="2000"/>
            </a:pPr>
            <a:r>
              <a:rPr lang="en-US" dirty="0"/>
              <a:t>    </a:t>
            </a:r>
            <a:r>
              <a:rPr lang="en-US" dirty="0" err="1"/>
              <a:t>params</a:t>
            </a:r>
            <a:r>
              <a:rPr lang="en-US" dirty="0"/>
              <a:t>={</a:t>
            </a:r>
          </a:p>
          <a:p>
            <a:pPr lvl="0">
              <a:spcBef>
                <a:spcPts val="600"/>
              </a:spcBef>
              <a:buSzPts val="2000"/>
            </a:pPr>
            <a:r>
              <a:rPr lang="en-US" dirty="0"/>
              <a:t>        'q': 'python </a:t>
            </a:r>
            <a:r>
              <a:rPr lang="en-US" dirty="0" err="1"/>
              <a:t>api</a:t>
            </a:r>
            <a:r>
              <a:rPr lang="en-US" dirty="0"/>
              <a:t>',      # search keywords</a:t>
            </a:r>
          </a:p>
          <a:p>
            <a:pPr lvl="0">
              <a:spcBef>
                <a:spcPts val="600"/>
              </a:spcBef>
              <a:buSzPts val="2000"/>
            </a:pPr>
            <a:r>
              <a:rPr lang="en-US" dirty="0"/>
              <a:t>        '</a:t>
            </a:r>
            <a:r>
              <a:rPr lang="en-US" dirty="0" err="1"/>
              <a:t>per_page</a:t>
            </a:r>
            <a:r>
              <a:rPr lang="en-US" dirty="0"/>
              <a:t>': 10          # limit results to 10</a:t>
            </a:r>
          </a:p>
          <a:p>
            <a:pPr lvl="0">
              <a:spcBef>
                <a:spcPts val="600"/>
              </a:spcBef>
              <a:buSzPts val="2000"/>
            </a:pPr>
            <a:r>
              <a:rPr lang="en-US" dirty="0"/>
              <a:t>    }</a:t>
            </a:r>
          </a:p>
          <a:p>
            <a:pPr lvl="0">
              <a:spcBef>
                <a:spcPts val="600"/>
              </a:spcBef>
              <a:buSzPts val="2000"/>
            </a:pPr>
            <a:r>
              <a:rPr lang="en-US" dirty="0" smtClean="0"/>
              <a:t>)</a:t>
            </a:r>
            <a:endParaRPr lang="en-US" dirty="0"/>
          </a:p>
          <a:p>
            <a:pPr lvl="0">
              <a:spcBef>
                <a:spcPts val="600"/>
              </a:spcBef>
              <a:buSzPts val="2000"/>
            </a:pPr>
            <a:r>
              <a:rPr lang="en-US" dirty="0"/>
              <a:t># Print the full response in text (JSON string)</a:t>
            </a:r>
          </a:p>
          <a:p>
            <a:pPr lvl="0">
              <a:spcBef>
                <a:spcPts val="600"/>
              </a:spcBef>
              <a:buSzPts val="2000"/>
            </a:pPr>
            <a:r>
              <a:rPr lang="en-US" dirty="0"/>
              <a:t>print(</a:t>
            </a:r>
            <a:r>
              <a:rPr lang="en-US" dirty="0" err="1"/>
              <a:t>response.text</a:t>
            </a:r>
            <a:r>
              <a:rPr lang="en-US" dirty="0"/>
              <a:t>)</a:t>
            </a:r>
          </a:p>
        </p:txBody>
      </p:sp>
    </p:spTree>
    <p:extLst>
      <p:ext uri="{BB962C8B-B14F-4D97-AF65-F5344CB8AC3E}">
        <p14:creationId xmlns:p14="http://schemas.microsoft.com/office/powerpoint/2010/main" val="318036052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24</a:t>
            </a:fld>
            <a:endParaRPr/>
          </a:p>
        </p:txBody>
      </p:sp>
      <p:sp>
        <p:nvSpPr>
          <p:cNvPr id="213" name="Google Shape;213;ge1936f3aa2_0_108"/>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786150" y="697902"/>
            <a:ext cx="8090700" cy="2262127"/>
          </a:xfrm>
          <a:prstGeom prst="rect">
            <a:avLst/>
          </a:prstGeom>
          <a:noFill/>
          <a:ln>
            <a:solidFill>
              <a:schemeClr val="accent1"/>
            </a:solidFill>
          </a:ln>
        </p:spPr>
        <p:txBody>
          <a:bodyPr spcFirstLastPara="1" wrap="square" lIns="91425" tIns="91425" rIns="91425" bIns="91425" anchor="t" anchorCtr="0">
            <a:spAutoFit/>
          </a:bodyPr>
          <a:lstStyle/>
          <a:p>
            <a:pPr lvl="0">
              <a:spcBef>
                <a:spcPts val="600"/>
              </a:spcBef>
              <a:buSzPts val="2000"/>
            </a:pPr>
            <a:r>
              <a:rPr lang="en-US" sz="1600" b="1" dirty="0" smtClean="0"/>
              <a:t>What Happens Behind the Scenes:</a:t>
            </a:r>
          </a:p>
          <a:p>
            <a:pPr lvl="0">
              <a:spcBef>
                <a:spcPts val="600"/>
              </a:spcBef>
              <a:buSzPts val="2000"/>
            </a:pPr>
            <a:endParaRPr lang="en-US" dirty="0" smtClean="0"/>
          </a:p>
          <a:p>
            <a:pPr lvl="0">
              <a:spcBef>
                <a:spcPts val="600"/>
              </a:spcBef>
              <a:buSzPts val="2000"/>
            </a:pPr>
            <a:r>
              <a:rPr lang="en-US" b="1" dirty="0"/>
              <a:t>The requests library automatically builds this URL for you</a:t>
            </a:r>
            <a:r>
              <a:rPr lang="en-US" b="1" dirty="0" smtClean="0"/>
              <a:t>:</a:t>
            </a:r>
          </a:p>
          <a:p>
            <a:pPr lvl="0">
              <a:spcBef>
                <a:spcPts val="600"/>
              </a:spcBef>
              <a:buSzPts val="2000"/>
            </a:pPr>
            <a:r>
              <a:rPr lang="en-US" dirty="0"/>
              <a:t>https://api.github.com/search/repositories?q=python+api&amp;per_page=10</a:t>
            </a:r>
          </a:p>
          <a:p>
            <a:pPr lvl="0">
              <a:spcBef>
                <a:spcPts val="600"/>
              </a:spcBef>
              <a:buSzPts val="2000"/>
            </a:pPr>
            <a:endParaRPr lang="en-US" dirty="0" smtClean="0"/>
          </a:p>
          <a:p>
            <a:pPr lvl="0">
              <a:spcBef>
                <a:spcPts val="600"/>
              </a:spcBef>
              <a:buSzPts val="2000"/>
            </a:pPr>
            <a:r>
              <a:rPr lang="en-US" b="1" dirty="0"/>
              <a:t>This tells GitHub</a:t>
            </a:r>
            <a:r>
              <a:rPr lang="en-US" b="1" dirty="0" smtClean="0"/>
              <a:t>:</a:t>
            </a:r>
            <a:endParaRPr lang="en-US" b="1" dirty="0"/>
          </a:p>
          <a:p>
            <a:pPr lvl="0">
              <a:spcBef>
                <a:spcPts val="600"/>
              </a:spcBef>
              <a:buSzPts val="2000"/>
            </a:pPr>
            <a:r>
              <a:rPr lang="en-US" dirty="0"/>
              <a:t>“Hey, search for repositories related to python </a:t>
            </a:r>
            <a:r>
              <a:rPr lang="en-US" dirty="0" err="1"/>
              <a:t>api</a:t>
            </a:r>
            <a:r>
              <a:rPr lang="en-US" dirty="0"/>
              <a:t> and show only 10 results</a:t>
            </a:r>
            <a:r>
              <a:rPr lang="en-US" dirty="0" smtClean="0"/>
              <a:t>.”</a:t>
            </a:r>
          </a:p>
        </p:txBody>
      </p:sp>
    </p:spTree>
    <p:extLst>
      <p:ext uri="{BB962C8B-B14F-4D97-AF65-F5344CB8AC3E}">
        <p14:creationId xmlns:p14="http://schemas.microsoft.com/office/powerpoint/2010/main" val="272534750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ge1936f3aa2_0_10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25</a:t>
            </a:fld>
            <a:endParaRPr/>
          </a:p>
        </p:txBody>
      </p:sp>
      <p:sp>
        <p:nvSpPr>
          <p:cNvPr id="213" name="Google Shape;213;ge1936f3aa2_0_108"/>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14" name="Google Shape;214;ge1936f3aa2_0_108"/>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17" name="Google Shape;217;ge1936f3aa2_0_108"/>
          <p:cNvSpPr txBox="1"/>
          <p:nvPr/>
        </p:nvSpPr>
        <p:spPr>
          <a:xfrm>
            <a:off x="786150" y="697902"/>
            <a:ext cx="8090700" cy="4170342"/>
          </a:xfrm>
          <a:prstGeom prst="rect">
            <a:avLst/>
          </a:prstGeom>
          <a:noFill/>
          <a:ln>
            <a:solidFill>
              <a:schemeClr val="accent1"/>
            </a:solidFill>
          </a:ln>
        </p:spPr>
        <p:txBody>
          <a:bodyPr spcFirstLastPara="1" wrap="square" lIns="91425" tIns="91425" rIns="91425" bIns="91425" anchor="t" anchorCtr="0">
            <a:spAutoFit/>
          </a:bodyPr>
          <a:lstStyle/>
          <a:p>
            <a:pPr lvl="0">
              <a:spcBef>
                <a:spcPts val="600"/>
              </a:spcBef>
              <a:buSzPts val="2000"/>
            </a:pPr>
            <a:r>
              <a:rPr lang="en-US" b="1" dirty="0" smtClean="0"/>
              <a:t>Output </a:t>
            </a:r>
            <a:r>
              <a:rPr lang="en-US" b="1" dirty="0"/>
              <a:t>(Short Preview</a:t>
            </a:r>
            <a:r>
              <a:rPr lang="en-US" b="1" dirty="0" smtClean="0"/>
              <a:t>)</a:t>
            </a:r>
          </a:p>
          <a:p>
            <a:pPr lvl="0">
              <a:spcBef>
                <a:spcPts val="600"/>
              </a:spcBef>
              <a:buSzPts val="2000"/>
            </a:pPr>
            <a:r>
              <a:rPr lang="en-US" dirty="0"/>
              <a:t>You’ll get a long JSON string with information about repositories like</a:t>
            </a:r>
            <a:r>
              <a:rPr lang="en-US" dirty="0" smtClean="0"/>
              <a:t>:</a:t>
            </a:r>
            <a:endParaRPr lang="en-US" dirty="0"/>
          </a:p>
          <a:p>
            <a:pPr lvl="0">
              <a:spcBef>
                <a:spcPts val="600"/>
              </a:spcBef>
              <a:buSzPts val="2000"/>
            </a:pPr>
            <a:r>
              <a:rPr lang="en-US" sz="1200" dirty="0"/>
              <a:t>{</a:t>
            </a:r>
          </a:p>
          <a:p>
            <a:pPr lvl="0">
              <a:spcBef>
                <a:spcPts val="600"/>
              </a:spcBef>
              <a:buSzPts val="2000"/>
            </a:pPr>
            <a:r>
              <a:rPr lang="en-US" sz="1200" dirty="0"/>
              <a:t>  "</a:t>
            </a:r>
            <a:r>
              <a:rPr lang="en-US" sz="1200" dirty="0" err="1"/>
              <a:t>total_count</a:t>
            </a:r>
            <a:r>
              <a:rPr lang="en-US" sz="1200" dirty="0"/>
              <a:t>": 123456,</a:t>
            </a:r>
          </a:p>
          <a:p>
            <a:pPr lvl="0">
              <a:spcBef>
                <a:spcPts val="600"/>
              </a:spcBef>
              <a:buSzPts val="2000"/>
            </a:pPr>
            <a:r>
              <a:rPr lang="en-US" sz="1200" dirty="0"/>
              <a:t>  "items": [</a:t>
            </a:r>
          </a:p>
          <a:p>
            <a:pPr lvl="0">
              <a:spcBef>
                <a:spcPts val="600"/>
              </a:spcBef>
              <a:buSzPts val="2000"/>
            </a:pPr>
            <a:r>
              <a:rPr lang="en-US" sz="1200" dirty="0"/>
              <a:t>    {</a:t>
            </a:r>
          </a:p>
          <a:p>
            <a:pPr lvl="0">
              <a:spcBef>
                <a:spcPts val="600"/>
              </a:spcBef>
              <a:buSzPts val="2000"/>
            </a:pPr>
            <a:r>
              <a:rPr lang="en-US" sz="1200" dirty="0"/>
              <a:t>      "name": "awesome-python",</a:t>
            </a:r>
          </a:p>
          <a:p>
            <a:pPr lvl="0">
              <a:spcBef>
                <a:spcPts val="600"/>
              </a:spcBef>
              <a:buSzPts val="2000"/>
            </a:pPr>
            <a:r>
              <a:rPr lang="en-US" sz="1200" dirty="0"/>
              <a:t>      "</a:t>
            </a:r>
            <a:r>
              <a:rPr lang="en-US" sz="1200" dirty="0" err="1"/>
              <a:t>full_name</a:t>
            </a:r>
            <a:r>
              <a:rPr lang="en-US" sz="1200" dirty="0"/>
              <a:t>": "</a:t>
            </a:r>
            <a:r>
              <a:rPr lang="en-US" sz="1200" dirty="0" err="1"/>
              <a:t>vinta</a:t>
            </a:r>
            <a:r>
              <a:rPr lang="en-US" sz="1200" dirty="0"/>
              <a:t>/awesome-python",</a:t>
            </a:r>
          </a:p>
          <a:p>
            <a:pPr lvl="0">
              <a:spcBef>
                <a:spcPts val="600"/>
              </a:spcBef>
              <a:buSzPts val="2000"/>
            </a:pPr>
            <a:r>
              <a:rPr lang="en-US" sz="1200" dirty="0"/>
              <a:t>      "</a:t>
            </a:r>
            <a:r>
              <a:rPr lang="en-US" sz="1200" dirty="0" err="1"/>
              <a:t>html_url</a:t>
            </a:r>
            <a:r>
              <a:rPr lang="en-US" sz="1200" dirty="0"/>
              <a:t>": "https://github.com/</a:t>
            </a:r>
            <a:r>
              <a:rPr lang="en-US" sz="1200" dirty="0" err="1"/>
              <a:t>vinta</a:t>
            </a:r>
            <a:r>
              <a:rPr lang="en-US" sz="1200" dirty="0"/>
              <a:t>/awesome-python",</a:t>
            </a:r>
          </a:p>
          <a:p>
            <a:pPr lvl="0">
              <a:spcBef>
                <a:spcPts val="600"/>
              </a:spcBef>
              <a:buSzPts val="2000"/>
            </a:pPr>
            <a:r>
              <a:rPr lang="en-US" sz="1200" dirty="0"/>
              <a:t>      ...</a:t>
            </a:r>
          </a:p>
          <a:p>
            <a:pPr lvl="0">
              <a:spcBef>
                <a:spcPts val="600"/>
              </a:spcBef>
              <a:buSzPts val="2000"/>
            </a:pPr>
            <a:r>
              <a:rPr lang="en-US" sz="1200" dirty="0"/>
              <a:t>    },</a:t>
            </a:r>
          </a:p>
          <a:p>
            <a:pPr lvl="0">
              <a:spcBef>
                <a:spcPts val="600"/>
              </a:spcBef>
              <a:buSzPts val="2000"/>
            </a:pPr>
            <a:r>
              <a:rPr lang="en-US" sz="1200" dirty="0"/>
              <a:t>    ...</a:t>
            </a:r>
          </a:p>
          <a:p>
            <a:pPr lvl="0">
              <a:spcBef>
                <a:spcPts val="600"/>
              </a:spcBef>
              <a:buSzPts val="2000"/>
            </a:pPr>
            <a:r>
              <a:rPr lang="en-US" sz="1200" dirty="0"/>
              <a:t>  ]</a:t>
            </a:r>
          </a:p>
          <a:p>
            <a:pPr lvl="0">
              <a:spcBef>
                <a:spcPts val="600"/>
              </a:spcBef>
              <a:buSzPts val="2000"/>
            </a:pPr>
            <a:r>
              <a:rPr lang="en-US" sz="1200" dirty="0" smtClean="0"/>
              <a:t>}</a:t>
            </a:r>
          </a:p>
          <a:p>
            <a:pPr lvl="0">
              <a:spcBef>
                <a:spcPts val="600"/>
              </a:spcBef>
              <a:buSzPts val="2000"/>
            </a:pPr>
            <a:r>
              <a:rPr lang="en-US" sz="1200" b="1" dirty="0"/>
              <a:t>You can then parse this with </a:t>
            </a:r>
            <a:r>
              <a:rPr lang="en-US" sz="1200" b="1" dirty="0" err="1"/>
              <a:t>response.json</a:t>
            </a:r>
            <a:r>
              <a:rPr lang="en-US" sz="1200" b="1" dirty="0"/>
              <a:t>() to work with it like a Python dictionary!</a:t>
            </a:r>
          </a:p>
        </p:txBody>
      </p:sp>
    </p:spTree>
    <p:extLst>
      <p:ext uri="{BB962C8B-B14F-4D97-AF65-F5344CB8AC3E}">
        <p14:creationId xmlns:p14="http://schemas.microsoft.com/office/powerpoint/2010/main" val="153427780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e252f61ace_0_3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26</a:t>
            </a:fld>
            <a:endParaRPr/>
          </a:p>
        </p:txBody>
      </p:sp>
      <p:sp>
        <p:nvSpPr>
          <p:cNvPr id="226" name="Google Shape;226;ge252f61ace_0_32"/>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27" name="Google Shape;227;ge252f61ace_0_32"/>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29" name="Google Shape;229;ge252f61ace_0_32"/>
          <p:cNvSpPr txBox="1"/>
          <p:nvPr/>
        </p:nvSpPr>
        <p:spPr>
          <a:xfrm>
            <a:off x="786150" y="690975"/>
            <a:ext cx="8090700" cy="2693015"/>
          </a:xfrm>
          <a:prstGeom prst="rect">
            <a:avLst/>
          </a:prstGeom>
          <a:noFill/>
          <a:ln>
            <a:noFill/>
          </a:ln>
        </p:spPr>
        <p:txBody>
          <a:bodyPr spcFirstLastPara="1" wrap="square" lIns="91425" tIns="91425" rIns="91425" bIns="91425" anchor="t" anchorCtr="0">
            <a:spAutoFit/>
          </a:bodyPr>
          <a:lstStyle/>
          <a:p>
            <a:pPr lvl="0">
              <a:spcBef>
                <a:spcPts val="600"/>
              </a:spcBef>
              <a:buSzPts val="1250"/>
            </a:pPr>
            <a:r>
              <a:rPr lang="en-US" sz="1600" b="1" dirty="0"/>
              <a:t>What is a POST Request</a:t>
            </a:r>
            <a:r>
              <a:rPr lang="en-US" sz="1600" b="1" dirty="0" smtClean="0"/>
              <a:t>?</a:t>
            </a:r>
          </a:p>
          <a:p>
            <a:pPr lvl="0">
              <a:spcBef>
                <a:spcPts val="600"/>
              </a:spcBef>
              <a:buSzPts val="1250"/>
            </a:pPr>
            <a:endParaRPr lang="en-US" sz="1600" b="1" i="0" u="none" strike="noStrike" cap="none" dirty="0">
              <a:solidFill>
                <a:srgbClr val="222222"/>
              </a:solidFill>
              <a:highlight>
                <a:srgbClr val="FFFFFF"/>
              </a:highlight>
              <a:sym typeface="Arial"/>
            </a:endParaRPr>
          </a:p>
          <a:p>
            <a:pPr marL="285750" lvl="0" indent="-285750">
              <a:spcBef>
                <a:spcPts val="600"/>
              </a:spcBef>
              <a:buSzPts val="1250"/>
              <a:buFont typeface="Arial" panose="020B0604020202020204" pitchFamily="34" charset="0"/>
              <a:buChar char="•"/>
            </a:pPr>
            <a:r>
              <a:rPr lang="en-US" sz="1600" dirty="0">
                <a:solidFill>
                  <a:srgbClr val="222222"/>
                </a:solidFill>
                <a:highlight>
                  <a:srgbClr val="FFFFFF"/>
                </a:highlight>
              </a:rPr>
              <a:t>A POST request is used when you want to send data to a server to create something new — like a new issue on GitHub</a:t>
            </a:r>
            <a:r>
              <a:rPr lang="en-US" sz="1600" dirty="0" smtClean="0">
                <a:solidFill>
                  <a:srgbClr val="222222"/>
                </a:solidFill>
                <a:highlight>
                  <a:srgbClr val="FFFFFF"/>
                </a:highlight>
              </a:rPr>
              <a:t>.</a:t>
            </a:r>
            <a:endParaRPr lang="en-US" sz="1600" dirty="0">
              <a:solidFill>
                <a:srgbClr val="222222"/>
              </a:solidFill>
              <a:highlight>
                <a:srgbClr val="FFFFFF"/>
              </a:highlight>
            </a:endParaRPr>
          </a:p>
          <a:p>
            <a:pPr marL="285750" lvl="0" indent="-285750">
              <a:spcBef>
                <a:spcPts val="600"/>
              </a:spcBef>
              <a:buSzPts val="1250"/>
              <a:buFont typeface="Arial" panose="020B0604020202020204" pitchFamily="34" charset="0"/>
              <a:buChar char="•"/>
            </a:pPr>
            <a:r>
              <a:rPr lang="en-US" sz="1600" dirty="0">
                <a:solidFill>
                  <a:srgbClr val="222222"/>
                </a:solidFill>
                <a:highlight>
                  <a:srgbClr val="FFFFFF"/>
                </a:highlight>
              </a:rPr>
              <a:t>You send data (called a payload) along with your request</a:t>
            </a:r>
            <a:r>
              <a:rPr lang="en-US" sz="1600" dirty="0" smtClean="0">
                <a:solidFill>
                  <a:srgbClr val="222222"/>
                </a:solidFill>
                <a:highlight>
                  <a:srgbClr val="FFFFFF"/>
                </a:highlight>
              </a:rPr>
              <a:t>.</a:t>
            </a:r>
          </a:p>
          <a:p>
            <a:pPr lvl="0">
              <a:spcBef>
                <a:spcPts val="600"/>
              </a:spcBef>
              <a:buSzPts val="1250"/>
            </a:pPr>
            <a:endParaRPr lang="en-US" sz="1600" i="0" u="none" strike="noStrike" cap="none" dirty="0">
              <a:solidFill>
                <a:srgbClr val="222222"/>
              </a:solidFill>
              <a:highlight>
                <a:srgbClr val="FFFFFF"/>
              </a:highlight>
              <a:sym typeface="Arial"/>
            </a:endParaRPr>
          </a:p>
          <a:p>
            <a:pPr lvl="0">
              <a:spcBef>
                <a:spcPts val="600"/>
              </a:spcBef>
              <a:buSzPts val="1250"/>
            </a:pPr>
            <a:r>
              <a:rPr lang="en-US" sz="1600" dirty="0">
                <a:solidFill>
                  <a:srgbClr val="222222"/>
                </a:solidFill>
                <a:highlight>
                  <a:srgbClr val="FFFFFF"/>
                </a:highlight>
              </a:rPr>
              <a:t>Creating a GitHub Issue with </a:t>
            </a:r>
            <a:r>
              <a:rPr lang="en-US" sz="1600" dirty="0" smtClean="0">
                <a:solidFill>
                  <a:srgbClr val="222222"/>
                </a:solidFill>
                <a:highlight>
                  <a:srgbClr val="FFFFFF"/>
                </a:highlight>
              </a:rPr>
              <a:t>Python: </a:t>
            </a:r>
          </a:p>
          <a:p>
            <a:pPr lvl="0">
              <a:spcBef>
                <a:spcPts val="600"/>
              </a:spcBef>
              <a:buSzPts val="1250"/>
            </a:pPr>
            <a:r>
              <a:rPr lang="en-US" sz="1600" dirty="0" smtClean="0"/>
              <a:t>https</a:t>
            </a:r>
            <a:r>
              <a:rPr lang="en-US" sz="1600" dirty="0"/>
              <a:t>://</a:t>
            </a:r>
            <a:r>
              <a:rPr lang="en-US" sz="1600" dirty="0" smtClean="0"/>
              <a:t>github.com/zainkhangithub/temp-repo</a:t>
            </a:r>
            <a:endParaRPr sz="1600" i="0" u="none" strike="noStrike" cap="none" dirty="0">
              <a:solidFill>
                <a:srgbClr val="222222"/>
              </a:solidFill>
              <a:highlight>
                <a:srgbClr val="FFFFFF"/>
              </a:highlight>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e252f61ace_0_3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27</a:t>
            </a:fld>
            <a:endParaRPr/>
          </a:p>
        </p:txBody>
      </p:sp>
      <p:sp>
        <p:nvSpPr>
          <p:cNvPr id="226" name="Google Shape;226;ge252f61ace_0_32"/>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dirty="0"/>
              <a:t>Python </a:t>
            </a:r>
            <a:r>
              <a:rPr lang="en" sz="2800" dirty="0">
                <a:highlight>
                  <a:srgbClr val="CFD8DC"/>
                </a:highlight>
                <a:latin typeface="Roboto Mono"/>
                <a:ea typeface="Roboto Mono"/>
                <a:cs typeface="Roboto Mono"/>
                <a:sym typeface="Roboto Mono"/>
              </a:rPr>
              <a:t>request</a:t>
            </a:r>
            <a:r>
              <a:rPr lang="en" sz="2800" b="1" dirty="0"/>
              <a:t> library</a:t>
            </a:r>
            <a:endParaRPr sz="2800" b="1" dirty="0"/>
          </a:p>
        </p:txBody>
      </p:sp>
      <p:pic>
        <p:nvPicPr>
          <p:cNvPr id="227" name="Google Shape;227;ge252f61ace_0_32"/>
          <p:cNvPicPr preferRelativeResize="0"/>
          <p:nvPr/>
        </p:nvPicPr>
        <p:blipFill rotWithShape="1">
          <a:blip r:embed="rId3">
            <a:alphaModFix/>
          </a:blip>
          <a:srcRect/>
          <a:stretch/>
        </p:blipFill>
        <p:spPr>
          <a:xfrm>
            <a:off x="163972" y="155721"/>
            <a:ext cx="658974" cy="657876"/>
          </a:xfrm>
          <a:prstGeom prst="rect">
            <a:avLst/>
          </a:prstGeom>
          <a:noFill/>
          <a:ln>
            <a:noFill/>
          </a:ln>
        </p:spPr>
      </p:pic>
      <p:graphicFrame>
        <p:nvGraphicFramePr>
          <p:cNvPr id="2" name="Table 1"/>
          <p:cNvGraphicFramePr>
            <a:graphicFrameLocks noGrp="1"/>
          </p:cNvGraphicFramePr>
          <p:nvPr>
            <p:extLst>
              <p:ext uri="{D42A27DB-BD31-4B8C-83A1-F6EECF244321}">
                <p14:modId xmlns:p14="http://schemas.microsoft.com/office/powerpoint/2010/main" val="3899030259"/>
              </p:ext>
            </p:extLst>
          </p:nvPr>
        </p:nvGraphicFramePr>
        <p:xfrm>
          <a:off x="652787" y="1130456"/>
          <a:ext cx="7572374" cy="2377440"/>
        </p:xfrm>
        <a:graphic>
          <a:graphicData uri="http://schemas.openxmlformats.org/drawingml/2006/table">
            <a:tbl>
              <a:tblPr firstRow="1">
                <a:tableStyleId>{BC89EF96-8CEA-46FF-86C4-4CE0E7609802}</a:tableStyleId>
              </a:tblPr>
              <a:tblGrid>
                <a:gridCol w="1577795"/>
                <a:gridCol w="5994579"/>
              </a:tblGrid>
              <a:tr h="304800">
                <a:tc>
                  <a:txBody>
                    <a:bodyPr/>
                    <a:lstStyle/>
                    <a:p>
                      <a:r>
                        <a:rPr lang="en-US" sz="1400" b="1" dirty="0"/>
                        <a:t>Term</a:t>
                      </a:r>
                    </a:p>
                  </a:txBody>
                  <a:tcPr anchor="ctr"/>
                </a:tc>
                <a:tc>
                  <a:txBody>
                    <a:bodyPr/>
                    <a:lstStyle/>
                    <a:p>
                      <a:r>
                        <a:rPr lang="en-US" sz="1400" b="1" dirty="0"/>
                        <a:t>What it means</a:t>
                      </a:r>
                    </a:p>
                  </a:txBody>
                  <a:tcPr anchor="ctr"/>
                </a:tc>
              </a:tr>
              <a:tr h="518160">
                <a:tc>
                  <a:txBody>
                    <a:bodyPr/>
                    <a:lstStyle/>
                    <a:p>
                      <a:r>
                        <a:rPr lang="en-US" sz="1400" dirty="0"/>
                        <a:t>POST</a:t>
                      </a:r>
                    </a:p>
                  </a:txBody>
                  <a:tcPr anchor="ctr"/>
                </a:tc>
                <a:tc>
                  <a:txBody>
                    <a:bodyPr/>
                    <a:lstStyle/>
                    <a:p>
                      <a:r>
                        <a:rPr lang="en-US" sz="1400"/>
                        <a:t>You're creating something new (in this case, an issue)</a:t>
                      </a:r>
                    </a:p>
                  </a:txBody>
                  <a:tcPr anchor="ctr"/>
                </a:tc>
              </a:tr>
              <a:tr h="518160">
                <a:tc>
                  <a:txBody>
                    <a:bodyPr/>
                    <a:lstStyle/>
                    <a:p>
                      <a:r>
                        <a:rPr lang="en-US" sz="1400" dirty="0"/>
                        <a:t>payload</a:t>
                      </a:r>
                    </a:p>
                  </a:txBody>
                  <a:tcPr anchor="ctr"/>
                </a:tc>
                <a:tc>
                  <a:txBody>
                    <a:bodyPr/>
                    <a:lstStyle/>
                    <a:p>
                      <a:r>
                        <a:rPr lang="en-US" sz="1400" dirty="0"/>
                        <a:t>The content of the issue (title, body, labels, etc.)</a:t>
                      </a:r>
                    </a:p>
                  </a:txBody>
                  <a:tcPr anchor="ctr"/>
                </a:tc>
              </a:tr>
              <a:tr h="518160">
                <a:tc>
                  <a:txBody>
                    <a:bodyPr/>
                    <a:lstStyle/>
                    <a:p>
                      <a:r>
                        <a:rPr lang="en-US" sz="1400"/>
                        <a:t>headers</a:t>
                      </a:r>
                    </a:p>
                  </a:txBody>
                  <a:tcPr anchor="ctr"/>
                </a:tc>
                <a:tc>
                  <a:txBody>
                    <a:bodyPr/>
                    <a:lstStyle/>
                    <a:p>
                      <a:r>
                        <a:rPr lang="en-US" sz="1400"/>
                        <a:t>Extra info like your GitHub token (for authentication)</a:t>
                      </a:r>
                    </a:p>
                  </a:txBody>
                  <a:tcPr anchor="ctr"/>
                </a:tc>
              </a:tr>
              <a:tr h="518160">
                <a:tc>
                  <a:txBody>
                    <a:bodyPr/>
                    <a:lstStyle/>
                    <a:p>
                      <a:r>
                        <a:rPr lang="en-US" sz="1400"/>
                        <a:t>url</a:t>
                      </a:r>
                    </a:p>
                  </a:txBody>
                  <a:tcPr anchor="ctr"/>
                </a:tc>
                <a:tc>
                  <a:txBody>
                    <a:bodyPr/>
                    <a:lstStyle/>
                    <a:p>
                      <a:r>
                        <a:rPr lang="en-US" sz="1400" dirty="0"/>
                        <a:t>Where the request is being sent (the API endpoint)</a:t>
                      </a:r>
                    </a:p>
                  </a:txBody>
                  <a:tcPr anchor="ctr"/>
                </a:tc>
              </a:tr>
            </a:tbl>
          </a:graphicData>
        </a:graphic>
      </p:graphicFrame>
      <p:sp>
        <p:nvSpPr>
          <p:cNvPr id="4" name="TextBox 3"/>
          <p:cNvSpPr txBox="1"/>
          <p:nvPr/>
        </p:nvSpPr>
        <p:spPr>
          <a:xfrm>
            <a:off x="652787" y="3778543"/>
            <a:ext cx="7572374" cy="523220"/>
          </a:xfrm>
          <a:prstGeom prst="rect">
            <a:avLst/>
          </a:prstGeom>
          <a:solidFill>
            <a:srgbClr val="CC0000"/>
          </a:solidFill>
          <a:ln>
            <a:solidFill>
              <a:srgbClr val="CC0000"/>
            </a:solidFill>
          </a:ln>
        </p:spPr>
        <p:txBody>
          <a:bodyPr wrap="square" rtlCol="0">
            <a:spAutoFit/>
          </a:bodyPr>
          <a:lstStyle/>
          <a:p>
            <a:r>
              <a:rPr lang="en-US" dirty="0"/>
              <a:t>Don’t ever share your personal GitHub token in public or in code shared with others! Instead, store it in a .</a:t>
            </a:r>
            <a:r>
              <a:rPr lang="en-US" dirty="0" err="1"/>
              <a:t>env</a:t>
            </a:r>
            <a:r>
              <a:rPr lang="en-US" dirty="0"/>
              <a:t> file or environment variable.</a:t>
            </a:r>
          </a:p>
        </p:txBody>
      </p:sp>
    </p:spTree>
    <p:extLst>
      <p:ext uri="{BB962C8B-B14F-4D97-AF65-F5344CB8AC3E}">
        <p14:creationId xmlns:p14="http://schemas.microsoft.com/office/powerpoint/2010/main" val="3867830791"/>
      </p:ext>
    </p:extLst>
  </p:cSld>
  <p:clrMapOvr>
    <a:masterClrMapping/>
  </p:clrMapOvr>
  <p:transition>
    <p:fade thruBlk="1"/>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e252f61ace_0_3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28</a:t>
            </a:fld>
            <a:endParaRPr/>
          </a:p>
        </p:txBody>
      </p:sp>
      <p:sp>
        <p:nvSpPr>
          <p:cNvPr id="226" name="Google Shape;226;ge252f61ace_0_32"/>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27" name="Google Shape;227;ge252f61ace_0_32"/>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29" name="Google Shape;229;ge252f61ace_0_32"/>
          <p:cNvSpPr txBox="1"/>
          <p:nvPr/>
        </p:nvSpPr>
        <p:spPr>
          <a:xfrm>
            <a:off x="786150" y="690975"/>
            <a:ext cx="4630977" cy="4031843"/>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t" anchorCtr="0">
            <a:spAutoFit/>
          </a:bodyPr>
          <a:lstStyle/>
          <a:p>
            <a:pPr lvl="0">
              <a:spcBef>
                <a:spcPts val="600"/>
              </a:spcBef>
              <a:buSzPts val="1250"/>
            </a:pPr>
            <a:r>
              <a:rPr lang="en-US" sz="1200" dirty="0"/>
              <a:t>import requests</a:t>
            </a:r>
          </a:p>
          <a:p>
            <a:pPr lvl="0">
              <a:spcBef>
                <a:spcPts val="600"/>
              </a:spcBef>
              <a:buSzPts val="1250"/>
            </a:pPr>
            <a:r>
              <a:rPr lang="en-US" sz="1200" dirty="0"/>
              <a:t>import </a:t>
            </a:r>
            <a:r>
              <a:rPr lang="en-US" sz="1200" dirty="0" err="1" smtClean="0"/>
              <a:t>json</a:t>
            </a:r>
            <a:endParaRPr lang="en-US" sz="1200" dirty="0"/>
          </a:p>
          <a:p>
            <a:pPr lvl="0">
              <a:spcBef>
                <a:spcPts val="600"/>
              </a:spcBef>
              <a:buSzPts val="1250"/>
            </a:pPr>
            <a:r>
              <a:rPr lang="en-US" sz="1200" b="1" dirty="0"/>
              <a:t># Step 1: Set up the data to be sent (title, description, labels)</a:t>
            </a:r>
          </a:p>
          <a:p>
            <a:pPr lvl="0">
              <a:spcBef>
                <a:spcPts val="600"/>
              </a:spcBef>
              <a:buSzPts val="1250"/>
            </a:pPr>
            <a:r>
              <a:rPr lang="en-US" sz="1200" dirty="0"/>
              <a:t>payload = {</a:t>
            </a:r>
          </a:p>
          <a:p>
            <a:pPr lvl="0">
              <a:spcBef>
                <a:spcPts val="600"/>
              </a:spcBef>
              <a:buSzPts val="1250"/>
            </a:pPr>
            <a:r>
              <a:rPr lang="en-US" sz="1200" dirty="0"/>
              <a:t>    "title": "A sample new issue from API",</a:t>
            </a:r>
          </a:p>
          <a:p>
            <a:pPr lvl="0">
              <a:spcBef>
                <a:spcPts val="600"/>
              </a:spcBef>
              <a:buSzPts val="1250"/>
            </a:pPr>
            <a:r>
              <a:rPr lang="en-US" sz="1200" dirty="0"/>
              <a:t>    "body": "The user interface is upside down",</a:t>
            </a:r>
          </a:p>
          <a:p>
            <a:pPr lvl="0">
              <a:spcBef>
                <a:spcPts val="600"/>
              </a:spcBef>
              <a:buSzPts val="1250"/>
            </a:pPr>
            <a:r>
              <a:rPr lang="en-US" sz="1200" dirty="0"/>
              <a:t>    "labels": ["bug", "bug from </a:t>
            </a:r>
            <a:r>
              <a:rPr lang="en-US" sz="1200" dirty="0" err="1"/>
              <a:t>api</a:t>
            </a:r>
            <a:r>
              <a:rPr lang="en-US" sz="1200" dirty="0"/>
              <a:t>"]</a:t>
            </a:r>
          </a:p>
          <a:p>
            <a:pPr lvl="0">
              <a:spcBef>
                <a:spcPts val="600"/>
              </a:spcBef>
              <a:buSzPts val="1250"/>
            </a:pPr>
            <a:r>
              <a:rPr lang="en-US" sz="1200" dirty="0" smtClean="0"/>
              <a:t>}</a:t>
            </a:r>
          </a:p>
          <a:p>
            <a:pPr lvl="0">
              <a:spcBef>
                <a:spcPts val="600"/>
              </a:spcBef>
              <a:buSzPts val="1250"/>
            </a:pPr>
            <a:endParaRPr lang="en-US" sz="1200" dirty="0" smtClean="0"/>
          </a:p>
          <a:p>
            <a:pPr lvl="0">
              <a:spcBef>
                <a:spcPts val="600"/>
              </a:spcBef>
              <a:buSzPts val="1250"/>
            </a:pPr>
            <a:r>
              <a:rPr lang="en-US" sz="1200" b="1" dirty="0" smtClean="0"/>
              <a:t># </a:t>
            </a:r>
            <a:r>
              <a:rPr lang="en-US" sz="1200" b="1" dirty="0"/>
              <a:t>Step 2: Add your GitHub token here (replace '</a:t>
            </a:r>
            <a:r>
              <a:rPr lang="en-US" sz="1200" b="1" dirty="0" err="1"/>
              <a:t>your_token_here</a:t>
            </a:r>
            <a:r>
              <a:rPr lang="en-US" sz="1200" b="1" dirty="0"/>
              <a:t>')</a:t>
            </a:r>
          </a:p>
          <a:p>
            <a:pPr lvl="0">
              <a:spcBef>
                <a:spcPts val="600"/>
              </a:spcBef>
              <a:buSzPts val="1250"/>
            </a:pPr>
            <a:r>
              <a:rPr lang="en-US" sz="1200" dirty="0"/>
              <a:t>headers = {</a:t>
            </a:r>
          </a:p>
          <a:p>
            <a:pPr lvl="0">
              <a:spcBef>
                <a:spcPts val="600"/>
              </a:spcBef>
              <a:buSzPts val="1250"/>
            </a:pPr>
            <a:r>
              <a:rPr lang="en-US" sz="1200" dirty="0"/>
              <a:t>    'Authorization': 'token </a:t>
            </a:r>
            <a:r>
              <a:rPr lang="en-US" sz="1200" dirty="0" err="1"/>
              <a:t>your_token_here</a:t>
            </a:r>
            <a:r>
              <a:rPr lang="en-US" sz="1200" dirty="0"/>
              <a:t>',</a:t>
            </a:r>
          </a:p>
          <a:p>
            <a:pPr lvl="0">
              <a:spcBef>
                <a:spcPts val="600"/>
              </a:spcBef>
              <a:buSzPts val="1250"/>
            </a:pPr>
            <a:r>
              <a:rPr lang="en-US" sz="1200" dirty="0"/>
              <a:t>    'Accept': 'application/vnd.github.v3+json'</a:t>
            </a:r>
          </a:p>
          <a:p>
            <a:pPr lvl="0">
              <a:spcBef>
                <a:spcPts val="600"/>
              </a:spcBef>
              <a:buSzPts val="1250"/>
            </a:pPr>
            <a:r>
              <a:rPr lang="en-US" sz="1200" dirty="0" smtClean="0"/>
              <a:t>}</a:t>
            </a:r>
            <a:endParaRPr lang="en-US" sz="1200" dirty="0"/>
          </a:p>
        </p:txBody>
      </p:sp>
      <p:sp>
        <p:nvSpPr>
          <p:cNvPr id="2" name="TextBox 1"/>
          <p:cNvSpPr txBox="1"/>
          <p:nvPr/>
        </p:nvSpPr>
        <p:spPr>
          <a:xfrm>
            <a:off x="5486197" y="690944"/>
            <a:ext cx="2987257" cy="40233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0">
              <a:spcBef>
                <a:spcPts val="600"/>
              </a:spcBef>
              <a:buSzPts val="1250"/>
            </a:pPr>
            <a:r>
              <a:rPr lang="en-US" sz="1200" b="1" dirty="0"/>
              <a:t># Step 3: Define the API URL for the repository</a:t>
            </a:r>
          </a:p>
          <a:p>
            <a:pPr lvl="0">
              <a:spcBef>
                <a:spcPts val="600"/>
              </a:spcBef>
              <a:buSzPts val="1250"/>
            </a:pPr>
            <a:r>
              <a:rPr lang="en-US" sz="1200" dirty="0" err="1"/>
              <a:t>url</a:t>
            </a:r>
            <a:r>
              <a:rPr lang="en-US" sz="1200" dirty="0"/>
              <a:t> = "https://api.github.com/repos/awaisakram64/temp-repo/issues"</a:t>
            </a:r>
          </a:p>
          <a:p>
            <a:pPr lvl="0">
              <a:spcBef>
                <a:spcPts val="600"/>
              </a:spcBef>
              <a:buSzPts val="1250"/>
            </a:pPr>
            <a:endParaRPr lang="en-US" sz="1200" dirty="0"/>
          </a:p>
          <a:p>
            <a:pPr lvl="0">
              <a:spcBef>
                <a:spcPts val="600"/>
              </a:spcBef>
              <a:buSzPts val="1250"/>
            </a:pPr>
            <a:r>
              <a:rPr lang="en-US" sz="1200" b="1" dirty="0"/>
              <a:t># Step 4: Send the POST request</a:t>
            </a:r>
          </a:p>
          <a:p>
            <a:pPr lvl="0">
              <a:spcBef>
                <a:spcPts val="600"/>
              </a:spcBef>
              <a:buSzPts val="1250"/>
            </a:pPr>
            <a:r>
              <a:rPr lang="en-US" sz="1200" dirty="0"/>
              <a:t>response = </a:t>
            </a:r>
            <a:r>
              <a:rPr lang="en-US" sz="1200" dirty="0" err="1"/>
              <a:t>requests.post</a:t>
            </a:r>
            <a:r>
              <a:rPr lang="en-US" sz="1200" dirty="0"/>
              <a:t>(</a:t>
            </a:r>
            <a:r>
              <a:rPr lang="en-US" sz="1200" dirty="0" err="1"/>
              <a:t>url</a:t>
            </a:r>
            <a:r>
              <a:rPr lang="en-US" sz="1200" dirty="0"/>
              <a:t>, data=</a:t>
            </a:r>
            <a:r>
              <a:rPr lang="en-US" sz="1200" dirty="0" err="1"/>
              <a:t>json.dumps</a:t>
            </a:r>
            <a:r>
              <a:rPr lang="en-US" sz="1200" dirty="0"/>
              <a:t>(payload), headers=headers)</a:t>
            </a:r>
          </a:p>
          <a:p>
            <a:pPr lvl="0">
              <a:spcBef>
                <a:spcPts val="600"/>
              </a:spcBef>
              <a:buSzPts val="1250"/>
            </a:pPr>
            <a:endParaRPr lang="en-US" sz="1200" dirty="0"/>
          </a:p>
          <a:p>
            <a:pPr lvl="0">
              <a:spcBef>
                <a:spcPts val="600"/>
              </a:spcBef>
              <a:buSzPts val="1250"/>
            </a:pPr>
            <a:r>
              <a:rPr lang="en-US" sz="1200" b="1" dirty="0"/>
              <a:t># Step 5: Check the status</a:t>
            </a:r>
          </a:p>
          <a:p>
            <a:pPr lvl="0">
              <a:spcBef>
                <a:spcPts val="600"/>
              </a:spcBef>
              <a:buSzPts val="1250"/>
            </a:pPr>
            <a:r>
              <a:rPr lang="en-US" sz="1200" dirty="0"/>
              <a:t>print(</a:t>
            </a:r>
            <a:r>
              <a:rPr lang="en-US" sz="1200" dirty="0" err="1"/>
              <a:t>response.status_code</a:t>
            </a:r>
            <a:r>
              <a:rPr lang="en-US" sz="1200" dirty="0"/>
              <a:t>)       # 201 means success</a:t>
            </a:r>
          </a:p>
          <a:p>
            <a:pPr lvl="0">
              <a:spcBef>
                <a:spcPts val="600"/>
              </a:spcBef>
              <a:buSzPts val="1250"/>
            </a:pPr>
            <a:r>
              <a:rPr lang="en-US" sz="1200" dirty="0"/>
              <a:t>print(</a:t>
            </a:r>
            <a:r>
              <a:rPr lang="en-US" sz="1200" dirty="0" err="1"/>
              <a:t>response.json</a:t>
            </a:r>
            <a:r>
              <a:rPr lang="en-US" sz="1200" dirty="0"/>
              <a:t>())            # Show the created issue details</a:t>
            </a:r>
          </a:p>
          <a:p>
            <a:endParaRPr lang="en-US" sz="1200" dirty="0"/>
          </a:p>
        </p:txBody>
      </p:sp>
    </p:spTree>
    <p:extLst>
      <p:ext uri="{BB962C8B-B14F-4D97-AF65-F5344CB8AC3E}">
        <p14:creationId xmlns:p14="http://schemas.microsoft.com/office/powerpoint/2010/main" val="245509344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e252f61ace_0_3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29</a:t>
            </a:fld>
            <a:endParaRPr/>
          </a:p>
        </p:txBody>
      </p:sp>
      <p:sp>
        <p:nvSpPr>
          <p:cNvPr id="226" name="Google Shape;226;ge252f61ace_0_32"/>
          <p:cNvSpPr txBox="1">
            <a:spLocks noGrp="1"/>
          </p:cNvSpPr>
          <p:nvPr>
            <p:ph type="title"/>
          </p:nvPr>
        </p:nvSpPr>
        <p:spPr>
          <a:xfrm>
            <a:off x="862350" y="33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2800" b="1"/>
              <a:t>Python </a:t>
            </a:r>
            <a:r>
              <a:rPr lang="en" sz="2800">
                <a:highlight>
                  <a:srgbClr val="CFD8DC"/>
                </a:highlight>
                <a:latin typeface="Roboto Mono"/>
                <a:ea typeface="Roboto Mono"/>
                <a:cs typeface="Roboto Mono"/>
                <a:sym typeface="Roboto Mono"/>
              </a:rPr>
              <a:t>request</a:t>
            </a:r>
            <a:r>
              <a:rPr lang="en" sz="2800" b="1"/>
              <a:t> library</a:t>
            </a:r>
            <a:endParaRPr sz="2800" b="1"/>
          </a:p>
        </p:txBody>
      </p:sp>
      <p:pic>
        <p:nvPicPr>
          <p:cNvPr id="227" name="Google Shape;227;ge252f61ace_0_32"/>
          <p:cNvPicPr preferRelativeResize="0"/>
          <p:nvPr/>
        </p:nvPicPr>
        <p:blipFill rotWithShape="1">
          <a:blip r:embed="rId3">
            <a:alphaModFix/>
          </a:blip>
          <a:srcRect/>
          <a:stretch/>
        </p:blipFill>
        <p:spPr>
          <a:xfrm>
            <a:off x="163972" y="155721"/>
            <a:ext cx="658974" cy="657876"/>
          </a:xfrm>
          <a:prstGeom prst="rect">
            <a:avLst/>
          </a:prstGeom>
          <a:noFill/>
          <a:ln>
            <a:noFill/>
          </a:ln>
        </p:spPr>
      </p:pic>
      <p:sp>
        <p:nvSpPr>
          <p:cNvPr id="229" name="Google Shape;229;ge252f61ace_0_32"/>
          <p:cNvSpPr txBox="1"/>
          <p:nvPr/>
        </p:nvSpPr>
        <p:spPr>
          <a:xfrm>
            <a:off x="822946" y="813597"/>
            <a:ext cx="7090159" cy="3739455"/>
          </a:xfrm>
          <a:prstGeom prst="rect">
            <a:avLst/>
          </a:prstGeom>
          <a:ln>
            <a:no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t" anchorCtr="0">
            <a:spAutoFit/>
          </a:bodyPr>
          <a:lstStyle/>
          <a:p>
            <a:pPr lvl="0">
              <a:spcBef>
                <a:spcPts val="600"/>
              </a:spcBef>
              <a:buSzPts val="1250"/>
            </a:pPr>
            <a:r>
              <a:rPr lang="en-US" sz="1600" b="1" dirty="0"/>
              <a:t>What the Server Gets (Behind the Scenes)</a:t>
            </a:r>
          </a:p>
          <a:p>
            <a:pPr lvl="0">
              <a:spcBef>
                <a:spcPts val="600"/>
              </a:spcBef>
              <a:buSzPts val="1250"/>
            </a:pPr>
            <a:endParaRPr lang="en-US" sz="1600" dirty="0" smtClean="0"/>
          </a:p>
          <a:p>
            <a:pPr lvl="0">
              <a:spcBef>
                <a:spcPts val="600"/>
              </a:spcBef>
              <a:buSzPts val="1250"/>
            </a:pPr>
            <a:r>
              <a:rPr lang="en-US" sz="1600" dirty="0" smtClean="0"/>
              <a:t>A </a:t>
            </a:r>
            <a:r>
              <a:rPr lang="en-US" sz="1600" dirty="0"/>
              <a:t>JSON payload like this:</a:t>
            </a:r>
            <a:endParaRPr lang="en-US" sz="1600" dirty="0" smtClean="0"/>
          </a:p>
          <a:p>
            <a:pPr lvl="0">
              <a:spcBef>
                <a:spcPts val="600"/>
              </a:spcBef>
              <a:buSzPts val="1250"/>
            </a:pPr>
            <a:endParaRPr lang="en-US" sz="1600" dirty="0" smtClean="0"/>
          </a:p>
          <a:p>
            <a:pPr lvl="0">
              <a:spcBef>
                <a:spcPts val="600"/>
              </a:spcBef>
              <a:buSzPts val="1250"/>
            </a:pPr>
            <a:r>
              <a:rPr lang="en-US" sz="1600" dirty="0" smtClean="0"/>
              <a:t>{</a:t>
            </a:r>
            <a:endParaRPr lang="en-US" sz="1600" dirty="0"/>
          </a:p>
          <a:p>
            <a:pPr lvl="0">
              <a:spcBef>
                <a:spcPts val="600"/>
              </a:spcBef>
              <a:buSzPts val="1250"/>
            </a:pPr>
            <a:r>
              <a:rPr lang="en-US" sz="1600" dirty="0"/>
              <a:t>  "title": "A sample new issue from API",</a:t>
            </a:r>
          </a:p>
          <a:p>
            <a:pPr lvl="0">
              <a:spcBef>
                <a:spcPts val="600"/>
              </a:spcBef>
              <a:buSzPts val="1250"/>
            </a:pPr>
            <a:r>
              <a:rPr lang="en-US" sz="1600" dirty="0"/>
              <a:t>  "body": "The user interface is upside down",</a:t>
            </a:r>
          </a:p>
          <a:p>
            <a:pPr lvl="0">
              <a:spcBef>
                <a:spcPts val="600"/>
              </a:spcBef>
              <a:buSzPts val="1250"/>
            </a:pPr>
            <a:r>
              <a:rPr lang="en-US" sz="1600" dirty="0"/>
              <a:t>  "labels": ["bug", "bug from </a:t>
            </a:r>
            <a:r>
              <a:rPr lang="en-US" sz="1600" dirty="0" err="1"/>
              <a:t>api</a:t>
            </a:r>
            <a:r>
              <a:rPr lang="en-US" sz="1600" dirty="0"/>
              <a:t>"]</a:t>
            </a:r>
          </a:p>
          <a:p>
            <a:pPr lvl="0">
              <a:spcBef>
                <a:spcPts val="600"/>
              </a:spcBef>
              <a:buSzPts val="1250"/>
            </a:pPr>
            <a:r>
              <a:rPr lang="en-US" sz="1600" dirty="0" smtClean="0"/>
              <a:t>}</a:t>
            </a:r>
          </a:p>
          <a:p>
            <a:pPr lvl="0">
              <a:spcBef>
                <a:spcPts val="600"/>
              </a:spcBef>
              <a:buSzPts val="1250"/>
            </a:pPr>
            <a:endParaRPr lang="en-US" sz="1600" dirty="0" smtClean="0"/>
          </a:p>
          <a:p>
            <a:pPr>
              <a:spcBef>
                <a:spcPts val="600"/>
              </a:spcBef>
              <a:buSzPts val="1250"/>
            </a:pPr>
            <a:r>
              <a:rPr lang="en-US" sz="1600" dirty="0"/>
              <a:t>GitHub reads this and creates a new issue in the repository</a:t>
            </a:r>
            <a:r>
              <a:rPr lang="en-US" sz="1600" dirty="0" smtClean="0"/>
              <a:t>.</a:t>
            </a:r>
            <a:endParaRPr lang="en-US" sz="1600" dirty="0"/>
          </a:p>
        </p:txBody>
      </p:sp>
    </p:spTree>
    <p:extLst>
      <p:ext uri="{BB962C8B-B14F-4D97-AF65-F5344CB8AC3E}">
        <p14:creationId xmlns:p14="http://schemas.microsoft.com/office/powerpoint/2010/main" val="86861922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e1936f3aa2_0_58"/>
          <p:cNvSpPr txBox="1">
            <a:spLocks noGrp="1"/>
          </p:cNvSpPr>
          <p:nvPr>
            <p:ph type="body" idx="1"/>
          </p:nvPr>
        </p:nvSpPr>
        <p:spPr>
          <a:xfrm>
            <a:off x="862350" y="652100"/>
            <a:ext cx="7571700" cy="6510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2400"/>
              <a:buNone/>
            </a:pPr>
            <a:r>
              <a:rPr lang="en" sz="1400" dirty="0"/>
              <a:t>Posman is used to manipulate </a:t>
            </a:r>
            <a:r>
              <a:rPr lang="en" sz="1400" b="1" dirty="0"/>
              <a:t>api</a:t>
            </a:r>
            <a:r>
              <a:rPr lang="en" sz="1400" dirty="0"/>
              <a:t> easily without using any programming. It is collaboration platform for API development.</a:t>
            </a:r>
            <a:endParaRPr sz="1400" dirty="0"/>
          </a:p>
          <a:p>
            <a:pPr marL="0" lvl="0" indent="0" algn="l" rtl="0">
              <a:lnSpc>
                <a:spcPct val="100000"/>
              </a:lnSpc>
              <a:spcBef>
                <a:spcPts val="600"/>
              </a:spcBef>
              <a:spcAft>
                <a:spcPts val="0"/>
              </a:spcAft>
              <a:buSzPts val="2400"/>
              <a:buNone/>
            </a:pPr>
            <a:endParaRPr sz="1400" dirty="0">
              <a:highlight>
                <a:srgbClr val="FFFFFF"/>
              </a:highlight>
            </a:endParaRPr>
          </a:p>
          <a:p>
            <a:pPr marL="0" lvl="0" indent="0" algn="l" rtl="0">
              <a:lnSpc>
                <a:spcPct val="100000"/>
              </a:lnSpc>
              <a:spcBef>
                <a:spcPts val="600"/>
              </a:spcBef>
              <a:spcAft>
                <a:spcPts val="0"/>
              </a:spcAft>
              <a:buSzPts val="2400"/>
              <a:buNone/>
            </a:pPr>
            <a:endParaRPr sz="1400" dirty="0">
              <a:highlight>
                <a:srgbClr val="FFFFFF"/>
              </a:highlight>
            </a:endParaRPr>
          </a:p>
          <a:p>
            <a:pPr marL="0" lvl="0" indent="0" algn="l" rtl="0">
              <a:lnSpc>
                <a:spcPct val="100000"/>
              </a:lnSpc>
              <a:spcBef>
                <a:spcPts val="600"/>
              </a:spcBef>
              <a:spcAft>
                <a:spcPts val="0"/>
              </a:spcAft>
              <a:buSzPts val="2400"/>
              <a:buNone/>
            </a:pPr>
            <a:endParaRPr sz="1400" dirty="0">
              <a:highlight>
                <a:srgbClr val="FFFFFF"/>
              </a:highlight>
            </a:endParaRPr>
          </a:p>
          <a:p>
            <a:pPr marL="0" lvl="0" indent="0" algn="l" rtl="0">
              <a:lnSpc>
                <a:spcPct val="100000"/>
              </a:lnSpc>
              <a:spcBef>
                <a:spcPts val="600"/>
              </a:spcBef>
              <a:spcAft>
                <a:spcPts val="0"/>
              </a:spcAft>
              <a:buSzPts val="2400"/>
              <a:buNone/>
            </a:pPr>
            <a:endParaRPr sz="1400" i="1" dirty="0">
              <a:highlight>
                <a:schemeClr val="lt2"/>
              </a:highlight>
            </a:endParaRPr>
          </a:p>
        </p:txBody>
      </p:sp>
      <p:sp>
        <p:nvSpPr>
          <p:cNvPr id="185" name="Google Shape;185;ge1936f3aa2_0_58"/>
          <p:cNvSpPr txBox="1">
            <a:spLocks noGrp="1"/>
          </p:cNvSpPr>
          <p:nvPr>
            <p:ph type="title"/>
          </p:nvPr>
        </p:nvSpPr>
        <p:spPr>
          <a:xfrm>
            <a:off x="862350" y="79520"/>
            <a:ext cx="7571700" cy="702600"/>
          </a:xfrm>
          <a:prstGeom prst="rect">
            <a:avLst/>
          </a:prstGeom>
          <a:noFill/>
          <a:ln>
            <a:noFill/>
          </a:ln>
        </p:spPr>
        <p:txBody>
          <a:bodyPr spcFirstLastPara="1" wrap="square" lIns="91425" tIns="91425" rIns="91425" bIns="91425" anchor="b" anchorCtr="0">
            <a:noAutofit/>
          </a:bodyPr>
          <a:lstStyle/>
          <a:p>
            <a:pPr marL="0" lvl="0" indent="0" algn="l" rtl="0">
              <a:lnSpc>
                <a:spcPct val="110000"/>
              </a:lnSpc>
              <a:spcBef>
                <a:spcPts val="2400"/>
              </a:spcBef>
              <a:spcAft>
                <a:spcPts val="600"/>
              </a:spcAft>
              <a:buSzPts val="2000"/>
              <a:buNone/>
            </a:pPr>
            <a:r>
              <a:rPr lang="en" sz="3000" b="1"/>
              <a:t>Postman</a:t>
            </a:r>
            <a:endParaRPr sz="3000" b="1"/>
          </a:p>
        </p:txBody>
      </p:sp>
      <p:sp>
        <p:nvSpPr>
          <p:cNvPr id="186" name="Google Shape;186;ge1936f3aa2_0_5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30</a:t>
            </a:fld>
            <a:endParaRPr/>
          </a:p>
        </p:txBody>
      </p:sp>
      <p:pic>
        <p:nvPicPr>
          <p:cNvPr id="187" name="Google Shape;187;ge1936f3aa2_0_58"/>
          <p:cNvPicPr preferRelativeResize="0"/>
          <p:nvPr/>
        </p:nvPicPr>
        <p:blipFill rotWithShape="1">
          <a:blip r:embed="rId3">
            <a:alphaModFix/>
          </a:blip>
          <a:srcRect/>
          <a:stretch/>
        </p:blipFill>
        <p:spPr>
          <a:xfrm>
            <a:off x="83550" y="25700"/>
            <a:ext cx="702600" cy="702600"/>
          </a:xfrm>
          <a:prstGeom prst="rect">
            <a:avLst/>
          </a:prstGeom>
          <a:noFill/>
          <a:ln>
            <a:noFill/>
          </a:ln>
        </p:spPr>
      </p:pic>
      <p:pic>
        <p:nvPicPr>
          <p:cNvPr id="2" name="Picture 1"/>
          <p:cNvPicPr>
            <a:picLocks noChangeAspect="1"/>
          </p:cNvPicPr>
          <p:nvPr/>
        </p:nvPicPr>
        <p:blipFill>
          <a:blip r:embed="rId4"/>
          <a:stretch>
            <a:fillRect/>
          </a:stretch>
        </p:blipFill>
        <p:spPr>
          <a:xfrm>
            <a:off x="955964" y="1354700"/>
            <a:ext cx="7100454" cy="360496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31</a:t>
            </a:fld>
            <a:endParaRPr/>
          </a:p>
        </p:txBody>
      </p:sp>
      <p:sp>
        <p:nvSpPr>
          <p:cNvPr id="194" name="Google Shape;194;p8"/>
          <p:cNvSpPr txBox="1"/>
          <p:nvPr/>
        </p:nvSpPr>
        <p:spPr>
          <a:xfrm>
            <a:off x="685800" y="228600"/>
            <a:ext cx="61722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EF4F63"/>
                </a:solidFill>
                <a:latin typeface="Arial"/>
                <a:ea typeface="Arial"/>
                <a:cs typeface="Arial"/>
                <a:sym typeface="Arial"/>
              </a:rPr>
              <a:t>Simple authorized request</a:t>
            </a:r>
            <a:endParaRPr sz="1400" b="0" i="0" u="none" strike="noStrike" cap="none" dirty="0">
              <a:solidFill>
                <a:srgbClr val="EF4F63"/>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You can make authorized request using authorization token. You can generate that token by following these steps</a:t>
            </a:r>
            <a:r>
              <a:rPr lang="en" sz="1400" b="0" i="0" u="sng" strike="noStrike" cap="none" dirty="0">
                <a:solidFill>
                  <a:schemeClr val="hlink"/>
                </a:solidFill>
                <a:latin typeface="Arial"/>
                <a:ea typeface="Arial"/>
                <a:cs typeface="Arial"/>
                <a:sym typeface="Arial"/>
                <a:hlinkClick r:id="rId3"/>
              </a:rPr>
              <a:t>[1]</a:t>
            </a:r>
            <a:r>
              <a:rPr lang="en"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p:txBody>
      </p:sp>
      <p:pic>
        <p:nvPicPr>
          <p:cNvPr id="2" name="Picture 1"/>
          <p:cNvPicPr>
            <a:picLocks noChangeAspect="1"/>
          </p:cNvPicPr>
          <p:nvPr/>
        </p:nvPicPr>
        <p:blipFill>
          <a:blip r:embed="rId4"/>
          <a:stretch>
            <a:fillRect/>
          </a:stretch>
        </p:blipFill>
        <p:spPr>
          <a:xfrm>
            <a:off x="789709" y="1059900"/>
            <a:ext cx="7252855" cy="36941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e252f61ace_0_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32</a:t>
            </a:fld>
            <a:endParaRPr/>
          </a:p>
        </p:txBody>
      </p:sp>
      <p:sp>
        <p:nvSpPr>
          <p:cNvPr id="201" name="Google Shape;201;ge252f61ace_0_2"/>
          <p:cNvSpPr txBox="1"/>
          <p:nvPr/>
        </p:nvSpPr>
        <p:spPr>
          <a:xfrm>
            <a:off x="685800" y="228600"/>
            <a:ext cx="61722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EF4F63"/>
                </a:solidFill>
                <a:latin typeface="Arial"/>
                <a:ea typeface="Arial"/>
                <a:cs typeface="Arial"/>
                <a:sym typeface="Arial"/>
              </a:rPr>
              <a:t>Generating code against the request</a:t>
            </a:r>
            <a:endParaRPr sz="1400" b="0" i="0" u="none" strike="noStrike" cap="none">
              <a:solidFill>
                <a:srgbClr val="EF4F63"/>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You can generate code using postman in different languages.</a:t>
            </a:r>
            <a:endParaRPr sz="1400" b="0" i="0" u="none" strike="noStrike" cap="none">
              <a:solidFill>
                <a:schemeClr val="dk1"/>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782782" y="851127"/>
            <a:ext cx="7114309" cy="37027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1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ef0424f90f_0_173"/>
          <p:cNvSpPr txBox="1"/>
          <p:nvPr/>
        </p:nvSpPr>
        <p:spPr>
          <a:xfrm>
            <a:off x="1546025" y="1868978"/>
            <a:ext cx="5832600" cy="17313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endParaRPr sz="6000" b="1" i="0" u="none" strike="noStrike" cap="none" dirty="0">
              <a:solidFill>
                <a:srgbClr val="CFD8DC"/>
              </a:solidFill>
              <a:latin typeface="Roboto Slab"/>
              <a:ea typeface="Roboto Slab"/>
              <a:cs typeface="Roboto Slab"/>
              <a:sym typeface="Roboto Slab"/>
            </a:endParaRPr>
          </a:p>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rgbClr val="0091EA"/>
                </a:solidFill>
                <a:latin typeface="Roboto Slab"/>
                <a:ea typeface="Roboto Slab"/>
                <a:cs typeface="Roboto Slab"/>
                <a:sym typeface="Roboto Slab"/>
              </a:rPr>
              <a:t>Build api using Flask Framework</a:t>
            </a:r>
            <a:endParaRPr sz="3600" b="1" i="0" u="none" strike="noStrike" cap="none" dirty="0">
              <a:solidFill>
                <a:srgbClr val="0091EA"/>
              </a:solidFill>
              <a:latin typeface="Roboto Slab"/>
              <a:ea typeface="Roboto Slab"/>
              <a:cs typeface="Roboto Slab"/>
              <a:sym typeface="Roboto Slab"/>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dirty="0">
              <a:solidFill>
                <a:srgbClr val="0091EA"/>
              </a:solidFill>
              <a:latin typeface="Roboto Slab"/>
              <a:ea typeface="Roboto Slab"/>
              <a:cs typeface="Roboto Slab"/>
              <a:sym typeface="Roboto Slab"/>
            </a:endParaRPr>
          </a:p>
        </p:txBody>
      </p:sp>
      <p:sp>
        <p:nvSpPr>
          <p:cNvPr id="342" name="Google Shape;342;gef0424f90f_0_173"/>
          <p:cNvSpPr txBox="1"/>
          <p:nvPr/>
        </p:nvSpPr>
        <p:spPr>
          <a:xfrm>
            <a:off x="8362984" y="465710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33</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ecc5717692_0_47"/>
          <p:cNvSpPr txBox="1"/>
          <p:nvPr/>
        </p:nvSpPr>
        <p:spPr>
          <a:xfrm>
            <a:off x="557550" y="843375"/>
            <a:ext cx="8090700" cy="9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2050"/>
              <a:buFont typeface="Arial"/>
              <a:buNone/>
            </a:pPr>
            <a:r>
              <a:rPr lang="en" sz="2050" b="1" i="0" u="none" strike="noStrike" cap="none">
                <a:solidFill>
                  <a:srgbClr val="EF4F63"/>
                </a:solidFill>
                <a:highlight>
                  <a:srgbClr val="FFFFFF"/>
                </a:highlight>
                <a:latin typeface="Arial"/>
                <a:ea typeface="Arial"/>
                <a:cs typeface="Arial"/>
                <a:sym typeface="Arial"/>
              </a:rPr>
              <a:t>Flask</a:t>
            </a:r>
            <a:r>
              <a:rPr lang="en" sz="1600" b="0" i="0" u="none" strike="noStrike" cap="none">
                <a:solidFill>
                  <a:srgbClr val="292929"/>
                </a:solidFill>
                <a:highlight>
                  <a:srgbClr val="FFFFFF"/>
                </a:highlight>
                <a:latin typeface="Georgia"/>
                <a:ea typeface="Georgia"/>
                <a:cs typeface="Georgia"/>
                <a:sym typeface="Georgia"/>
              </a:rPr>
              <a:t> </a:t>
            </a:r>
            <a:r>
              <a:rPr lang="en" sz="1450" b="0" i="0" u="none" strike="noStrike" cap="none">
                <a:solidFill>
                  <a:srgbClr val="222222"/>
                </a:solidFill>
                <a:highlight>
                  <a:srgbClr val="FFFFFF"/>
                </a:highlight>
                <a:latin typeface="Arial"/>
                <a:ea typeface="Arial"/>
                <a:cs typeface="Arial"/>
                <a:sym typeface="Arial"/>
              </a:rPr>
              <a:t>is a widely used micro web framework for creating APIs in Python. It is a simple  yet powerful web framework which is designed to get started quick and easy, with the ability to scale up to complex applications.</a:t>
            </a:r>
            <a:endParaRPr sz="1450" b="0" i="0" u="none" strike="noStrike" cap="none">
              <a:solidFill>
                <a:srgbClr val="222222"/>
              </a:solidFill>
              <a:highlight>
                <a:srgbClr val="FFFFFF"/>
              </a:highlight>
              <a:latin typeface="Arial"/>
              <a:ea typeface="Arial"/>
              <a:cs typeface="Arial"/>
              <a:sym typeface="Arial"/>
            </a:endParaRPr>
          </a:p>
        </p:txBody>
      </p:sp>
      <p:sp>
        <p:nvSpPr>
          <p:cNvPr id="348" name="Google Shape;348;gecc5717692_0_47"/>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49" name="Google Shape;349;gecc5717692_0_47"/>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34</a:t>
            </a:fld>
            <a:endParaRPr sz="1300" b="1" i="0" u="none" strike="noStrike" cap="none">
              <a:solidFill>
                <a:srgbClr val="0091EA"/>
              </a:solidFill>
              <a:latin typeface="Arial"/>
              <a:ea typeface="Arial"/>
              <a:cs typeface="Arial"/>
              <a:sym typeface="Arial"/>
            </a:endParaRPr>
          </a:p>
        </p:txBody>
      </p:sp>
      <p:sp>
        <p:nvSpPr>
          <p:cNvPr id="350" name="Google Shape;350;gecc5717692_0_47"/>
          <p:cNvSpPr txBox="1"/>
          <p:nvPr/>
        </p:nvSpPr>
        <p:spPr>
          <a:xfrm>
            <a:off x="786150" y="1910175"/>
            <a:ext cx="80907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1600"/>
              <a:buFont typeface="Arial"/>
              <a:buNone/>
            </a:pPr>
            <a:r>
              <a:rPr lang="en" sz="1600" b="0" i="1" u="none" strike="noStrike" cap="none">
                <a:solidFill>
                  <a:srgbClr val="292929"/>
                </a:solidFill>
                <a:highlight>
                  <a:srgbClr val="FFFFFF"/>
                </a:highlight>
                <a:latin typeface="Georgia"/>
                <a:ea typeface="Georgia"/>
                <a:cs typeface="Georgia"/>
                <a:sym typeface="Georgia"/>
              </a:rPr>
              <a:t>“Micro” does not mean that your whole web application has to fit into a single Python file (although it certainly can), nor does it mean that Flask is lacking in functionality. The “micro” in </a:t>
            </a:r>
            <a:r>
              <a:rPr lang="en" sz="1600" b="0" i="1" u="none" strike="noStrike" cap="none">
                <a:solidFill>
                  <a:srgbClr val="292929"/>
                </a:solidFill>
                <a:highlight>
                  <a:srgbClr val="ECEFF1"/>
                </a:highlight>
                <a:latin typeface="Georgia"/>
                <a:ea typeface="Georgia"/>
                <a:cs typeface="Georgia"/>
                <a:sym typeface="Georgia"/>
              </a:rPr>
              <a:t>micro framework</a:t>
            </a:r>
            <a:r>
              <a:rPr lang="en" sz="1600" b="0" i="1" u="none" strike="noStrike" cap="none">
                <a:solidFill>
                  <a:srgbClr val="292929"/>
                </a:solidFill>
                <a:highlight>
                  <a:srgbClr val="FFFFFF"/>
                </a:highlight>
                <a:latin typeface="Georgia"/>
                <a:ea typeface="Georgia"/>
                <a:cs typeface="Georgia"/>
                <a:sym typeface="Georgia"/>
              </a:rPr>
              <a:t> means Flask aims to keep the core simple but extensible.</a:t>
            </a:r>
            <a:endParaRPr sz="1450" b="0" i="0" u="none" strike="noStrike" cap="none">
              <a:solidFill>
                <a:srgbClr val="222222"/>
              </a:solidFill>
              <a:highlight>
                <a:srgbClr val="FFFFFF"/>
              </a:highlight>
              <a:latin typeface="Arial"/>
              <a:ea typeface="Arial"/>
              <a:cs typeface="Arial"/>
              <a:sym typeface="Arial"/>
            </a:endParaRPr>
          </a:p>
        </p:txBody>
      </p:sp>
      <p:cxnSp>
        <p:nvCxnSpPr>
          <p:cNvPr id="351" name="Google Shape;351;gecc5717692_0_47"/>
          <p:cNvCxnSpPr/>
          <p:nvPr/>
        </p:nvCxnSpPr>
        <p:spPr>
          <a:xfrm>
            <a:off x="783750" y="1985300"/>
            <a:ext cx="0" cy="1035300"/>
          </a:xfrm>
          <a:prstGeom prst="straightConnector1">
            <a:avLst/>
          </a:prstGeom>
          <a:noFill/>
          <a:ln w="28575" cap="flat" cmpd="sng">
            <a:solidFill>
              <a:srgbClr val="050505"/>
            </a:solidFill>
            <a:prstDash val="solid"/>
            <a:round/>
            <a:headEnd type="none" w="sm" len="sm"/>
            <a:tailEnd type="none" w="sm" len="sm"/>
          </a:ln>
        </p:spPr>
      </p:cxnSp>
      <p:sp>
        <p:nvSpPr>
          <p:cNvPr id="352" name="Google Shape;352;gecc5717692_0_47"/>
          <p:cNvSpPr txBox="1"/>
          <p:nvPr/>
        </p:nvSpPr>
        <p:spPr>
          <a:xfrm>
            <a:off x="557550" y="3129375"/>
            <a:ext cx="8090700" cy="1056600"/>
          </a:xfrm>
          <a:prstGeom prst="rect">
            <a:avLst/>
          </a:prstGeom>
          <a:noFill/>
          <a:ln>
            <a:noFill/>
          </a:ln>
        </p:spPr>
        <p:txBody>
          <a:bodyPr spcFirstLastPara="1" wrap="square" lIns="91425" tIns="91425" rIns="91425" bIns="91425" anchor="t" anchorCtr="0">
            <a:spAutoFit/>
          </a:bodyPr>
          <a:lstStyle/>
          <a:p>
            <a:pPr marL="0" marR="0" lvl="0" indent="0" algn="l" rtl="0">
              <a:lnSpc>
                <a:spcPct val="117391"/>
              </a:lnSpc>
              <a:spcBef>
                <a:spcPts val="4500"/>
              </a:spcBef>
              <a:spcAft>
                <a:spcPts val="0"/>
              </a:spcAft>
              <a:buClr>
                <a:srgbClr val="000000"/>
              </a:buClr>
              <a:buSzPts val="1950"/>
              <a:buFont typeface="Arial"/>
              <a:buNone/>
            </a:pPr>
            <a:r>
              <a:rPr lang="en" sz="1950" b="1" i="0" u="none" strike="noStrike" cap="none" dirty="0">
                <a:solidFill>
                  <a:srgbClr val="EF4F63"/>
                </a:solidFill>
                <a:highlight>
                  <a:srgbClr val="FFFFFF"/>
                </a:highlight>
                <a:latin typeface="Arial"/>
                <a:ea typeface="Arial"/>
                <a:cs typeface="Arial"/>
                <a:sym typeface="Arial"/>
              </a:rPr>
              <a:t>Installation</a:t>
            </a:r>
            <a:endParaRPr sz="2150" b="0" i="0" u="none" strike="noStrike" cap="none" dirty="0">
              <a:solidFill>
                <a:srgbClr val="292929"/>
              </a:solidFill>
              <a:highlight>
                <a:srgbClr val="FFFFFF"/>
              </a:highlight>
              <a:latin typeface="Arial"/>
              <a:ea typeface="Arial"/>
              <a:cs typeface="Arial"/>
              <a:sym typeface="Arial"/>
            </a:endParaRPr>
          </a:p>
          <a:p>
            <a:pPr marL="0" marR="0" lvl="0" indent="0" algn="l" rtl="0">
              <a:lnSpc>
                <a:spcPct val="150000"/>
              </a:lnSpc>
              <a:spcBef>
                <a:spcPts val="0"/>
              </a:spcBef>
              <a:spcAft>
                <a:spcPts val="0"/>
              </a:spcAft>
              <a:buClr>
                <a:srgbClr val="000000"/>
              </a:buClr>
              <a:buSzPts val="1450"/>
              <a:buFont typeface="Arial"/>
              <a:buNone/>
            </a:pPr>
            <a:r>
              <a:rPr lang="en" sz="1450" b="0" i="0" u="none" strike="noStrike" cap="none" dirty="0">
                <a:solidFill>
                  <a:srgbClr val="222222"/>
                </a:solidFill>
                <a:highlight>
                  <a:srgbClr val="FFFFFF"/>
                </a:highlight>
                <a:latin typeface="Arial"/>
                <a:ea typeface="Arial"/>
                <a:cs typeface="Arial"/>
                <a:sym typeface="Arial"/>
              </a:rPr>
              <a:t>Install Flask using pip</a:t>
            </a:r>
            <a:endParaRPr sz="1600" b="0" i="0" u="none" strike="noStrike" cap="none" dirty="0">
              <a:solidFill>
                <a:srgbClr val="292929"/>
              </a:solidFill>
              <a:highlight>
                <a:srgbClr val="FFFFFF"/>
              </a:highlight>
              <a:latin typeface="Georgia"/>
              <a:ea typeface="Georgia"/>
              <a:cs typeface="Georgia"/>
              <a:sym typeface="Georgi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dirty="0">
                <a:solidFill>
                  <a:srgbClr val="292929"/>
                </a:solidFill>
                <a:highlight>
                  <a:srgbClr val="F2F2F2"/>
                </a:highlight>
                <a:latin typeface="Courier New"/>
                <a:ea typeface="Courier New"/>
                <a:cs typeface="Courier New"/>
                <a:sym typeface="Courier New"/>
              </a:rPr>
              <a:t>pip install Flask</a:t>
            </a:r>
            <a:endParaRPr sz="2050" b="1" i="0" u="none" strike="noStrike" cap="none" dirty="0">
              <a:solidFill>
                <a:srgbClr val="EF4F63"/>
              </a:solidFill>
              <a:highlight>
                <a:srgbClr val="FFFFFF"/>
              </a:highlight>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fade">
                                      <p:cBhvr>
                                        <p:cTn id="7" dur="1000"/>
                                        <p:tgtEl>
                                          <p:spTgt spid="3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7"/>
                                        </p:tgtEl>
                                        <p:attrNameLst>
                                          <p:attrName>style.visibility</p:attrName>
                                        </p:attrNameLst>
                                      </p:cBhvr>
                                      <p:to>
                                        <p:strVal val="visible"/>
                                      </p:to>
                                    </p:set>
                                    <p:animEffect transition="in" filter="fade">
                                      <p:cBhvr>
                                        <p:cTn id="12" dur="1000"/>
                                        <p:tgtEl>
                                          <p:spTgt spid="3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0"/>
                                        </p:tgtEl>
                                        <p:attrNameLst>
                                          <p:attrName>style.visibility</p:attrName>
                                        </p:attrNameLst>
                                      </p:cBhvr>
                                      <p:to>
                                        <p:strVal val="visible"/>
                                      </p:to>
                                    </p:set>
                                    <p:animEffect transition="in" filter="fade">
                                      <p:cBhvr>
                                        <p:cTn id="17" dur="1000"/>
                                        <p:tgtEl>
                                          <p:spTgt spid="350"/>
                                        </p:tgtEl>
                                      </p:cBhvr>
                                    </p:animEffect>
                                  </p:childTnLst>
                                </p:cTn>
                              </p:par>
                              <p:par>
                                <p:cTn id="18" presetID="10" presetClass="entr" presetSubtype="0" fill="hold" nodeType="withEffect">
                                  <p:stCondLst>
                                    <p:cond delay="0"/>
                                  </p:stCondLst>
                                  <p:childTnLst>
                                    <p:set>
                                      <p:cBhvr>
                                        <p:cTn id="19" dur="1" fill="hold">
                                          <p:stCondLst>
                                            <p:cond delay="0"/>
                                          </p:stCondLst>
                                        </p:cTn>
                                        <p:tgtEl>
                                          <p:spTgt spid="351"/>
                                        </p:tgtEl>
                                        <p:attrNameLst>
                                          <p:attrName>style.visibility</p:attrName>
                                        </p:attrNameLst>
                                      </p:cBhvr>
                                      <p:to>
                                        <p:strVal val="visible"/>
                                      </p:to>
                                    </p:set>
                                    <p:animEffect transition="in" filter="fade">
                                      <p:cBhvr>
                                        <p:cTn id="20" dur="1000"/>
                                        <p:tgtEl>
                                          <p:spTgt spid="35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52"/>
                                        </p:tgtEl>
                                        <p:attrNameLst>
                                          <p:attrName>style.visibility</p:attrName>
                                        </p:attrNameLst>
                                      </p:cBhvr>
                                      <p:to>
                                        <p:strVal val="visible"/>
                                      </p:to>
                                    </p:set>
                                    <p:animEffect transition="in" filter="fade">
                                      <p:cBhvr>
                                        <p:cTn id="25" dur="10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ecc5717692_0_52"/>
          <p:cNvSpPr txBox="1"/>
          <p:nvPr/>
        </p:nvSpPr>
        <p:spPr>
          <a:xfrm>
            <a:off x="557550" y="843375"/>
            <a:ext cx="8090700" cy="372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2050"/>
              <a:buFont typeface="Arial"/>
              <a:buNone/>
            </a:pPr>
            <a:r>
              <a:rPr lang="en" sz="2050" b="1" i="0" u="none" strike="noStrike" cap="none">
                <a:solidFill>
                  <a:srgbClr val="EF4F63"/>
                </a:solidFill>
                <a:highlight>
                  <a:srgbClr val="FFFFFF"/>
                </a:highlight>
                <a:latin typeface="Arial"/>
                <a:ea typeface="Arial"/>
                <a:cs typeface="Arial"/>
                <a:sym typeface="Arial"/>
              </a:rPr>
              <a:t>Minimal Flask App</a:t>
            </a:r>
            <a:endParaRPr sz="2050" b="1" i="0" u="none" strike="noStrike" cap="none">
              <a:solidFill>
                <a:srgbClr val="EF4F63"/>
              </a:solidFill>
              <a:highlight>
                <a:srgbClr val="FFFFFF"/>
              </a:highlight>
              <a:latin typeface="Arial"/>
              <a:ea typeface="Arial"/>
              <a:cs typeface="Arial"/>
              <a:sym typeface="Arial"/>
            </a:endParaRPr>
          </a:p>
          <a:p>
            <a:pPr marL="0" marR="0" lvl="0" indent="0" algn="l" rtl="0">
              <a:lnSpc>
                <a:spcPct val="100000"/>
              </a:lnSpc>
              <a:spcBef>
                <a:spcPts val="600"/>
              </a:spcBef>
              <a:spcAft>
                <a:spcPts val="0"/>
              </a:spcAft>
              <a:buClr>
                <a:srgbClr val="000000"/>
              </a:buClr>
              <a:buSzPts val="2050"/>
              <a:buFont typeface="Arial"/>
              <a:buNone/>
            </a:pPr>
            <a:endParaRPr sz="2050" b="1" i="0" u="none" strike="noStrike" cap="none">
              <a:solidFill>
                <a:srgbClr val="EF4F63"/>
              </a:solidFill>
              <a:highlight>
                <a:srgbClr val="FFFFFF"/>
              </a:highlight>
              <a:latin typeface="Arial"/>
              <a:ea typeface="Arial"/>
              <a:cs typeface="Arial"/>
              <a:sym typeface="Arial"/>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from flask import Flask</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 import library and instance flask object</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app = Flask(__name__)</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 api endpoint</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@app.route('/hello/', methods=['GET', 'POST'])</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def welcome():</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   return "Hello World!"</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if __name__ == '__main__':</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   app.run(host='0.0.0.0', port=105)</a:t>
            </a:r>
            <a:endParaRPr sz="1400" b="0" i="0" u="none" strike="noStrike" cap="none">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400"/>
              <a:buFont typeface="Arial"/>
              <a:buNone/>
            </a:pPr>
            <a:endParaRPr sz="1400" b="0" i="0" u="none" strike="noStrike" cap="none">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400"/>
              <a:buFont typeface="Arial"/>
              <a:buNone/>
            </a:pPr>
            <a:endParaRPr sz="1400" b="0" i="0" u="none" strike="noStrike" cap="none">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550"/>
              <a:buFont typeface="Arial"/>
              <a:buNone/>
            </a:pPr>
            <a:r>
              <a:rPr lang="en" sz="1550" b="0" i="0" u="none" strike="noStrike" cap="none">
                <a:solidFill>
                  <a:srgbClr val="222222"/>
                </a:solidFill>
                <a:highlight>
                  <a:srgbClr val="FFFFFF"/>
                </a:highlight>
                <a:latin typeface="Arial"/>
                <a:ea typeface="Arial"/>
                <a:cs typeface="Arial"/>
                <a:sym typeface="Arial"/>
              </a:rPr>
              <a:t>Save this file as</a:t>
            </a:r>
            <a:r>
              <a:rPr lang="en" sz="1700" b="0" i="0" u="none" strike="noStrike" cap="none">
                <a:solidFill>
                  <a:srgbClr val="292929"/>
                </a:solidFill>
                <a:highlight>
                  <a:srgbClr val="FFFFFF"/>
                </a:highlight>
                <a:latin typeface="Georgia"/>
                <a:ea typeface="Georgia"/>
                <a:cs typeface="Georgia"/>
                <a:sym typeface="Georgia"/>
              </a:rPr>
              <a:t> </a:t>
            </a:r>
            <a:r>
              <a:rPr lang="en" sz="1300" b="0" i="0" u="none" strike="noStrike" cap="none">
                <a:solidFill>
                  <a:srgbClr val="292929"/>
                </a:solidFill>
                <a:highlight>
                  <a:srgbClr val="F2F2F2"/>
                </a:highlight>
                <a:latin typeface="Courier New"/>
                <a:ea typeface="Courier New"/>
                <a:cs typeface="Courier New"/>
                <a:sym typeface="Courier New"/>
              </a:rPr>
              <a:t>app.py</a:t>
            </a:r>
            <a:r>
              <a:rPr lang="en" sz="1700" b="0" i="0" u="none" strike="noStrike" cap="none">
                <a:solidFill>
                  <a:srgbClr val="292929"/>
                </a:solidFill>
                <a:highlight>
                  <a:srgbClr val="FFFFFF"/>
                </a:highlight>
                <a:latin typeface="Georgia"/>
                <a:ea typeface="Georgia"/>
                <a:cs typeface="Georgia"/>
                <a:sym typeface="Georgia"/>
              </a:rPr>
              <a:t> </a:t>
            </a:r>
            <a:r>
              <a:rPr lang="en" sz="1550" b="0" i="0" u="none" strike="noStrike" cap="none">
                <a:solidFill>
                  <a:srgbClr val="222222"/>
                </a:solidFill>
                <a:highlight>
                  <a:srgbClr val="FFFFFF"/>
                </a:highlight>
                <a:latin typeface="Arial"/>
                <a:ea typeface="Arial"/>
                <a:cs typeface="Arial"/>
                <a:sym typeface="Arial"/>
              </a:rPr>
              <a:t>(or any other filename you want) and go to terminal and type</a:t>
            </a:r>
            <a:r>
              <a:rPr lang="en" sz="1700" b="0" i="0" u="none" strike="noStrike" cap="none">
                <a:solidFill>
                  <a:srgbClr val="292929"/>
                </a:solidFill>
                <a:highlight>
                  <a:srgbClr val="FFFFFF"/>
                </a:highlight>
                <a:latin typeface="Georgia"/>
                <a:ea typeface="Georgia"/>
                <a:cs typeface="Georgia"/>
                <a:sym typeface="Georgia"/>
              </a:rPr>
              <a:t> </a:t>
            </a:r>
            <a:r>
              <a:rPr lang="en" sz="1300" b="0" i="0" u="none" strike="noStrike" cap="none">
                <a:solidFill>
                  <a:srgbClr val="292929"/>
                </a:solidFill>
                <a:highlight>
                  <a:srgbClr val="F2F2F2"/>
                </a:highlight>
                <a:latin typeface="Courier New"/>
                <a:ea typeface="Courier New"/>
                <a:cs typeface="Courier New"/>
                <a:sym typeface="Courier New"/>
              </a:rPr>
              <a:t>python app.py</a:t>
            </a:r>
            <a:endParaRPr sz="1500" b="0" i="0" u="none" strike="noStrike" cap="none">
              <a:solidFill>
                <a:srgbClr val="292929"/>
              </a:solidFill>
              <a:highlight>
                <a:srgbClr val="F2F2F2"/>
              </a:highlight>
              <a:latin typeface="Courier New"/>
              <a:ea typeface="Courier New"/>
              <a:cs typeface="Courier New"/>
              <a:sym typeface="Courier New"/>
            </a:endParaRPr>
          </a:p>
        </p:txBody>
      </p:sp>
      <p:sp>
        <p:nvSpPr>
          <p:cNvPr id="358" name="Google Shape;358;gecc5717692_0_52"/>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59" name="Google Shape;359;gecc5717692_0_52"/>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35</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ecc5717692_0_76"/>
          <p:cNvSpPr txBox="1"/>
          <p:nvPr/>
        </p:nvSpPr>
        <p:spPr>
          <a:xfrm>
            <a:off x="557550" y="767175"/>
            <a:ext cx="8090700" cy="4179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2050"/>
              <a:buFont typeface="Arial"/>
              <a:buNone/>
            </a:pPr>
            <a:r>
              <a:rPr lang="en" sz="2050" b="1" i="0" u="none" strike="noStrike" cap="none">
                <a:solidFill>
                  <a:srgbClr val="EF4F63"/>
                </a:solidFill>
                <a:highlight>
                  <a:srgbClr val="FFFFFF"/>
                </a:highlight>
                <a:latin typeface="Arial"/>
                <a:ea typeface="Arial"/>
                <a:cs typeface="Arial"/>
                <a:sym typeface="Arial"/>
              </a:rPr>
              <a:t>Code overview</a:t>
            </a:r>
            <a:endParaRPr sz="2050" b="1" i="0" u="none" strike="noStrike" cap="none">
              <a:solidFill>
                <a:srgbClr val="EF4F63"/>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292929"/>
              </a:solidFill>
              <a:highlight>
                <a:srgbClr val="F2F2F2"/>
              </a:highlight>
              <a:latin typeface="Courier New"/>
              <a:ea typeface="Courier New"/>
              <a:cs typeface="Courier New"/>
              <a:sym typeface="Courier New"/>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from flask import Flask</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Import the Flask class</a:t>
            </a:r>
            <a:endParaRPr sz="1800" b="0" i="0" u="none" strike="noStrike" cap="none">
              <a:solidFill>
                <a:srgbClr val="292929"/>
              </a:solidFill>
              <a:highlight>
                <a:srgbClr val="FFFFFF"/>
              </a:highlight>
              <a:latin typeface="Georgia"/>
              <a:ea typeface="Georgia"/>
              <a:cs typeface="Georgia"/>
              <a:sym typeface="Georgia"/>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app = Flask(__name__)</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 Create an instance of the class</a:t>
            </a:r>
            <a:endParaRPr sz="1800" b="0" i="0" u="none" strike="noStrike" cap="none">
              <a:solidFill>
                <a:srgbClr val="292929"/>
              </a:solidFill>
              <a:highlight>
                <a:srgbClr val="FFFFFF"/>
              </a:highlight>
              <a:latin typeface="Georgia"/>
              <a:ea typeface="Georgia"/>
              <a:cs typeface="Georgia"/>
              <a:sym typeface="Georgia"/>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@app.route('/hello/', methods=['GET', 'POST'])</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 We use the</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route()</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decorator to tell Flask what URL should trigger the function.</a:t>
            </a:r>
            <a:endParaRPr sz="1800" b="0" i="0" u="none" strike="noStrike" cap="none">
              <a:solidFill>
                <a:srgbClr val="292929"/>
              </a:solidFill>
              <a:highlight>
                <a:srgbClr val="FFFFFF"/>
              </a:highlight>
              <a:latin typeface="Georgia"/>
              <a:ea typeface="Georgia"/>
              <a:cs typeface="Georgia"/>
              <a:sym typeface="Georgia"/>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methods</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specify which HTTP methods are allowed. The default is</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['GET']</a:t>
            </a:r>
            <a:endParaRPr sz="1400" b="0" i="0" u="none" strike="noStrike" cap="none">
              <a:solidFill>
                <a:srgbClr val="292929"/>
              </a:solidFill>
              <a:highlight>
                <a:srgbClr val="F2F2F2"/>
              </a:highlight>
              <a:latin typeface="Courier New"/>
              <a:ea typeface="Courier New"/>
              <a:cs typeface="Courier New"/>
              <a:sym typeface="Courier New"/>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if __name__ == '__main__'</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__name__</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is a special variable in Python which takes the value of the script name. This line ensures that our Flask app runs only when it is executed in the main file and not when it is imported in some other file.</a:t>
            </a:r>
            <a:endParaRPr sz="1800" b="0" i="0" u="none" strike="noStrike" cap="none">
              <a:solidFill>
                <a:srgbClr val="292929"/>
              </a:solidFill>
              <a:highlight>
                <a:srgbClr val="FFFFFF"/>
              </a:highlight>
              <a:latin typeface="Georgia"/>
              <a:ea typeface="Georgia"/>
              <a:cs typeface="Georgia"/>
              <a:sym typeface="Georgia"/>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app.run(host='0.0.0.0', port=105)</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 Run the Flask application.</a:t>
            </a:r>
            <a:endParaRPr sz="1800" b="0" i="0" u="none" strike="noStrike" cap="none">
              <a:solidFill>
                <a:srgbClr val="292929"/>
              </a:solidFill>
              <a:highlight>
                <a:srgbClr val="FFFFFF"/>
              </a:highlight>
              <a:latin typeface="Georgia"/>
              <a:ea typeface="Georgia"/>
              <a:cs typeface="Georgia"/>
              <a:sym typeface="Georgia"/>
            </a:endParaRPr>
          </a:p>
          <a:p>
            <a:pPr marL="457200" marR="0" lvl="0" indent="-330200" algn="l" rtl="0">
              <a:lnSpc>
                <a:spcPct val="100000"/>
              </a:lnSpc>
              <a:spcBef>
                <a:spcPts val="0"/>
              </a:spcBef>
              <a:spcAft>
                <a:spcPts val="0"/>
              </a:spcAft>
              <a:buClr>
                <a:srgbClr val="292929"/>
              </a:buClr>
              <a:buSzPts val="1600"/>
              <a:buFont typeface="Arial"/>
              <a:buChar char="●"/>
            </a:pPr>
            <a:r>
              <a:rPr lang="en" sz="1400" b="0" i="0" u="none" strike="noStrike" cap="none">
                <a:solidFill>
                  <a:srgbClr val="292929"/>
                </a:solidFill>
                <a:highlight>
                  <a:srgbClr val="F2F2F2"/>
                </a:highlight>
                <a:latin typeface="Courier New"/>
                <a:ea typeface="Courier New"/>
                <a:cs typeface="Courier New"/>
                <a:sym typeface="Courier New"/>
              </a:rPr>
              <a:t>host</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specifies the server on which we want our flask application to run. The default value for</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host</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is</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localhost</a:t>
            </a:r>
            <a:r>
              <a:rPr lang="en" sz="1800" b="0" i="0" u="none" strike="noStrike" cap="none">
                <a:solidFill>
                  <a:srgbClr val="292929"/>
                </a:solidFill>
                <a:highlight>
                  <a:srgbClr val="FFFFFF"/>
                </a:highlight>
                <a:latin typeface="Georgia"/>
                <a:ea typeface="Georgia"/>
                <a:cs typeface="Georgia"/>
                <a:sym typeface="Georgia"/>
              </a:rPr>
              <a:t> </a:t>
            </a:r>
            <a:r>
              <a:rPr lang="en" sz="1650" b="0" i="0" u="none" strike="noStrike" cap="none">
                <a:solidFill>
                  <a:srgbClr val="222222"/>
                </a:solidFill>
                <a:highlight>
                  <a:srgbClr val="FFFFFF"/>
                </a:highlight>
                <a:latin typeface="Arial"/>
                <a:ea typeface="Arial"/>
                <a:cs typeface="Arial"/>
                <a:sym typeface="Arial"/>
              </a:rPr>
              <a:t>or</a:t>
            </a:r>
            <a:r>
              <a:rPr lang="en" sz="1800" b="0" i="0" u="none" strike="noStrike" cap="none">
                <a:solidFill>
                  <a:srgbClr val="292929"/>
                </a:solidFill>
                <a:highlight>
                  <a:srgbClr val="FFFFFF"/>
                </a:highlight>
                <a:latin typeface="Georgia"/>
                <a:ea typeface="Georgia"/>
                <a:cs typeface="Georgia"/>
                <a:sym typeface="Georgia"/>
              </a:rPr>
              <a:t> </a:t>
            </a:r>
            <a:r>
              <a:rPr lang="en" sz="1400" b="0" i="0" u="none" strike="noStrike" cap="none">
                <a:solidFill>
                  <a:srgbClr val="292929"/>
                </a:solidFill>
                <a:highlight>
                  <a:srgbClr val="F2F2F2"/>
                </a:highlight>
                <a:latin typeface="Courier New"/>
                <a:ea typeface="Courier New"/>
                <a:cs typeface="Courier New"/>
                <a:sym typeface="Courier New"/>
              </a:rPr>
              <a:t>127.0.0.1</a:t>
            </a:r>
            <a:endParaRPr sz="1400" b="0" i="0" u="none" strike="noStrike" cap="none">
              <a:solidFill>
                <a:srgbClr val="292929"/>
              </a:solidFill>
              <a:highlight>
                <a:srgbClr val="F2F2F2"/>
              </a:highlight>
              <a:latin typeface="Courier New"/>
              <a:ea typeface="Courier New"/>
              <a:cs typeface="Courier New"/>
              <a:sym typeface="Courier New"/>
            </a:endParaRPr>
          </a:p>
          <a:p>
            <a:pPr marL="457200" marR="0" lvl="0" indent="-330200" algn="l" rtl="0">
              <a:lnSpc>
                <a:spcPct val="100000"/>
              </a:lnSpc>
              <a:spcBef>
                <a:spcPts val="0"/>
              </a:spcBef>
              <a:spcAft>
                <a:spcPts val="0"/>
              </a:spcAft>
              <a:buClr>
                <a:srgbClr val="292929"/>
              </a:buClr>
              <a:buSzPts val="1600"/>
              <a:buFont typeface="Arial"/>
              <a:buChar char="●"/>
            </a:pPr>
            <a:r>
              <a:rPr lang="en" sz="1200" b="0" i="0" u="none" strike="noStrike" cap="none">
                <a:solidFill>
                  <a:srgbClr val="292929"/>
                </a:solidFill>
                <a:highlight>
                  <a:srgbClr val="F2F2F2"/>
                </a:highlight>
                <a:latin typeface="Courier New"/>
                <a:ea typeface="Courier New"/>
                <a:cs typeface="Courier New"/>
                <a:sym typeface="Courier New"/>
              </a:rPr>
              <a:t>0.0.0.0</a:t>
            </a:r>
            <a:r>
              <a:rPr lang="en" sz="1600" b="0" i="0" u="none" strike="noStrike" cap="none">
                <a:solidFill>
                  <a:srgbClr val="292929"/>
                </a:solidFill>
                <a:highlight>
                  <a:srgbClr val="FFFFFF"/>
                </a:highlight>
                <a:latin typeface="Georgia"/>
                <a:ea typeface="Georgia"/>
                <a:cs typeface="Georgia"/>
                <a:sym typeface="Georgia"/>
              </a:rPr>
              <a:t> </a:t>
            </a:r>
            <a:r>
              <a:rPr lang="en" sz="1450" b="0" i="0" u="none" strike="noStrike" cap="none">
                <a:solidFill>
                  <a:srgbClr val="222222"/>
                </a:solidFill>
                <a:highlight>
                  <a:srgbClr val="FFFFFF"/>
                </a:highlight>
                <a:latin typeface="Arial"/>
                <a:ea typeface="Arial"/>
                <a:cs typeface="Arial"/>
                <a:sym typeface="Arial"/>
              </a:rPr>
              <a:t>means</a:t>
            </a:r>
            <a:r>
              <a:rPr lang="en" sz="1600" b="0" i="0" u="none" strike="noStrike" cap="none">
                <a:solidFill>
                  <a:srgbClr val="292929"/>
                </a:solidFill>
                <a:highlight>
                  <a:srgbClr val="FFFFFF"/>
                </a:highlight>
                <a:latin typeface="Georgia"/>
                <a:ea typeface="Georgia"/>
                <a:cs typeface="Georgia"/>
                <a:sym typeface="Georgia"/>
              </a:rPr>
              <a:t> </a:t>
            </a:r>
            <a:r>
              <a:rPr lang="en" sz="1450" b="0" i="1" u="none" strike="noStrike" cap="none">
                <a:solidFill>
                  <a:srgbClr val="222222"/>
                </a:solidFill>
                <a:highlight>
                  <a:srgbClr val="FFFFFF"/>
                </a:highlight>
                <a:latin typeface="Arial"/>
                <a:ea typeface="Arial"/>
                <a:cs typeface="Arial"/>
                <a:sym typeface="Arial"/>
              </a:rPr>
              <a:t>“all IPv4 addresses on the local machine”.</a:t>
            </a:r>
            <a:endParaRPr sz="1500" b="0" i="1" u="none" strike="noStrike" cap="none">
              <a:solidFill>
                <a:srgbClr val="292929"/>
              </a:solidFill>
              <a:highlight>
                <a:srgbClr val="F2F2F2"/>
              </a:highlight>
              <a:latin typeface="Courier New"/>
              <a:ea typeface="Courier New"/>
              <a:cs typeface="Courier New"/>
              <a:sym typeface="Courier New"/>
            </a:endParaRPr>
          </a:p>
        </p:txBody>
      </p:sp>
      <p:sp>
        <p:nvSpPr>
          <p:cNvPr id="365" name="Google Shape;365;gecc5717692_0_76"/>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66" name="Google Shape;366;gecc5717692_0_76"/>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36</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4">
                                            <p:txEl>
                                              <p:pRg st="0" end="0"/>
                                            </p:txEl>
                                          </p:spTgt>
                                        </p:tgtEl>
                                        <p:attrNameLst>
                                          <p:attrName>style.visibility</p:attrName>
                                        </p:attrNameLst>
                                      </p:cBhvr>
                                      <p:to>
                                        <p:strVal val="visible"/>
                                      </p:to>
                                    </p:set>
                                    <p:animEffect transition="in" filter="fade">
                                      <p:cBhvr>
                                        <p:cTn id="7" dur="1000"/>
                                        <p:tgtEl>
                                          <p:spTgt spid="3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4">
                                            <p:txEl>
                                              <p:pRg st="1" end="1"/>
                                            </p:txEl>
                                          </p:spTgt>
                                        </p:tgtEl>
                                        <p:attrNameLst>
                                          <p:attrName>style.visibility</p:attrName>
                                        </p:attrNameLst>
                                      </p:cBhvr>
                                      <p:to>
                                        <p:strVal val="visible"/>
                                      </p:to>
                                    </p:set>
                                    <p:animEffect transition="in" filter="fade">
                                      <p:cBhvr>
                                        <p:cTn id="12" dur="1000"/>
                                        <p:tgtEl>
                                          <p:spTgt spid="3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4">
                                            <p:txEl>
                                              <p:pRg st="2" end="2"/>
                                            </p:txEl>
                                          </p:spTgt>
                                        </p:tgtEl>
                                        <p:attrNameLst>
                                          <p:attrName>style.visibility</p:attrName>
                                        </p:attrNameLst>
                                      </p:cBhvr>
                                      <p:to>
                                        <p:strVal val="visible"/>
                                      </p:to>
                                    </p:set>
                                    <p:animEffect transition="in" filter="fade">
                                      <p:cBhvr>
                                        <p:cTn id="17" dur="1000"/>
                                        <p:tgtEl>
                                          <p:spTgt spid="3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4">
                                            <p:txEl>
                                              <p:pRg st="3" end="3"/>
                                            </p:txEl>
                                          </p:spTgt>
                                        </p:tgtEl>
                                        <p:attrNameLst>
                                          <p:attrName>style.visibility</p:attrName>
                                        </p:attrNameLst>
                                      </p:cBhvr>
                                      <p:to>
                                        <p:strVal val="visible"/>
                                      </p:to>
                                    </p:set>
                                    <p:animEffect transition="in" filter="fade">
                                      <p:cBhvr>
                                        <p:cTn id="22" dur="1000"/>
                                        <p:tgtEl>
                                          <p:spTgt spid="3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4">
                                            <p:txEl>
                                              <p:pRg st="4" end="4"/>
                                            </p:txEl>
                                          </p:spTgt>
                                        </p:tgtEl>
                                        <p:attrNameLst>
                                          <p:attrName>style.visibility</p:attrName>
                                        </p:attrNameLst>
                                      </p:cBhvr>
                                      <p:to>
                                        <p:strVal val="visible"/>
                                      </p:to>
                                    </p:set>
                                    <p:animEffect transition="in" filter="fade">
                                      <p:cBhvr>
                                        <p:cTn id="27" dur="1000"/>
                                        <p:tgtEl>
                                          <p:spTgt spid="36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4">
                                            <p:txEl>
                                              <p:pRg st="5" end="5"/>
                                            </p:txEl>
                                          </p:spTgt>
                                        </p:tgtEl>
                                        <p:attrNameLst>
                                          <p:attrName>style.visibility</p:attrName>
                                        </p:attrNameLst>
                                      </p:cBhvr>
                                      <p:to>
                                        <p:strVal val="visible"/>
                                      </p:to>
                                    </p:set>
                                    <p:animEffect transition="in" filter="fade">
                                      <p:cBhvr>
                                        <p:cTn id="32" dur="1000"/>
                                        <p:tgtEl>
                                          <p:spTgt spid="36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4">
                                            <p:txEl>
                                              <p:pRg st="6" end="6"/>
                                            </p:txEl>
                                          </p:spTgt>
                                        </p:tgtEl>
                                        <p:attrNameLst>
                                          <p:attrName>style.visibility</p:attrName>
                                        </p:attrNameLst>
                                      </p:cBhvr>
                                      <p:to>
                                        <p:strVal val="visible"/>
                                      </p:to>
                                    </p:set>
                                    <p:animEffect transition="in" filter="fade">
                                      <p:cBhvr>
                                        <p:cTn id="37" dur="1000"/>
                                        <p:tgtEl>
                                          <p:spTgt spid="36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4">
                                            <p:txEl>
                                              <p:pRg st="7" end="7"/>
                                            </p:txEl>
                                          </p:spTgt>
                                        </p:tgtEl>
                                        <p:attrNameLst>
                                          <p:attrName>style.visibility</p:attrName>
                                        </p:attrNameLst>
                                      </p:cBhvr>
                                      <p:to>
                                        <p:strVal val="visible"/>
                                      </p:to>
                                    </p:set>
                                    <p:animEffect transition="in" filter="fade">
                                      <p:cBhvr>
                                        <p:cTn id="42" dur="1000"/>
                                        <p:tgtEl>
                                          <p:spTgt spid="36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64">
                                            <p:txEl>
                                              <p:pRg st="8" end="8"/>
                                            </p:txEl>
                                          </p:spTgt>
                                        </p:tgtEl>
                                        <p:attrNameLst>
                                          <p:attrName>style.visibility</p:attrName>
                                        </p:attrNameLst>
                                      </p:cBhvr>
                                      <p:to>
                                        <p:strVal val="visible"/>
                                      </p:to>
                                    </p:set>
                                    <p:animEffect transition="in" filter="fade">
                                      <p:cBhvr>
                                        <p:cTn id="47" dur="1000"/>
                                        <p:tgtEl>
                                          <p:spTgt spid="36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64">
                                            <p:txEl>
                                              <p:pRg st="9" end="9"/>
                                            </p:txEl>
                                          </p:spTgt>
                                        </p:tgtEl>
                                        <p:attrNameLst>
                                          <p:attrName>style.visibility</p:attrName>
                                        </p:attrNameLst>
                                      </p:cBhvr>
                                      <p:to>
                                        <p:strVal val="visible"/>
                                      </p:to>
                                    </p:set>
                                    <p:animEffect transition="in" filter="fade">
                                      <p:cBhvr>
                                        <p:cTn id="52" dur="1000"/>
                                        <p:tgtEl>
                                          <p:spTgt spid="36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ecc5717692_0_79"/>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72" name="Google Shape;372;gecc5717692_0_79"/>
          <p:cNvSpPr txBox="1"/>
          <p:nvPr/>
        </p:nvSpPr>
        <p:spPr>
          <a:xfrm>
            <a:off x="557550" y="767175"/>
            <a:ext cx="8454300" cy="3420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1850"/>
              <a:buFont typeface="Arial"/>
              <a:buNone/>
            </a:pPr>
            <a:r>
              <a:rPr lang="en" sz="1850" b="1" i="0" u="none" strike="noStrike" cap="none">
                <a:solidFill>
                  <a:srgbClr val="EF4F63"/>
                </a:solidFill>
                <a:highlight>
                  <a:srgbClr val="FFFFFF"/>
                </a:highlight>
                <a:latin typeface="Arial"/>
                <a:ea typeface="Arial"/>
                <a:cs typeface="Arial"/>
                <a:sym typeface="Arial"/>
              </a:rPr>
              <a:t>Variable Rules</a:t>
            </a:r>
            <a:endParaRPr sz="1850" b="1" i="0" u="none" strike="noStrike" cap="none">
              <a:solidFill>
                <a:srgbClr val="EF4F63"/>
              </a:solidFill>
              <a:highlight>
                <a:srgbClr val="FFFFFF"/>
              </a:highlight>
              <a:latin typeface="Arial"/>
              <a:ea typeface="Arial"/>
              <a:cs typeface="Arial"/>
              <a:sym typeface="Arial"/>
            </a:endParaRPr>
          </a:p>
          <a:p>
            <a:pPr marL="0" marR="0" lvl="0" indent="0" algn="l" rtl="0">
              <a:lnSpc>
                <a:spcPct val="100000"/>
              </a:lnSpc>
              <a:spcBef>
                <a:spcPts val="600"/>
              </a:spcBef>
              <a:spcAft>
                <a:spcPts val="0"/>
              </a:spcAft>
              <a:buClr>
                <a:srgbClr val="000000"/>
              </a:buClr>
              <a:buSzPts val="1350"/>
              <a:buFont typeface="Arial"/>
              <a:buNone/>
            </a:pPr>
            <a:r>
              <a:rPr lang="en" sz="1350" b="0" i="0" u="none" strike="noStrike" cap="none">
                <a:solidFill>
                  <a:srgbClr val="222222"/>
                </a:solidFill>
                <a:highlight>
                  <a:srgbClr val="FFFFFF"/>
                </a:highlight>
                <a:latin typeface="Arial"/>
                <a:ea typeface="Arial"/>
                <a:cs typeface="Arial"/>
                <a:sym typeface="Arial"/>
              </a:rPr>
              <a:t>You can add variable sections to a URL by using</a:t>
            </a:r>
            <a:r>
              <a:rPr lang="en" sz="1400" b="0" i="0" u="none" strike="noStrike" cap="none">
                <a:solidFill>
                  <a:srgbClr val="292929"/>
                </a:solidFill>
                <a:highlight>
                  <a:srgbClr val="FFFFFF"/>
                </a:highlight>
                <a:latin typeface="Georgia"/>
                <a:ea typeface="Georgia"/>
                <a:cs typeface="Georgia"/>
                <a:sym typeface="Georgia"/>
              </a:rPr>
              <a:t> </a:t>
            </a:r>
            <a:r>
              <a:rPr lang="en" sz="1000" b="0" i="0" u="none" strike="noStrike" cap="none">
                <a:solidFill>
                  <a:srgbClr val="292929"/>
                </a:solidFill>
                <a:highlight>
                  <a:srgbClr val="F2F2F2"/>
                </a:highlight>
                <a:latin typeface="Courier New"/>
                <a:ea typeface="Courier New"/>
                <a:cs typeface="Courier New"/>
                <a:sym typeface="Courier New"/>
              </a:rPr>
              <a:t>&lt;variable_name&gt;</a:t>
            </a:r>
            <a:r>
              <a:rPr lang="en" sz="1400" b="0" i="0" u="none" strike="noStrike" cap="none">
                <a:solidFill>
                  <a:srgbClr val="292929"/>
                </a:solidFill>
                <a:highlight>
                  <a:srgbClr val="FFFFFF"/>
                </a:highlight>
                <a:latin typeface="Georgia"/>
                <a:ea typeface="Georgia"/>
                <a:cs typeface="Georgia"/>
                <a:sym typeface="Georgia"/>
              </a:rPr>
              <a:t>. </a:t>
            </a:r>
            <a:r>
              <a:rPr lang="en" sz="1350" b="0" i="0" u="none" strike="noStrike" cap="none">
                <a:solidFill>
                  <a:srgbClr val="222222"/>
                </a:solidFill>
                <a:highlight>
                  <a:srgbClr val="FFFFFF"/>
                </a:highlight>
                <a:latin typeface="Arial"/>
                <a:ea typeface="Arial"/>
                <a:cs typeface="Arial"/>
                <a:sym typeface="Arial"/>
              </a:rPr>
              <a:t>The function receives the variable as a keyword argument.</a:t>
            </a:r>
            <a:endParaRPr sz="1850" b="1" i="0" u="none" strike="noStrike" cap="none">
              <a:solidFill>
                <a:srgbClr val="EF4F63"/>
              </a:solidFill>
              <a:highlight>
                <a:srgbClr val="FFFFFF"/>
              </a:highlight>
              <a:latin typeface="Arial"/>
              <a:ea typeface="Arial"/>
              <a:cs typeface="Arial"/>
              <a:sym typeface="Arial"/>
            </a:endParaRPr>
          </a:p>
          <a:p>
            <a:pPr marL="0" marR="0" lvl="0" indent="0" algn="l" rtl="0">
              <a:lnSpc>
                <a:spcPct val="100000"/>
              </a:lnSpc>
              <a:spcBef>
                <a:spcPts val="600"/>
              </a:spcBef>
              <a:spcAft>
                <a:spcPts val="0"/>
              </a:spcAft>
              <a:buClr>
                <a:srgbClr val="000000"/>
              </a:buClr>
              <a:buSzPts val="250"/>
              <a:buFont typeface="Arial"/>
              <a:buNone/>
            </a:pPr>
            <a:endParaRPr sz="250" b="1" i="0" u="none" strike="noStrike" cap="none">
              <a:solidFill>
                <a:srgbClr val="EF4F63"/>
              </a:solidFill>
              <a:highlight>
                <a:srgbClr val="FFFFFF"/>
              </a:highlight>
              <a:latin typeface="Arial"/>
              <a:ea typeface="Arial"/>
              <a:cs typeface="Arial"/>
              <a:sym typeface="Arial"/>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from flask import Flask</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app = Flask(__name__)</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@app.route('/&lt;int:number&gt;/')</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def incrementer(number):</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   return "Incremented number is " + str(number+1)</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@app.route('/&lt;string:name&gt;/')</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def hello(name):</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   return "Hello " + name</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app.run()</a:t>
            </a:r>
            <a:endParaRPr sz="1200" b="0" i="0" u="none" strike="noStrike" cap="none">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00"/>
              <a:buFont typeface="Arial"/>
              <a:buNone/>
            </a:pPr>
            <a:endParaRPr sz="100" b="0" i="0" u="none" strike="noStrike" cap="none">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350"/>
              <a:buFont typeface="Arial"/>
              <a:buNone/>
            </a:pPr>
            <a:r>
              <a:rPr lang="en" sz="1350" b="0" i="0" u="none" strike="noStrike" cap="none">
                <a:solidFill>
                  <a:srgbClr val="222222"/>
                </a:solidFill>
                <a:highlight>
                  <a:srgbClr val="FFFFFF"/>
                </a:highlight>
                <a:latin typeface="Arial"/>
                <a:ea typeface="Arial"/>
                <a:cs typeface="Arial"/>
                <a:sym typeface="Arial"/>
              </a:rPr>
              <a:t>Run the above code to start the Flask application.</a:t>
            </a:r>
            <a:endParaRPr sz="1400" b="0" i="0" u="none" strike="noStrike" cap="none">
              <a:solidFill>
                <a:srgbClr val="292929"/>
              </a:solidFill>
              <a:highlight>
                <a:srgbClr val="FFFFFF"/>
              </a:highlight>
              <a:latin typeface="Georgia"/>
              <a:ea typeface="Georgia"/>
              <a:cs typeface="Georgia"/>
              <a:sym typeface="Georgia"/>
            </a:endParaRPr>
          </a:p>
          <a:p>
            <a:pPr marL="0" marR="190500" lvl="0" indent="0" algn="l" rtl="0">
              <a:lnSpc>
                <a:spcPct val="100000"/>
              </a:lnSpc>
              <a:spcBef>
                <a:spcPts val="0"/>
              </a:spcBef>
              <a:spcAft>
                <a:spcPts val="0"/>
              </a:spcAft>
              <a:buClr>
                <a:srgbClr val="000000"/>
              </a:buClr>
              <a:buSzPts val="1350"/>
              <a:buFont typeface="Arial"/>
              <a:buNone/>
            </a:pPr>
            <a:r>
              <a:rPr lang="en" sz="1350" b="0" i="0" u="none" strike="noStrike" cap="none">
                <a:solidFill>
                  <a:srgbClr val="222222"/>
                </a:solidFill>
                <a:highlight>
                  <a:srgbClr val="FFFFFF"/>
                </a:highlight>
                <a:latin typeface="Arial"/>
                <a:ea typeface="Arial"/>
                <a:cs typeface="Arial"/>
                <a:sym typeface="Arial"/>
              </a:rPr>
              <a:t>Open the browser and go to</a:t>
            </a:r>
            <a:r>
              <a:rPr lang="en" sz="1400" b="0" i="0" u="none" strike="noStrike" cap="none">
                <a:solidFill>
                  <a:srgbClr val="292929"/>
                </a:solidFill>
                <a:highlight>
                  <a:srgbClr val="FFFFFF"/>
                </a:highlight>
                <a:latin typeface="Georgia"/>
                <a:ea typeface="Georgia"/>
                <a:cs typeface="Georgia"/>
                <a:sym typeface="Georgia"/>
              </a:rPr>
              <a:t> </a:t>
            </a:r>
            <a:r>
              <a:rPr lang="en" sz="1000" b="0" i="0" u="none" strike="noStrike" cap="none">
                <a:solidFill>
                  <a:srgbClr val="292929"/>
                </a:solidFill>
                <a:highlight>
                  <a:srgbClr val="F2F2F2"/>
                </a:highlight>
                <a:latin typeface="Courier New"/>
                <a:ea typeface="Courier New"/>
                <a:cs typeface="Courier New"/>
                <a:sym typeface="Courier New"/>
              </a:rPr>
              <a:t>http://localhost:5000/John</a:t>
            </a:r>
            <a:r>
              <a:rPr lang="en" sz="1400" b="0" i="0" u="none" strike="noStrike" cap="none">
                <a:solidFill>
                  <a:srgbClr val="292929"/>
                </a:solidFill>
                <a:highlight>
                  <a:srgbClr val="FFFFFF"/>
                </a:highlight>
                <a:latin typeface="Georgia"/>
                <a:ea typeface="Georgia"/>
                <a:cs typeface="Georgia"/>
                <a:sym typeface="Georgia"/>
              </a:rPr>
              <a:t> </a:t>
            </a:r>
            <a:r>
              <a:rPr lang="en" sz="1350" b="0" i="0" u="none" strike="noStrike" cap="none">
                <a:solidFill>
                  <a:srgbClr val="222222"/>
                </a:solidFill>
                <a:highlight>
                  <a:srgbClr val="FFFFFF"/>
                </a:highlight>
                <a:latin typeface="Arial"/>
                <a:ea typeface="Arial"/>
                <a:cs typeface="Arial"/>
                <a:sym typeface="Arial"/>
              </a:rPr>
              <a:t>, you will see the output as</a:t>
            </a:r>
            <a:r>
              <a:rPr lang="en" sz="1400" b="0" i="0" u="none" strike="noStrike" cap="none">
                <a:solidFill>
                  <a:srgbClr val="292929"/>
                </a:solidFill>
                <a:highlight>
                  <a:srgbClr val="FFFFFF"/>
                </a:highlight>
                <a:latin typeface="Georgia"/>
                <a:ea typeface="Georgia"/>
                <a:cs typeface="Georgia"/>
                <a:sym typeface="Georgia"/>
              </a:rPr>
              <a:t> </a:t>
            </a:r>
            <a:r>
              <a:rPr lang="en" sz="1000" b="0" i="0" u="none" strike="noStrike" cap="none">
                <a:solidFill>
                  <a:srgbClr val="292929"/>
                </a:solidFill>
                <a:highlight>
                  <a:srgbClr val="F2F2F2"/>
                </a:highlight>
                <a:latin typeface="Courier New"/>
                <a:ea typeface="Courier New"/>
                <a:cs typeface="Courier New"/>
                <a:sym typeface="Courier New"/>
              </a:rPr>
              <a:t>Hello John</a:t>
            </a:r>
            <a:r>
              <a:rPr lang="en" sz="1400" b="0" i="0" u="none" strike="noStrike" cap="none">
                <a:solidFill>
                  <a:srgbClr val="292929"/>
                </a:solidFill>
                <a:highlight>
                  <a:srgbClr val="FFFFFF"/>
                </a:highlight>
                <a:latin typeface="Georgia"/>
                <a:ea typeface="Georgia"/>
                <a:cs typeface="Georgia"/>
                <a:sym typeface="Georgia"/>
              </a:rPr>
              <a:t> </a:t>
            </a:r>
            <a:r>
              <a:rPr lang="en" sz="1350" b="0" i="0" u="none" strike="noStrike" cap="none">
                <a:solidFill>
                  <a:srgbClr val="222222"/>
                </a:solidFill>
                <a:highlight>
                  <a:srgbClr val="FFFFFF"/>
                </a:highlight>
                <a:latin typeface="Arial"/>
                <a:ea typeface="Arial"/>
                <a:cs typeface="Arial"/>
                <a:sym typeface="Arial"/>
              </a:rPr>
              <a:t>and when you go to</a:t>
            </a:r>
            <a:r>
              <a:rPr lang="en" sz="1400" b="0" i="0" u="none" strike="noStrike" cap="none">
                <a:solidFill>
                  <a:srgbClr val="292929"/>
                </a:solidFill>
                <a:highlight>
                  <a:srgbClr val="FFFFFF"/>
                </a:highlight>
                <a:latin typeface="Georgia"/>
                <a:ea typeface="Georgia"/>
                <a:cs typeface="Georgia"/>
                <a:sym typeface="Georgia"/>
              </a:rPr>
              <a:t> </a:t>
            </a:r>
            <a:r>
              <a:rPr lang="en" sz="1000" b="0" i="0" u="none" strike="noStrike" cap="none">
                <a:solidFill>
                  <a:srgbClr val="292929"/>
                </a:solidFill>
                <a:highlight>
                  <a:srgbClr val="F2F2F2"/>
                </a:highlight>
                <a:latin typeface="Courier New"/>
                <a:ea typeface="Courier New"/>
                <a:cs typeface="Courier New"/>
                <a:sym typeface="Courier New"/>
              </a:rPr>
              <a:t>http://localhost:5000/10</a:t>
            </a:r>
            <a:r>
              <a:rPr lang="en" sz="1400" b="0" i="0" u="none" strike="noStrike" cap="none">
                <a:solidFill>
                  <a:srgbClr val="292929"/>
                </a:solidFill>
                <a:highlight>
                  <a:srgbClr val="FFFFFF"/>
                </a:highlight>
                <a:latin typeface="Georgia"/>
                <a:ea typeface="Georgia"/>
                <a:cs typeface="Georgia"/>
                <a:sym typeface="Georgia"/>
              </a:rPr>
              <a:t> </a:t>
            </a:r>
            <a:r>
              <a:rPr lang="en" sz="1350" b="0" i="0" u="none" strike="noStrike" cap="none">
                <a:solidFill>
                  <a:srgbClr val="222222"/>
                </a:solidFill>
                <a:highlight>
                  <a:srgbClr val="FFFFFF"/>
                </a:highlight>
                <a:latin typeface="Arial"/>
                <a:ea typeface="Arial"/>
                <a:cs typeface="Arial"/>
                <a:sym typeface="Arial"/>
              </a:rPr>
              <a:t>the output will be</a:t>
            </a:r>
            <a:r>
              <a:rPr lang="en" sz="1400" b="0" i="0" u="none" strike="noStrike" cap="none">
                <a:solidFill>
                  <a:srgbClr val="292929"/>
                </a:solidFill>
                <a:highlight>
                  <a:srgbClr val="FFFFFF"/>
                </a:highlight>
                <a:latin typeface="Georgia"/>
                <a:ea typeface="Georgia"/>
                <a:cs typeface="Georgia"/>
                <a:sym typeface="Georgia"/>
              </a:rPr>
              <a:t> </a:t>
            </a:r>
            <a:r>
              <a:rPr lang="en" sz="1000" b="0" i="0" u="none" strike="noStrike" cap="none">
                <a:solidFill>
                  <a:srgbClr val="292929"/>
                </a:solidFill>
                <a:highlight>
                  <a:srgbClr val="F2F2F2"/>
                </a:highlight>
                <a:latin typeface="Courier New"/>
                <a:ea typeface="Courier New"/>
                <a:cs typeface="Courier New"/>
                <a:sym typeface="Courier New"/>
              </a:rPr>
              <a:t>Incremented number is 11</a:t>
            </a:r>
            <a:r>
              <a:rPr lang="en" sz="1400" b="0" i="0" u="none" strike="noStrike" cap="none">
                <a:solidFill>
                  <a:srgbClr val="292929"/>
                </a:solidFill>
                <a:highlight>
                  <a:srgbClr val="FFFFFF"/>
                </a:highlight>
                <a:latin typeface="Georgia"/>
                <a:ea typeface="Georgia"/>
                <a:cs typeface="Georgia"/>
                <a:sym typeface="Georgia"/>
              </a:rPr>
              <a:t> .</a:t>
            </a:r>
            <a:endParaRPr sz="1350" b="0" i="0" u="none" strike="noStrike" cap="none">
              <a:solidFill>
                <a:srgbClr val="222222"/>
              </a:solidFill>
              <a:highlight>
                <a:srgbClr val="FFFFFF"/>
              </a:highlight>
              <a:latin typeface="Arial"/>
              <a:ea typeface="Arial"/>
              <a:cs typeface="Arial"/>
              <a:sym typeface="Arial"/>
            </a:endParaRPr>
          </a:p>
        </p:txBody>
      </p:sp>
      <p:sp>
        <p:nvSpPr>
          <p:cNvPr id="373" name="Google Shape;373;gecc5717692_0_79"/>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37</a:t>
            </a:fld>
            <a:endParaRPr sz="1300" b="1" i="0" u="none" strike="noStrike" cap="none">
              <a:solidFill>
                <a:srgbClr val="0091EA"/>
              </a:solidFill>
              <a:latin typeface="Arial"/>
              <a:ea typeface="Arial"/>
              <a:cs typeface="Arial"/>
              <a:sym typeface="Arial"/>
            </a:endParaRPr>
          </a:p>
        </p:txBody>
      </p:sp>
      <p:pic>
        <p:nvPicPr>
          <p:cNvPr id="374" name="Google Shape;374;gecc5717692_0_79"/>
          <p:cNvPicPr preferRelativeResize="0"/>
          <p:nvPr/>
        </p:nvPicPr>
        <p:blipFill rotWithShape="1">
          <a:blip r:embed="rId3">
            <a:alphaModFix/>
          </a:blip>
          <a:srcRect/>
          <a:stretch/>
        </p:blipFill>
        <p:spPr>
          <a:xfrm>
            <a:off x="2728500" y="4084150"/>
            <a:ext cx="3172250" cy="10593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fade">
                                      <p:cBhvr>
                                        <p:cTn id="7" dur="10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ecc5717692_0_82"/>
          <p:cNvSpPr txBox="1"/>
          <p:nvPr/>
        </p:nvSpPr>
        <p:spPr>
          <a:xfrm>
            <a:off x="557550" y="767175"/>
            <a:ext cx="8090700" cy="4332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2050"/>
              <a:buFont typeface="Arial"/>
              <a:buNone/>
            </a:pPr>
            <a:r>
              <a:rPr lang="en" sz="2050" b="1" i="0" u="none" strike="noStrike" cap="none" dirty="0">
                <a:solidFill>
                  <a:srgbClr val="EF4F63"/>
                </a:solidFill>
                <a:highlight>
                  <a:srgbClr val="FFFFFF"/>
                </a:highlight>
                <a:latin typeface="Arial"/>
                <a:ea typeface="Arial"/>
                <a:cs typeface="Arial"/>
                <a:sym typeface="Arial"/>
              </a:rPr>
              <a:t>Returning Json Serializable object</a:t>
            </a:r>
            <a:endParaRPr sz="2050" b="1" i="0" u="none" strike="noStrike" cap="none" dirty="0">
              <a:solidFill>
                <a:srgbClr val="EF4F63"/>
              </a:solidFill>
              <a:highlight>
                <a:srgbClr val="FFFFFF"/>
              </a:highlight>
              <a:latin typeface="Arial"/>
              <a:ea typeface="Arial"/>
              <a:cs typeface="Arial"/>
              <a:sym typeface="Arial"/>
            </a:endParaRPr>
          </a:p>
          <a:p>
            <a:pPr marL="0" marR="0" lvl="0" indent="0" algn="l" rtl="0">
              <a:lnSpc>
                <a:spcPct val="100000"/>
              </a:lnSpc>
              <a:spcBef>
                <a:spcPts val="600"/>
              </a:spcBef>
              <a:spcAft>
                <a:spcPts val="0"/>
              </a:spcAft>
              <a:buClr>
                <a:srgbClr val="000000"/>
              </a:buClr>
              <a:buSzPts val="1550"/>
              <a:buFont typeface="Arial"/>
              <a:buNone/>
            </a:pPr>
            <a:r>
              <a:rPr lang="en" sz="1550" b="0" i="0" u="none" strike="noStrike" cap="none" dirty="0">
                <a:solidFill>
                  <a:srgbClr val="222222"/>
                </a:solidFill>
                <a:highlight>
                  <a:srgbClr val="FFFFFF"/>
                </a:highlight>
                <a:latin typeface="Arial"/>
                <a:ea typeface="Arial"/>
                <a:cs typeface="Arial"/>
                <a:sym typeface="Arial"/>
              </a:rPr>
              <a:t>The return value from a function in a Flask app should be JSON serializable. You can use</a:t>
            </a:r>
            <a:r>
              <a:rPr lang="en" sz="1600" b="0" i="0" u="none" strike="noStrike" cap="none" dirty="0">
                <a:solidFill>
                  <a:srgbClr val="292929"/>
                </a:solidFill>
                <a:highlight>
                  <a:srgbClr val="FFFFFF"/>
                </a:highlight>
                <a:latin typeface="Georgia"/>
                <a:ea typeface="Georgia"/>
                <a:cs typeface="Georgia"/>
                <a:sym typeface="Georgia"/>
              </a:rPr>
              <a:t> </a:t>
            </a:r>
            <a:r>
              <a:rPr lang="en" sz="1300" b="0" i="0" u="none" strike="noStrike" cap="none" dirty="0">
                <a:solidFill>
                  <a:srgbClr val="292929"/>
                </a:solidFill>
                <a:highlight>
                  <a:srgbClr val="F2F2F2"/>
                </a:highlight>
                <a:latin typeface="Courier New"/>
                <a:ea typeface="Courier New"/>
                <a:cs typeface="Courier New"/>
                <a:sym typeface="Courier New"/>
              </a:rPr>
              <a:t>jsonify</a:t>
            </a:r>
            <a:r>
              <a:rPr lang="en" sz="1600" b="0" i="0" u="none" strike="noStrike" cap="none" dirty="0">
                <a:solidFill>
                  <a:srgbClr val="292929"/>
                </a:solidFill>
                <a:highlight>
                  <a:srgbClr val="FFFFFF"/>
                </a:highlight>
                <a:latin typeface="Georgia"/>
                <a:ea typeface="Georgia"/>
                <a:cs typeface="Georgia"/>
                <a:sym typeface="Georgia"/>
              </a:rPr>
              <a:t> </a:t>
            </a:r>
            <a:r>
              <a:rPr lang="en" sz="1550" b="0" i="0" u="none" strike="noStrike" cap="none" dirty="0">
                <a:solidFill>
                  <a:srgbClr val="222222"/>
                </a:solidFill>
                <a:highlight>
                  <a:srgbClr val="FFFFFF"/>
                </a:highlight>
                <a:latin typeface="Arial"/>
                <a:ea typeface="Arial"/>
                <a:cs typeface="Arial"/>
                <a:sym typeface="Arial"/>
              </a:rPr>
              <a:t>to make your output JSON serializable. This function wraps</a:t>
            </a:r>
            <a:r>
              <a:rPr lang="en" sz="1600" b="0" i="0" u="none" strike="noStrike" cap="none" dirty="0">
                <a:solidFill>
                  <a:srgbClr val="292929"/>
                </a:solidFill>
                <a:highlight>
                  <a:srgbClr val="FFFFFF"/>
                </a:highlight>
                <a:latin typeface="Georgia"/>
                <a:ea typeface="Georgia"/>
                <a:cs typeface="Georgia"/>
                <a:sym typeface="Georgia"/>
              </a:rPr>
              <a:t> </a:t>
            </a:r>
            <a:r>
              <a:rPr lang="en" sz="1300" b="0" i="0" u="none" strike="noStrike" cap="none" dirty="0">
                <a:solidFill>
                  <a:srgbClr val="292929"/>
                </a:solidFill>
                <a:highlight>
                  <a:srgbClr val="F2F2F2"/>
                </a:highlight>
                <a:latin typeface="Courier New"/>
                <a:ea typeface="Courier New"/>
                <a:cs typeface="Courier New"/>
                <a:sym typeface="Courier New"/>
              </a:rPr>
              <a:t>json.dumps()</a:t>
            </a:r>
            <a:r>
              <a:rPr lang="en" sz="1600" b="0" i="0" u="none" strike="noStrike" cap="none" dirty="0">
                <a:solidFill>
                  <a:srgbClr val="292929"/>
                </a:solidFill>
                <a:highlight>
                  <a:srgbClr val="FFFFFF"/>
                </a:highlight>
                <a:latin typeface="Georgia"/>
                <a:ea typeface="Georgia"/>
                <a:cs typeface="Georgia"/>
                <a:sym typeface="Georgia"/>
              </a:rPr>
              <a:t> </a:t>
            </a:r>
            <a:r>
              <a:rPr lang="en" sz="1550" b="0" i="0" u="none" strike="noStrike" cap="none" dirty="0">
                <a:solidFill>
                  <a:srgbClr val="222222"/>
                </a:solidFill>
                <a:highlight>
                  <a:srgbClr val="FFFFFF"/>
                </a:highlight>
                <a:latin typeface="Arial"/>
                <a:ea typeface="Arial"/>
                <a:cs typeface="Arial"/>
                <a:sym typeface="Arial"/>
              </a:rPr>
              <a:t>to turn the JSON output into a Response object with </a:t>
            </a:r>
            <a:r>
              <a:rPr lang="en" sz="1550" b="0" i="1" u="none" strike="noStrike" cap="none" dirty="0">
                <a:solidFill>
                  <a:srgbClr val="222222"/>
                </a:solidFill>
                <a:highlight>
                  <a:srgbClr val="FFFFFF"/>
                </a:highlight>
                <a:latin typeface="Arial"/>
                <a:ea typeface="Arial"/>
                <a:cs typeface="Arial"/>
                <a:sym typeface="Arial"/>
              </a:rPr>
              <a:t>application/json</a:t>
            </a:r>
            <a:r>
              <a:rPr lang="en" sz="1550" b="0" i="0" u="none" strike="noStrike" cap="none" dirty="0">
                <a:solidFill>
                  <a:srgbClr val="222222"/>
                </a:solidFill>
                <a:highlight>
                  <a:srgbClr val="FFFFFF"/>
                </a:highlight>
                <a:latin typeface="Arial"/>
                <a:ea typeface="Arial"/>
                <a:cs typeface="Arial"/>
                <a:sym typeface="Arial"/>
              </a:rPr>
              <a:t> mime-type.</a:t>
            </a:r>
            <a:endParaRPr sz="2050" b="1" i="0" u="none" strike="noStrike" cap="none" dirty="0">
              <a:solidFill>
                <a:srgbClr val="EF4F63"/>
              </a:solidFill>
              <a:highlight>
                <a:srgbClr val="FFFFFF"/>
              </a:highlight>
              <a:latin typeface="Arial"/>
              <a:ea typeface="Arial"/>
              <a:cs typeface="Arial"/>
              <a:sym typeface="Arial"/>
            </a:endParaRPr>
          </a:p>
          <a:p>
            <a:pPr marL="0" marR="0" lvl="0" indent="0" algn="l" rtl="0">
              <a:lnSpc>
                <a:spcPct val="100000"/>
              </a:lnSpc>
              <a:spcBef>
                <a:spcPts val="600"/>
              </a:spcBef>
              <a:spcAft>
                <a:spcPts val="0"/>
              </a:spcAft>
              <a:buClr>
                <a:srgbClr val="000000"/>
              </a:buClr>
              <a:buSzPts val="450"/>
              <a:buFont typeface="Arial"/>
              <a:buNone/>
            </a:pPr>
            <a:endParaRPr sz="450" b="1" i="0" u="none" strike="noStrike" cap="none" dirty="0">
              <a:solidFill>
                <a:srgbClr val="EF4F63"/>
              </a:solidFill>
              <a:highlight>
                <a:srgbClr val="FFFFFF"/>
              </a:highlight>
              <a:latin typeface="Arial"/>
              <a:ea typeface="Arial"/>
              <a:cs typeface="Arial"/>
              <a:sym typeface="Arial"/>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from flask import jsonify</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@app.route('/person/')</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def hello():</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   return jsonify({'name':'John',</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                   'address':'USA'})</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292929"/>
              </a:solidFill>
              <a:highlight>
                <a:srgbClr val="FFFFFF"/>
              </a:highlight>
              <a:latin typeface="Georgia"/>
              <a:ea typeface="Georgia"/>
              <a:cs typeface="Georgia"/>
              <a:sym typeface="Georgia"/>
            </a:endParaRPr>
          </a:p>
          <a:p>
            <a:pPr marL="190500" marR="190500" lvl="0" indent="0" algn="l" rtl="0">
              <a:lnSpc>
                <a:spcPct val="100000"/>
              </a:lnSpc>
              <a:spcBef>
                <a:spcPts val="0"/>
              </a:spcBef>
              <a:spcAft>
                <a:spcPts val="0"/>
              </a:spcAft>
              <a:buClr>
                <a:srgbClr val="000000"/>
              </a:buClr>
              <a:buSzPts val="1550"/>
              <a:buFont typeface="Arial"/>
              <a:buNone/>
            </a:pPr>
            <a:r>
              <a:rPr lang="en" sz="1550" b="0" i="0" u="none" strike="noStrike" cap="none" dirty="0">
                <a:solidFill>
                  <a:srgbClr val="222222"/>
                </a:solidFill>
                <a:highlight>
                  <a:srgbClr val="FFFFFF"/>
                </a:highlight>
                <a:latin typeface="Arial"/>
                <a:ea typeface="Arial"/>
                <a:cs typeface="Arial"/>
                <a:sym typeface="Arial"/>
              </a:rPr>
              <a:t>This will send a JSON response like this:</a:t>
            </a:r>
            <a:endParaRPr sz="1600" b="0" i="0" u="none" strike="noStrike" cap="none" dirty="0">
              <a:solidFill>
                <a:srgbClr val="292929"/>
              </a:solidFill>
              <a:highlight>
                <a:srgbClr val="FFFFFF"/>
              </a:highlight>
              <a:latin typeface="Georgia"/>
              <a:ea typeface="Georgia"/>
              <a:cs typeface="Georgia"/>
              <a:sym typeface="Georgia"/>
            </a:endParaRPr>
          </a:p>
          <a:p>
            <a:pPr marL="190500" marR="19050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 "address": "USA",</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 "name": "John"</a:t>
            </a:r>
            <a:endParaRPr sz="1400" b="0" i="0" u="none" strike="noStrike" cap="none" dirty="0">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292929"/>
                </a:solidFill>
                <a:highlight>
                  <a:srgbClr val="F2F2F2"/>
                </a:highlight>
                <a:latin typeface="Courier New"/>
                <a:ea typeface="Courier New"/>
                <a:cs typeface="Courier New"/>
                <a:sym typeface="Courier New"/>
              </a:rPr>
              <a:t>}</a:t>
            </a:r>
            <a:endParaRPr sz="1400" b="0" i="0" u="none" strike="noStrike" cap="none" dirty="0">
              <a:solidFill>
                <a:srgbClr val="292929"/>
              </a:solidFill>
              <a:highlight>
                <a:srgbClr val="F2F2F2"/>
              </a:highlight>
              <a:latin typeface="Courier New"/>
              <a:ea typeface="Courier New"/>
              <a:cs typeface="Courier New"/>
              <a:sym typeface="Courier New"/>
            </a:endParaRPr>
          </a:p>
          <a:p>
            <a:pPr marL="0" marR="190500" lvl="0" indent="0" algn="l" rtl="0">
              <a:lnSpc>
                <a:spcPct val="100000"/>
              </a:lnSpc>
              <a:spcBef>
                <a:spcPts val="0"/>
              </a:spcBef>
              <a:spcAft>
                <a:spcPts val="0"/>
              </a:spcAft>
              <a:buClr>
                <a:srgbClr val="000000"/>
              </a:buClr>
              <a:buSzPts val="1550"/>
              <a:buFont typeface="Arial"/>
              <a:buNone/>
            </a:pPr>
            <a:endParaRPr sz="1550" b="0" i="0" u="none" strike="noStrike" cap="none" dirty="0">
              <a:solidFill>
                <a:srgbClr val="222222"/>
              </a:solidFill>
              <a:highlight>
                <a:srgbClr val="FFFFFF"/>
              </a:highlight>
              <a:latin typeface="Arial"/>
              <a:ea typeface="Arial"/>
              <a:cs typeface="Arial"/>
              <a:sym typeface="Arial"/>
            </a:endParaRPr>
          </a:p>
        </p:txBody>
      </p:sp>
      <p:sp>
        <p:nvSpPr>
          <p:cNvPr id="380" name="Google Shape;380;gecc5717692_0_82"/>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81" name="Google Shape;381;gecc5717692_0_82"/>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38</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gecc5717692_0_57"/>
          <p:cNvSpPr txBox="1"/>
          <p:nvPr/>
        </p:nvSpPr>
        <p:spPr>
          <a:xfrm>
            <a:off x="557550" y="767175"/>
            <a:ext cx="8090700" cy="2563800"/>
          </a:xfrm>
          <a:prstGeom prst="rect">
            <a:avLst/>
          </a:prstGeom>
          <a:noFill/>
          <a:ln>
            <a:noFill/>
          </a:ln>
        </p:spPr>
        <p:txBody>
          <a:bodyPr spcFirstLastPara="1" wrap="square" lIns="91425" tIns="91425" rIns="91425" bIns="91425" anchor="t" anchorCtr="0">
            <a:spAutoFit/>
          </a:bodyPr>
          <a:lstStyle/>
          <a:p>
            <a:pPr marL="0" marR="0" lvl="0" indent="0" algn="l" rtl="0">
              <a:lnSpc>
                <a:spcPct val="117391"/>
              </a:lnSpc>
              <a:spcBef>
                <a:spcPts val="2900"/>
              </a:spcBef>
              <a:spcAft>
                <a:spcPts val="0"/>
              </a:spcAft>
              <a:buClr>
                <a:srgbClr val="000000"/>
              </a:buClr>
              <a:buSzPts val="2050"/>
              <a:buFont typeface="Arial"/>
              <a:buNone/>
            </a:pPr>
            <a:r>
              <a:rPr lang="en" sz="2050" b="1" i="0" u="none" strike="noStrike" cap="none">
                <a:solidFill>
                  <a:srgbClr val="EF4F63"/>
                </a:solidFill>
                <a:highlight>
                  <a:srgbClr val="FFFFFF"/>
                </a:highlight>
                <a:latin typeface="Arial"/>
                <a:ea typeface="Arial"/>
                <a:cs typeface="Arial"/>
                <a:sym typeface="Arial"/>
              </a:rPr>
              <a:t>Return Status Code</a:t>
            </a:r>
            <a:endParaRPr sz="2250" b="0" i="0" u="none" strike="noStrike" cap="none">
              <a:solidFill>
                <a:srgbClr val="292929"/>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550"/>
              <a:buFont typeface="Arial"/>
              <a:buNone/>
            </a:pPr>
            <a:r>
              <a:rPr lang="en" sz="1550" b="0" i="0" u="none" strike="noStrike" cap="none">
                <a:solidFill>
                  <a:srgbClr val="222222"/>
                </a:solidFill>
                <a:highlight>
                  <a:srgbClr val="FFFFFF"/>
                </a:highlight>
                <a:latin typeface="Arial"/>
                <a:ea typeface="Arial"/>
                <a:cs typeface="Arial"/>
                <a:sym typeface="Arial"/>
              </a:rPr>
              <a:t>You can return the status code along with the Response by specifying the status code as follows:</a:t>
            </a:r>
            <a:endParaRPr sz="1550" b="0" i="0" u="none" strike="noStrike" cap="none">
              <a:solidFill>
                <a:srgbClr val="222222"/>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550"/>
              <a:buFont typeface="Arial"/>
              <a:buNone/>
            </a:pPr>
            <a:endParaRPr sz="1550" b="0" i="0" u="none" strike="noStrike" cap="none">
              <a:solidFill>
                <a:srgbClr val="222222"/>
              </a:solidFill>
              <a:highlight>
                <a:srgbClr val="FFFFFF"/>
              </a:highlight>
              <a:latin typeface="Arial"/>
              <a:ea typeface="Arial"/>
              <a:cs typeface="Arial"/>
              <a:sym typeface="Arial"/>
            </a:endParaRPr>
          </a:p>
          <a:p>
            <a:pPr marL="190500" marR="19050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92929"/>
                </a:solidFill>
                <a:highlight>
                  <a:srgbClr val="F2F2F2"/>
                </a:highlight>
                <a:latin typeface="Courier New"/>
                <a:ea typeface="Courier New"/>
                <a:cs typeface="Courier New"/>
                <a:sym typeface="Courier New"/>
              </a:rPr>
              <a:t>@app.route('/books/')</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def teapot():</a:t>
            </a:r>
            <a:endParaRPr sz="14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92929"/>
                </a:solidFill>
                <a:highlight>
                  <a:srgbClr val="F2F2F2"/>
                </a:highlight>
                <a:latin typeface="Courier New"/>
                <a:ea typeface="Courier New"/>
                <a:cs typeface="Courier New"/>
                <a:sym typeface="Courier New"/>
              </a:rPr>
              <a:t>   return "Would you l</a:t>
            </a:r>
            <a:r>
              <a:rPr lang="en" sz="1200" b="0" i="0" u="none" strike="noStrike" cap="none">
                <a:solidFill>
                  <a:srgbClr val="292929"/>
                </a:solidFill>
                <a:highlight>
                  <a:srgbClr val="F2F2F2"/>
                </a:highlight>
                <a:latin typeface="Courier New"/>
                <a:ea typeface="Courier New"/>
                <a:cs typeface="Courier New"/>
                <a:sym typeface="Courier New"/>
              </a:rPr>
              <a:t>ike read some book?", 418</a:t>
            </a:r>
            <a:endParaRPr sz="1200" b="0" i="0" u="none" strike="noStrike" cap="none">
              <a:solidFill>
                <a:srgbClr val="292929"/>
              </a:solidFill>
              <a:highlight>
                <a:srgbClr val="F2F2F2"/>
              </a:highlight>
              <a:latin typeface="Courier New"/>
              <a:ea typeface="Courier New"/>
              <a:cs typeface="Courier New"/>
              <a:sym typeface="Courier New"/>
            </a:endParaRPr>
          </a:p>
          <a:p>
            <a:pPr marL="190500" marR="190500" lvl="0" indent="0" algn="l" rtl="0">
              <a:lnSpc>
                <a:spcPct val="100000"/>
              </a:lnSpc>
              <a:spcBef>
                <a:spcPts val="0"/>
              </a:spcBef>
              <a:spcAft>
                <a:spcPts val="0"/>
              </a:spcAft>
              <a:buClr>
                <a:srgbClr val="000000"/>
              </a:buClr>
              <a:buSzPts val="1200"/>
              <a:buFont typeface="Arial"/>
              <a:buNone/>
            </a:pPr>
            <a:endParaRPr sz="1200" b="0" i="0" u="none" strike="noStrike" cap="none">
              <a:solidFill>
                <a:srgbClr val="292929"/>
              </a:solidFill>
              <a:highlight>
                <a:srgbClr val="F2F2F2"/>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550"/>
              <a:buFont typeface="Arial"/>
              <a:buNone/>
            </a:pPr>
            <a:r>
              <a:rPr lang="en" sz="1550" b="0" i="0" u="none" strike="noStrike" cap="none">
                <a:solidFill>
                  <a:srgbClr val="222222"/>
                </a:solidFill>
                <a:highlight>
                  <a:srgbClr val="FFFFFF"/>
                </a:highlight>
                <a:latin typeface="Arial"/>
                <a:ea typeface="Arial"/>
                <a:cs typeface="Arial"/>
                <a:sym typeface="Arial"/>
              </a:rPr>
              <a:t>The response to this URL will be</a:t>
            </a:r>
            <a:r>
              <a:rPr lang="en" sz="1600" b="0" i="0" u="none" strike="noStrike" cap="none">
                <a:solidFill>
                  <a:srgbClr val="292929"/>
                </a:solidFill>
                <a:highlight>
                  <a:srgbClr val="FFFFFF"/>
                </a:highlight>
                <a:latin typeface="Georgia"/>
                <a:ea typeface="Georgia"/>
                <a:cs typeface="Georgia"/>
                <a:sym typeface="Georgia"/>
              </a:rPr>
              <a:t> </a:t>
            </a:r>
            <a:r>
              <a:rPr lang="en" sz="1200" b="0" i="0" u="none" strike="noStrike" cap="none">
                <a:solidFill>
                  <a:srgbClr val="292929"/>
                </a:solidFill>
                <a:highlight>
                  <a:srgbClr val="F2F2F2"/>
                </a:highlight>
                <a:latin typeface="Courier New"/>
                <a:ea typeface="Courier New"/>
                <a:cs typeface="Courier New"/>
                <a:sym typeface="Courier New"/>
              </a:rPr>
              <a:t>Would you like some tea?</a:t>
            </a:r>
            <a:r>
              <a:rPr lang="en" sz="1600" b="0" i="0" u="none" strike="noStrike" cap="none">
                <a:solidFill>
                  <a:srgbClr val="292929"/>
                </a:solidFill>
                <a:highlight>
                  <a:srgbClr val="FFFFFF"/>
                </a:highlight>
                <a:latin typeface="Georgia"/>
                <a:ea typeface="Georgia"/>
                <a:cs typeface="Georgia"/>
                <a:sym typeface="Georgia"/>
              </a:rPr>
              <a:t> </a:t>
            </a:r>
            <a:r>
              <a:rPr lang="en" sz="1550" b="0" i="0" u="none" strike="noStrike" cap="none">
                <a:solidFill>
                  <a:srgbClr val="222222"/>
                </a:solidFill>
                <a:highlight>
                  <a:srgbClr val="FFFFFF"/>
                </a:highlight>
                <a:latin typeface="Arial"/>
                <a:ea typeface="Arial"/>
                <a:cs typeface="Arial"/>
                <a:sym typeface="Arial"/>
              </a:rPr>
              <a:t>with</a:t>
            </a:r>
            <a:r>
              <a:rPr lang="en" sz="1600" b="0" i="0" u="none" strike="noStrike" cap="none">
                <a:solidFill>
                  <a:srgbClr val="292929"/>
                </a:solidFill>
                <a:highlight>
                  <a:srgbClr val="FFFFFF"/>
                </a:highlight>
                <a:latin typeface="Georgia"/>
                <a:ea typeface="Georgia"/>
                <a:cs typeface="Georgia"/>
                <a:sym typeface="Georgia"/>
              </a:rPr>
              <a:t> </a:t>
            </a:r>
            <a:r>
              <a:rPr lang="en" sz="1200" b="0" i="0" u="none" strike="noStrike" cap="none">
                <a:solidFill>
                  <a:srgbClr val="292929"/>
                </a:solidFill>
                <a:highlight>
                  <a:srgbClr val="F2F2F2"/>
                </a:highlight>
                <a:latin typeface="Courier New"/>
                <a:ea typeface="Courier New"/>
                <a:cs typeface="Courier New"/>
                <a:sym typeface="Courier New"/>
              </a:rPr>
              <a:t>418</a:t>
            </a:r>
            <a:r>
              <a:rPr lang="en" sz="1600" b="0" i="0" u="none" strike="noStrike" cap="none">
                <a:solidFill>
                  <a:srgbClr val="292929"/>
                </a:solidFill>
                <a:highlight>
                  <a:srgbClr val="FFFFFF"/>
                </a:highlight>
                <a:latin typeface="Georgia"/>
                <a:ea typeface="Georgia"/>
                <a:cs typeface="Georgia"/>
                <a:sym typeface="Georgia"/>
              </a:rPr>
              <a:t> </a:t>
            </a:r>
            <a:r>
              <a:rPr lang="en" sz="1550" b="0" i="0" u="none" strike="noStrike" cap="none">
                <a:solidFill>
                  <a:srgbClr val="222222"/>
                </a:solidFill>
                <a:highlight>
                  <a:srgbClr val="FFFFFF"/>
                </a:highlight>
                <a:latin typeface="Arial"/>
                <a:ea typeface="Arial"/>
                <a:cs typeface="Arial"/>
                <a:sym typeface="Arial"/>
              </a:rPr>
              <a:t>as the status code</a:t>
            </a:r>
            <a:br>
              <a:rPr lang="en" sz="1550" b="0" i="0" u="none" strike="noStrike" cap="none">
                <a:solidFill>
                  <a:srgbClr val="222222"/>
                </a:solidFill>
                <a:highlight>
                  <a:srgbClr val="FFFFFF"/>
                </a:highlight>
                <a:latin typeface="Arial"/>
                <a:ea typeface="Arial"/>
                <a:cs typeface="Arial"/>
                <a:sym typeface="Arial"/>
              </a:rPr>
            </a:br>
            <a:r>
              <a:rPr lang="en" sz="1550" b="0" i="0" u="none" strike="noStrike" cap="none">
                <a:solidFill>
                  <a:srgbClr val="222222"/>
                </a:solidFill>
                <a:highlight>
                  <a:srgbClr val="FFFFFF"/>
                </a:highlight>
                <a:latin typeface="Arial"/>
                <a:ea typeface="Arial"/>
                <a:cs typeface="Arial"/>
                <a:sym typeface="Arial"/>
              </a:rPr>
              <a:t>instead of the usual</a:t>
            </a:r>
            <a:r>
              <a:rPr lang="en" sz="1600" b="0" i="0" u="none" strike="noStrike" cap="none">
                <a:solidFill>
                  <a:srgbClr val="292929"/>
                </a:solidFill>
                <a:highlight>
                  <a:srgbClr val="FFFFFF"/>
                </a:highlight>
                <a:latin typeface="Georgia"/>
                <a:ea typeface="Georgia"/>
                <a:cs typeface="Georgia"/>
                <a:sym typeface="Georgia"/>
              </a:rPr>
              <a:t> </a:t>
            </a:r>
            <a:r>
              <a:rPr lang="en" sz="1200" b="0" i="0" u="none" strike="noStrike" cap="none">
                <a:solidFill>
                  <a:srgbClr val="292929"/>
                </a:solidFill>
                <a:highlight>
                  <a:srgbClr val="F2F2F2"/>
                </a:highlight>
                <a:latin typeface="Courier New"/>
                <a:ea typeface="Courier New"/>
                <a:cs typeface="Courier New"/>
                <a:sym typeface="Courier New"/>
              </a:rPr>
              <a:t>200</a:t>
            </a:r>
            <a:r>
              <a:rPr lang="en" sz="1600" b="0" i="0" u="none" strike="noStrike" cap="none">
                <a:solidFill>
                  <a:srgbClr val="292929"/>
                </a:solidFill>
                <a:highlight>
                  <a:srgbClr val="FFFFFF"/>
                </a:highlight>
                <a:latin typeface="Georgia"/>
                <a:ea typeface="Georgia"/>
                <a:cs typeface="Georgia"/>
                <a:sym typeface="Georgia"/>
              </a:rPr>
              <a:t> .</a:t>
            </a:r>
            <a:endParaRPr sz="2050" b="1" i="0" u="none" strike="noStrike" cap="none">
              <a:solidFill>
                <a:srgbClr val="EF4F63"/>
              </a:solidFill>
              <a:highlight>
                <a:srgbClr val="FFFFFF"/>
              </a:highlight>
              <a:latin typeface="Arial"/>
              <a:ea typeface="Arial"/>
              <a:cs typeface="Arial"/>
              <a:sym typeface="Arial"/>
            </a:endParaRPr>
          </a:p>
        </p:txBody>
      </p:sp>
      <p:sp>
        <p:nvSpPr>
          <p:cNvPr id="387" name="Google Shape;387;gecc5717692_0_57"/>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88" name="Google Shape;388;gecc5717692_0_57"/>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39</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ecc5717692_0_62"/>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394" name="Google Shape;394;gecc5717692_0_62"/>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40</a:t>
            </a:fld>
            <a:endParaRPr sz="1300" b="1" i="0" u="none" strike="noStrike" cap="none">
              <a:solidFill>
                <a:srgbClr val="0091EA"/>
              </a:solidFill>
              <a:latin typeface="Arial"/>
              <a:ea typeface="Arial"/>
              <a:cs typeface="Arial"/>
              <a:sym typeface="Arial"/>
            </a:endParaRPr>
          </a:p>
        </p:txBody>
      </p:sp>
      <p:sp>
        <p:nvSpPr>
          <p:cNvPr id="395" name="Google Shape;395;gecc5717692_0_62"/>
          <p:cNvSpPr txBox="1"/>
          <p:nvPr/>
        </p:nvSpPr>
        <p:spPr>
          <a:xfrm>
            <a:off x="557550" y="767175"/>
            <a:ext cx="8090700" cy="3756600"/>
          </a:xfrm>
          <a:prstGeom prst="rect">
            <a:avLst/>
          </a:prstGeom>
          <a:noFill/>
          <a:ln>
            <a:noFill/>
          </a:ln>
        </p:spPr>
        <p:txBody>
          <a:bodyPr spcFirstLastPara="1" wrap="square" lIns="91425" tIns="91425" rIns="91425" bIns="91425" anchor="t" anchorCtr="0">
            <a:spAutoFit/>
          </a:bodyPr>
          <a:lstStyle/>
          <a:p>
            <a:pPr marL="0" marR="0" lvl="0" indent="0" algn="l" rtl="0">
              <a:lnSpc>
                <a:spcPct val="117391"/>
              </a:lnSpc>
              <a:spcBef>
                <a:spcPts val="2900"/>
              </a:spcBef>
              <a:spcAft>
                <a:spcPts val="0"/>
              </a:spcAft>
              <a:buClr>
                <a:srgbClr val="000000"/>
              </a:buClr>
              <a:buSzPts val="2050"/>
              <a:buFont typeface="Arial"/>
              <a:buNone/>
            </a:pPr>
            <a:r>
              <a:rPr lang="en" sz="2050" b="1" i="0" u="none" strike="noStrike" cap="none" dirty="0">
                <a:solidFill>
                  <a:srgbClr val="EF4F63"/>
                </a:solidFill>
                <a:highlight>
                  <a:srgbClr val="FFFFFF"/>
                </a:highlight>
                <a:latin typeface="Arial"/>
                <a:ea typeface="Arial"/>
                <a:cs typeface="Arial"/>
                <a:sym typeface="Arial"/>
              </a:rPr>
              <a:t>Accessing Request Data</a:t>
            </a:r>
            <a:endParaRPr sz="2350" b="0" i="0" u="none" strike="noStrike" cap="none" dirty="0">
              <a:solidFill>
                <a:srgbClr val="292929"/>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1450"/>
              <a:buFont typeface="Arial"/>
              <a:buNone/>
            </a:pPr>
            <a:r>
              <a:rPr lang="en" sz="1450" b="0" i="0" u="none" strike="noStrike" cap="none" dirty="0">
                <a:solidFill>
                  <a:srgbClr val="222222"/>
                </a:solidFill>
                <a:highlight>
                  <a:srgbClr val="FFFFFF"/>
                </a:highlight>
                <a:latin typeface="Arial"/>
                <a:ea typeface="Arial"/>
                <a:cs typeface="Arial"/>
                <a:sym typeface="Arial"/>
              </a:rPr>
              <a:t>To access the request data, use the following</a:t>
            </a:r>
            <a:endParaRPr sz="1450" b="0" i="0" u="none" strike="noStrike" cap="none" dirty="0">
              <a:solidFill>
                <a:srgbClr val="222222"/>
              </a:solidFill>
              <a:highlight>
                <a:srgbClr val="FFFFFF"/>
              </a:highlight>
              <a:latin typeface="Arial"/>
              <a:ea typeface="Arial"/>
              <a:cs typeface="Arial"/>
              <a:sym typeface="Arial"/>
            </a:endParaRPr>
          </a:p>
          <a:p>
            <a:pPr marL="0" marR="190500" lvl="0" indent="457200" algn="l" rtl="0">
              <a:lnSpc>
                <a:spcPct val="100000"/>
              </a:lnSpc>
              <a:spcBef>
                <a:spcPts val="0"/>
              </a:spcBef>
              <a:spcAft>
                <a:spcPts val="0"/>
              </a:spcAft>
              <a:buClr>
                <a:srgbClr val="000000"/>
              </a:buClr>
              <a:buSzPts val="800"/>
              <a:buFont typeface="Arial"/>
              <a:buNone/>
            </a:pPr>
            <a:r>
              <a:rPr lang="en" sz="800" b="0" i="0" u="none" strike="noStrike" cap="none" dirty="0">
                <a:solidFill>
                  <a:srgbClr val="292929"/>
                </a:solidFill>
                <a:highlight>
                  <a:srgbClr val="F2F2F2"/>
                </a:highlight>
                <a:latin typeface="Courier New"/>
                <a:ea typeface="Courier New"/>
                <a:cs typeface="Courier New"/>
                <a:sym typeface="Courier New"/>
              </a:rPr>
              <a:t> </a:t>
            </a:r>
            <a:endParaRPr sz="800" b="0" i="0" u="none" strike="noStrike" cap="none" dirty="0">
              <a:solidFill>
                <a:srgbClr val="292929"/>
              </a:solidFill>
              <a:highlight>
                <a:srgbClr val="F2F2F2"/>
              </a:highlight>
              <a:latin typeface="Courier New"/>
              <a:ea typeface="Courier New"/>
              <a:cs typeface="Courier New"/>
              <a:sym typeface="Courier New"/>
            </a:endParaRPr>
          </a:p>
          <a:p>
            <a:pPr marL="0" marR="190500" lvl="0" indent="457200" algn="l" rtl="0">
              <a:lnSpc>
                <a:spcPct val="100000"/>
              </a:lnSpc>
              <a:spcBef>
                <a:spcPts val="0"/>
              </a:spcBef>
              <a:spcAft>
                <a:spcPts val="0"/>
              </a:spcAft>
              <a:buClr>
                <a:srgbClr val="000000"/>
              </a:buClr>
              <a:buSzPts val="1300"/>
              <a:buFont typeface="Arial"/>
              <a:buNone/>
            </a:pPr>
            <a:r>
              <a:rPr lang="en" sz="1300" b="0" i="0" u="none" strike="noStrike" cap="none" dirty="0">
                <a:solidFill>
                  <a:srgbClr val="292929"/>
                </a:solidFill>
                <a:highlight>
                  <a:srgbClr val="F2F2F2"/>
                </a:highlight>
                <a:latin typeface="Courier New"/>
                <a:ea typeface="Courier New"/>
                <a:cs typeface="Courier New"/>
                <a:sym typeface="Courier New"/>
              </a:rPr>
              <a:t>from flask import request</a:t>
            </a:r>
            <a:endParaRPr sz="1450" b="0" i="0" u="none" strike="noStrike" cap="none" dirty="0">
              <a:solidFill>
                <a:srgbClr val="222222"/>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550"/>
              <a:buFont typeface="Arial"/>
              <a:buNone/>
            </a:pPr>
            <a:endParaRPr sz="550" b="0" i="0" u="none" strike="noStrike" cap="none" dirty="0">
              <a:solidFill>
                <a:srgbClr val="222222"/>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1450"/>
              <a:buFont typeface="Arial"/>
              <a:buNone/>
            </a:pPr>
            <a:r>
              <a:rPr lang="en" sz="1450" b="0" i="0" u="none" strike="noStrike" cap="none" dirty="0">
                <a:solidFill>
                  <a:srgbClr val="222222"/>
                </a:solidFill>
                <a:highlight>
                  <a:srgbClr val="FFFFFF"/>
                </a:highlight>
                <a:latin typeface="Arial"/>
                <a:ea typeface="Arial"/>
                <a:cs typeface="Arial"/>
                <a:sym typeface="Arial"/>
              </a:rPr>
              <a:t>You can use the following attributes to fetch the data sent with the request:</a:t>
            </a:r>
            <a:endParaRPr sz="1450" b="0" i="0" u="none" strike="noStrike" cap="none" dirty="0">
              <a:solidFill>
                <a:srgbClr val="222222"/>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850"/>
              <a:buFont typeface="Arial"/>
              <a:buNone/>
            </a:pPr>
            <a:r>
              <a:rPr lang="en" sz="850" b="0" i="0" u="none" strike="noStrike" cap="none" dirty="0">
                <a:solidFill>
                  <a:srgbClr val="222222"/>
                </a:solidFill>
                <a:highlight>
                  <a:srgbClr val="FFFFFF"/>
                </a:highlight>
                <a:latin typeface="Arial"/>
                <a:ea typeface="Arial"/>
                <a:cs typeface="Arial"/>
                <a:sym typeface="Arial"/>
              </a:rPr>
              <a:t> </a:t>
            </a:r>
            <a:endParaRPr sz="8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000000"/>
              </a:buClr>
              <a:buSzPts val="1400"/>
              <a:buFont typeface="Arial"/>
              <a:buChar char="●"/>
            </a:pPr>
            <a:r>
              <a:rPr lang="en" sz="1300" b="0" i="0" u="none" strike="noStrike" cap="none" dirty="0">
                <a:solidFill>
                  <a:srgbClr val="292929"/>
                </a:solidFill>
                <a:highlight>
                  <a:srgbClr val="F2F2F2"/>
                </a:highlight>
                <a:latin typeface="Courier New"/>
                <a:ea typeface="Courier New"/>
                <a:cs typeface="Courier New"/>
                <a:sym typeface="Courier New"/>
              </a:rPr>
              <a:t>request.data</a:t>
            </a:r>
            <a:r>
              <a:rPr lang="en" sz="1450" b="0" i="0" u="none" strike="noStrike" cap="none" dirty="0">
                <a:solidFill>
                  <a:srgbClr val="222222"/>
                </a:solidFill>
                <a:highlight>
                  <a:srgbClr val="FFFFFF"/>
                </a:highlight>
                <a:latin typeface="Arial"/>
                <a:ea typeface="Arial"/>
                <a:cs typeface="Arial"/>
                <a:sym typeface="Arial"/>
              </a:rPr>
              <a:t> → Access incoming request data as string</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request.args</a:t>
            </a:r>
            <a:r>
              <a:rPr lang="en" sz="1450" b="0" i="0" u="none" strike="noStrike" cap="none" dirty="0">
                <a:solidFill>
                  <a:srgbClr val="222222"/>
                </a:solidFill>
                <a:highlight>
                  <a:srgbClr val="FFFFFF"/>
                </a:highlight>
                <a:latin typeface="Arial"/>
                <a:ea typeface="Arial"/>
                <a:cs typeface="Arial"/>
                <a:sym typeface="Arial"/>
              </a:rPr>
              <a:t> → Access the parsed URL parameters. Returns ImmutableMultiDict</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request.form</a:t>
            </a:r>
            <a:r>
              <a:rPr lang="en" sz="1450" b="0" i="0" u="none" strike="noStrike" cap="none" dirty="0">
                <a:solidFill>
                  <a:srgbClr val="222222"/>
                </a:solidFill>
                <a:highlight>
                  <a:srgbClr val="FFFFFF"/>
                </a:highlight>
                <a:latin typeface="Arial"/>
                <a:ea typeface="Arial"/>
                <a:cs typeface="Arial"/>
                <a:sym typeface="Arial"/>
              </a:rPr>
              <a:t> → Access the form parameters. Return ImmutableMultiDict</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request.values</a:t>
            </a:r>
            <a:r>
              <a:rPr lang="en" sz="1450" b="0" i="0" u="none" strike="noStrike" cap="none" dirty="0">
                <a:solidFill>
                  <a:srgbClr val="222222"/>
                </a:solidFill>
                <a:highlight>
                  <a:srgbClr val="FFFFFF"/>
                </a:highlight>
                <a:latin typeface="Arial"/>
                <a:ea typeface="Arial"/>
                <a:cs typeface="Arial"/>
                <a:sym typeface="Arial"/>
              </a:rPr>
              <a:t> → Returns CombinedMultiDict which combines args and form</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request.json</a:t>
            </a:r>
            <a:r>
              <a:rPr lang="en" sz="1450" b="0" i="0" u="none" strike="noStrike" cap="none" dirty="0">
                <a:solidFill>
                  <a:srgbClr val="222222"/>
                </a:solidFill>
                <a:highlight>
                  <a:srgbClr val="FFFFFF"/>
                </a:highlight>
                <a:latin typeface="Arial"/>
                <a:ea typeface="Arial"/>
                <a:cs typeface="Arial"/>
                <a:sym typeface="Arial"/>
              </a:rPr>
              <a:t> → Returns parsed JSON data if mimetype is application/json</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request.files</a:t>
            </a:r>
            <a:r>
              <a:rPr lang="en" sz="1450" b="0" i="0" u="none" strike="noStrike" cap="none" dirty="0">
                <a:solidFill>
                  <a:srgbClr val="222222"/>
                </a:solidFill>
                <a:highlight>
                  <a:srgbClr val="FFFFFF"/>
                </a:highlight>
                <a:latin typeface="Arial"/>
                <a:ea typeface="Arial"/>
                <a:cs typeface="Arial"/>
                <a:sym typeface="Arial"/>
              </a:rPr>
              <a:t> → Returns MultiDict object which contains all uploaded files. Each key is the name of the file and value is the FileStorage object.</a:t>
            </a:r>
            <a:endParaRPr sz="1450" b="0" i="0" u="none" strike="noStrike" cap="none" dirty="0">
              <a:solidFill>
                <a:srgbClr val="222222"/>
              </a:solidFill>
              <a:highlight>
                <a:srgbClr val="FFFFFF"/>
              </a:highlight>
              <a:latin typeface="Arial"/>
              <a:ea typeface="Arial"/>
              <a:cs typeface="Arial"/>
              <a:sym typeface="Arial"/>
            </a:endParaRPr>
          </a:p>
          <a:p>
            <a:pPr marL="457200" marR="190500" lvl="0" indent="-317500" algn="l" rtl="0">
              <a:lnSpc>
                <a:spcPct val="100000"/>
              </a:lnSpc>
              <a:spcBef>
                <a:spcPts val="0"/>
              </a:spcBef>
              <a:spcAft>
                <a:spcPts val="0"/>
              </a:spcAft>
              <a:buClr>
                <a:srgbClr val="222222"/>
              </a:buClr>
              <a:buSzPts val="1400"/>
              <a:buFont typeface="Arial"/>
              <a:buChar char="●"/>
            </a:pPr>
            <a:r>
              <a:rPr lang="en" sz="1300" b="0" i="0" u="none" strike="noStrike" cap="none" dirty="0">
                <a:solidFill>
                  <a:srgbClr val="222222"/>
                </a:solidFill>
                <a:highlight>
                  <a:srgbClr val="F2F2F2"/>
                </a:highlight>
                <a:latin typeface="Courier New"/>
                <a:ea typeface="Courier New"/>
                <a:cs typeface="Courier New"/>
                <a:sym typeface="Courier New"/>
              </a:rPr>
              <a:t>request.authorization</a:t>
            </a:r>
            <a:r>
              <a:rPr lang="en" sz="1450" b="0" i="0" u="none" strike="noStrike" cap="none" dirty="0">
                <a:solidFill>
                  <a:srgbClr val="222222"/>
                </a:solidFill>
                <a:highlight>
                  <a:srgbClr val="FFFFFF"/>
                </a:highlight>
                <a:latin typeface="Arial"/>
                <a:ea typeface="Arial"/>
                <a:cs typeface="Arial"/>
                <a:sym typeface="Arial"/>
              </a:rPr>
              <a:t> → Returns an object of </a:t>
            </a:r>
            <a:r>
              <a:rPr lang="en" sz="1450" b="0" i="0" u="none" strike="noStrike" cap="none" dirty="0">
                <a:solidFill>
                  <a:srgbClr val="222222"/>
                </a:solidFill>
                <a:highlight>
                  <a:srgbClr val="FFFFFF"/>
                </a:highlight>
                <a:uFill>
                  <a:noFill/>
                </a:uFill>
                <a:latin typeface="Arial"/>
                <a:ea typeface="Arial"/>
                <a:cs typeface="Arial"/>
                <a:sym typeface="Arial"/>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Authorization</a:t>
            </a:r>
            <a:r>
              <a:rPr lang="en" sz="1450" b="0" i="0" u="none" strike="noStrike" cap="none" dirty="0">
                <a:solidFill>
                  <a:srgbClr val="222222"/>
                </a:solidFill>
                <a:highlight>
                  <a:srgbClr val="FFFFFF"/>
                </a:highlight>
                <a:latin typeface="Arial"/>
                <a:ea typeface="Arial"/>
                <a:cs typeface="Arial"/>
                <a:sym typeface="Arial"/>
              </a:rPr>
              <a:t> class .It represents an Authorization header sent by the client.</a:t>
            </a:r>
            <a:endParaRPr sz="1450" b="0" i="0" u="none" strike="noStrike" cap="none" dirty="0">
              <a:solidFill>
                <a:srgbClr val="222222"/>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1350"/>
              <a:buFont typeface="Arial"/>
              <a:buNone/>
            </a:pPr>
            <a:endParaRPr sz="1350" b="0" i="0" u="none" strike="noStrike" cap="none" dirty="0">
              <a:solidFill>
                <a:srgbClr val="222222"/>
              </a:solidFill>
              <a:highlight>
                <a:srgbClr val="FFFFFF"/>
              </a:highlight>
              <a:latin typeface="Arial"/>
              <a:ea typeface="Arial"/>
              <a:cs typeface="Arial"/>
              <a:sym typeface="Aria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animEffect transition="in" filter="fade">
                                      <p:cBhvr>
                                        <p:cTn id="7" dur="1000"/>
                                        <p:tgtEl>
                                          <p:spTgt spid="3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5">
                                            <p:txEl>
                                              <p:pRg st="1" end="1"/>
                                            </p:txEl>
                                          </p:spTgt>
                                        </p:tgtEl>
                                        <p:attrNameLst>
                                          <p:attrName>style.visibility</p:attrName>
                                        </p:attrNameLst>
                                      </p:cBhvr>
                                      <p:to>
                                        <p:strVal val="visible"/>
                                      </p:to>
                                    </p:set>
                                    <p:animEffect transition="in" filter="fade">
                                      <p:cBhvr>
                                        <p:cTn id="12" dur="1000"/>
                                        <p:tgtEl>
                                          <p:spTgt spid="3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5">
                                            <p:txEl>
                                              <p:pRg st="2" end="2"/>
                                            </p:txEl>
                                          </p:spTgt>
                                        </p:tgtEl>
                                        <p:attrNameLst>
                                          <p:attrName>style.visibility</p:attrName>
                                        </p:attrNameLst>
                                      </p:cBhvr>
                                      <p:to>
                                        <p:strVal val="visible"/>
                                      </p:to>
                                    </p:set>
                                    <p:animEffect transition="in" filter="fade">
                                      <p:cBhvr>
                                        <p:cTn id="17" dur="1000"/>
                                        <p:tgtEl>
                                          <p:spTgt spid="3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5">
                                            <p:txEl>
                                              <p:pRg st="3" end="3"/>
                                            </p:txEl>
                                          </p:spTgt>
                                        </p:tgtEl>
                                        <p:attrNameLst>
                                          <p:attrName>style.visibility</p:attrName>
                                        </p:attrNameLst>
                                      </p:cBhvr>
                                      <p:to>
                                        <p:strVal val="visible"/>
                                      </p:to>
                                    </p:set>
                                    <p:animEffect transition="in" filter="fade">
                                      <p:cBhvr>
                                        <p:cTn id="22" dur="1000"/>
                                        <p:tgtEl>
                                          <p:spTgt spid="3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5">
                                            <p:txEl>
                                              <p:pRg st="4" end="4"/>
                                            </p:txEl>
                                          </p:spTgt>
                                        </p:tgtEl>
                                        <p:attrNameLst>
                                          <p:attrName>style.visibility</p:attrName>
                                        </p:attrNameLst>
                                      </p:cBhvr>
                                      <p:to>
                                        <p:strVal val="visible"/>
                                      </p:to>
                                    </p:set>
                                    <p:animEffect transition="in" filter="fade">
                                      <p:cBhvr>
                                        <p:cTn id="27" dur="1000"/>
                                        <p:tgtEl>
                                          <p:spTgt spid="3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5">
                                            <p:txEl>
                                              <p:pRg st="5" end="5"/>
                                            </p:txEl>
                                          </p:spTgt>
                                        </p:tgtEl>
                                        <p:attrNameLst>
                                          <p:attrName>style.visibility</p:attrName>
                                        </p:attrNameLst>
                                      </p:cBhvr>
                                      <p:to>
                                        <p:strVal val="visible"/>
                                      </p:to>
                                    </p:set>
                                    <p:animEffect transition="in" filter="fade">
                                      <p:cBhvr>
                                        <p:cTn id="32" dur="1000"/>
                                        <p:tgtEl>
                                          <p:spTgt spid="3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5">
                                            <p:txEl>
                                              <p:pRg st="6" end="6"/>
                                            </p:txEl>
                                          </p:spTgt>
                                        </p:tgtEl>
                                        <p:attrNameLst>
                                          <p:attrName>style.visibility</p:attrName>
                                        </p:attrNameLst>
                                      </p:cBhvr>
                                      <p:to>
                                        <p:strVal val="visible"/>
                                      </p:to>
                                    </p:set>
                                    <p:animEffect transition="in" filter="fade">
                                      <p:cBhvr>
                                        <p:cTn id="37" dur="1000"/>
                                        <p:tgtEl>
                                          <p:spTgt spid="3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5">
                                            <p:txEl>
                                              <p:pRg st="7" end="7"/>
                                            </p:txEl>
                                          </p:spTgt>
                                        </p:tgtEl>
                                        <p:attrNameLst>
                                          <p:attrName>style.visibility</p:attrName>
                                        </p:attrNameLst>
                                      </p:cBhvr>
                                      <p:to>
                                        <p:strVal val="visible"/>
                                      </p:to>
                                    </p:set>
                                    <p:animEffect transition="in" filter="fade">
                                      <p:cBhvr>
                                        <p:cTn id="42" dur="1000"/>
                                        <p:tgtEl>
                                          <p:spTgt spid="3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5">
                                            <p:txEl>
                                              <p:pRg st="8" end="8"/>
                                            </p:txEl>
                                          </p:spTgt>
                                        </p:tgtEl>
                                        <p:attrNameLst>
                                          <p:attrName>style.visibility</p:attrName>
                                        </p:attrNameLst>
                                      </p:cBhvr>
                                      <p:to>
                                        <p:strVal val="visible"/>
                                      </p:to>
                                    </p:set>
                                    <p:animEffect transition="in" filter="fade">
                                      <p:cBhvr>
                                        <p:cTn id="47" dur="1000"/>
                                        <p:tgtEl>
                                          <p:spTgt spid="3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95">
                                            <p:txEl>
                                              <p:pRg st="9" end="9"/>
                                            </p:txEl>
                                          </p:spTgt>
                                        </p:tgtEl>
                                        <p:attrNameLst>
                                          <p:attrName>style.visibility</p:attrName>
                                        </p:attrNameLst>
                                      </p:cBhvr>
                                      <p:to>
                                        <p:strVal val="visible"/>
                                      </p:to>
                                    </p:set>
                                    <p:animEffect transition="in" filter="fade">
                                      <p:cBhvr>
                                        <p:cTn id="52" dur="1000"/>
                                        <p:tgtEl>
                                          <p:spTgt spid="39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95">
                                            <p:txEl>
                                              <p:pRg st="10" end="10"/>
                                            </p:txEl>
                                          </p:spTgt>
                                        </p:tgtEl>
                                        <p:attrNameLst>
                                          <p:attrName>style.visibility</p:attrName>
                                        </p:attrNameLst>
                                      </p:cBhvr>
                                      <p:to>
                                        <p:strVal val="visible"/>
                                      </p:to>
                                    </p:set>
                                    <p:animEffect transition="in" filter="fade">
                                      <p:cBhvr>
                                        <p:cTn id="57" dur="1000"/>
                                        <p:tgtEl>
                                          <p:spTgt spid="39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95">
                                            <p:txEl>
                                              <p:pRg st="11" end="11"/>
                                            </p:txEl>
                                          </p:spTgt>
                                        </p:tgtEl>
                                        <p:attrNameLst>
                                          <p:attrName>style.visibility</p:attrName>
                                        </p:attrNameLst>
                                      </p:cBhvr>
                                      <p:to>
                                        <p:strVal val="visible"/>
                                      </p:to>
                                    </p:set>
                                    <p:animEffect transition="in" filter="fade">
                                      <p:cBhvr>
                                        <p:cTn id="62" dur="1000"/>
                                        <p:tgtEl>
                                          <p:spTgt spid="39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95">
                                            <p:txEl>
                                              <p:pRg st="12" end="12"/>
                                            </p:txEl>
                                          </p:spTgt>
                                        </p:tgtEl>
                                        <p:attrNameLst>
                                          <p:attrName>style.visibility</p:attrName>
                                        </p:attrNameLst>
                                      </p:cBhvr>
                                      <p:to>
                                        <p:strVal val="visible"/>
                                      </p:to>
                                    </p:set>
                                    <p:animEffect transition="in" filter="fade">
                                      <p:cBhvr>
                                        <p:cTn id="67" dur="1000"/>
                                        <p:tgtEl>
                                          <p:spTgt spid="39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95">
                                            <p:txEl>
                                              <p:pRg st="13" end="13"/>
                                            </p:txEl>
                                          </p:spTgt>
                                        </p:tgtEl>
                                        <p:attrNameLst>
                                          <p:attrName>style.visibility</p:attrName>
                                        </p:attrNameLst>
                                      </p:cBhvr>
                                      <p:to>
                                        <p:strVal val="visible"/>
                                      </p:to>
                                    </p:set>
                                    <p:animEffect transition="in" filter="fade">
                                      <p:cBhvr>
                                        <p:cTn id="72" dur="1000"/>
                                        <p:tgtEl>
                                          <p:spTgt spid="39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95">
                                            <p:txEl>
                                              <p:pRg st="14" end="14"/>
                                            </p:txEl>
                                          </p:spTgt>
                                        </p:tgtEl>
                                        <p:attrNameLst>
                                          <p:attrName>style.visibility</p:attrName>
                                        </p:attrNameLst>
                                      </p:cBhvr>
                                      <p:to>
                                        <p:strVal val="visible"/>
                                      </p:to>
                                    </p:set>
                                    <p:animEffect transition="in" filter="fade">
                                      <p:cBhvr>
                                        <p:cTn id="77" dur="1000"/>
                                        <p:tgtEl>
                                          <p:spTgt spid="39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ecc5717692_0_104"/>
          <p:cNvSpPr txBox="1"/>
          <p:nvPr/>
        </p:nvSpPr>
        <p:spPr>
          <a:xfrm>
            <a:off x="557550" y="767175"/>
            <a:ext cx="8090700" cy="1786500"/>
          </a:xfrm>
          <a:prstGeom prst="rect">
            <a:avLst/>
          </a:prstGeom>
          <a:noFill/>
          <a:ln>
            <a:noFill/>
          </a:ln>
        </p:spPr>
        <p:txBody>
          <a:bodyPr spcFirstLastPara="1" wrap="square" lIns="91425" tIns="91425" rIns="91425" bIns="91425" anchor="t" anchorCtr="0">
            <a:spAutoFit/>
          </a:bodyPr>
          <a:lstStyle/>
          <a:p>
            <a:pPr marL="0" marR="0" lvl="0" indent="0" algn="l" rtl="0">
              <a:lnSpc>
                <a:spcPct val="117391"/>
              </a:lnSpc>
              <a:spcBef>
                <a:spcPts val="2900"/>
              </a:spcBef>
              <a:spcAft>
                <a:spcPts val="0"/>
              </a:spcAft>
              <a:buClr>
                <a:srgbClr val="000000"/>
              </a:buClr>
              <a:buSzPts val="2050"/>
              <a:buFont typeface="Arial"/>
              <a:buNone/>
            </a:pPr>
            <a:r>
              <a:rPr lang="en" sz="2050" b="1" i="0" u="none" strike="noStrike" cap="none">
                <a:solidFill>
                  <a:srgbClr val="EF4F63"/>
                </a:solidFill>
                <a:highlight>
                  <a:srgbClr val="FFFFFF"/>
                </a:highlight>
                <a:latin typeface="Arial"/>
                <a:ea typeface="Arial"/>
                <a:cs typeface="Arial"/>
                <a:sym typeface="Arial"/>
              </a:rPr>
              <a:t>Building REST api with CRUD using flask</a:t>
            </a:r>
            <a:endParaRPr sz="2350" b="0" i="0" u="none" strike="noStrike" cap="none">
              <a:solidFill>
                <a:srgbClr val="292929"/>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1450"/>
              <a:buFont typeface="Arial"/>
              <a:buNone/>
            </a:pPr>
            <a:r>
              <a:rPr lang="en" sz="1450" b="0" i="0" u="none" strike="noStrike" cap="none">
                <a:solidFill>
                  <a:srgbClr val="222222"/>
                </a:solidFill>
                <a:highlight>
                  <a:srgbClr val="FFFFFF"/>
                </a:highlight>
                <a:latin typeface="Arial"/>
                <a:ea typeface="Arial"/>
                <a:cs typeface="Arial"/>
                <a:sym typeface="Arial"/>
              </a:rPr>
              <a:t>Build a todo list api to get, insert, delete and update </a:t>
            </a:r>
            <a:r>
              <a:rPr lang="en" sz="1450" b="0" i="1" u="none" strike="noStrike" cap="none">
                <a:solidFill>
                  <a:srgbClr val="222222"/>
                </a:solidFill>
                <a:highlight>
                  <a:srgbClr val="ECEFF1"/>
                </a:highlight>
                <a:latin typeface="Arial"/>
                <a:ea typeface="Arial"/>
                <a:cs typeface="Arial"/>
                <a:sym typeface="Arial"/>
              </a:rPr>
              <a:t>todo list.</a:t>
            </a:r>
            <a:endParaRPr sz="1450" b="0" i="0" u="none" strike="noStrike" cap="none">
              <a:solidFill>
                <a:srgbClr val="222222"/>
              </a:solidFill>
              <a:highlight>
                <a:srgbClr val="FFFFFF"/>
              </a:highlight>
              <a:latin typeface="Arial"/>
              <a:ea typeface="Arial"/>
              <a:cs typeface="Arial"/>
              <a:sym typeface="Arial"/>
            </a:endParaRPr>
          </a:p>
          <a:p>
            <a:pPr marL="0" marR="190500" lvl="0" indent="0" algn="l" rtl="0">
              <a:lnSpc>
                <a:spcPct val="100000"/>
              </a:lnSpc>
              <a:spcBef>
                <a:spcPts val="0"/>
              </a:spcBef>
              <a:spcAft>
                <a:spcPts val="0"/>
              </a:spcAft>
              <a:buClr>
                <a:srgbClr val="000000"/>
              </a:buClr>
              <a:buSzPts val="750"/>
              <a:buFont typeface="Arial"/>
              <a:buNone/>
            </a:pPr>
            <a:r>
              <a:rPr lang="en" sz="750" b="0" i="0" u="none" strike="noStrike" cap="none">
                <a:solidFill>
                  <a:srgbClr val="222222"/>
                </a:solidFill>
                <a:highlight>
                  <a:srgbClr val="FFFFFF"/>
                </a:highlight>
                <a:latin typeface="Arial"/>
                <a:ea typeface="Arial"/>
                <a:cs typeface="Arial"/>
                <a:sym typeface="Arial"/>
              </a:rPr>
              <a:t> </a:t>
            </a:r>
            <a:endParaRPr sz="750" b="0" i="0" u="none" strike="noStrike" cap="none">
              <a:solidFill>
                <a:srgbClr val="222222"/>
              </a:solidFill>
              <a:highlight>
                <a:srgbClr val="FFFFFF"/>
              </a:highlight>
              <a:latin typeface="Arial"/>
              <a:ea typeface="Arial"/>
              <a:cs typeface="Arial"/>
              <a:sym typeface="Arial"/>
            </a:endParaRPr>
          </a:p>
          <a:p>
            <a:pPr marL="457200" marR="190500" lvl="0" indent="-320675" algn="l" rtl="0">
              <a:lnSpc>
                <a:spcPct val="100000"/>
              </a:lnSpc>
              <a:spcBef>
                <a:spcPts val="0"/>
              </a:spcBef>
              <a:spcAft>
                <a:spcPts val="0"/>
              </a:spcAft>
              <a:buClr>
                <a:srgbClr val="222222"/>
              </a:buClr>
              <a:buSzPts val="1450"/>
              <a:buFont typeface="Arial"/>
              <a:buChar char="●"/>
            </a:pPr>
            <a:r>
              <a:rPr lang="en" sz="1450" b="0" i="0" u="none" strike="noStrike" cap="none">
                <a:solidFill>
                  <a:srgbClr val="222222"/>
                </a:solidFill>
                <a:highlight>
                  <a:srgbClr val="FFFFFF"/>
                </a:highlight>
                <a:latin typeface="Arial"/>
                <a:ea typeface="Arial"/>
                <a:cs typeface="Arial"/>
                <a:sym typeface="Arial"/>
              </a:rPr>
              <a:t>API should be easy to upgrade to a new version/release, for that will will include versioning in defining api endpoints. E.g </a:t>
            </a:r>
            <a:r>
              <a:rPr lang="en" sz="1450" b="0" i="1" u="none" strike="noStrike" cap="none">
                <a:solidFill>
                  <a:srgbClr val="222222"/>
                </a:solidFill>
                <a:highlight>
                  <a:srgbClr val="ECEFF1"/>
                </a:highlight>
                <a:latin typeface="Arial"/>
                <a:ea typeface="Arial"/>
                <a:cs typeface="Arial"/>
                <a:sym typeface="Arial"/>
              </a:rPr>
              <a:t>/todo/api/v1/tasks </a:t>
            </a:r>
            <a:endParaRPr sz="1450" b="0" i="1" u="none" strike="noStrike" cap="none">
              <a:solidFill>
                <a:srgbClr val="222222"/>
              </a:solidFill>
              <a:highlight>
                <a:srgbClr val="ECEFF1"/>
              </a:highlight>
              <a:latin typeface="Arial"/>
              <a:ea typeface="Arial"/>
              <a:cs typeface="Arial"/>
              <a:sym typeface="Arial"/>
            </a:endParaRPr>
          </a:p>
          <a:p>
            <a:pPr marL="457200" marR="190500" lvl="0" indent="0" algn="l" rtl="0">
              <a:lnSpc>
                <a:spcPct val="100000"/>
              </a:lnSpc>
              <a:spcBef>
                <a:spcPts val="0"/>
              </a:spcBef>
              <a:spcAft>
                <a:spcPts val="0"/>
              </a:spcAft>
              <a:buClr>
                <a:srgbClr val="000000"/>
              </a:buClr>
              <a:buSzPts val="1450"/>
              <a:buFont typeface="Arial"/>
              <a:buNone/>
            </a:pPr>
            <a:endParaRPr sz="1450" b="0" i="0" u="none" strike="noStrike" cap="none">
              <a:solidFill>
                <a:srgbClr val="222222"/>
              </a:solidFill>
              <a:highlight>
                <a:srgbClr val="FFFFFF"/>
              </a:highlight>
              <a:latin typeface="Arial"/>
              <a:ea typeface="Arial"/>
              <a:cs typeface="Arial"/>
              <a:sym typeface="Arial"/>
            </a:endParaRPr>
          </a:p>
          <a:p>
            <a:pPr marL="457200" marR="190500" lvl="0" indent="-320675" algn="l" rtl="0">
              <a:lnSpc>
                <a:spcPct val="100000"/>
              </a:lnSpc>
              <a:spcBef>
                <a:spcPts val="0"/>
              </a:spcBef>
              <a:spcAft>
                <a:spcPts val="0"/>
              </a:spcAft>
              <a:buClr>
                <a:srgbClr val="222222"/>
              </a:buClr>
              <a:buSzPts val="1450"/>
              <a:buFont typeface="Arial"/>
              <a:buChar char="●"/>
            </a:pPr>
            <a:r>
              <a:rPr lang="en" sz="1450" b="0" i="0" u="none" strike="noStrike" cap="none">
                <a:solidFill>
                  <a:srgbClr val="222222"/>
                </a:solidFill>
                <a:highlight>
                  <a:srgbClr val="FFFFFF"/>
                </a:highlight>
                <a:latin typeface="Arial"/>
                <a:ea typeface="Arial"/>
                <a:cs typeface="Arial"/>
                <a:sym typeface="Arial"/>
              </a:rPr>
              <a:t>Test api after development using postman</a:t>
            </a:r>
            <a:endParaRPr sz="1450" b="0" i="1" u="none" strike="noStrike" cap="none">
              <a:solidFill>
                <a:srgbClr val="222222"/>
              </a:solidFill>
              <a:highlight>
                <a:srgbClr val="ECEFF1"/>
              </a:highlight>
              <a:latin typeface="Arial"/>
              <a:ea typeface="Arial"/>
              <a:cs typeface="Arial"/>
              <a:sym typeface="Arial"/>
            </a:endParaRPr>
          </a:p>
        </p:txBody>
      </p:sp>
      <p:sp>
        <p:nvSpPr>
          <p:cNvPr id="401" name="Google Shape;401;gecc5717692_0_104"/>
          <p:cNvSpPr txBox="1"/>
          <p:nvPr/>
        </p:nvSpPr>
        <p:spPr>
          <a:xfrm>
            <a:off x="557550" y="795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Build api using Flask Framework</a:t>
            </a:r>
            <a:endParaRPr sz="3000" b="1" i="0" u="none" strike="noStrike" cap="none">
              <a:solidFill>
                <a:srgbClr val="0091EA"/>
              </a:solidFill>
              <a:latin typeface="Roboto Slab"/>
              <a:ea typeface="Roboto Slab"/>
              <a:cs typeface="Roboto Slab"/>
              <a:sym typeface="Roboto Slab"/>
            </a:endParaRPr>
          </a:p>
        </p:txBody>
      </p:sp>
      <p:sp>
        <p:nvSpPr>
          <p:cNvPr id="402" name="Google Shape;402;gecc5717692_0_104"/>
          <p:cNvSpPr txBox="1"/>
          <p:nvPr/>
        </p:nvSpPr>
        <p:spPr>
          <a:xfrm>
            <a:off x="81757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41</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e252f61ace_0_48"/>
          <p:cNvSpPr txBox="1">
            <a:spLocks noGrp="1"/>
          </p:cNvSpPr>
          <p:nvPr>
            <p:ph type="ctrTitle"/>
          </p:nvPr>
        </p:nvSpPr>
        <p:spPr>
          <a:xfrm>
            <a:off x="1546025" y="1868978"/>
            <a:ext cx="5832600" cy="17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endParaRPr sz="6000" dirty="0">
              <a:solidFill>
                <a:schemeClr val="accent4"/>
              </a:solidFill>
            </a:endParaRPr>
          </a:p>
          <a:p>
            <a:pPr marL="0" lvl="0" indent="0" algn="l" rtl="0">
              <a:lnSpc>
                <a:spcPct val="100000"/>
              </a:lnSpc>
              <a:spcBef>
                <a:spcPts val="0"/>
              </a:spcBef>
              <a:spcAft>
                <a:spcPts val="0"/>
              </a:spcAft>
              <a:buSzPts val="4400"/>
              <a:buNone/>
            </a:pPr>
            <a:r>
              <a:rPr lang="en" sz="3600" dirty="0"/>
              <a:t>Authentication for apis and Oauth 2.0 flow python</a:t>
            </a:r>
            <a:endParaRPr sz="3600" dirty="0"/>
          </a:p>
        </p:txBody>
      </p:sp>
      <p:sp>
        <p:nvSpPr>
          <p:cNvPr id="235" name="Google Shape;235;ge252f61ace_0_48"/>
          <p:cNvSpPr txBox="1">
            <a:spLocks noGrp="1"/>
          </p:cNvSpPr>
          <p:nvPr>
            <p:ph type="sldNum" idx="4294967295"/>
          </p:nvPr>
        </p:nvSpPr>
        <p:spPr>
          <a:xfrm>
            <a:off x="8404384" y="54356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e252f61ace_0_54"/>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Methods to Authentication REST API</a:t>
            </a:r>
            <a:endParaRPr sz="3000" b="1" i="0" u="none" strike="noStrike" cap="none">
              <a:solidFill>
                <a:srgbClr val="0091EA"/>
              </a:solidFill>
              <a:latin typeface="Roboto Slab"/>
              <a:ea typeface="Roboto Slab"/>
              <a:cs typeface="Roboto Slab"/>
              <a:sym typeface="Roboto Slab"/>
            </a:endParaRPr>
          </a:p>
        </p:txBody>
      </p:sp>
      <p:sp>
        <p:nvSpPr>
          <p:cNvPr id="241" name="Google Shape;241;ge252f61ace_0_54"/>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43</a:t>
            </a:fld>
            <a:endParaRPr sz="1300" b="1" i="0" u="none" strike="noStrike" cap="none">
              <a:solidFill>
                <a:srgbClr val="0091EA"/>
              </a:solidFill>
              <a:latin typeface="Arial"/>
              <a:ea typeface="Arial"/>
              <a:cs typeface="Arial"/>
              <a:sym typeface="Arial"/>
            </a:endParaRPr>
          </a:p>
        </p:txBody>
      </p:sp>
      <p:sp>
        <p:nvSpPr>
          <p:cNvPr id="242" name="Google Shape;242;ge252f61ace_0_54"/>
          <p:cNvSpPr txBox="1"/>
          <p:nvPr/>
        </p:nvSpPr>
        <p:spPr>
          <a:xfrm>
            <a:off x="786150" y="1109300"/>
            <a:ext cx="7571700" cy="38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1" i="0" u="none" strike="noStrike" cap="none">
                <a:solidFill>
                  <a:srgbClr val="2E2E2E"/>
                </a:solidFill>
                <a:highlight>
                  <a:srgbClr val="FFFFFF"/>
                </a:highlight>
                <a:latin typeface="Arial"/>
                <a:ea typeface="Arial"/>
                <a:cs typeface="Arial"/>
                <a:sym typeface="Arial"/>
              </a:rPr>
              <a:t>HTTP Authentication Schemes</a:t>
            </a:r>
            <a:br>
              <a:rPr lang="en" sz="2100" b="1" i="0" u="none" strike="noStrike" cap="none">
                <a:solidFill>
                  <a:srgbClr val="2E2E2E"/>
                </a:solidFill>
                <a:highlight>
                  <a:srgbClr val="FFFFFF"/>
                </a:highlight>
                <a:latin typeface="Arial"/>
                <a:ea typeface="Arial"/>
                <a:cs typeface="Arial"/>
                <a:sym typeface="Arial"/>
              </a:rPr>
            </a:br>
            <a:endParaRPr sz="2250" b="0" i="0" u="none" strike="noStrike" cap="none">
              <a:solidFill>
                <a:srgbClr val="EF4F63"/>
              </a:solidFill>
              <a:highlight>
                <a:srgbClr val="FFFFFF"/>
              </a:highlight>
              <a:latin typeface="Merriweather"/>
              <a:ea typeface="Merriweather"/>
              <a:cs typeface="Merriweather"/>
              <a:sym typeface="Merriweather"/>
            </a:endParaRPr>
          </a:p>
          <a:p>
            <a:pPr marL="457200" marR="0" lvl="0" indent="-371475" algn="l" rtl="0">
              <a:lnSpc>
                <a:spcPct val="100000"/>
              </a:lnSpc>
              <a:spcBef>
                <a:spcPts val="500"/>
              </a:spcBef>
              <a:spcAft>
                <a:spcPts val="0"/>
              </a:spcAft>
              <a:buClr>
                <a:srgbClr val="3A4145"/>
              </a:buClr>
              <a:buSzPts val="2250"/>
              <a:buFont typeface="Merriweather"/>
              <a:buChar char="●"/>
            </a:pPr>
            <a:r>
              <a:rPr lang="en" sz="2250" b="0" i="0" u="none" strike="noStrike" cap="none">
                <a:solidFill>
                  <a:srgbClr val="EF4F63"/>
                </a:solidFill>
                <a:highlight>
                  <a:srgbClr val="FFFFFF"/>
                </a:highlight>
                <a:latin typeface="Merriweather"/>
                <a:ea typeface="Merriweather"/>
                <a:cs typeface="Merriweather"/>
                <a:sym typeface="Merriweather"/>
              </a:rPr>
              <a:t>Basic</a:t>
            </a:r>
            <a:br>
              <a:rPr lang="en" sz="2250" b="0" i="0" u="none" strike="noStrike" cap="none">
                <a:solidFill>
                  <a:srgbClr val="EF4F63"/>
                </a:solidFill>
                <a:highlight>
                  <a:srgbClr val="FFFFFF"/>
                </a:highlight>
                <a:latin typeface="Merriweather"/>
                <a:ea typeface="Merriweather"/>
                <a:cs typeface="Merriweather"/>
                <a:sym typeface="Merriweather"/>
              </a:rPr>
            </a:br>
            <a:endParaRPr sz="2250" b="0" i="0" u="none" strike="noStrike" cap="none">
              <a:solidFill>
                <a:srgbClr val="EF4F63"/>
              </a:solidFill>
              <a:highlight>
                <a:srgbClr val="FFFFFF"/>
              </a:highlight>
              <a:latin typeface="Merriweather"/>
              <a:ea typeface="Merriweather"/>
              <a:cs typeface="Merriweather"/>
              <a:sym typeface="Merriweather"/>
            </a:endParaRPr>
          </a:p>
          <a:p>
            <a:pPr marL="457200" marR="0" lvl="0" indent="-371475" algn="l" rtl="0">
              <a:lnSpc>
                <a:spcPct val="100000"/>
              </a:lnSpc>
              <a:spcBef>
                <a:spcPts val="0"/>
              </a:spcBef>
              <a:spcAft>
                <a:spcPts val="0"/>
              </a:spcAft>
              <a:buClr>
                <a:srgbClr val="3A4145"/>
              </a:buClr>
              <a:buSzPts val="2250"/>
              <a:buFont typeface="Merriweather"/>
              <a:buChar char="●"/>
            </a:pPr>
            <a:r>
              <a:rPr lang="en" sz="2250" b="0" i="0" u="none" strike="noStrike" cap="none">
                <a:solidFill>
                  <a:srgbClr val="EF4F63"/>
                </a:solidFill>
                <a:highlight>
                  <a:srgbClr val="FFFFFF"/>
                </a:highlight>
                <a:latin typeface="Merriweather"/>
                <a:ea typeface="Merriweather"/>
                <a:cs typeface="Merriweather"/>
                <a:sym typeface="Merriweather"/>
              </a:rPr>
              <a:t>Bearer</a:t>
            </a:r>
            <a:br>
              <a:rPr lang="en" sz="2250" b="0" i="0" u="none" strike="noStrike" cap="none">
                <a:solidFill>
                  <a:srgbClr val="EF4F63"/>
                </a:solidFill>
                <a:highlight>
                  <a:srgbClr val="FFFFFF"/>
                </a:highlight>
                <a:latin typeface="Merriweather"/>
                <a:ea typeface="Merriweather"/>
                <a:cs typeface="Merriweather"/>
                <a:sym typeface="Merriweather"/>
              </a:rPr>
            </a:br>
            <a:endParaRPr sz="2250" b="0" i="0" u="none" strike="noStrike" cap="none">
              <a:solidFill>
                <a:srgbClr val="3A4145"/>
              </a:solidFill>
              <a:highlight>
                <a:srgbClr val="FFFFFF"/>
              </a:highlight>
              <a:latin typeface="Merriweather"/>
              <a:ea typeface="Merriweather"/>
              <a:cs typeface="Merriweather"/>
              <a:sym typeface="Merriweather"/>
            </a:endParaRPr>
          </a:p>
          <a:p>
            <a:pPr marL="457200" marR="0" lvl="0" indent="-371475" algn="l" rtl="0">
              <a:lnSpc>
                <a:spcPct val="100000"/>
              </a:lnSpc>
              <a:spcBef>
                <a:spcPts val="0"/>
              </a:spcBef>
              <a:spcAft>
                <a:spcPts val="0"/>
              </a:spcAft>
              <a:buClr>
                <a:srgbClr val="3A4145"/>
              </a:buClr>
              <a:buSzPts val="2250"/>
              <a:buFont typeface="Merriweather"/>
              <a:buChar char="●"/>
            </a:pPr>
            <a:r>
              <a:rPr lang="en" sz="2250" b="0" i="0" u="none" strike="noStrike" cap="none">
                <a:solidFill>
                  <a:srgbClr val="EF4F63"/>
                </a:solidFill>
                <a:highlight>
                  <a:srgbClr val="FFFFFF"/>
                </a:highlight>
                <a:latin typeface="Merriweather"/>
                <a:ea typeface="Merriweather"/>
                <a:cs typeface="Merriweather"/>
                <a:sym typeface="Merriweather"/>
              </a:rPr>
              <a:t>Api keys</a:t>
            </a:r>
            <a:br>
              <a:rPr lang="en" sz="2250" b="0" i="0" u="none" strike="noStrike" cap="none">
                <a:solidFill>
                  <a:srgbClr val="EF4F63"/>
                </a:solidFill>
                <a:highlight>
                  <a:srgbClr val="FFFFFF"/>
                </a:highlight>
                <a:latin typeface="Merriweather"/>
                <a:ea typeface="Merriweather"/>
                <a:cs typeface="Merriweather"/>
                <a:sym typeface="Merriweather"/>
              </a:rPr>
            </a:br>
            <a:endParaRPr sz="2250" b="0" i="0" u="none" strike="noStrike" cap="none">
              <a:solidFill>
                <a:srgbClr val="3A4145"/>
              </a:solidFill>
              <a:highlight>
                <a:srgbClr val="FFFFFF"/>
              </a:highlight>
              <a:latin typeface="Merriweather"/>
              <a:ea typeface="Merriweather"/>
              <a:cs typeface="Merriweather"/>
              <a:sym typeface="Merriweather"/>
            </a:endParaRPr>
          </a:p>
          <a:p>
            <a:pPr marL="457200" marR="0" lvl="0" indent="-371475" algn="l" rtl="0">
              <a:lnSpc>
                <a:spcPct val="100000"/>
              </a:lnSpc>
              <a:spcBef>
                <a:spcPts val="0"/>
              </a:spcBef>
              <a:spcAft>
                <a:spcPts val="0"/>
              </a:spcAft>
              <a:buClr>
                <a:srgbClr val="3A4145"/>
              </a:buClr>
              <a:buSzPts val="2250"/>
              <a:buFont typeface="Merriweather"/>
              <a:buChar char="●"/>
            </a:pPr>
            <a:r>
              <a:rPr lang="en" sz="2250" b="0" i="0" u="none" strike="noStrike" cap="none">
                <a:solidFill>
                  <a:srgbClr val="EF4F63"/>
                </a:solidFill>
                <a:highlight>
                  <a:srgbClr val="FFFFFF"/>
                </a:highlight>
                <a:latin typeface="Merriweather"/>
                <a:ea typeface="Merriweather"/>
                <a:cs typeface="Merriweather"/>
                <a:sym typeface="Merriweather"/>
              </a:rPr>
              <a:t>OAuth</a:t>
            </a:r>
            <a:endParaRPr sz="2600" b="0" i="0" u="none" strike="noStrike" cap="none">
              <a:solidFill>
                <a:srgbClr val="263238"/>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xEl>
                                              <p:pRg st="0" end="0"/>
                                            </p:txEl>
                                          </p:spTgt>
                                        </p:tgtEl>
                                        <p:attrNameLst>
                                          <p:attrName>style.visibility</p:attrName>
                                        </p:attrNameLst>
                                      </p:cBhvr>
                                      <p:to>
                                        <p:strVal val="visible"/>
                                      </p:to>
                                    </p:set>
                                    <p:animEffect transition="in" filter="fade">
                                      <p:cBhvr>
                                        <p:cTn id="7" dur="1000"/>
                                        <p:tgtEl>
                                          <p:spTgt spid="2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2">
                                            <p:txEl>
                                              <p:pRg st="1" end="1"/>
                                            </p:txEl>
                                          </p:spTgt>
                                        </p:tgtEl>
                                        <p:attrNameLst>
                                          <p:attrName>style.visibility</p:attrName>
                                        </p:attrNameLst>
                                      </p:cBhvr>
                                      <p:to>
                                        <p:strVal val="visible"/>
                                      </p:to>
                                    </p:set>
                                    <p:animEffect transition="in" filter="fade">
                                      <p:cBhvr>
                                        <p:cTn id="12" dur="1000"/>
                                        <p:tgtEl>
                                          <p:spTgt spid="2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
                                            <p:txEl>
                                              <p:pRg st="2" end="2"/>
                                            </p:txEl>
                                          </p:spTgt>
                                        </p:tgtEl>
                                        <p:attrNameLst>
                                          <p:attrName>style.visibility</p:attrName>
                                        </p:attrNameLst>
                                      </p:cBhvr>
                                      <p:to>
                                        <p:strVal val="visible"/>
                                      </p:to>
                                    </p:set>
                                    <p:animEffect transition="in" filter="fade">
                                      <p:cBhvr>
                                        <p:cTn id="17" dur="1000"/>
                                        <p:tgtEl>
                                          <p:spTgt spid="2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2">
                                            <p:txEl>
                                              <p:pRg st="3" end="3"/>
                                            </p:txEl>
                                          </p:spTgt>
                                        </p:tgtEl>
                                        <p:attrNameLst>
                                          <p:attrName>style.visibility</p:attrName>
                                        </p:attrNameLst>
                                      </p:cBhvr>
                                      <p:to>
                                        <p:strVal val="visible"/>
                                      </p:to>
                                    </p:set>
                                    <p:animEffect transition="in" filter="fade">
                                      <p:cBhvr>
                                        <p:cTn id="22" dur="1000"/>
                                        <p:tgtEl>
                                          <p:spTgt spid="2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2">
                                            <p:txEl>
                                              <p:pRg st="4" end="4"/>
                                            </p:txEl>
                                          </p:spTgt>
                                        </p:tgtEl>
                                        <p:attrNameLst>
                                          <p:attrName>style.visibility</p:attrName>
                                        </p:attrNameLst>
                                      </p:cBhvr>
                                      <p:to>
                                        <p:strVal val="visible"/>
                                      </p:to>
                                    </p:set>
                                    <p:animEffect transition="in" filter="fade">
                                      <p:cBhvr>
                                        <p:cTn id="27" dur="1000"/>
                                        <p:tgtEl>
                                          <p:spTgt spid="2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e185968441_0_11"/>
          <p:cNvSpPr txBox="1"/>
          <p:nvPr/>
        </p:nvSpPr>
        <p:spPr>
          <a:xfrm>
            <a:off x="557550" y="2819450"/>
            <a:ext cx="7534800" cy="220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500"/>
              </a:spcBef>
              <a:spcAft>
                <a:spcPts val="4800"/>
              </a:spcAft>
              <a:buClr>
                <a:srgbClr val="000000"/>
              </a:buClr>
              <a:buSzPts val="1250"/>
              <a:buFont typeface="Arial"/>
              <a:buNone/>
            </a:pPr>
            <a:r>
              <a:rPr lang="en" sz="1250" b="0" i="0" u="none" strike="noStrike" cap="none" dirty="0">
                <a:solidFill>
                  <a:srgbClr val="3A4145"/>
                </a:solidFill>
                <a:highlight>
                  <a:srgbClr val="FFFFFF"/>
                </a:highlight>
                <a:latin typeface="Merriweather"/>
                <a:ea typeface="Merriweather"/>
                <a:cs typeface="Merriweather"/>
                <a:sym typeface="Merriweather"/>
              </a:rPr>
              <a:t>Using Python </a:t>
            </a:r>
            <a:r>
              <a:rPr lang="en" sz="1250" b="0" i="0" u="none" strike="noStrike" cap="none" dirty="0">
                <a:solidFill>
                  <a:srgbClr val="3A4145"/>
                </a:solidFill>
                <a:highlight>
                  <a:schemeClr val="lt2"/>
                </a:highlight>
                <a:latin typeface="Roboto Mono Light"/>
                <a:ea typeface="Roboto Mono Light"/>
                <a:cs typeface="Roboto Mono Light"/>
                <a:sym typeface="Roboto Mono Light"/>
              </a:rPr>
              <a:t>requests</a:t>
            </a:r>
            <a:br>
              <a:rPr lang="en" sz="1250" b="0" i="0" u="none" strike="noStrike" cap="none" dirty="0">
                <a:solidFill>
                  <a:srgbClr val="3A4145"/>
                </a:solidFill>
                <a:highlight>
                  <a:schemeClr val="lt2"/>
                </a:highlight>
                <a:latin typeface="Roboto Mono Light"/>
                <a:ea typeface="Roboto Mono Light"/>
                <a:cs typeface="Roboto Mono Light"/>
                <a:sym typeface="Roboto Mono Light"/>
              </a:rPr>
            </a:br>
            <a:r>
              <a:rPr lang="en" sz="900" b="1" i="0" u="none" strike="noStrike" cap="none" dirty="0">
                <a:solidFill>
                  <a:srgbClr val="008000"/>
                </a:solidFill>
                <a:highlight>
                  <a:srgbClr val="FFFFFF"/>
                </a:highlight>
                <a:latin typeface="Courier New"/>
                <a:ea typeface="Courier New"/>
                <a:cs typeface="Courier New"/>
                <a:sym typeface="Courier New"/>
              </a:rPr>
              <a:t/>
            </a:r>
            <a:br>
              <a:rPr lang="en" sz="900" b="1" i="0" u="none" strike="noStrike" cap="none" dirty="0">
                <a:solidFill>
                  <a:srgbClr val="008000"/>
                </a:solidFill>
                <a:highlight>
                  <a:srgbClr val="FFFFFF"/>
                </a:highlight>
                <a:latin typeface="Courier New"/>
                <a:ea typeface="Courier New"/>
                <a:cs typeface="Courier New"/>
                <a:sym typeface="Courier New"/>
              </a:rPr>
            </a:br>
            <a:r>
              <a:rPr lang="en" sz="1000" b="1" i="0" u="none" strike="noStrike" cap="none" dirty="0">
                <a:solidFill>
                  <a:srgbClr val="008000"/>
                </a:solidFill>
                <a:highlight>
                  <a:srgbClr val="FFFFFF"/>
                </a:highlight>
                <a:latin typeface="Courier New"/>
                <a:ea typeface="Courier New"/>
                <a:cs typeface="Courier New"/>
                <a:sym typeface="Courier New"/>
              </a:rPr>
              <a:t># Basic with Pythonic</a:t>
            </a:r>
            <a:br>
              <a:rPr lang="en" sz="1000" b="1" i="0" u="none" strike="noStrike" cap="none" dirty="0">
                <a:solidFill>
                  <a:srgbClr val="008000"/>
                </a:solidFill>
                <a:highlight>
                  <a:srgbClr val="FFFFFF"/>
                </a:highlight>
                <a:latin typeface="Courier New"/>
                <a:ea typeface="Courier New"/>
                <a:cs typeface="Courier New"/>
                <a:sym typeface="Courier New"/>
              </a:rPr>
            </a:br>
            <a:r>
              <a:rPr lang="en" sz="1000" b="1" i="0" u="none" strike="noStrike" cap="none" dirty="0">
                <a:solidFill>
                  <a:srgbClr val="AF00DB"/>
                </a:solidFill>
                <a:highlight>
                  <a:srgbClr val="FFFFFF"/>
                </a:highlight>
                <a:latin typeface="Courier New"/>
                <a:ea typeface="Courier New"/>
                <a:cs typeface="Courier New"/>
                <a:sym typeface="Courier New"/>
              </a:rPr>
              <a:t>import</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267F99"/>
                </a:solidFill>
                <a:highlight>
                  <a:srgbClr val="FFFFFF"/>
                </a:highlight>
                <a:latin typeface="Courier New"/>
                <a:ea typeface="Courier New"/>
                <a:cs typeface="Courier New"/>
                <a:sym typeface="Courier New"/>
              </a:rPr>
              <a:t>requests</a:t>
            </a:r>
            <a:br>
              <a:rPr lang="en" sz="1000" b="1" i="0" u="none" strike="noStrike" cap="none" dirty="0">
                <a:solidFill>
                  <a:srgbClr val="267F99"/>
                </a:solidFill>
                <a:highlight>
                  <a:srgbClr val="FFFFFF"/>
                </a:highlight>
                <a:latin typeface="Courier New"/>
                <a:ea typeface="Courier New"/>
                <a:cs typeface="Courier New"/>
                <a:sym typeface="Courier New"/>
              </a:rPr>
            </a:br>
            <a:r>
              <a:rPr lang="en" sz="1000" b="1" i="0" u="none" strike="noStrike" cap="none" dirty="0">
                <a:solidFill>
                  <a:srgbClr val="001080"/>
                </a:solidFill>
                <a:highlight>
                  <a:srgbClr val="FFFFFF"/>
                </a:highlight>
                <a:latin typeface="Courier New"/>
                <a:ea typeface="Courier New"/>
                <a:cs typeface="Courier New"/>
                <a:sym typeface="Courier New"/>
              </a:rPr>
              <a:t>r</a:t>
            </a:r>
            <a:r>
              <a:rPr lang="en" sz="1000" b="1" i="0" u="none" strike="noStrike" cap="none" dirty="0">
                <a:solidFill>
                  <a:srgbClr val="000000"/>
                </a:solidFill>
                <a:highlight>
                  <a:srgbClr val="FFFFFF"/>
                </a:highlight>
                <a:latin typeface="Courier New"/>
                <a:ea typeface="Courier New"/>
                <a:cs typeface="Courier New"/>
                <a:sym typeface="Courier New"/>
              </a:rPr>
              <a:t> = </a:t>
            </a:r>
            <a:r>
              <a:rPr lang="en" sz="1000" b="1" i="0" u="none" strike="noStrike" cap="none" dirty="0">
                <a:solidFill>
                  <a:srgbClr val="267F99"/>
                </a:solidFill>
                <a:highlight>
                  <a:srgbClr val="FFFFFF"/>
                </a:highlight>
                <a:latin typeface="Courier New"/>
                <a:ea typeface="Courier New"/>
                <a:cs typeface="Courier New"/>
                <a:sym typeface="Courier New"/>
              </a:rPr>
              <a:t>requests</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795E26"/>
                </a:solidFill>
                <a:highlight>
                  <a:srgbClr val="FFFFFF"/>
                </a:highlight>
                <a:latin typeface="Courier New"/>
                <a:ea typeface="Courier New"/>
                <a:cs typeface="Courier New"/>
                <a:sym typeface="Courier New"/>
              </a:rPr>
              <a:t>get</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A31515"/>
                </a:solidFill>
                <a:highlight>
                  <a:srgbClr val="FFFFFF"/>
                </a:highlight>
                <a:latin typeface="Courier New"/>
                <a:ea typeface="Courier New"/>
                <a:cs typeface="Courier New"/>
                <a:sym typeface="Courier New"/>
              </a:rPr>
              <a:t>'https://httpbin.org/basic-auth/user/passwd'</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001080"/>
                </a:solidFill>
                <a:highlight>
                  <a:srgbClr val="FFFFFF"/>
                </a:highlight>
                <a:latin typeface="Courier New"/>
                <a:ea typeface="Courier New"/>
                <a:cs typeface="Courier New"/>
                <a:sym typeface="Courier New"/>
              </a:rPr>
              <a:t>auth</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A31515"/>
                </a:solidFill>
                <a:highlight>
                  <a:srgbClr val="FFFFFF"/>
                </a:highlight>
                <a:latin typeface="Courier New"/>
                <a:ea typeface="Courier New"/>
                <a:cs typeface="Courier New"/>
                <a:sym typeface="Courier New"/>
              </a:rPr>
              <a:t>'user'</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A31515"/>
                </a:solidFill>
                <a:highlight>
                  <a:srgbClr val="FFFFFF"/>
                </a:highlight>
                <a:latin typeface="Courier New"/>
                <a:ea typeface="Courier New"/>
                <a:cs typeface="Courier New"/>
                <a:sym typeface="Courier New"/>
              </a:rPr>
              <a:t>'passwd'</a:t>
            </a:r>
            <a:r>
              <a:rPr lang="en" sz="1000" b="1" i="0" u="none" strike="noStrike" cap="none" dirty="0">
                <a:solidFill>
                  <a:srgbClr val="000000"/>
                </a:solidFill>
                <a:highlight>
                  <a:srgbClr val="FFFFFF"/>
                </a:highlight>
                <a:latin typeface="Courier New"/>
                <a:ea typeface="Courier New"/>
                <a:cs typeface="Courier New"/>
                <a:sym typeface="Courier New"/>
              </a:rPr>
              <a:t>))</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795E26"/>
                </a:solidFill>
                <a:highlight>
                  <a:srgbClr val="FFFFFF"/>
                </a:highlight>
                <a:latin typeface="Courier New"/>
                <a:ea typeface="Courier New"/>
                <a:cs typeface="Courier New"/>
                <a:sym typeface="Courier New"/>
              </a:rPr>
              <a:t>print</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r</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text</a:t>
            </a:r>
            <a:r>
              <a:rPr lang="en" sz="1000" b="1" i="0" u="none" strike="noStrike" cap="none" dirty="0">
                <a:solidFill>
                  <a:srgbClr val="000000"/>
                </a:solidFill>
                <a:highlight>
                  <a:srgbClr val="FFFFFF"/>
                </a:highlight>
                <a:latin typeface="Courier New"/>
                <a:ea typeface="Courier New"/>
                <a:cs typeface="Courier New"/>
                <a:sym typeface="Courier New"/>
              </a:rPr>
              <a:t>)</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000000"/>
                </a:solidFill>
                <a:highlight>
                  <a:srgbClr val="FFFFFF"/>
                </a:highlight>
                <a:latin typeface="Courier New"/>
                <a:ea typeface="Courier New"/>
                <a:cs typeface="Courier New"/>
                <a:sym typeface="Courier New"/>
              </a:rPr>
              <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008000"/>
                </a:solidFill>
                <a:highlight>
                  <a:srgbClr val="FFFFFF"/>
                </a:highlight>
                <a:latin typeface="Courier New"/>
                <a:ea typeface="Courier New"/>
                <a:cs typeface="Courier New"/>
                <a:sym typeface="Courier New"/>
              </a:rPr>
              <a:t># without Pythonic</a:t>
            </a:r>
            <a:br>
              <a:rPr lang="en" sz="1000" b="1" i="0" u="none" strike="noStrike" cap="none" dirty="0">
                <a:solidFill>
                  <a:srgbClr val="008000"/>
                </a:solidFill>
                <a:highlight>
                  <a:srgbClr val="FFFFFF"/>
                </a:highlight>
                <a:latin typeface="Courier New"/>
                <a:ea typeface="Courier New"/>
                <a:cs typeface="Courier New"/>
                <a:sym typeface="Courier New"/>
              </a:rPr>
            </a:br>
            <a:r>
              <a:rPr lang="en" sz="1000" b="1" i="0" u="none" strike="noStrike" cap="none" dirty="0">
                <a:solidFill>
                  <a:srgbClr val="AF00DB"/>
                </a:solidFill>
                <a:highlight>
                  <a:srgbClr val="FFFFFF"/>
                </a:highlight>
                <a:latin typeface="Courier New"/>
                <a:ea typeface="Courier New"/>
                <a:cs typeface="Courier New"/>
                <a:sym typeface="Courier New"/>
              </a:rPr>
              <a:t>from</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267F99"/>
                </a:solidFill>
                <a:highlight>
                  <a:srgbClr val="FFFFFF"/>
                </a:highlight>
                <a:latin typeface="Courier New"/>
                <a:ea typeface="Courier New"/>
                <a:cs typeface="Courier New"/>
                <a:sym typeface="Courier New"/>
              </a:rPr>
              <a:t>base64</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AF00DB"/>
                </a:solidFill>
                <a:highlight>
                  <a:srgbClr val="FFFFFF"/>
                </a:highlight>
                <a:latin typeface="Courier New"/>
                <a:ea typeface="Courier New"/>
                <a:cs typeface="Courier New"/>
                <a:sym typeface="Courier New"/>
              </a:rPr>
              <a:t>import</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795E26"/>
                </a:solidFill>
                <a:highlight>
                  <a:srgbClr val="FFFFFF"/>
                </a:highlight>
                <a:latin typeface="Courier New"/>
                <a:ea typeface="Courier New"/>
                <a:cs typeface="Courier New"/>
                <a:sym typeface="Courier New"/>
              </a:rPr>
              <a:t>b64encode</a:t>
            </a:r>
            <a:br>
              <a:rPr lang="en" sz="1000" b="1" i="0" u="none" strike="noStrike" cap="none" dirty="0">
                <a:solidFill>
                  <a:srgbClr val="795E26"/>
                </a:solidFill>
                <a:highlight>
                  <a:srgbClr val="FFFFFF"/>
                </a:highlight>
                <a:latin typeface="Courier New"/>
                <a:ea typeface="Courier New"/>
                <a:cs typeface="Courier New"/>
                <a:sym typeface="Courier New"/>
              </a:rPr>
            </a:br>
            <a:r>
              <a:rPr lang="en" sz="1000" b="1" i="0" u="none" strike="noStrike" cap="none" dirty="0">
                <a:solidFill>
                  <a:srgbClr val="001080"/>
                </a:solidFill>
                <a:highlight>
                  <a:srgbClr val="FFFFFF"/>
                </a:highlight>
                <a:latin typeface="Courier New"/>
                <a:ea typeface="Courier New"/>
                <a:cs typeface="Courier New"/>
                <a:sym typeface="Courier New"/>
              </a:rPr>
              <a:t>usr_pass</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795E26"/>
                </a:solidFill>
                <a:highlight>
                  <a:srgbClr val="FFFFFF"/>
                </a:highlight>
                <a:latin typeface="Courier New"/>
                <a:ea typeface="Courier New"/>
                <a:cs typeface="Courier New"/>
                <a:sym typeface="Courier New"/>
              </a:rPr>
              <a:t>b64encode</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00FF"/>
                </a:solidFill>
                <a:highlight>
                  <a:srgbClr val="FFFFFF"/>
                </a:highlight>
                <a:latin typeface="Courier New"/>
                <a:ea typeface="Courier New"/>
                <a:cs typeface="Courier New"/>
                <a:sym typeface="Courier New"/>
              </a:rPr>
              <a:t>b</a:t>
            </a:r>
            <a:r>
              <a:rPr lang="en" sz="1000" b="1" i="0" u="none" strike="noStrike" cap="none" dirty="0">
                <a:solidFill>
                  <a:srgbClr val="A31515"/>
                </a:solidFill>
                <a:highlight>
                  <a:srgbClr val="FFFFFF"/>
                </a:highlight>
                <a:latin typeface="Courier New"/>
                <a:ea typeface="Courier New"/>
                <a:cs typeface="Courier New"/>
                <a:sym typeface="Courier New"/>
              </a:rPr>
              <a:t>"user:passwd"</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795E26"/>
                </a:solidFill>
                <a:highlight>
                  <a:srgbClr val="FFFFFF"/>
                </a:highlight>
                <a:latin typeface="Courier New"/>
                <a:ea typeface="Courier New"/>
                <a:cs typeface="Courier New"/>
                <a:sym typeface="Courier New"/>
              </a:rPr>
              <a:t>decode</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A31515"/>
                </a:solidFill>
                <a:highlight>
                  <a:srgbClr val="FFFFFF"/>
                </a:highlight>
                <a:latin typeface="Courier New"/>
                <a:ea typeface="Courier New"/>
                <a:cs typeface="Courier New"/>
                <a:sym typeface="Courier New"/>
              </a:rPr>
              <a:t>"ascii"</a:t>
            </a:r>
            <a:r>
              <a:rPr lang="en" sz="1000" b="1" i="0" u="none" strike="noStrike" cap="none" dirty="0">
                <a:solidFill>
                  <a:srgbClr val="000000"/>
                </a:solidFill>
                <a:highlight>
                  <a:srgbClr val="FFFFFF"/>
                </a:highlight>
                <a:latin typeface="Courier New"/>
                <a:ea typeface="Courier New"/>
                <a:cs typeface="Courier New"/>
                <a:sym typeface="Courier New"/>
              </a:rPr>
              <a:t>)</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001080"/>
                </a:solidFill>
                <a:highlight>
                  <a:srgbClr val="FFFFFF"/>
                </a:highlight>
                <a:latin typeface="Courier New"/>
                <a:ea typeface="Courier New"/>
                <a:cs typeface="Courier New"/>
                <a:sym typeface="Courier New"/>
              </a:rPr>
              <a:t>header</a:t>
            </a:r>
            <a:r>
              <a:rPr lang="en" sz="1000" b="1" i="0" u="none" strike="noStrike" cap="none" dirty="0">
                <a:solidFill>
                  <a:srgbClr val="000000"/>
                </a:solidFill>
                <a:highlight>
                  <a:srgbClr val="FFFFFF"/>
                </a:highlight>
                <a:latin typeface="Courier New"/>
                <a:ea typeface="Courier New"/>
                <a:cs typeface="Courier New"/>
                <a:sym typeface="Courier New"/>
              </a:rPr>
              <a:t> = {</a:t>
            </a:r>
            <a:r>
              <a:rPr lang="en" sz="1000" b="1" i="0" u="none" strike="noStrike" cap="none" dirty="0">
                <a:solidFill>
                  <a:srgbClr val="A31515"/>
                </a:solidFill>
                <a:highlight>
                  <a:srgbClr val="FFFFFF"/>
                </a:highlight>
                <a:latin typeface="Courier New"/>
                <a:ea typeface="Courier New"/>
                <a:cs typeface="Courier New"/>
                <a:sym typeface="Courier New"/>
              </a:rPr>
              <a:t>"Authorization"</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A31515"/>
                </a:solidFill>
                <a:highlight>
                  <a:srgbClr val="FFFFFF"/>
                </a:highlight>
                <a:latin typeface="Courier New"/>
                <a:ea typeface="Courier New"/>
                <a:cs typeface="Courier New"/>
                <a:sym typeface="Courier New"/>
              </a:rPr>
              <a:t>"basic "</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usr_pass</a:t>
            </a:r>
            <a:r>
              <a:rPr lang="en" sz="1000" b="1" i="0" u="none" strike="noStrike" cap="none" dirty="0">
                <a:solidFill>
                  <a:srgbClr val="000000"/>
                </a:solidFill>
                <a:highlight>
                  <a:srgbClr val="FFFFFF"/>
                </a:highlight>
                <a:latin typeface="Courier New"/>
                <a:ea typeface="Courier New"/>
                <a:cs typeface="Courier New"/>
                <a:sym typeface="Courier New"/>
              </a:rPr>
              <a:t>}</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001080"/>
                </a:solidFill>
                <a:highlight>
                  <a:srgbClr val="FFFFFF"/>
                </a:highlight>
                <a:latin typeface="Courier New"/>
                <a:ea typeface="Courier New"/>
                <a:cs typeface="Courier New"/>
                <a:sym typeface="Courier New"/>
              </a:rPr>
              <a:t>r</a:t>
            </a:r>
            <a:r>
              <a:rPr lang="en" sz="1000" b="1" i="0" u="none" strike="noStrike" cap="none" dirty="0">
                <a:solidFill>
                  <a:srgbClr val="000000"/>
                </a:solidFill>
                <a:highlight>
                  <a:srgbClr val="FFFFFF"/>
                </a:highlight>
                <a:latin typeface="Courier New"/>
                <a:ea typeface="Courier New"/>
                <a:cs typeface="Courier New"/>
                <a:sym typeface="Courier New"/>
              </a:rPr>
              <a:t> = </a:t>
            </a:r>
            <a:r>
              <a:rPr lang="en" sz="1000" b="1" i="0" u="none" strike="noStrike" cap="none" dirty="0">
                <a:solidFill>
                  <a:srgbClr val="267F99"/>
                </a:solidFill>
                <a:highlight>
                  <a:srgbClr val="FFFFFF"/>
                </a:highlight>
                <a:latin typeface="Courier New"/>
                <a:ea typeface="Courier New"/>
                <a:cs typeface="Courier New"/>
                <a:sym typeface="Courier New"/>
              </a:rPr>
              <a:t>requests</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795E26"/>
                </a:solidFill>
                <a:highlight>
                  <a:srgbClr val="FFFFFF"/>
                </a:highlight>
                <a:latin typeface="Courier New"/>
                <a:ea typeface="Courier New"/>
                <a:cs typeface="Courier New"/>
                <a:sym typeface="Courier New"/>
              </a:rPr>
              <a:t>get</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A31515"/>
                </a:solidFill>
                <a:highlight>
                  <a:srgbClr val="FFFFFF"/>
                </a:highlight>
                <a:latin typeface="Courier New"/>
                <a:ea typeface="Courier New"/>
                <a:cs typeface="Courier New"/>
                <a:sym typeface="Courier New"/>
              </a:rPr>
              <a:t>'https://httpbin.org/basic-auth/user/passwd'</a:t>
            </a:r>
            <a:r>
              <a:rPr lang="en" sz="1000" b="1" i="0" u="none" strike="noStrike" cap="none" dirty="0">
                <a:solidFill>
                  <a:srgbClr val="000000"/>
                </a:solidFill>
                <a:highlight>
                  <a:srgbClr val="FFFFFF"/>
                </a:highlight>
                <a:latin typeface="Courier New"/>
                <a:ea typeface="Courier New"/>
                <a:cs typeface="Courier New"/>
                <a:sym typeface="Courier New"/>
              </a:rPr>
              <a:t>, </a:t>
            </a:r>
            <a:r>
              <a:rPr lang="en" sz="1000" b="1" i="0" u="none" strike="noStrike" cap="none" dirty="0">
                <a:solidFill>
                  <a:srgbClr val="001080"/>
                </a:solidFill>
                <a:highlight>
                  <a:srgbClr val="FFFFFF"/>
                </a:highlight>
                <a:latin typeface="Courier New"/>
                <a:ea typeface="Courier New"/>
                <a:cs typeface="Courier New"/>
                <a:sym typeface="Courier New"/>
              </a:rPr>
              <a:t>headers</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header</a:t>
            </a:r>
            <a:r>
              <a:rPr lang="en" sz="1000" b="1" i="0" u="none" strike="noStrike" cap="none" dirty="0">
                <a:solidFill>
                  <a:srgbClr val="000000"/>
                </a:solidFill>
                <a:highlight>
                  <a:srgbClr val="FFFFFF"/>
                </a:highlight>
                <a:latin typeface="Courier New"/>
                <a:ea typeface="Courier New"/>
                <a:cs typeface="Courier New"/>
                <a:sym typeface="Courier New"/>
              </a:rPr>
              <a:t>)</a:t>
            </a:r>
            <a:br>
              <a:rPr lang="en" sz="1000" b="1" i="0" u="none" strike="noStrike" cap="none" dirty="0">
                <a:solidFill>
                  <a:srgbClr val="000000"/>
                </a:solidFill>
                <a:highlight>
                  <a:srgbClr val="FFFFFF"/>
                </a:highlight>
                <a:latin typeface="Courier New"/>
                <a:ea typeface="Courier New"/>
                <a:cs typeface="Courier New"/>
                <a:sym typeface="Courier New"/>
              </a:rPr>
            </a:br>
            <a:r>
              <a:rPr lang="en" sz="1000" b="1" i="0" u="none" strike="noStrike" cap="none" dirty="0">
                <a:solidFill>
                  <a:srgbClr val="795E26"/>
                </a:solidFill>
                <a:highlight>
                  <a:srgbClr val="FFFFFF"/>
                </a:highlight>
                <a:latin typeface="Courier New"/>
                <a:ea typeface="Courier New"/>
                <a:cs typeface="Courier New"/>
                <a:sym typeface="Courier New"/>
              </a:rPr>
              <a:t>print</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r</a:t>
            </a:r>
            <a:r>
              <a:rPr lang="en" sz="1000" b="1" i="0" u="none" strike="noStrike" cap="none" dirty="0">
                <a:solidFill>
                  <a:srgbClr val="000000"/>
                </a:solidFill>
                <a:highlight>
                  <a:srgbClr val="FFFFFF"/>
                </a:highlight>
                <a:latin typeface="Courier New"/>
                <a:ea typeface="Courier New"/>
                <a:cs typeface="Courier New"/>
                <a:sym typeface="Courier New"/>
              </a:rPr>
              <a:t>.</a:t>
            </a:r>
            <a:r>
              <a:rPr lang="en" sz="1000" b="1" i="0" u="none" strike="noStrike" cap="none" dirty="0">
                <a:solidFill>
                  <a:srgbClr val="001080"/>
                </a:solidFill>
                <a:highlight>
                  <a:srgbClr val="FFFFFF"/>
                </a:highlight>
                <a:latin typeface="Courier New"/>
                <a:ea typeface="Courier New"/>
                <a:cs typeface="Courier New"/>
                <a:sym typeface="Courier New"/>
              </a:rPr>
              <a:t>text</a:t>
            </a:r>
            <a:r>
              <a:rPr lang="en" sz="1000" b="1" i="0" u="none" strike="noStrike" cap="none" dirty="0">
                <a:solidFill>
                  <a:srgbClr val="000000"/>
                </a:solidFill>
                <a:highlight>
                  <a:srgbClr val="FFFFFF"/>
                </a:highlight>
                <a:latin typeface="Courier New"/>
                <a:ea typeface="Courier New"/>
                <a:cs typeface="Courier New"/>
                <a:sym typeface="Courier New"/>
              </a:rPr>
              <a:t>)</a:t>
            </a:r>
            <a:endParaRPr sz="1350" b="1" i="0" u="none" strike="noStrike" cap="none" dirty="0">
              <a:solidFill>
                <a:srgbClr val="3A4145"/>
              </a:solidFill>
              <a:highlight>
                <a:schemeClr val="lt2"/>
              </a:highlight>
              <a:latin typeface="Roboto Mono"/>
              <a:ea typeface="Roboto Mono"/>
              <a:cs typeface="Roboto Mono"/>
              <a:sym typeface="Roboto Mono"/>
            </a:endParaRPr>
          </a:p>
        </p:txBody>
      </p:sp>
      <p:sp>
        <p:nvSpPr>
          <p:cNvPr id="248" name="Google Shape;248;ge185968441_0_11"/>
          <p:cNvSpPr txBox="1">
            <a:spLocks noGrp="1"/>
          </p:cNvSpPr>
          <p:nvPr>
            <p:ph type="title"/>
          </p:nvPr>
        </p:nvSpPr>
        <p:spPr>
          <a:xfrm>
            <a:off x="557550" y="144823"/>
            <a:ext cx="7571700" cy="485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000"/>
              <a:buNone/>
            </a:pPr>
            <a:r>
              <a:rPr lang="en" sz="2700" b="1"/>
              <a:t>Methods to Authentication REST API</a:t>
            </a:r>
            <a:endParaRPr sz="2700" b="1"/>
          </a:p>
        </p:txBody>
      </p:sp>
      <p:sp>
        <p:nvSpPr>
          <p:cNvPr id="249" name="Google Shape;249;ge185968441_0_11"/>
          <p:cNvSpPr txBox="1">
            <a:spLocks noGrp="1"/>
          </p:cNvSpPr>
          <p:nvPr>
            <p:ph type="body" idx="1"/>
          </p:nvPr>
        </p:nvSpPr>
        <p:spPr>
          <a:xfrm>
            <a:off x="557550" y="499750"/>
            <a:ext cx="8045700" cy="190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0"/>
              </a:spcAft>
              <a:buSzPts val="2400"/>
              <a:buNone/>
            </a:pPr>
            <a:r>
              <a:rPr lang="en" sz="1650">
                <a:solidFill>
                  <a:srgbClr val="EF4F63"/>
                </a:solidFill>
                <a:highlight>
                  <a:srgbClr val="FFFFFF"/>
                </a:highlight>
                <a:latin typeface="Merriweather"/>
                <a:ea typeface="Merriweather"/>
                <a:cs typeface="Merriweather"/>
                <a:sym typeface="Merriweather"/>
              </a:rPr>
              <a:t>Basic</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r>
              <a:rPr lang="en" sz="250">
                <a:solidFill>
                  <a:srgbClr val="3A4145"/>
                </a:solidFill>
                <a:highlight>
                  <a:srgbClr val="FFFFFF"/>
                </a:highlight>
                <a:latin typeface="Merriweather"/>
                <a:ea typeface="Merriweather"/>
                <a:cs typeface="Merriweather"/>
                <a:sym typeface="Merriweather"/>
              </a:rPr>
              <a:t> </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HTTP Basic Authentication is rarely recommended due to its inherent security vulnerabilities.</a:t>
            </a:r>
            <a:br>
              <a:rPr lang="en" sz="13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This is the most straightforward method and the easiest. With this method, the sender places a username:password into the request header. The username and password are encoded with Base64, which is an encoding technique that converts the username and password into a set of 64 characters to ensure safe transmission.</a:t>
            </a:r>
            <a:br>
              <a:rPr lang="en" sz="13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
            </a:r>
            <a:br>
              <a:rPr lang="en" sz="1350">
                <a:solidFill>
                  <a:srgbClr val="3A4145"/>
                </a:solidFill>
                <a:highlight>
                  <a:srgbClr val="FFFFFF"/>
                </a:highlight>
                <a:latin typeface="Merriweather"/>
                <a:ea typeface="Merriweather"/>
                <a:cs typeface="Merriweather"/>
                <a:sym typeface="Merriweather"/>
              </a:rPr>
            </a:br>
            <a:endParaRPr sz="1700" b="1">
              <a:solidFill>
                <a:srgbClr val="2E2E2E"/>
              </a:solidFill>
              <a:highlight>
                <a:srgbClr val="FFFFFF"/>
              </a:highlight>
              <a:latin typeface="Arial"/>
              <a:ea typeface="Arial"/>
              <a:cs typeface="Arial"/>
              <a:sym typeface="Arial"/>
            </a:endParaRPr>
          </a:p>
          <a:p>
            <a:pPr marL="0" lvl="0" indent="0" algn="l" rtl="0">
              <a:lnSpc>
                <a:spcPct val="10000"/>
              </a:lnSpc>
              <a:spcBef>
                <a:spcPts val="4800"/>
              </a:spcBef>
              <a:spcAft>
                <a:spcPts val="0"/>
              </a:spcAft>
              <a:buSzPts val="2400"/>
              <a:buNone/>
            </a:pPr>
            <a:endParaRPr sz="1300"/>
          </a:p>
        </p:txBody>
      </p:sp>
      <p:sp>
        <p:nvSpPr>
          <p:cNvPr id="250" name="Google Shape;250;ge185968441_0_11"/>
          <p:cNvSpPr txBox="1">
            <a:spLocks noGrp="1"/>
          </p:cNvSpPr>
          <p:nvPr>
            <p:ph type="sldNum" idx="12"/>
          </p:nvPr>
        </p:nvSpPr>
        <p:spPr>
          <a:xfrm>
            <a:off x="8404384" y="474990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44</a:t>
            </a:fld>
            <a:endParaRPr/>
          </a:p>
        </p:txBody>
      </p:sp>
      <p:sp>
        <p:nvSpPr>
          <p:cNvPr id="251" name="Google Shape;251;ge185968441_0_11"/>
          <p:cNvSpPr txBox="1"/>
          <p:nvPr/>
        </p:nvSpPr>
        <p:spPr>
          <a:xfrm>
            <a:off x="557550" y="2362250"/>
            <a:ext cx="7444800" cy="789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500"/>
              </a:spcBef>
              <a:spcAft>
                <a:spcPts val="4800"/>
              </a:spcAft>
              <a:buClr>
                <a:srgbClr val="000000"/>
              </a:buClr>
              <a:buSzPts val="1250"/>
              <a:buFont typeface="Arial"/>
              <a:buNone/>
            </a:pPr>
            <a:r>
              <a:rPr lang="en" sz="1250" b="0" i="0" u="none" strike="noStrike" cap="none" dirty="0">
                <a:solidFill>
                  <a:srgbClr val="3A4145"/>
                </a:solidFill>
                <a:highlight>
                  <a:srgbClr val="FFFFFF"/>
                </a:highlight>
                <a:latin typeface="Merriweather"/>
                <a:ea typeface="Merriweather"/>
                <a:cs typeface="Merriweather"/>
                <a:sym typeface="Merriweather"/>
              </a:rPr>
              <a:t>Here’s an example of a Basic Auth in a request header:</a:t>
            </a:r>
            <a:r>
              <a:rPr lang="en" sz="1350" b="0" i="0" u="none" strike="noStrike" cap="none" dirty="0">
                <a:solidFill>
                  <a:srgbClr val="3A4145"/>
                </a:solidFill>
                <a:highlight>
                  <a:srgbClr val="FFFFFF"/>
                </a:highlight>
                <a:latin typeface="Merriweather"/>
                <a:ea typeface="Merriweather"/>
                <a:cs typeface="Merriweather"/>
                <a:sym typeface="Merriweather"/>
              </a:rPr>
              <a:t/>
            </a:r>
            <a:br>
              <a:rPr lang="en" sz="1350" b="0" i="0" u="none" strike="noStrike" cap="none" dirty="0">
                <a:solidFill>
                  <a:srgbClr val="3A4145"/>
                </a:solidFill>
                <a:highlight>
                  <a:srgbClr val="FFFFFF"/>
                </a:highlight>
                <a:latin typeface="Merriweather"/>
                <a:ea typeface="Merriweather"/>
                <a:cs typeface="Merriweather"/>
                <a:sym typeface="Merriweather"/>
              </a:rPr>
            </a:br>
            <a:r>
              <a:rPr lang="en" sz="950" b="0" i="0" u="none" strike="noStrike" cap="none" dirty="0">
                <a:solidFill>
                  <a:srgbClr val="3A4145"/>
                </a:solidFill>
                <a:highlight>
                  <a:schemeClr val="lt2"/>
                </a:highlight>
                <a:latin typeface="Roboto Mono Light"/>
                <a:ea typeface="Roboto Mono Light"/>
                <a:cs typeface="Roboto Mono Light"/>
                <a:sym typeface="Roboto Mono Light"/>
              </a:rPr>
              <a:t>Authorization: Basic bG9sOnNlY3VyZQ==</a:t>
            </a:r>
            <a:br>
              <a:rPr lang="en" sz="950" b="0" i="0" u="none" strike="noStrike" cap="none" dirty="0">
                <a:solidFill>
                  <a:srgbClr val="3A4145"/>
                </a:solidFill>
                <a:highlight>
                  <a:schemeClr val="lt2"/>
                </a:highlight>
                <a:latin typeface="Roboto Mono Light"/>
                <a:ea typeface="Roboto Mono Light"/>
                <a:cs typeface="Roboto Mono Light"/>
                <a:sym typeface="Roboto Mono Light"/>
              </a:rPr>
            </a:b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1"/>
                                        </p:tgtEl>
                                        <p:attrNameLst>
                                          <p:attrName>style.visibility</p:attrName>
                                        </p:attrNameLst>
                                      </p:cBhvr>
                                      <p:to>
                                        <p:strVal val="visible"/>
                                      </p:to>
                                    </p:set>
                                    <p:animEffect transition="in" filter="fade">
                                      <p:cBhvr>
                                        <p:cTn id="12" dur="1000"/>
                                        <p:tgtEl>
                                          <p:spTgt spid="2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7"/>
                                        </p:tgtEl>
                                        <p:attrNameLst>
                                          <p:attrName>style.visibility</p:attrName>
                                        </p:attrNameLst>
                                      </p:cBhvr>
                                      <p:to>
                                        <p:strVal val="visible"/>
                                      </p:to>
                                    </p:set>
                                    <p:animEffect transition="in" filter="fade">
                                      <p:cBhvr>
                                        <p:cTn id="17" dur="10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e185968441_0_24"/>
          <p:cNvSpPr txBox="1"/>
          <p:nvPr/>
        </p:nvSpPr>
        <p:spPr>
          <a:xfrm>
            <a:off x="557550" y="2895650"/>
            <a:ext cx="7534800" cy="1377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Using Python </a:t>
            </a:r>
            <a:r>
              <a:rPr lang="en" sz="1250" b="0" i="0" u="none" strike="noStrike" cap="none">
                <a:solidFill>
                  <a:srgbClr val="3A4145"/>
                </a:solidFill>
                <a:highlight>
                  <a:schemeClr val="lt2"/>
                </a:highlight>
                <a:latin typeface="Roboto Mono Light"/>
                <a:ea typeface="Roboto Mono Light"/>
                <a:cs typeface="Roboto Mono Light"/>
                <a:sym typeface="Roboto Mono Light"/>
              </a:rPr>
              <a:t>requests</a:t>
            </a:r>
            <a:br>
              <a:rPr lang="en" sz="1250" b="0" i="0" u="none" strike="noStrike" cap="none">
                <a:solidFill>
                  <a:srgbClr val="3A4145"/>
                </a:solidFill>
                <a:highlight>
                  <a:schemeClr val="lt2"/>
                </a:highlight>
                <a:latin typeface="Roboto Mono Light"/>
                <a:ea typeface="Roboto Mono Light"/>
                <a:cs typeface="Roboto Mono Light"/>
                <a:sym typeface="Roboto Mono Light"/>
              </a:rPr>
            </a:br>
            <a:r>
              <a:rPr lang="en" sz="900" b="1" i="0" u="none" strike="noStrike" cap="none">
                <a:solidFill>
                  <a:srgbClr val="008000"/>
                </a:solidFill>
                <a:highlight>
                  <a:srgbClr val="FFFFFF"/>
                </a:highlight>
                <a:latin typeface="Courier New"/>
                <a:ea typeface="Courier New"/>
                <a:cs typeface="Courier New"/>
                <a:sym typeface="Courier New"/>
              </a:rPr>
              <a:t/>
            </a:r>
            <a:br>
              <a:rPr lang="en" sz="900" b="1" i="0" u="none" strike="noStrike" cap="none">
                <a:solidFill>
                  <a:srgbClr val="008000"/>
                </a:solidFill>
                <a:highlight>
                  <a:srgbClr val="FFFFFF"/>
                </a:highlight>
                <a:latin typeface="Courier New"/>
                <a:ea typeface="Courier New"/>
                <a:cs typeface="Courier New"/>
                <a:sym typeface="Courier New"/>
              </a:rPr>
            </a:br>
            <a:r>
              <a:rPr lang="en" sz="1000" b="1" i="0" u="none" strike="noStrike" cap="none">
                <a:solidFill>
                  <a:srgbClr val="008000"/>
                </a:solidFill>
                <a:highlight>
                  <a:srgbClr val="FFFFFF"/>
                </a:highlight>
                <a:latin typeface="Courier New"/>
                <a:ea typeface="Courier New"/>
                <a:cs typeface="Courier New"/>
                <a:sym typeface="Courier New"/>
              </a:rPr>
              <a:t># Bearer</a:t>
            </a:r>
            <a:br>
              <a:rPr lang="en" sz="1000" b="1" i="0" u="none" strike="noStrike" cap="none">
                <a:solidFill>
                  <a:srgbClr val="008000"/>
                </a:solidFill>
                <a:highlight>
                  <a:srgbClr val="FFFFFF"/>
                </a:highlight>
                <a:latin typeface="Courier New"/>
                <a:ea typeface="Courier New"/>
                <a:cs typeface="Courier New"/>
                <a:sym typeface="Courier New"/>
              </a:rPr>
            </a:br>
            <a:r>
              <a:rPr lang="en" sz="1000" b="1" i="0" u="none" strike="noStrike" cap="none">
                <a:solidFill>
                  <a:srgbClr val="008000"/>
                </a:solidFill>
                <a:highlight>
                  <a:srgbClr val="FFFFFF"/>
                </a:highlight>
                <a:latin typeface="Courier New"/>
                <a:ea typeface="Courier New"/>
                <a:cs typeface="Courier New"/>
                <a:sym typeface="Courier New"/>
              </a:rPr>
              <a:t/>
            </a:r>
            <a:br>
              <a:rPr lang="en" sz="1000" b="1" i="0" u="none" strike="noStrike" cap="none">
                <a:solidFill>
                  <a:srgbClr val="008000"/>
                </a:solidFill>
                <a:highlight>
                  <a:srgbClr val="FFFFFF"/>
                </a:highlight>
                <a:latin typeface="Courier New"/>
                <a:ea typeface="Courier New"/>
                <a:cs typeface="Courier New"/>
                <a:sym typeface="Courier New"/>
              </a:rPr>
            </a:br>
            <a:r>
              <a:rPr lang="en" sz="900" b="1" i="0" u="none" strike="noStrike" cap="none">
                <a:solidFill>
                  <a:srgbClr val="AF00DB"/>
                </a:solidFill>
                <a:highlight>
                  <a:srgbClr val="FFFFFF"/>
                </a:highlight>
                <a:latin typeface="Courier New"/>
                <a:ea typeface="Courier New"/>
                <a:cs typeface="Courier New"/>
                <a:sym typeface="Courier New"/>
              </a:rPr>
              <a:t>import</a:t>
            </a:r>
            <a:r>
              <a:rPr lang="en" sz="900" b="1" i="0" u="none" strike="noStrike" cap="none">
                <a:solidFill>
                  <a:srgbClr val="000000"/>
                </a:solidFill>
                <a:highlight>
                  <a:srgbClr val="FFFFFF"/>
                </a:highlight>
                <a:latin typeface="Courier New"/>
                <a:ea typeface="Courier New"/>
                <a:cs typeface="Courier New"/>
                <a:sym typeface="Courier New"/>
              </a:rPr>
              <a:t> </a:t>
            </a:r>
            <a:r>
              <a:rPr lang="en" sz="900" b="1" i="0" u="none" strike="noStrike" cap="none">
                <a:solidFill>
                  <a:srgbClr val="267F99"/>
                </a:solidFill>
                <a:highlight>
                  <a:srgbClr val="FFFFFF"/>
                </a:highlight>
                <a:latin typeface="Courier New"/>
                <a:ea typeface="Courier New"/>
                <a:cs typeface="Courier New"/>
                <a:sym typeface="Courier New"/>
              </a:rPr>
              <a:t>requests</a:t>
            </a:r>
            <a:br>
              <a:rPr lang="en" sz="900" b="1" i="0" u="none" strike="noStrike" cap="none">
                <a:solidFill>
                  <a:srgbClr val="267F99"/>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header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A31515"/>
                </a:solidFill>
                <a:highlight>
                  <a:srgbClr val="FFFFFF"/>
                </a:highlight>
                <a:latin typeface="Courier New"/>
                <a:ea typeface="Courier New"/>
                <a:cs typeface="Courier New"/>
                <a:sym typeface="Courier New"/>
              </a:rPr>
              <a:t>"Authorization"</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"Bearer eyJhbGciOiJIUzI1NiIsInR5cCI6IkpXVCJ9.eyJp..."</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267F99"/>
                </a:solidFill>
                <a:highlight>
                  <a:srgbClr val="FFFFFF"/>
                </a:highlight>
                <a:latin typeface="Courier New"/>
                <a:ea typeface="Courier New"/>
                <a:cs typeface="Courier New"/>
                <a:sym typeface="Courier New"/>
              </a:rPr>
              <a:t>requests</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795E26"/>
                </a:solidFill>
                <a:highlight>
                  <a:srgbClr val="FFFFFF"/>
                </a:highlight>
                <a:latin typeface="Courier New"/>
                <a:ea typeface="Courier New"/>
                <a:cs typeface="Courier New"/>
                <a:sym typeface="Courier New"/>
              </a:rPr>
              <a:t>get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a:t>
            </a:r>
            <a:r>
              <a:rPr lang="en" sz="900" b="1" i="0" u="sng" strike="noStrike" cap="none">
                <a:solidFill>
                  <a:schemeClr val="hlink"/>
                </a:solidFill>
                <a:highlight>
                  <a:srgbClr val="FFFFFF"/>
                </a:highlight>
                <a:latin typeface="Courier New"/>
                <a:ea typeface="Courier New"/>
                <a:cs typeface="Courier New"/>
                <a:sym typeface="Courier New"/>
                <a:hlinkClick r:id="rId3"/>
              </a:rPr>
              <a:t>http://example.com/',headers=header</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795E26"/>
                </a:solidFill>
                <a:highlight>
                  <a:srgbClr val="FFFFFF"/>
                </a:highlight>
                <a:latin typeface="Courier New"/>
                <a:ea typeface="Courier New"/>
                <a:cs typeface="Courier New"/>
                <a:sym typeface="Courier New"/>
              </a:rPr>
              <a:t>print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text</a:t>
            </a:r>
            <a:r>
              <a:rPr lang="en" sz="900" b="1" i="0" u="none" strike="noStrike" cap="none">
                <a:solidFill>
                  <a:srgbClr val="000000"/>
                </a:solidFill>
                <a:highlight>
                  <a:srgbClr val="FFFFFF"/>
                </a:highlight>
                <a:latin typeface="Courier New"/>
                <a:ea typeface="Courier New"/>
                <a:cs typeface="Courier New"/>
                <a:sym typeface="Courier New"/>
              </a:rPr>
              <a:t>)</a:t>
            </a:r>
            <a:endParaRPr sz="1000" b="1" i="0" u="none" strike="noStrike" cap="none">
              <a:solidFill>
                <a:srgbClr val="AF00DB"/>
              </a:solidFill>
              <a:highlight>
                <a:srgbClr val="FFFFFF"/>
              </a:highlight>
              <a:latin typeface="Courier New"/>
              <a:ea typeface="Courier New"/>
              <a:cs typeface="Courier New"/>
              <a:sym typeface="Courier New"/>
            </a:endParaRPr>
          </a:p>
        </p:txBody>
      </p:sp>
      <p:sp>
        <p:nvSpPr>
          <p:cNvPr id="257" name="Google Shape;257;ge185968441_0_24"/>
          <p:cNvSpPr txBox="1">
            <a:spLocks noGrp="1"/>
          </p:cNvSpPr>
          <p:nvPr>
            <p:ph type="title"/>
          </p:nvPr>
        </p:nvSpPr>
        <p:spPr>
          <a:xfrm>
            <a:off x="557550" y="144823"/>
            <a:ext cx="7571700" cy="485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000"/>
              <a:buNone/>
            </a:pPr>
            <a:r>
              <a:rPr lang="en" sz="2700" b="1"/>
              <a:t>Methods to Authentication REST API</a:t>
            </a:r>
            <a:endParaRPr sz="2700" b="1"/>
          </a:p>
        </p:txBody>
      </p:sp>
      <p:sp>
        <p:nvSpPr>
          <p:cNvPr id="258" name="Google Shape;258;ge185968441_0_24"/>
          <p:cNvSpPr txBox="1">
            <a:spLocks noGrp="1"/>
          </p:cNvSpPr>
          <p:nvPr>
            <p:ph type="body" idx="1"/>
          </p:nvPr>
        </p:nvSpPr>
        <p:spPr>
          <a:xfrm>
            <a:off x="557550" y="575950"/>
            <a:ext cx="8395500" cy="1908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4800"/>
              </a:spcAft>
              <a:buSzPts val="2400"/>
              <a:buNone/>
            </a:pPr>
            <a:r>
              <a:rPr lang="en" sz="1650">
                <a:solidFill>
                  <a:srgbClr val="EF4F63"/>
                </a:solidFill>
                <a:highlight>
                  <a:srgbClr val="FFFFFF"/>
                </a:highlight>
                <a:latin typeface="Merriweather"/>
                <a:ea typeface="Merriweather"/>
                <a:cs typeface="Merriweather"/>
                <a:sym typeface="Merriweather"/>
              </a:rPr>
              <a:t>Bearer</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r>
              <a:rPr lang="en" sz="250">
                <a:solidFill>
                  <a:srgbClr val="3A4145"/>
                </a:solidFill>
                <a:highlight>
                  <a:srgbClr val="FFFFFF"/>
                </a:highlight>
                <a:latin typeface="Merriweather"/>
                <a:ea typeface="Merriweather"/>
                <a:cs typeface="Merriweather"/>
                <a:sym typeface="Merriweather"/>
              </a:rPr>
              <a:t> </a:t>
            </a:r>
            <a:r>
              <a:rPr lang="en" sz="1350">
                <a:solidFill>
                  <a:srgbClr val="3A4145"/>
                </a:solidFill>
                <a:highlight>
                  <a:srgbClr val="FFFFFF"/>
                </a:highlight>
                <a:latin typeface="Merriweather"/>
                <a:ea typeface="Merriweather"/>
                <a:cs typeface="Merriweather"/>
                <a:sym typeface="Merriweather"/>
              </a:rPr>
              <a:t>Bearer authentication (also called token authentication) is an HTTP authentication scheme that involves security tokens called bearer tokens.</a:t>
            </a:r>
            <a:br>
              <a:rPr lang="en" sz="13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The name “</a:t>
            </a:r>
            <a:r>
              <a:rPr lang="en" sz="1350">
                <a:solidFill>
                  <a:srgbClr val="3A4145"/>
                </a:solidFill>
                <a:highlight>
                  <a:schemeClr val="lt2"/>
                </a:highlight>
                <a:latin typeface="Roboto Mono Light"/>
                <a:ea typeface="Roboto Mono Light"/>
                <a:cs typeface="Roboto Mono Light"/>
                <a:sym typeface="Roboto Mono Light"/>
              </a:rPr>
              <a:t>Bearer authentication</a:t>
            </a:r>
            <a:r>
              <a:rPr lang="en" sz="1350">
                <a:solidFill>
                  <a:srgbClr val="3A4145"/>
                </a:solidFill>
                <a:highlight>
                  <a:srgbClr val="FFFFFF"/>
                </a:highlight>
                <a:latin typeface="Merriweather"/>
                <a:ea typeface="Merriweather"/>
                <a:cs typeface="Merriweather"/>
                <a:sym typeface="Merriweather"/>
              </a:rPr>
              <a:t>” can be understood as “give access to the bearer of this token.” The bearer token allowing access to a certain resource or URL and most likely is a cryptic string, usually generated by the server in response to a login request.</a:t>
            </a:r>
            <a:br>
              <a:rPr lang="en" sz="13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The Bearer authentication was originally created as part of OAuth 2.0 can be  used on its own.</a:t>
            </a:r>
            <a:endParaRPr sz="1300"/>
          </a:p>
        </p:txBody>
      </p:sp>
      <p:sp>
        <p:nvSpPr>
          <p:cNvPr id="259" name="Google Shape;259;ge185968441_0_24"/>
          <p:cNvSpPr txBox="1">
            <a:spLocks noGrp="1"/>
          </p:cNvSpPr>
          <p:nvPr>
            <p:ph type="sldNum" idx="12"/>
          </p:nvPr>
        </p:nvSpPr>
        <p:spPr>
          <a:xfrm>
            <a:off x="8404384" y="474990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45</a:t>
            </a:fld>
            <a:endParaRPr/>
          </a:p>
        </p:txBody>
      </p:sp>
      <p:sp>
        <p:nvSpPr>
          <p:cNvPr id="260" name="Google Shape;260;ge185968441_0_24"/>
          <p:cNvSpPr txBox="1"/>
          <p:nvPr/>
        </p:nvSpPr>
        <p:spPr>
          <a:xfrm>
            <a:off x="557550" y="2362250"/>
            <a:ext cx="7444800" cy="807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Here’s an example of a Bearer Auth in a request header:</a:t>
            </a:r>
            <a:r>
              <a:rPr lang="en" sz="1350" b="0" i="0" u="none" strike="noStrike" cap="none">
                <a:solidFill>
                  <a:srgbClr val="3A4145"/>
                </a:solidFill>
                <a:highlight>
                  <a:srgbClr val="FFFFFF"/>
                </a:highlight>
                <a:latin typeface="Merriweather"/>
                <a:ea typeface="Merriweather"/>
                <a:cs typeface="Merriweather"/>
                <a:sym typeface="Merriweather"/>
              </a:rPr>
              <a:t/>
            </a:r>
            <a:br>
              <a:rPr lang="en" sz="1350" b="0" i="0" u="none" strike="noStrike" cap="none">
                <a:solidFill>
                  <a:srgbClr val="3A4145"/>
                </a:solidFill>
                <a:highlight>
                  <a:srgbClr val="FFFFFF"/>
                </a:highlight>
                <a:latin typeface="Merriweather"/>
                <a:ea typeface="Merriweather"/>
                <a:cs typeface="Merriweather"/>
                <a:sym typeface="Merriweather"/>
              </a:rPr>
            </a:br>
            <a:r>
              <a:rPr lang="en" sz="1050" b="0" i="0" u="none" strike="noStrike" cap="none">
                <a:solidFill>
                  <a:srgbClr val="3A4145"/>
                </a:solidFill>
                <a:highlight>
                  <a:schemeClr val="lt2"/>
                </a:highlight>
                <a:latin typeface="Roboto Mono Light"/>
                <a:ea typeface="Roboto Mono Light"/>
                <a:cs typeface="Roboto Mono Light"/>
                <a:sym typeface="Roboto Mono Light"/>
              </a:rPr>
              <a:t>Authorization: Bearer </a:t>
            </a:r>
            <a:r>
              <a:rPr lang="en" sz="850" b="0" i="0" u="none" strike="noStrike" cap="none">
                <a:solidFill>
                  <a:srgbClr val="3A4145"/>
                </a:solidFill>
                <a:highlight>
                  <a:schemeClr val="lt2"/>
                </a:highlight>
                <a:latin typeface="Roboto Mono Light"/>
                <a:ea typeface="Roboto Mono Light"/>
                <a:cs typeface="Roboto Mono Light"/>
                <a:sym typeface="Roboto Mono Light"/>
              </a:rPr>
              <a:t>eyJhbGciOiJIUzI1NiIsInR5cCI6IkpXVCJ9......</a:t>
            </a:r>
            <a:r>
              <a:rPr lang="en" sz="1050" b="0" i="0" u="none" strike="noStrike" cap="none">
                <a:solidFill>
                  <a:srgbClr val="3A4145"/>
                </a:solidFill>
                <a:highlight>
                  <a:schemeClr val="lt2"/>
                </a:highlight>
                <a:latin typeface="Roboto Mono Light"/>
                <a:ea typeface="Roboto Mono Light"/>
                <a:cs typeface="Roboto Mono Light"/>
                <a:sym typeface="Roboto Mono Light"/>
              </a:rPr>
              <a:t> </a:t>
            </a:r>
            <a:r>
              <a:rPr lang="en" sz="950" b="0" i="0" u="none" strike="noStrike" cap="none">
                <a:solidFill>
                  <a:srgbClr val="3A4145"/>
                </a:solidFill>
                <a:highlight>
                  <a:schemeClr val="lt2"/>
                </a:highlight>
                <a:latin typeface="Roboto Mono Light"/>
                <a:ea typeface="Roboto Mono Light"/>
                <a:cs typeface="Roboto Mono Light"/>
                <a:sym typeface="Roboto Mono Light"/>
              </a:rPr>
              <a:t/>
            </a:r>
            <a:br>
              <a:rPr lang="en" sz="950" b="0" i="0" u="none" strike="noStrike" cap="none">
                <a:solidFill>
                  <a:srgbClr val="3A4145"/>
                </a:solidFill>
                <a:highlight>
                  <a:schemeClr val="lt2"/>
                </a:highlight>
                <a:latin typeface="Roboto Mono Light"/>
                <a:ea typeface="Roboto Mono Light"/>
                <a:cs typeface="Roboto Mono Light"/>
                <a:sym typeface="Roboto Mono Light"/>
              </a:rPr>
            </a:b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1000"/>
                                        <p:tgtEl>
                                          <p:spTgt spid="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gtEl>
                                        <p:attrNameLst>
                                          <p:attrName>style.visibility</p:attrName>
                                        </p:attrNameLst>
                                      </p:cBhvr>
                                      <p:to>
                                        <p:strVal val="visible"/>
                                      </p:to>
                                    </p:set>
                                    <p:animEffect transition="in" filter="fade">
                                      <p:cBhvr>
                                        <p:cTn id="12" dur="1000"/>
                                        <p:tgtEl>
                                          <p:spTgt spid="2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6"/>
                                        </p:tgtEl>
                                        <p:attrNameLst>
                                          <p:attrName>style.visibility</p:attrName>
                                        </p:attrNameLst>
                                      </p:cBhvr>
                                      <p:to>
                                        <p:strVal val="visible"/>
                                      </p:to>
                                    </p:set>
                                    <p:animEffect transition="in" filter="fade">
                                      <p:cBhvr>
                                        <p:cTn id="17" dur="1000"/>
                                        <p:tgtEl>
                                          <p:spTgt spid="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e185968441_0_39"/>
          <p:cNvSpPr txBox="1"/>
          <p:nvPr/>
        </p:nvSpPr>
        <p:spPr>
          <a:xfrm>
            <a:off x="557550" y="3048050"/>
            <a:ext cx="7534800" cy="195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Using Python </a:t>
            </a:r>
            <a:r>
              <a:rPr lang="en" sz="1250" b="0" i="0" u="none" strike="noStrike" cap="none">
                <a:solidFill>
                  <a:srgbClr val="3A4145"/>
                </a:solidFill>
                <a:highlight>
                  <a:schemeClr val="lt2"/>
                </a:highlight>
                <a:latin typeface="Roboto Mono Light"/>
                <a:ea typeface="Roboto Mono Light"/>
                <a:cs typeface="Roboto Mono Light"/>
                <a:sym typeface="Roboto Mono Light"/>
              </a:rPr>
              <a:t>requests</a:t>
            </a:r>
            <a:br>
              <a:rPr lang="en" sz="1250" b="0" i="0" u="none" strike="noStrike" cap="none">
                <a:solidFill>
                  <a:srgbClr val="3A4145"/>
                </a:solidFill>
                <a:highlight>
                  <a:schemeClr val="lt2"/>
                </a:highlight>
                <a:latin typeface="Roboto Mono Light"/>
                <a:ea typeface="Roboto Mono Light"/>
                <a:cs typeface="Roboto Mono Light"/>
                <a:sym typeface="Roboto Mono Light"/>
              </a:rPr>
            </a:br>
            <a:r>
              <a:rPr lang="en" sz="1250" b="0" i="0" u="none" strike="noStrike" cap="none">
                <a:solidFill>
                  <a:srgbClr val="3A4145"/>
                </a:solidFill>
                <a:highlight>
                  <a:schemeClr val="lt2"/>
                </a:highlight>
                <a:latin typeface="Roboto Mono Light"/>
                <a:ea typeface="Roboto Mono Light"/>
                <a:cs typeface="Roboto Mono Light"/>
                <a:sym typeface="Roboto Mono Light"/>
              </a:rPr>
              <a:t/>
            </a:r>
            <a:br>
              <a:rPr lang="en" sz="1250" b="0" i="0" u="none" strike="noStrike" cap="none">
                <a:solidFill>
                  <a:srgbClr val="3A4145"/>
                </a:solidFill>
                <a:highlight>
                  <a:schemeClr val="lt2"/>
                </a:highlight>
                <a:latin typeface="Roboto Mono Light"/>
                <a:ea typeface="Roboto Mono Light"/>
                <a:cs typeface="Roboto Mono Light"/>
                <a:sym typeface="Roboto Mono Light"/>
              </a:rPr>
            </a:br>
            <a:r>
              <a:rPr lang="en" sz="900" b="1" i="0" u="none" strike="noStrike" cap="none">
                <a:solidFill>
                  <a:srgbClr val="008000"/>
                </a:solidFill>
                <a:highlight>
                  <a:srgbClr val="FFFFFF"/>
                </a:highlight>
                <a:latin typeface="Courier New"/>
                <a:ea typeface="Courier New"/>
                <a:cs typeface="Courier New"/>
                <a:sym typeface="Courier New"/>
              </a:rPr>
              <a:t># using params</a:t>
            </a:r>
            <a:br>
              <a:rPr lang="en" sz="900" b="1" i="0" u="none" strike="noStrike" cap="none">
                <a:solidFill>
                  <a:srgbClr val="008000"/>
                </a:solidFill>
                <a:highlight>
                  <a:srgbClr val="FFFFFF"/>
                </a:highlight>
                <a:latin typeface="Courier New"/>
                <a:ea typeface="Courier New"/>
                <a:cs typeface="Courier New"/>
                <a:sym typeface="Courier New"/>
              </a:rPr>
            </a:br>
            <a:r>
              <a:rPr lang="en" sz="900" b="1" i="0" u="none" strike="noStrike" cap="none">
                <a:solidFill>
                  <a:srgbClr val="AF00DB"/>
                </a:solidFill>
                <a:highlight>
                  <a:srgbClr val="FFFFFF"/>
                </a:highlight>
                <a:latin typeface="Courier New"/>
                <a:ea typeface="Courier New"/>
                <a:cs typeface="Courier New"/>
                <a:sym typeface="Courier New"/>
              </a:rPr>
              <a:t>import</a:t>
            </a:r>
            <a:r>
              <a:rPr lang="en" sz="900" b="1" i="0" u="none" strike="noStrike" cap="none">
                <a:solidFill>
                  <a:srgbClr val="000000"/>
                </a:solidFill>
                <a:highlight>
                  <a:srgbClr val="FFFFFF"/>
                </a:highlight>
                <a:latin typeface="Courier New"/>
                <a:ea typeface="Courier New"/>
                <a:cs typeface="Courier New"/>
                <a:sym typeface="Courier New"/>
              </a:rPr>
              <a:t> </a:t>
            </a:r>
            <a:r>
              <a:rPr lang="en" sz="900" b="1" i="0" u="none" strike="noStrike" cap="none">
                <a:solidFill>
                  <a:srgbClr val="267F99"/>
                </a:solidFill>
                <a:highlight>
                  <a:srgbClr val="FFFFFF"/>
                </a:highlight>
                <a:latin typeface="Courier New"/>
                <a:ea typeface="Courier New"/>
                <a:cs typeface="Courier New"/>
                <a:sym typeface="Courier New"/>
              </a:rPr>
              <a:t>requests</a:t>
            </a:r>
            <a:br>
              <a:rPr lang="en" sz="900" b="1" i="0" u="none" strike="noStrike" cap="none">
                <a:solidFill>
                  <a:srgbClr val="267F99"/>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api_key</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A31515"/>
                </a:solidFill>
                <a:highlight>
                  <a:srgbClr val="FFFFFF"/>
                </a:highlight>
                <a:latin typeface="Courier New"/>
                <a:ea typeface="Courier New"/>
                <a:cs typeface="Courier New"/>
                <a:sym typeface="Courier New"/>
              </a:rPr>
              <a:t>'AISyBlpHhMpwzwmuQGPxEuNu5VGaicwDDn1DI'</a:t>
            </a:r>
            <a:br>
              <a:rPr lang="en" sz="900" b="1" i="0" u="none" strike="noStrike" cap="none">
                <a:solidFill>
                  <a:srgbClr val="A31515"/>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267F99"/>
                </a:solidFill>
                <a:highlight>
                  <a:srgbClr val="FFFFFF"/>
                </a:highlight>
                <a:latin typeface="Courier New"/>
                <a:ea typeface="Courier New"/>
                <a:cs typeface="Courier New"/>
                <a:sym typeface="Courier New"/>
              </a:rPr>
              <a:t>requests</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795E26"/>
                </a:solidFill>
                <a:highlight>
                  <a:srgbClr val="FFFFFF"/>
                </a:highlight>
                <a:latin typeface="Courier New"/>
                <a:ea typeface="Courier New"/>
                <a:cs typeface="Courier New"/>
                <a:sym typeface="Courier New"/>
              </a:rPr>
              <a:t>get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a:t>
            </a:r>
            <a:r>
              <a:rPr lang="en" sz="900" b="1" i="0" u="sng" strike="noStrike" cap="none">
                <a:solidFill>
                  <a:schemeClr val="hlink"/>
                </a:solidFill>
                <a:highlight>
                  <a:srgbClr val="FFFFFF"/>
                </a:highlight>
                <a:latin typeface="Courier New"/>
                <a:ea typeface="Courier New"/>
                <a:cs typeface="Courier New"/>
                <a:sym typeface="Courier New"/>
                <a:hlinkClick r:id="rId3"/>
              </a:rPr>
              <a:t>http://example.com/',params=({'api_key':api_key})</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795E26"/>
                </a:solidFill>
                <a:highlight>
                  <a:srgbClr val="FFFFFF"/>
                </a:highlight>
                <a:latin typeface="Courier New"/>
                <a:ea typeface="Courier New"/>
                <a:cs typeface="Courier New"/>
                <a:sym typeface="Courier New"/>
              </a:rPr>
              <a:t>print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text</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0000"/>
                </a:solidFill>
                <a:highlight>
                  <a:srgbClr val="FFFFFF"/>
                </a:highlight>
                <a:latin typeface="Courier New"/>
                <a:ea typeface="Courier New"/>
                <a:cs typeface="Courier New"/>
                <a:sym typeface="Courier New"/>
              </a:rPr>
              <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8000"/>
                </a:solidFill>
                <a:highlight>
                  <a:srgbClr val="FFFFFF"/>
                </a:highlight>
                <a:latin typeface="Courier New"/>
                <a:ea typeface="Courier New"/>
                <a:cs typeface="Courier New"/>
                <a:sym typeface="Courier New"/>
              </a:rPr>
              <a:t># using header</a:t>
            </a:r>
            <a:r>
              <a:rPr lang="en" sz="900" b="1" i="0" u="none" strike="noStrike" cap="none">
                <a:solidFill>
                  <a:srgbClr val="A31515"/>
                </a:solidFill>
                <a:highlight>
                  <a:srgbClr val="FFFFFF"/>
                </a:highlight>
                <a:latin typeface="Courier New"/>
                <a:ea typeface="Courier New"/>
                <a:cs typeface="Courier New"/>
                <a:sym typeface="Courier New"/>
              </a:rPr>
              <a:t/>
            </a:r>
            <a:br>
              <a:rPr lang="en" sz="900" b="1" i="0" u="none" strike="noStrike" cap="none">
                <a:solidFill>
                  <a:srgbClr val="A31515"/>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header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A31515"/>
                </a:solidFill>
                <a:highlight>
                  <a:srgbClr val="FFFFFF"/>
                </a:highlight>
                <a:latin typeface="Courier New"/>
                <a:ea typeface="Courier New"/>
                <a:cs typeface="Courier New"/>
                <a:sym typeface="Courier New"/>
              </a:rPr>
              <a:t>"X-API-Key"</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api_key</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267F99"/>
                </a:solidFill>
                <a:highlight>
                  <a:srgbClr val="FFFFFF"/>
                </a:highlight>
                <a:latin typeface="Courier New"/>
                <a:ea typeface="Courier New"/>
                <a:cs typeface="Courier New"/>
                <a:sym typeface="Courier New"/>
              </a:rPr>
              <a:t>requests</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795E26"/>
                </a:solidFill>
                <a:highlight>
                  <a:srgbClr val="FFFFFF"/>
                </a:highlight>
                <a:latin typeface="Courier New"/>
                <a:ea typeface="Courier New"/>
                <a:cs typeface="Courier New"/>
                <a:sym typeface="Courier New"/>
              </a:rPr>
              <a:t>get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a:t>
            </a:r>
            <a:r>
              <a:rPr lang="en" sz="900" b="1" i="0" u="sng" strike="noStrike" cap="none">
                <a:solidFill>
                  <a:schemeClr val="hlink"/>
                </a:solidFill>
                <a:highlight>
                  <a:srgbClr val="FFFFFF"/>
                </a:highlight>
                <a:latin typeface="Courier New"/>
                <a:ea typeface="Courier New"/>
                <a:cs typeface="Courier New"/>
                <a:sym typeface="Courier New"/>
                <a:hlinkClick r:id="rId4"/>
              </a:rPr>
              <a:t>http://example.com/',headers=header</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795E26"/>
                </a:solidFill>
                <a:highlight>
                  <a:srgbClr val="FFFFFF"/>
                </a:highlight>
                <a:latin typeface="Courier New"/>
                <a:ea typeface="Courier New"/>
                <a:cs typeface="Courier New"/>
                <a:sym typeface="Courier New"/>
              </a:rPr>
              <a:t>print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text</a:t>
            </a:r>
            <a:r>
              <a:rPr lang="en" sz="900" b="1" i="0" u="none" strike="noStrike" cap="none">
                <a:solidFill>
                  <a:srgbClr val="000000"/>
                </a:solidFill>
                <a:highlight>
                  <a:srgbClr val="FFFFFF"/>
                </a:highlight>
                <a:latin typeface="Courier New"/>
                <a:ea typeface="Courier New"/>
                <a:cs typeface="Courier New"/>
                <a:sym typeface="Courier New"/>
              </a:rPr>
              <a:t>)</a:t>
            </a:r>
            <a:endParaRPr sz="900" b="1" i="0" u="none" strike="noStrike" cap="none">
              <a:solidFill>
                <a:srgbClr val="008000"/>
              </a:solidFill>
              <a:highlight>
                <a:srgbClr val="FFFFFF"/>
              </a:highlight>
              <a:latin typeface="Courier New"/>
              <a:ea typeface="Courier New"/>
              <a:cs typeface="Courier New"/>
              <a:sym typeface="Courier New"/>
            </a:endParaRPr>
          </a:p>
        </p:txBody>
      </p:sp>
      <p:sp>
        <p:nvSpPr>
          <p:cNvPr id="266" name="Google Shape;266;ge185968441_0_39"/>
          <p:cNvSpPr txBox="1">
            <a:spLocks noGrp="1"/>
          </p:cNvSpPr>
          <p:nvPr>
            <p:ph type="title"/>
          </p:nvPr>
        </p:nvSpPr>
        <p:spPr>
          <a:xfrm>
            <a:off x="557550" y="144823"/>
            <a:ext cx="7571700" cy="485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000"/>
              <a:buNone/>
            </a:pPr>
            <a:r>
              <a:rPr lang="en" sz="2700" b="1"/>
              <a:t>Methods to Authentication REST API</a:t>
            </a:r>
            <a:endParaRPr sz="2700" b="1"/>
          </a:p>
        </p:txBody>
      </p:sp>
      <p:sp>
        <p:nvSpPr>
          <p:cNvPr id="267" name="Google Shape;267;ge185968441_0_39"/>
          <p:cNvSpPr txBox="1">
            <a:spLocks noGrp="1"/>
          </p:cNvSpPr>
          <p:nvPr>
            <p:ph type="body" idx="1"/>
          </p:nvPr>
        </p:nvSpPr>
        <p:spPr>
          <a:xfrm>
            <a:off x="557550" y="499750"/>
            <a:ext cx="8395500" cy="129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4800"/>
              </a:spcAft>
              <a:buSzPts val="2400"/>
              <a:buNone/>
            </a:pPr>
            <a:r>
              <a:rPr lang="en" sz="1650">
                <a:solidFill>
                  <a:srgbClr val="EF4F63"/>
                </a:solidFill>
                <a:highlight>
                  <a:srgbClr val="FFFFFF"/>
                </a:highlight>
                <a:latin typeface="Merriweather"/>
                <a:ea typeface="Merriweather"/>
                <a:cs typeface="Merriweather"/>
                <a:sym typeface="Merriweather"/>
              </a:rPr>
              <a:t>API key</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An API key is a usually a long string that you include either in the request URL or in the request header. The API key mainly functions as a way to identify the person making the API call (authenticating you to use the API). The API key is associated with a specific app that you register. eg BigQuery and Stripe api key</a:t>
            </a:r>
            <a:endParaRPr sz="1300"/>
          </a:p>
        </p:txBody>
      </p:sp>
      <p:sp>
        <p:nvSpPr>
          <p:cNvPr id="268" name="Google Shape;268;ge185968441_0_39"/>
          <p:cNvSpPr txBox="1">
            <a:spLocks noGrp="1"/>
          </p:cNvSpPr>
          <p:nvPr>
            <p:ph type="sldNum" idx="12"/>
          </p:nvPr>
        </p:nvSpPr>
        <p:spPr>
          <a:xfrm>
            <a:off x="8404384" y="474990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46</a:t>
            </a:fld>
            <a:endParaRPr/>
          </a:p>
        </p:txBody>
      </p:sp>
      <p:sp>
        <p:nvSpPr>
          <p:cNvPr id="269" name="Google Shape;269;ge185968441_0_39"/>
          <p:cNvSpPr txBox="1"/>
          <p:nvPr/>
        </p:nvSpPr>
        <p:spPr>
          <a:xfrm>
            <a:off x="557550" y="2590850"/>
            <a:ext cx="7444800" cy="807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Here’s an example of a api key:</a:t>
            </a:r>
            <a:r>
              <a:rPr lang="en" sz="1350" b="0" i="0" u="none" strike="noStrike" cap="none">
                <a:solidFill>
                  <a:srgbClr val="3A4145"/>
                </a:solidFill>
                <a:highlight>
                  <a:srgbClr val="FFFFFF"/>
                </a:highlight>
                <a:latin typeface="Merriweather"/>
                <a:ea typeface="Merriweather"/>
                <a:cs typeface="Merriweather"/>
                <a:sym typeface="Merriweather"/>
              </a:rPr>
              <a:t/>
            </a:r>
            <a:br>
              <a:rPr lang="en" sz="1350" b="0" i="0" u="none" strike="noStrike" cap="none">
                <a:solidFill>
                  <a:srgbClr val="3A4145"/>
                </a:solidFill>
                <a:highlight>
                  <a:srgbClr val="FFFFFF"/>
                </a:highlight>
                <a:latin typeface="Merriweather"/>
                <a:ea typeface="Merriweather"/>
                <a:cs typeface="Merriweather"/>
                <a:sym typeface="Merriweather"/>
              </a:rPr>
            </a:br>
            <a:r>
              <a:rPr lang="en" sz="1050" b="0" i="0" u="none" strike="noStrike" cap="none">
                <a:solidFill>
                  <a:srgbClr val="3A4145"/>
                </a:solidFill>
                <a:highlight>
                  <a:schemeClr val="lt2"/>
                </a:highlight>
                <a:latin typeface="Roboto Mono Light"/>
                <a:ea typeface="Roboto Mono Light"/>
                <a:cs typeface="Roboto Mono Light"/>
                <a:sym typeface="Roboto Mono Light"/>
              </a:rPr>
              <a:t>api_key=AISyBlpHhMpwzwmuQGPxEuNu5VGaicwDDn1DI </a:t>
            </a:r>
            <a:r>
              <a:rPr lang="en" sz="950" b="0" i="0" u="none" strike="noStrike" cap="none">
                <a:solidFill>
                  <a:srgbClr val="3A4145"/>
                </a:solidFill>
                <a:highlight>
                  <a:schemeClr val="lt2"/>
                </a:highlight>
                <a:latin typeface="Roboto Mono Light"/>
                <a:ea typeface="Roboto Mono Light"/>
                <a:cs typeface="Roboto Mono Light"/>
                <a:sym typeface="Roboto Mono Light"/>
              </a:rPr>
              <a:t/>
            </a:r>
            <a:br>
              <a:rPr lang="en" sz="950" b="0" i="0" u="none" strike="noStrike" cap="none">
                <a:solidFill>
                  <a:srgbClr val="3A4145"/>
                </a:solidFill>
                <a:highlight>
                  <a:schemeClr val="lt2"/>
                </a:highlight>
                <a:latin typeface="Roboto Mono Light"/>
                <a:ea typeface="Roboto Mono Light"/>
                <a:cs typeface="Roboto Mono Light"/>
                <a:sym typeface="Roboto Mono Light"/>
              </a:rPr>
            </a:br>
            <a:endParaRPr sz="1400" b="0" i="0" u="none" strike="noStrike" cap="none">
              <a:solidFill>
                <a:srgbClr val="000000"/>
              </a:solidFill>
              <a:latin typeface="Arial"/>
              <a:ea typeface="Arial"/>
              <a:cs typeface="Arial"/>
              <a:sym typeface="Arial"/>
            </a:endParaRPr>
          </a:p>
        </p:txBody>
      </p:sp>
      <p:sp>
        <p:nvSpPr>
          <p:cNvPr id="270" name="Google Shape;270;ge185968441_0_39"/>
          <p:cNvSpPr txBox="1"/>
          <p:nvPr/>
        </p:nvSpPr>
        <p:spPr>
          <a:xfrm>
            <a:off x="552100" y="1796650"/>
            <a:ext cx="82884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333333"/>
                </a:solidFill>
                <a:highlight>
                  <a:srgbClr val="FFFFFF"/>
                </a:highlight>
                <a:latin typeface="Merriweather"/>
                <a:ea typeface="Merriweather"/>
                <a:cs typeface="Merriweather"/>
                <a:sym typeface="Merriweather"/>
              </a:rPr>
              <a:t>Uses</a:t>
            </a:r>
            <a:endParaRPr sz="1200" b="0" i="0" u="none" strike="noStrike" cap="none">
              <a:solidFill>
                <a:srgbClr val="333333"/>
              </a:solidFill>
              <a:highlight>
                <a:srgbClr val="FFFFFF"/>
              </a:highlight>
              <a:latin typeface="Merriweather"/>
              <a:ea typeface="Merriweather"/>
              <a:cs typeface="Merriweather"/>
              <a:sym typeface="Merriweather"/>
            </a:endParaRPr>
          </a:p>
          <a:p>
            <a:pPr marL="457200" marR="0" lvl="0" indent="-298450" algn="l" rtl="0">
              <a:lnSpc>
                <a:spcPct val="100000"/>
              </a:lnSpc>
              <a:spcBef>
                <a:spcPts val="0"/>
              </a:spcBef>
              <a:spcAft>
                <a:spcPts val="0"/>
              </a:spcAft>
              <a:buClr>
                <a:srgbClr val="333333"/>
              </a:buClr>
              <a:buSzPts val="1100"/>
              <a:buFont typeface="Merriweather"/>
              <a:buChar char="●"/>
            </a:pPr>
            <a:r>
              <a:rPr lang="en" sz="1100" b="0" i="0" u="none" strike="noStrike" cap="none">
                <a:solidFill>
                  <a:srgbClr val="333333"/>
                </a:solidFill>
                <a:highlight>
                  <a:srgbClr val="FFFFFF"/>
                </a:highlight>
                <a:latin typeface="Merriweather"/>
                <a:ea typeface="Merriweather"/>
                <a:cs typeface="Merriweather"/>
                <a:sym typeface="Merriweather"/>
              </a:rPr>
              <a:t>Authenticate calls to the API to registered users only</a:t>
            </a:r>
            <a:endParaRPr sz="1100" b="0" i="0" u="none" strike="noStrike" cap="none">
              <a:solidFill>
                <a:srgbClr val="333333"/>
              </a:solidFill>
              <a:highlight>
                <a:srgbClr val="FFFFFF"/>
              </a:highlight>
              <a:latin typeface="Merriweather"/>
              <a:ea typeface="Merriweather"/>
              <a:cs typeface="Merriweather"/>
              <a:sym typeface="Merriweather"/>
            </a:endParaRPr>
          </a:p>
          <a:p>
            <a:pPr marL="457200" marR="0" lvl="0" indent="-292100" algn="l" rtl="0">
              <a:lnSpc>
                <a:spcPct val="100000"/>
              </a:lnSpc>
              <a:spcBef>
                <a:spcPts val="0"/>
              </a:spcBef>
              <a:spcAft>
                <a:spcPts val="0"/>
              </a:spcAft>
              <a:buClr>
                <a:srgbClr val="333333"/>
              </a:buClr>
              <a:buSzPts val="1000"/>
              <a:buFont typeface="Merriweather"/>
              <a:buChar char="●"/>
            </a:pPr>
            <a:r>
              <a:rPr lang="en" sz="1100" b="0" i="0" u="none" strike="noStrike" cap="none">
                <a:solidFill>
                  <a:srgbClr val="333333"/>
                </a:solidFill>
                <a:highlight>
                  <a:srgbClr val="FFFFFF"/>
                </a:highlight>
                <a:latin typeface="Merriweather"/>
                <a:ea typeface="Merriweather"/>
                <a:cs typeface="Merriweather"/>
                <a:sym typeface="Merriweather"/>
              </a:rPr>
              <a:t>Track usage of the API</a:t>
            </a:r>
            <a:endParaRPr sz="1100" b="0" i="0" u="none" strike="noStrike" cap="none">
              <a:solidFill>
                <a:srgbClr val="333333"/>
              </a:solidFill>
              <a:highlight>
                <a:srgbClr val="FFFFFF"/>
              </a:highlight>
              <a:latin typeface="Merriweather"/>
              <a:ea typeface="Merriweather"/>
              <a:cs typeface="Merriweather"/>
              <a:sym typeface="Merriweather"/>
            </a:endParaRPr>
          </a:p>
          <a:p>
            <a:pPr marL="457200" marR="0" lvl="0" indent="-298450" algn="l" rtl="0">
              <a:lnSpc>
                <a:spcPct val="100000"/>
              </a:lnSpc>
              <a:spcBef>
                <a:spcPts val="0"/>
              </a:spcBef>
              <a:spcAft>
                <a:spcPts val="0"/>
              </a:spcAft>
              <a:buClr>
                <a:srgbClr val="333333"/>
              </a:buClr>
              <a:buSzPts val="1100"/>
              <a:buFont typeface="Merriweather"/>
              <a:buChar char="●"/>
            </a:pPr>
            <a:r>
              <a:rPr lang="en" sz="1100" b="0" i="0" u="none" strike="noStrike" cap="none">
                <a:solidFill>
                  <a:srgbClr val="333333"/>
                </a:solidFill>
                <a:highlight>
                  <a:srgbClr val="FFFFFF"/>
                </a:highlight>
                <a:latin typeface="Merriweather"/>
                <a:ea typeface="Merriweather"/>
                <a:cs typeface="Merriweather"/>
                <a:sym typeface="Merriweather"/>
              </a:rPr>
              <a:t>Apply different permission levels to different users</a:t>
            </a:r>
            <a:endParaRPr sz="1100" b="0" i="0" u="none" strike="noStrike" cap="none">
              <a:solidFill>
                <a:srgbClr val="333333"/>
              </a:solidFill>
              <a:highlight>
                <a:srgbClr val="FFFFFF"/>
              </a:highlight>
              <a:latin typeface="Merriweather"/>
              <a:ea typeface="Merriweather"/>
              <a:cs typeface="Merriweather"/>
              <a:sym typeface="Merriweather"/>
            </a:endParaRPr>
          </a:p>
        </p:txBody>
      </p:sp>
      <p:pic>
        <p:nvPicPr>
          <p:cNvPr id="271" name="Google Shape;271;ge185968441_0_39"/>
          <p:cNvPicPr preferRelativeResize="0"/>
          <p:nvPr/>
        </p:nvPicPr>
        <p:blipFill rotWithShape="1">
          <a:blip r:embed="rId5">
            <a:alphaModFix/>
          </a:blip>
          <a:srcRect/>
          <a:stretch/>
        </p:blipFill>
        <p:spPr>
          <a:xfrm>
            <a:off x="4996025" y="2826475"/>
            <a:ext cx="4147973" cy="23170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1000"/>
                                        <p:tgtEl>
                                          <p:spTgt spid="2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0"/>
                                        </p:tgtEl>
                                        <p:attrNameLst>
                                          <p:attrName>style.visibility</p:attrName>
                                        </p:attrNameLst>
                                      </p:cBhvr>
                                      <p:to>
                                        <p:strVal val="visible"/>
                                      </p:to>
                                    </p:set>
                                    <p:animEffect transition="in" filter="fade">
                                      <p:cBhvr>
                                        <p:cTn id="12" dur="1000"/>
                                        <p:tgtEl>
                                          <p:spTgt spid="2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9"/>
                                        </p:tgtEl>
                                        <p:attrNameLst>
                                          <p:attrName>style.visibility</p:attrName>
                                        </p:attrNameLst>
                                      </p:cBhvr>
                                      <p:to>
                                        <p:strVal val="visible"/>
                                      </p:to>
                                    </p:set>
                                    <p:animEffect transition="in" filter="fade">
                                      <p:cBhvr>
                                        <p:cTn id="17" dur="1000"/>
                                        <p:tgtEl>
                                          <p:spTgt spid="2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5"/>
                                        </p:tgtEl>
                                        <p:attrNameLst>
                                          <p:attrName>style.visibility</p:attrName>
                                        </p:attrNameLst>
                                      </p:cBhvr>
                                      <p:to>
                                        <p:strVal val="visible"/>
                                      </p:to>
                                    </p:set>
                                    <p:animEffect transition="in" filter="fade">
                                      <p:cBhvr>
                                        <p:cTn id="22" dur="1000"/>
                                        <p:tgtEl>
                                          <p:spTgt spid="2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1"/>
                                        </p:tgtEl>
                                        <p:attrNameLst>
                                          <p:attrName>style.visibility</p:attrName>
                                        </p:attrNameLst>
                                      </p:cBhvr>
                                      <p:to>
                                        <p:strVal val="visible"/>
                                      </p:to>
                                    </p:set>
                                    <p:animEffect transition="in" filter="fade">
                                      <p:cBhvr>
                                        <p:cTn id="27" dur="10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e185968441_0_74"/>
          <p:cNvSpPr txBox="1">
            <a:spLocks noGrp="1"/>
          </p:cNvSpPr>
          <p:nvPr>
            <p:ph type="body" idx="1"/>
          </p:nvPr>
        </p:nvSpPr>
        <p:spPr>
          <a:xfrm>
            <a:off x="557550" y="499750"/>
            <a:ext cx="8586300" cy="47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4800"/>
              </a:spcAft>
              <a:buSzPts val="2400"/>
              <a:buNone/>
            </a:pPr>
            <a:r>
              <a:rPr lang="en" sz="1650">
                <a:solidFill>
                  <a:srgbClr val="EF4F63"/>
                </a:solidFill>
                <a:highlight>
                  <a:srgbClr val="FFFFFF"/>
                </a:highlight>
                <a:latin typeface="Merriweather"/>
                <a:ea typeface="Merriweather"/>
                <a:cs typeface="Merriweather"/>
                <a:sym typeface="Merriweather"/>
              </a:rPr>
              <a:t>OAuth 2.0 Flow</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endParaRPr sz="1050">
              <a:solidFill>
                <a:srgbClr val="3A4145"/>
              </a:solidFill>
              <a:highlight>
                <a:srgbClr val="FFFFFF"/>
              </a:highlight>
              <a:latin typeface="Merriweather"/>
              <a:ea typeface="Merriweather"/>
              <a:cs typeface="Merriweather"/>
              <a:sym typeface="Merriweather"/>
            </a:endParaRPr>
          </a:p>
        </p:txBody>
      </p:sp>
      <p:sp>
        <p:nvSpPr>
          <p:cNvPr id="277" name="Google Shape;277;ge185968441_0_74"/>
          <p:cNvSpPr txBox="1">
            <a:spLocks noGrp="1"/>
          </p:cNvSpPr>
          <p:nvPr>
            <p:ph type="title"/>
          </p:nvPr>
        </p:nvSpPr>
        <p:spPr>
          <a:xfrm>
            <a:off x="557550" y="144823"/>
            <a:ext cx="7571700" cy="485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000"/>
              <a:buNone/>
            </a:pPr>
            <a:r>
              <a:rPr lang="en" sz="2700" b="1"/>
              <a:t>Methods to Authentication REST API</a:t>
            </a:r>
            <a:endParaRPr sz="2700" b="1"/>
          </a:p>
        </p:txBody>
      </p:sp>
      <p:sp>
        <p:nvSpPr>
          <p:cNvPr id="278" name="Google Shape;278;ge185968441_0_74"/>
          <p:cNvSpPr txBox="1">
            <a:spLocks noGrp="1"/>
          </p:cNvSpPr>
          <p:nvPr>
            <p:ph type="sldNum" idx="12"/>
          </p:nvPr>
        </p:nvSpPr>
        <p:spPr>
          <a:xfrm>
            <a:off x="8404384" y="474990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47</a:t>
            </a:fld>
            <a:endParaRPr/>
          </a:p>
        </p:txBody>
      </p:sp>
      <p:sp>
        <p:nvSpPr>
          <p:cNvPr id="279" name="Google Shape;279;ge185968441_0_74"/>
          <p:cNvSpPr/>
          <p:nvPr/>
        </p:nvSpPr>
        <p:spPr>
          <a:xfrm>
            <a:off x="891982" y="1045225"/>
            <a:ext cx="1098300" cy="736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Mono Light"/>
                <a:ea typeface="Roboto Mono Light"/>
                <a:cs typeface="Roboto Mono Light"/>
                <a:sym typeface="Roboto Mono Light"/>
              </a:rPr>
              <a:t>client</a:t>
            </a:r>
            <a:endParaRPr sz="1400" b="0" i="0" u="none" strike="noStrike" cap="none">
              <a:solidFill>
                <a:srgbClr val="000000"/>
              </a:solidFill>
              <a:latin typeface="Roboto Mono Light"/>
              <a:ea typeface="Roboto Mono Light"/>
              <a:cs typeface="Roboto Mono Light"/>
              <a:sym typeface="Roboto Mono Light"/>
            </a:endParaRPr>
          </a:p>
        </p:txBody>
      </p:sp>
      <p:sp>
        <p:nvSpPr>
          <p:cNvPr id="280" name="Google Shape;280;ge185968441_0_74"/>
          <p:cNvSpPr/>
          <p:nvPr/>
        </p:nvSpPr>
        <p:spPr>
          <a:xfrm>
            <a:off x="2720154" y="1045225"/>
            <a:ext cx="1098300" cy="736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Mono Light"/>
                <a:ea typeface="Roboto Mono Light"/>
                <a:cs typeface="Roboto Mono Light"/>
                <a:sym typeface="Roboto Mono Light"/>
              </a:rPr>
              <a:t>OAuth server</a:t>
            </a:r>
            <a:endParaRPr sz="1400" b="0" i="0" u="none" strike="noStrike" cap="none">
              <a:solidFill>
                <a:srgbClr val="000000"/>
              </a:solidFill>
              <a:latin typeface="Arial"/>
              <a:ea typeface="Arial"/>
              <a:cs typeface="Arial"/>
              <a:sym typeface="Arial"/>
            </a:endParaRPr>
          </a:p>
        </p:txBody>
      </p:sp>
      <p:sp>
        <p:nvSpPr>
          <p:cNvPr id="281" name="Google Shape;281;ge185968441_0_74"/>
          <p:cNvSpPr/>
          <p:nvPr/>
        </p:nvSpPr>
        <p:spPr>
          <a:xfrm>
            <a:off x="4617915" y="1045225"/>
            <a:ext cx="1098300" cy="736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Mono Light"/>
                <a:ea typeface="Roboto Mono Light"/>
                <a:cs typeface="Roboto Mono Light"/>
                <a:sym typeface="Roboto Mono Light"/>
              </a:rPr>
              <a:t>Resource Server</a:t>
            </a:r>
            <a:endParaRPr sz="1400" b="0" i="0" u="none" strike="noStrike" cap="none">
              <a:solidFill>
                <a:srgbClr val="000000"/>
              </a:solidFill>
              <a:latin typeface="Arial"/>
              <a:ea typeface="Arial"/>
              <a:cs typeface="Arial"/>
              <a:sym typeface="Arial"/>
            </a:endParaRPr>
          </a:p>
        </p:txBody>
      </p:sp>
      <p:sp>
        <p:nvSpPr>
          <p:cNvPr id="282" name="Google Shape;282;ge185968441_0_74"/>
          <p:cNvSpPr/>
          <p:nvPr/>
        </p:nvSpPr>
        <p:spPr>
          <a:xfrm>
            <a:off x="1325050" y="2110750"/>
            <a:ext cx="231900" cy="2563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ge185968441_0_74"/>
          <p:cNvSpPr/>
          <p:nvPr/>
        </p:nvSpPr>
        <p:spPr>
          <a:xfrm>
            <a:off x="3153225" y="2072650"/>
            <a:ext cx="231900" cy="82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ge185968441_0_74"/>
          <p:cNvSpPr/>
          <p:nvPr/>
        </p:nvSpPr>
        <p:spPr>
          <a:xfrm>
            <a:off x="3153221" y="3421319"/>
            <a:ext cx="231900" cy="736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ge185968441_0_74"/>
          <p:cNvSpPr/>
          <p:nvPr/>
        </p:nvSpPr>
        <p:spPr>
          <a:xfrm>
            <a:off x="5050982" y="2944245"/>
            <a:ext cx="231900" cy="1729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6" name="Google Shape;286;ge185968441_0_74"/>
          <p:cNvCxnSpPr/>
          <p:nvPr/>
        </p:nvCxnSpPr>
        <p:spPr>
          <a:xfrm rot="10800000" flipH="1">
            <a:off x="1562100" y="2336350"/>
            <a:ext cx="1599000" cy="3000"/>
          </a:xfrm>
          <a:prstGeom prst="straightConnector1">
            <a:avLst/>
          </a:prstGeom>
          <a:noFill/>
          <a:ln w="9525" cap="flat" cmpd="sng">
            <a:solidFill>
              <a:schemeClr val="dk2"/>
            </a:solidFill>
            <a:prstDash val="solid"/>
            <a:round/>
            <a:headEnd type="none" w="sm" len="sm"/>
            <a:tailEnd type="triangle" w="med" len="med"/>
          </a:ln>
        </p:spPr>
      </p:cxnSp>
      <p:sp>
        <p:nvSpPr>
          <p:cNvPr id="287" name="Google Shape;287;ge185968441_0_74"/>
          <p:cNvSpPr/>
          <p:nvPr/>
        </p:nvSpPr>
        <p:spPr>
          <a:xfrm>
            <a:off x="3385205" y="2190394"/>
            <a:ext cx="278346" cy="163007"/>
          </a:xfrm>
          <a:custGeom>
            <a:avLst/>
            <a:gdLst/>
            <a:ahLst/>
            <a:cxnLst/>
            <a:rect l="l" t="t" r="r" b="b"/>
            <a:pathLst>
              <a:path w="24315" h="7327" extrusionOk="0">
                <a:moveTo>
                  <a:pt x="0" y="621"/>
                </a:moveTo>
                <a:cubicBezTo>
                  <a:pt x="3353" y="570"/>
                  <a:pt x="16357" y="-497"/>
                  <a:pt x="20116" y="316"/>
                </a:cubicBezTo>
                <a:cubicBezTo>
                  <a:pt x="23875" y="1129"/>
                  <a:pt x="25857" y="4330"/>
                  <a:pt x="22555" y="5498"/>
                </a:cubicBezTo>
                <a:cubicBezTo>
                  <a:pt x="19253" y="6667"/>
                  <a:pt x="4013" y="7022"/>
                  <a:pt x="304" y="7327"/>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ge185968441_0_74"/>
          <p:cNvSpPr/>
          <p:nvPr/>
        </p:nvSpPr>
        <p:spPr>
          <a:xfrm>
            <a:off x="3385205" y="2610028"/>
            <a:ext cx="278346" cy="163007"/>
          </a:xfrm>
          <a:custGeom>
            <a:avLst/>
            <a:gdLst/>
            <a:ahLst/>
            <a:cxnLst/>
            <a:rect l="l" t="t" r="r" b="b"/>
            <a:pathLst>
              <a:path w="24315" h="7327" extrusionOk="0">
                <a:moveTo>
                  <a:pt x="0" y="621"/>
                </a:moveTo>
                <a:cubicBezTo>
                  <a:pt x="3353" y="570"/>
                  <a:pt x="16357" y="-497"/>
                  <a:pt x="20116" y="316"/>
                </a:cubicBezTo>
                <a:cubicBezTo>
                  <a:pt x="23875" y="1129"/>
                  <a:pt x="25857" y="4330"/>
                  <a:pt x="22555" y="5498"/>
                </a:cubicBezTo>
                <a:cubicBezTo>
                  <a:pt x="19253" y="6667"/>
                  <a:pt x="4013" y="7022"/>
                  <a:pt x="304" y="7327"/>
                </a:cubicBezTo>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9" name="Google Shape;289;ge185968441_0_74"/>
          <p:cNvCxnSpPr/>
          <p:nvPr/>
        </p:nvCxnSpPr>
        <p:spPr>
          <a:xfrm>
            <a:off x="1562100" y="3200400"/>
            <a:ext cx="3496800" cy="18000"/>
          </a:xfrm>
          <a:prstGeom prst="straightConnector1">
            <a:avLst/>
          </a:prstGeom>
          <a:noFill/>
          <a:ln w="9525" cap="flat" cmpd="sng">
            <a:solidFill>
              <a:schemeClr val="dk2"/>
            </a:solidFill>
            <a:prstDash val="solid"/>
            <a:round/>
            <a:headEnd type="none" w="sm" len="sm"/>
            <a:tailEnd type="triangle" w="med" len="med"/>
          </a:ln>
        </p:spPr>
      </p:cxnSp>
      <p:cxnSp>
        <p:nvCxnSpPr>
          <p:cNvPr id="290" name="Google Shape;290;ge185968441_0_74"/>
          <p:cNvCxnSpPr/>
          <p:nvPr/>
        </p:nvCxnSpPr>
        <p:spPr>
          <a:xfrm rot="10800000">
            <a:off x="3390856" y="3520422"/>
            <a:ext cx="1644600" cy="14400"/>
          </a:xfrm>
          <a:prstGeom prst="straightConnector1">
            <a:avLst/>
          </a:prstGeom>
          <a:noFill/>
          <a:ln w="9525" cap="flat" cmpd="sng">
            <a:solidFill>
              <a:schemeClr val="dk2"/>
            </a:solidFill>
            <a:prstDash val="solid"/>
            <a:round/>
            <a:headEnd type="none" w="sm" len="sm"/>
            <a:tailEnd type="triangle" w="med" len="med"/>
          </a:ln>
        </p:spPr>
      </p:cxnSp>
      <p:cxnSp>
        <p:nvCxnSpPr>
          <p:cNvPr id="291" name="Google Shape;291;ge185968441_0_74"/>
          <p:cNvCxnSpPr/>
          <p:nvPr/>
        </p:nvCxnSpPr>
        <p:spPr>
          <a:xfrm flipH="1">
            <a:off x="3383350" y="3973977"/>
            <a:ext cx="1656000" cy="11400"/>
          </a:xfrm>
          <a:prstGeom prst="straightConnector1">
            <a:avLst/>
          </a:prstGeom>
          <a:noFill/>
          <a:ln w="9525" cap="flat" cmpd="sng">
            <a:solidFill>
              <a:schemeClr val="dk2"/>
            </a:solidFill>
            <a:prstDash val="solid"/>
            <a:round/>
            <a:headEnd type="stealth" w="med" len="med"/>
            <a:tailEnd type="none" w="sm" len="sm"/>
          </a:ln>
        </p:spPr>
      </p:cxnSp>
      <p:cxnSp>
        <p:nvCxnSpPr>
          <p:cNvPr id="292" name="Google Shape;292;ge185968441_0_74"/>
          <p:cNvCxnSpPr/>
          <p:nvPr/>
        </p:nvCxnSpPr>
        <p:spPr>
          <a:xfrm>
            <a:off x="1569725" y="4404350"/>
            <a:ext cx="3489000" cy="12600"/>
          </a:xfrm>
          <a:prstGeom prst="straightConnector1">
            <a:avLst/>
          </a:prstGeom>
          <a:noFill/>
          <a:ln w="9525" cap="flat" cmpd="sng">
            <a:solidFill>
              <a:schemeClr val="dk2"/>
            </a:solidFill>
            <a:prstDash val="solid"/>
            <a:round/>
            <a:headEnd type="stealth" w="med" len="med"/>
            <a:tailEnd type="none" w="sm" len="sm"/>
          </a:ln>
        </p:spPr>
      </p:cxnSp>
      <p:cxnSp>
        <p:nvCxnSpPr>
          <p:cNvPr id="293" name="Google Shape;293;ge185968441_0_74"/>
          <p:cNvCxnSpPr>
            <a:endCxn id="285" idx="0"/>
          </p:cNvCxnSpPr>
          <p:nvPr/>
        </p:nvCxnSpPr>
        <p:spPr>
          <a:xfrm>
            <a:off x="5166932" y="1781445"/>
            <a:ext cx="0" cy="1162800"/>
          </a:xfrm>
          <a:prstGeom prst="straightConnector1">
            <a:avLst/>
          </a:prstGeom>
          <a:noFill/>
          <a:ln w="9525" cap="flat" cmpd="sng">
            <a:solidFill>
              <a:schemeClr val="dk2"/>
            </a:solidFill>
            <a:prstDash val="lgDash"/>
            <a:round/>
            <a:headEnd type="none" w="sm" len="sm"/>
            <a:tailEnd type="none" w="sm" len="sm"/>
          </a:ln>
        </p:spPr>
      </p:cxnSp>
      <p:sp>
        <p:nvSpPr>
          <p:cNvPr id="294" name="Google Shape;294;ge185968441_0_74"/>
          <p:cNvSpPr txBox="1"/>
          <p:nvPr/>
        </p:nvSpPr>
        <p:spPr>
          <a:xfrm>
            <a:off x="1638300" y="20726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1. Request Access Token</a:t>
            </a:r>
            <a:endParaRPr sz="900" b="0" i="0" u="none" strike="noStrike" cap="none">
              <a:solidFill>
                <a:srgbClr val="000000"/>
              </a:solidFill>
              <a:latin typeface="Arial"/>
              <a:ea typeface="Arial"/>
              <a:cs typeface="Arial"/>
              <a:sym typeface="Arial"/>
            </a:endParaRPr>
          </a:p>
        </p:txBody>
      </p:sp>
      <p:cxnSp>
        <p:nvCxnSpPr>
          <p:cNvPr id="295" name="Google Shape;295;ge185968441_0_74"/>
          <p:cNvCxnSpPr/>
          <p:nvPr/>
        </p:nvCxnSpPr>
        <p:spPr>
          <a:xfrm rot="10800000" flipH="1">
            <a:off x="1562100" y="2717350"/>
            <a:ext cx="1599000" cy="3000"/>
          </a:xfrm>
          <a:prstGeom prst="straightConnector1">
            <a:avLst/>
          </a:prstGeom>
          <a:noFill/>
          <a:ln w="9525" cap="flat" cmpd="sng">
            <a:solidFill>
              <a:schemeClr val="dk2"/>
            </a:solidFill>
            <a:prstDash val="solid"/>
            <a:round/>
            <a:headEnd type="stealth" w="med" len="med"/>
            <a:tailEnd type="none" w="sm" len="sm"/>
          </a:ln>
        </p:spPr>
      </p:cxnSp>
      <p:sp>
        <p:nvSpPr>
          <p:cNvPr id="296" name="Google Shape;296;ge185968441_0_74"/>
          <p:cNvSpPr txBox="1"/>
          <p:nvPr/>
        </p:nvSpPr>
        <p:spPr>
          <a:xfrm>
            <a:off x="1638300" y="24536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4. Return Access Token</a:t>
            </a:r>
            <a:endParaRPr sz="900" b="0" i="0" u="none" strike="noStrike" cap="none">
              <a:solidFill>
                <a:srgbClr val="000000"/>
              </a:solidFill>
              <a:latin typeface="Arial"/>
              <a:ea typeface="Arial"/>
              <a:cs typeface="Arial"/>
              <a:sym typeface="Arial"/>
            </a:endParaRPr>
          </a:p>
        </p:txBody>
      </p:sp>
      <p:sp>
        <p:nvSpPr>
          <p:cNvPr id="297" name="Google Shape;297;ge185968441_0_74"/>
          <p:cNvSpPr txBox="1"/>
          <p:nvPr/>
        </p:nvSpPr>
        <p:spPr>
          <a:xfrm>
            <a:off x="1714500" y="29108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5. Request Resource</a:t>
            </a:r>
            <a:endParaRPr sz="900" b="0" i="0" u="none" strike="noStrike" cap="none">
              <a:solidFill>
                <a:srgbClr val="000000"/>
              </a:solidFill>
              <a:latin typeface="Arial"/>
              <a:ea typeface="Arial"/>
              <a:cs typeface="Arial"/>
              <a:sym typeface="Arial"/>
            </a:endParaRPr>
          </a:p>
        </p:txBody>
      </p:sp>
      <p:sp>
        <p:nvSpPr>
          <p:cNvPr id="298" name="Google Shape;298;ge185968441_0_74"/>
          <p:cNvSpPr txBox="1"/>
          <p:nvPr/>
        </p:nvSpPr>
        <p:spPr>
          <a:xfrm>
            <a:off x="3543300" y="32918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6. Validate Token</a:t>
            </a:r>
            <a:endParaRPr sz="900" b="0" i="0" u="none" strike="noStrike" cap="none">
              <a:solidFill>
                <a:srgbClr val="000000"/>
              </a:solidFill>
              <a:latin typeface="Arial"/>
              <a:ea typeface="Arial"/>
              <a:cs typeface="Arial"/>
              <a:sym typeface="Arial"/>
            </a:endParaRPr>
          </a:p>
        </p:txBody>
      </p:sp>
      <p:sp>
        <p:nvSpPr>
          <p:cNvPr id="299" name="Google Shape;299;ge185968441_0_74"/>
          <p:cNvSpPr txBox="1"/>
          <p:nvPr/>
        </p:nvSpPr>
        <p:spPr>
          <a:xfrm>
            <a:off x="3543300" y="37490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7. Valid Token</a:t>
            </a:r>
            <a:endParaRPr sz="900" b="0" i="0" u="none" strike="noStrike" cap="none">
              <a:solidFill>
                <a:srgbClr val="000000"/>
              </a:solidFill>
              <a:latin typeface="Arial"/>
              <a:ea typeface="Arial"/>
              <a:cs typeface="Arial"/>
              <a:sym typeface="Arial"/>
            </a:endParaRPr>
          </a:p>
        </p:txBody>
      </p:sp>
      <p:sp>
        <p:nvSpPr>
          <p:cNvPr id="300" name="Google Shape;300;ge185968441_0_74"/>
          <p:cNvSpPr txBox="1"/>
          <p:nvPr/>
        </p:nvSpPr>
        <p:spPr>
          <a:xfrm>
            <a:off x="3467100" y="4130050"/>
            <a:ext cx="15240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8. Return Resource</a:t>
            </a:r>
            <a:endParaRPr sz="900" b="0" i="0" u="none" strike="noStrike" cap="none">
              <a:solidFill>
                <a:srgbClr val="000000"/>
              </a:solidFill>
              <a:latin typeface="Arial"/>
              <a:ea typeface="Arial"/>
              <a:cs typeface="Arial"/>
              <a:sym typeface="Arial"/>
            </a:endParaRPr>
          </a:p>
        </p:txBody>
      </p:sp>
      <p:sp>
        <p:nvSpPr>
          <p:cNvPr id="301" name="Google Shape;301;ge185968441_0_74"/>
          <p:cNvSpPr txBox="1"/>
          <p:nvPr/>
        </p:nvSpPr>
        <p:spPr>
          <a:xfrm>
            <a:off x="3383350" y="1935100"/>
            <a:ext cx="1524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Arial"/>
                <a:ea typeface="Arial"/>
                <a:cs typeface="Arial"/>
                <a:sym typeface="Arial"/>
              </a:rPr>
              <a:t>2. Verify client</a:t>
            </a:r>
            <a:endParaRPr sz="800" b="0" i="0" u="none" strike="noStrike" cap="none">
              <a:solidFill>
                <a:srgbClr val="000000"/>
              </a:solidFill>
              <a:latin typeface="Arial"/>
              <a:ea typeface="Arial"/>
              <a:cs typeface="Arial"/>
              <a:sym typeface="Arial"/>
            </a:endParaRPr>
          </a:p>
        </p:txBody>
      </p:sp>
      <p:sp>
        <p:nvSpPr>
          <p:cNvPr id="302" name="Google Shape;302;ge185968441_0_74"/>
          <p:cNvSpPr txBox="1"/>
          <p:nvPr/>
        </p:nvSpPr>
        <p:spPr>
          <a:xfrm>
            <a:off x="3314700" y="2377450"/>
            <a:ext cx="1524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Arial"/>
                <a:ea typeface="Arial"/>
                <a:cs typeface="Arial"/>
                <a:sym typeface="Arial"/>
              </a:rPr>
              <a:t>3. User Consent</a:t>
            </a:r>
            <a:endParaRPr sz="800" b="0" i="0" u="none" strike="noStrike" cap="none">
              <a:solidFill>
                <a:srgbClr val="000000"/>
              </a:solidFill>
              <a:latin typeface="Arial"/>
              <a:ea typeface="Arial"/>
              <a:cs typeface="Arial"/>
              <a:sym typeface="Arial"/>
            </a:endParaRPr>
          </a:p>
        </p:txBody>
      </p:sp>
      <p:cxnSp>
        <p:nvCxnSpPr>
          <p:cNvPr id="303" name="Google Shape;303;ge185968441_0_74"/>
          <p:cNvCxnSpPr>
            <a:stCxn id="279" idx="2"/>
            <a:endCxn id="282" idx="0"/>
          </p:cNvCxnSpPr>
          <p:nvPr/>
        </p:nvCxnSpPr>
        <p:spPr>
          <a:xfrm>
            <a:off x="1441132" y="1781425"/>
            <a:ext cx="0" cy="329400"/>
          </a:xfrm>
          <a:prstGeom prst="straightConnector1">
            <a:avLst/>
          </a:prstGeom>
          <a:noFill/>
          <a:ln w="9525" cap="flat" cmpd="sng">
            <a:solidFill>
              <a:schemeClr val="dk2"/>
            </a:solidFill>
            <a:prstDash val="solid"/>
            <a:round/>
            <a:headEnd type="none" w="sm" len="sm"/>
            <a:tailEnd type="none" w="sm" len="sm"/>
          </a:ln>
        </p:spPr>
      </p:cxnSp>
      <p:cxnSp>
        <p:nvCxnSpPr>
          <p:cNvPr id="304" name="Google Shape;304;ge185968441_0_74"/>
          <p:cNvCxnSpPr>
            <a:stCxn id="280" idx="2"/>
          </p:cNvCxnSpPr>
          <p:nvPr/>
        </p:nvCxnSpPr>
        <p:spPr>
          <a:xfrm>
            <a:off x="3269304" y="1781425"/>
            <a:ext cx="15000" cy="26820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1000"/>
                                        <p:tgtEl>
                                          <p:spTgt spid="279"/>
                                        </p:tgtEl>
                                      </p:cBhvr>
                                    </p:animEffect>
                                  </p:childTnLst>
                                </p:cTn>
                              </p:par>
                              <p:par>
                                <p:cTn id="8" presetID="10" presetClass="entr" presetSubtype="0" fill="hold"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1000"/>
                                        <p:tgtEl>
                                          <p:spTgt spid="303"/>
                                        </p:tgtEl>
                                      </p:cBhvr>
                                    </p:animEffect>
                                  </p:childTnLst>
                                </p:cTn>
                              </p:par>
                              <p:par>
                                <p:cTn id="11" presetID="10" presetClass="entr" presetSubtype="0" fill="hold" nodeType="withEffect">
                                  <p:stCondLst>
                                    <p:cond delay="0"/>
                                  </p:stCondLst>
                                  <p:childTnLst>
                                    <p:set>
                                      <p:cBhvr>
                                        <p:cTn id="12" dur="1" fill="hold">
                                          <p:stCondLst>
                                            <p:cond delay="0"/>
                                          </p:stCondLst>
                                        </p:cTn>
                                        <p:tgtEl>
                                          <p:spTgt spid="282"/>
                                        </p:tgtEl>
                                        <p:attrNameLst>
                                          <p:attrName>style.visibility</p:attrName>
                                        </p:attrNameLst>
                                      </p:cBhvr>
                                      <p:to>
                                        <p:strVal val="visible"/>
                                      </p:to>
                                    </p:set>
                                    <p:animEffect transition="in" filter="fade">
                                      <p:cBhvr>
                                        <p:cTn id="13" dur="1000"/>
                                        <p:tgtEl>
                                          <p:spTgt spid="28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0"/>
                                        </p:tgtEl>
                                        <p:attrNameLst>
                                          <p:attrName>style.visibility</p:attrName>
                                        </p:attrNameLst>
                                      </p:cBhvr>
                                      <p:to>
                                        <p:strVal val="visible"/>
                                      </p:to>
                                    </p:set>
                                    <p:animEffect transition="in" filter="fade">
                                      <p:cBhvr>
                                        <p:cTn id="18" dur="1000"/>
                                        <p:tgtEl>
                                          <p:spTgt spid="280"/>
                                        </p:tgtEl>
                                      </p:cBhvr>
                                    </p:animEffect>
                                  </p:childTnLst>
                                </p:cTn>
                              </p:par>
                              <p:par>
                                <p:cTn id="19" presetID="10" presetClass="entr" presetSubtype="0" fill="hold" nodeType="withEffect">
                                  <p:stCondLst>
                                    <p:cond delay="0"/>
                                  </p:stCondLst>
                                  <p:childTnLst>
                                    <p:set>
                                      <p:cBhvr>
                                        <p:cTn id="20" dur="1" fill="hold">
                                          <p:stCondLst>
                                            <p:cond delay="0"/>
                                          </p:stCondLst>
                                        </p:cTn>
                                        <p:tgtEl>
                                          <p:spTgt spid="304"/>
                                        </p:tgtEl>
                                        <p:attrNameLst>
                                          <p:attrName>style.visibility</p:attrName>
                                        </p:attrNameLst>
                                      </p:cBhvr>
                                      <p:to>
                                        <p:strVal val="visible"/>
                                      </p:to>
                                    </p:set>
                                    <p:animEffect transition="in" filter="fade">
                                      <p:cBhvr>
                                        <p:cTn id="21" dur="1000"/>
                                        <p:tgtEl>
                                          <p:spTgt spid="304"/>
                                        </p:tgtEl>
                                      </p:cBhvr>
                                    </p:animEffect>
                                  </p:childTnLst>
                                </p:cTn>
                              </p:par>
                              <p:par>
                                <p:cTn id="22" presetID="10" presetClass="entr" presetSubtype="0" fill="hold" nodeType="withEffect">
                                  <p:stCondLst>
                                    <p:cond delay="0"/>
                                  </p:stCondLst>
                                  <p:childTnLst>
                                    <p:set>
                                      <p:cBhvr>
                                        <p:cTn id="23" dur="1" fill="hold">
                                          <p:stCondLst>
                                            <p:cond delay="0"/>
                                          </p:stCondLst>
                                        </p:cTn>
                                        <p:tgtEl>
                                          <p:spTgt spid="283"/>
                                        </p:tgtEl>
                                        <p:attrNameLst>
                                          <p:attrName>style.visibility</p:attrName>
                                        </p:attrNameLst>
                                      </p:cBhvr>
                                      <p:to>
                                        <p:strVal val="visible"/>
                                      </p:to>
                                    </p:set>
                                    <p:animEffect transition="in" filter="fade">
                                      <p:cBhvr>
                                        <p:cTn id="24" dur="1000"/>
                                        <p:tgtEl>
                                          <p:spTgt spid="283"/>
                                        </p:tgtEl>
                                      </p:cBhvr>
                                    </p:animEffect>
                                  </p:childTnLst>
                                </p:cTn>
                              </p:par>
                              <p:par>
                                <p:cTn id="25" presetID="10" presetClass="entr" presetSubtype="0" fill="hold" nodeType="withEffect">
                                  <p:stCondLst>
                                    <p:cond delay="0"/>
                                  </p:stCondLst>
                                  <p:childTnLst>
                                    <p:set>
                                      <p:cBhvr>
                                        <p:cTn id="26" dur="1" fill="hold">
                                          <p:stCondLst>
                                            <p:cond delay="0"/>
                                          </p:stCondLst>
                                        </p:cTn>
                                        <p:tgtEl>
                                          <p:spTgt spid="284"/>
                                        </p:tgtEl>
                                        <p:attrNameLst>
                                          <p:attrName>style.visibility</p:attrName>
                                        </p:attrNameLst>
                                      </p:cBhvr>
                                      <p:to>
                                        <p:strVal val="visible"/>
                                      </p:to>
                                    </p:set>
                                    <p:animEffect transition="in" filter="fade">
                                      <p:cBhvr>
                                        <p:cTn id="27" dur="1000"/>
                                        <p:tgtEl>
                                          <p:spTgt spid="2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1"/>
                                        </p:tgtEl>
                                        <p:attrNameLst>
                                          <p:attrName>style.visibility</p:attrName>
                                        </p:attrNameLst>
                                      </p:cBhvr>
                                      <p:to>
                                        <p:strVal val="visible"/>
                                      </p:to>
                                    </p:set>
                                    <p:animEffect transition="in" filter="fade">
                                      <p:cBhvr>
                                        <p:cTn id="32" dur="1000"/>
                                        <p:tgtEl>
                                          <p:spTgt spid="281"/>
                                        </p:tgtEl>
                                      </p:cBhvr>
                                    </p:animEffect>
                                  </p:childTnLst>
                                </p:cTn>
                              </p:par>
                              <p:par>
                                <p:cTn id="33" presetID="10" presetClass="entr" presetSubtype="0" fill="hold" nodeType="withEffect">
                                  <p:stCondLst>
                                    <p:cond delay="0"/>
                                  </p:stCondLst>
                                  <p:childTnLst>
                                    <p:set>
                                      <p:cBhvr>
                                        <p:cTn id="34" dur="1" fill="hold">
                                          <p:stCondLst>
                                            <p:cond delay="0"/>
                                          </p:stCondLst>
                                        </p:cTn>
                                        <p:tgtEl>
                                          <p:spTgt spid="293"/>
                                        </p:tgtEl>
                                        <p:attrNameLst>
                                          <p:attrName>style.visibility</p:attrName>
                                        </p:attrNameLst>
                                      </p:cBhvr>
                                      <p:to>
                                        <p:strVal val="visible"/>
                                      </p:to>
                                    </p:set>
                                    <p:animEffect transition="in" filter="fade">
                                      <p:cBhvr>
                                        <p:cTn id="35" dur="1000"/>
                                        <p:tgtEl>
                                          <p:spTgt spid="293"/>
                                        </p:tgtEl>
                                      </p:cBhvr>
                                    </p:animEffect>
                                  </p:childTnLst>
                                </p:cTn>
                              </p:par>
                              <p:par>
                                <p:cTn id="36" presetID="10" presetClass="entr" presetSubtype="0" fill="hold" nodeType="withEffect">
                                  <p:stCondLst>
                                    <p:cond delay="0"/>
                                  </p:stCondLst>
                                  <p:childTnLst>
                                    <p:set>
                                      <p:cBhvr>
                                        <p:cTn id="37" dur="1" fill="hold">
                                          <p:stCondLst>
                                            <p:cond delay="0"/>
                                          </p:stCondLst>
                                        </p:cTn>
                                        <p:tgtEl>
                                          <p:spTgt spid="285"/>
                                        </p:tgtEl>
                                        <p:attrNameLst>
                                          <p:attrName>style.visibility</p:attrName>
                                        </p:attrNameLst>
                                      </p:cBhvr>
                                      <p:to>
                                        <p:strVal val="visible"/>
                                      </p:to>
                                    </p:set>
                                    <p:animEffect transition="in" filter="fade">
                                      <p:cBhvr>
                                        <p:cTn id="38" dur="1000"/>
                                        <p:tgtEl>
                                          <p:spTgt spid="28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6"/>
                                        </p:tgtEl>
                                        <p:attrNameLst>
                                          <p:attrName>style.visibility</p:attrName>
                                        </p:attrNameLst>
                                      </p:cBhvr>
                                      <p:to>
                                        <p:strVal val="visible"/>
                                      </p:to>
                                    </p:set>
                                    <p:animEffect transition="in" filter="fade">
                                      <p:cBhvr>
                                        <p:cTn id="43" dur="1000"/>
                                        <p:tgtEl>
                                          <p:spTgt spid="286"/>
                                        </p:tgtEl>
                                      </p:cBhvr>
                                    </p:animEffect>
                                  </p:childTnLst>
                                </p:cTn>
                              </p:par>
                              <p:par>
                                <p:cTn id="44" presetID="10" presetClass="entr" presetSubtype="0" fill="hold" nodeType="withEffect">
                                  <p:stCondLst>
                                    <p:cond delay="0"/>
                                  </p:stCondLst>
                                  <p:childTnLst>
                                    <p:set>
                                      <p:cBhvr>
                                        <p:cTn id="45" dur="1" fill="hold">
                                          <p:stCondLst>
                                            <p:cond delay="0"/>
                                          </p:stCondLst>
                                        </p:cTn>
                                        <p:tgtEl>
                                          <p:spTgt spid="294"/>
                                        </p:tgtEl>
                                        <p:attrNameLst>
                                          <p:attrName>style.visibility</p:attrName>
                                        </p:attrNameLst>
                                      </p:cBhvr>
                                      <p:to>
                                        <p:strVal val="visible"/>
                                      </p:to>
                                    </p:set>
                                    <p:animEffect transition="in" filter="fade">
                                      <p:cBhvr>
                                        <p:cTn id="46" dur="1000"/>
                                        <p:tgtEl>
                                          <p:spTgt spid="29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87"/>
                                        </p:tgtEl>
                                        <p:attrNameLst>
                                          <p:attrName>style.visibility</p:attrName>
                                        </p:attrNameLst>
                                      </p:cBhvr>
                                      <p:to>
                                        <p:strVal val="visible"/>
                                      </p:to>
                                    </p:set>
                                    <p:animEffect transition="in" filter="fade">
                                      <p:cBhvr>
                                        <p:cTn id="51" dur="1000"/>
                                        <p:tgtEl>
                                          <p:spTgt spid="287"/>
                                        </p:tgtEl>
                                      </p:cBhvr>
                                    </p:animEffect>
                                  </p:childTnLst>
                                </p:cTn>
                              </p:par>
                              <p:par>
                                <p:cTn id="52" presetID="10" presetClass="entr" presetSubtype="0" fill="hold" nodeType="withEffect">
                                  <p:stCondLst>
                                    <p:cond delay="0"/>
                                  </p:stCondLst>
                                  <p:childTnLst>
                                    <p:set>
                                      <p:cBhvr>
                                        <p:cTn id="53" dur="1" fill="hold">
                                          <p:stCondLst>
                                            <p:cond delay="0"/>
                                          </p:stCondLst>
                                        </p:cTn>
                                        <p:tgtEl>
                                          <p:spTgt spid="301"/>
                                        </p:tgtEl>
                                        <p:attrNameLst>
                                          <p:attrName>style.visibility</p:attrName>
                                        </p:attrNameLst>
                                      </p:cBhvr>
                                      <p:to>
                                        <p:strVal val="visible"/>
                                      </p:to>
                                    </p:set>
                                    <p:animEffect transition="in" filter="fade">
                                      <p:cBhvr>
                                        <p:cTn id="54" dur="1000"/>
                                        <p:tgtEl>
                                          <p:spTgt spid="30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88"/>
                                        </p:tgtEl>
                                        <p:attrNameLst>
                                          <p:attrName>style.visibility</p:attrName>
                                        </p:attrNameLst>
                                      </p:cBhvr>
                                      <p:to>
                                        <p:strVal val="visible"/>
                                      </p:to>
                                    </p:set>
                                    <p:animEffect transition="in" filter="fade">
                                      <p:cBhvr>
                                        <p:cTn id="59" dur="1000"/>
                                        <p:tgtEl>
                                          <p:spTgt spid="288"/>
                                        </p:tgtEl>
                                      </p:cBhvr>
                                    </p:animEffect>
                                  </p:childTnLst>
                                </p:cTn>
                              </p:par>
                              <p:par>
                                <p:cTn id="60" presetID="10" presetClass="entr" presetSubtype="0" fill="hold" nodeType="withEffect">
                                  <p:stCondLst>
                                    <p:cond delay="0"/>
                                  </p:stCondLst>
                                  <p:childTnLst>
                                    <p:set>
                                      <p:cBhvr>
                                        <p:cTn id="61" dur="1" fill="hold">
                                          <p:stCondLst>
                                            <p:cond delay="0"/>
                                          </p:stCondLst>
                                        </p:cTn>
                                        <p:tgtEl>
                                          <p:spTgt spid="302"/>
                                        </p:tgtEl>
                                        <p:attrNameLst>
                                          <p:attrName>style.visibility</p:attrName>
                                        </p:attrNameLst>
                                      </p:cBhvr>
                                      <p:to>
                                        <p:strVal val="visible"/>
                                      </p:to>
                                    </p:set>
                                    <p:animEffect transition="in" filter="fade">
                                      <p:cBhvr>
                                        <p:cTn id="62" dur="1000"/>
                                        <p:tgtEl>
                                          <p:spTgt spid="30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95"/>
                                        </p:tgtEl>
                                        <p:attrNameLst>
                                          <p:attrName>style.visibility</p:attrName>
                                        </p:attrNameLst>
                                      </p:cBhvr>
                                      <p:to>
                                        <p:strVal val="visible"/>
                                      </p:to>
                                    </p:set>
                                    <p:animEffect transition="in" filter="fade">
                                      <p:cBhvr>
                                        <p:cTn id="67" dur="1000"/>
                                        <p:tgtEl>
                                          <p:spTgt spid="295"/>
                                        </p:tgtEl>
                                      </p:cBhvr>
                                    </p:animEffect>
                                  </p:childTnLst>
                                </p:cTn>
                              </p:par>
                              <p:par>
                                <p:cTn id="68" presetID="10" presetClass="entr" presetSubtype="0" fill="hold" nodeType="withEffect">
                                  <p:stCondLst>
                                    <p:cond delay="0"/>
                                  </p:stCondLst>
                                  <p:childTnLst>
                                    <p:set>
                                      <p:cBhvr>
                                        <p:cTn id="69" dur="1" fill="hold">
                                          <p:stCondLst>
                                            <p:cond delay="0"/>
                                          </p:stCondLst>
                                        </p:cTn>
                                        <p:tgtEl>
                                          <p:spTgt spid="296"/>
                                        </p:tgtEl>
                                        <p:attrNameLst>
                                          <p:attrName>style.visibility</p:attrName>
                                        </p:attrNameLst>
                                      </p:cBhvr>
                                      <p:to>
                                        <p:strVal val="visible"/>
                                      </p:to>
                                    </p:set>
                                    <p:animEffect transition="in" filter="fade">
                                      <p:cBhvr>
                                        <p:cTn id="70" dur="1000"/>
                                        <p:tgtEl>
                                          <p:spTgt spid="29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9"/>
                                        </p:tgtEl>
                                        <p:attrNameLst>
                                          <p:attrName>style.visibility</p:attrName>
                                        </p:attrNameLst>
                                      </p:cBhvr>
                                      <p:to>
                                        <p:strVal val="visible"/>
                                      </p:to>
                                    </p:set>
                                    <p:animEffect transition="in" filter="fade">
                                      <p:cBhvr>
                                        <p:cTn id="75" dur="1000"/>
                                        <p:tgtEl>
                                          <p:spTgt spid="289"/>
                                        </p:tgtEl>
                                      </p:cBhvr>
                                    </p:animEffect>
                                  </p:childTnLst>
                                </p:cTn>
                              </p:par>
                              <p:par>
                                <p:cTn id="76" presetID="10" presetClass="entr" presetSubtype="0" fill="hold" nodeType="withEffect">
                                  <p:stCondLst>
                                    <p:cond delay="0"/>
                                  </p:stCondLst>
                                  <p:childTnLst>
                                    <p:set>
                                      <p:cBhvr>
                                        <p:cTn id="77" dur="1" fill="hold">
                                          <p:stCondLst>
                                            <p:cond delay="0"/>
                                          </p:stCondLst>
                                        </p:cTn>
                                        <p:tgtEl>
                                          <p:spTgt spid="297"/>
                                        </p:tgtEl>
                                        <p:attrNameLst>
                                          <p:attrName>style.visibility</p:attrName>
                                        </p:attrNameLst>
                                      </p:cBhvr>
                                      <p:to>
                                        <p:strVal val="visible"/>
                                      </p:to>
                                    </p:set>
                                    <p:animEffect transition="in" filter="fade">
                                      <p:cBhvr>
                                        <p:cTn id="78" dur="1000"/>
                                        <p:tgtEl>
                                          <p:spTgt spid="29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90"/>
                                        </p:tgtEl>
                                        <p:attrNameLst>
                                          <p:attrName>style.visibility</p:attrName>
                                        </p:attrNameLst>
                                      </p:cBhvr>
                                      <p:to>
                                        <p:strVal val="visible"/>
                                      </p:to>
                                    </p:set>
                                    <p:animEffect transition="in" filter="fade">
                                      <p:cBhvr>
                                        <p:cTn id="83" dur="1000"/>
                                        <p:tgtEl>
                                          <p:spTgt spid="290"/>
                                        </p:tgtEl>
                                      </p:cBhvr>
                                    </p:animEffect>
                                  </p:childTnLst>
                                </p:cTn>
                              </p:par>
                              <p:par>
                                <p:cTn id="84" presetID="10" presetClass="entr" presetSubtype="0" fill="hold" nodeType="withEffect">
                                  <p:stCondLst>
                                    <p:cond delay="0"/>
                                  </p:stCondLst>
                                  <p:childTnLst>
                                    <p:set>
                                      <p:cBhvr>
                                        <p:cTn id="85" dur="1" fill="hold">
                                          <p:stCondLst>
                                            <p:cond delay="0"/>
                                          </p:stCondLst>
                                        </p:cTn>
                                        <p:tgtEl>
                                          <p:spTgt spid="298"/>
                                        </p:tgtEl>
                                        <p:attrNameLst>
                                          <p:attrName>style.visibility</p:attrName>
                                        </p:attrNameLst>
                                      </p:cBhvr>
                                      <p:to>
                                        <p:strVal val="visible"/>
                                      </p:to>
                                    </p:set>
                                    <p:animEffect transition="in" filter="fade">
                                      <p:cBhvr>
                                        <p:cTn id="86" dur="1000"/>
                                        <p:tgtEl>
                                          <p:spTgt spid="298"/>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91"/>
                                        </p:tgtEl>
                                        <p:attrNameLst>
                                          <p:attrName>style.visibility</p:attrName>
                                        </p:attrNameLst>
                                      </p:cBhvr>
                                      <p:to>
                                        <p:strVal val="visible"/>
                                      </p:to>
                                    </p:set>
                                    <p:animEffect transition="in" filter="fade">
                                      <p:cBhvr>
                                        <p:cTn id="91" dur="1000"/>
                                        <p:tgtEl>
                                          <p:spTgt spid="291"/>
                                        </p:tgtEl>
                                      </p:cBhvr>
                                    </p:animEffect>
                                  </p:childTnLst>
                                </p:cTn>
                              </p:par>
                              <p:par>
                                <p:cTn id="92" presetID="10" presetClass="entr" presetSubtype="0" fill="hold" nodeType="withEffect">
                                  <p:stCondLst>
                                    <p:cond delay="0"/>
                                  </p:stCondLst>
                                  <p:childTnLst>
                                    <p:set>
                                      <p:cBhvr>
                                        <p:cTn id="93" dur="1" fill="hold">
                                          <p:stCondLst>
                                            <p:cond delay="0"/>
                                          </p:stCondLst>
                                        </p:cTn>
                                        <p:tgtEl>
                                          <p:spTgt spid="299"/>
                                        </p:tgtEl>
                                        <p:attrNameLst>
                                          <p:attrName>style.visibility</p:attrName>
                                        </p:attrNameLst>
                                      </p:cBhvr>
                                      <p:to>
                                        <p:strVal val="visible"/>
                                      </p:to>
                                    </p:set>
                                    <p:animEffect transition="in" filter="fade">
                                      <p:cBhvr>
                                        <p:cTn id="94" dur="1000"/>
                                        <p:tgtEl>
                                          <p:spTgt spid="299"/>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292"/>
                                        </p:tgtEl>
                                        <p:attrNameLst>
                                          <p:attrName>style.visibility</p:attrName>
                                        </p:attrNameLst>
                                      </p:cBhvr>
                                      <p:to>
                                        <p:strVal val="visible"/>
                                      </p:to>
                                    </p:set>
                                    <p:animEffect transition="in" filter="fade">
                                      <p:cBhvr>
                                        <p:cTn id="99" dur="1000"/>
                                        <p:tgtEl>
                                          <p:spTgt spid="292"/>
                                        </p:tgtEl>
                                      </p:cBhvr>
                                    </p:animEffect>
                                  </p:childTnLst>
                                </p:cTn>
                              </p:par>
                              <p:par>
                                <p:cTn id="100" presetID="10" presetClass="entr" presetSubtype="0" fill="hold" nodeType="withEffect">
                                  <p:stCondLst>
                                    <p:cond delay="0"/>
                                  </p:stCondLst>
                                  <p:childTnLst>
                                    <p:set>
                                      <p:cBhvr>
                                        <p:cTn id="101" dur="1" fill="hold">
                                          <p:stCondLst>
                                            <p:cond delay="0"/>
                                          </p:stCondLst>
                                        </p:cTn>
                                        <p:tgtEl>
                                          <p:spTgt spid="300"/>
                                        </p:tgtEl>
                                        <p:attrNameLst>
                                          <p:attrName>style.visibility</p:attrName>
                                        </p:attrNameLst>
                                      </p:cBhvr>
                                      <p:to>
                                        <p:strVal val="visible"/>
                                      </p:to>
                                    </p:set>
                                    <p:animEffect transition="in" filter="fade">
                                      <p:cBhvr>
                                        <p:cTn id="102" dur="100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e185968441_0_57"/>
          <p:cNvSpPr txBox="1"/>
          <p:nvPr/>
        </p:nvSpPr>
        <p:spPr>
          <a:xfrm>
            <a:off x="557550" y="3048050"/>
            <a:ext cx="7534800" cy="195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Using Python </a:t>
            </a:r>
            <a:r>
              <a:rPr lang="en" sz="1250" b="0" i="0" u="none" strike="noStrike" cap="none">
                <a:solidFill>
                  <a:srgbClr val="3A4145"/>
                </a:solidFill>
                <a:highlight>
                  <a:schemeClr val="lt2"/>
                </a:highlight>
                <a:latin typeface="Roboto Mono Light"/>
                <a:ea typeface="Roboto Mono Light"/>
                <a:cs typeface="Roboto Mono Light"/>
                <a:sym typeface="Roboto Mono Light"/>
              </a:rPr>
              <a:t>requests</a:t>
            </a:r>
            <a:br>
              <a:rPr lang="en" sz="1250" b="0" i="0" u="none" strike="noStrike" cap="none">
                <a:solidFill>
                  <a:srgbClr val="3A4145"/>
                </a:solidFill>
                <a:highlight>
                  <a:schemeClr val="lt2"/>
                </a:highlight>
                <a:latin typeface="Roboto Mono Light"/>
                <a:ea typeface="Roboto Mono Light"/>
                <a:cs typeface="Roboto Mono Light"/>
                <a:sym typeface="Roboto Mono Light"/>
              </a:rPr>
            </a:br>
            <a:r>
              <a:rPr lang="en" sz="1250" b="0" i="0" u="none" strike="noStrike" cap="none">
                <a:solidFill>
                  <a:srgbClr val="3A4145"/>
                </a:solidFill>
                <a:highlight>
                  <a:schemeClr val="lt2"/>
                </a:highlight>
                <a:latin typeface="Roboto Mono Light"/>
                <a:ea typeface="Roboto Mono Light"/>
                <a:cs typeface="Roboto Mono Light"/>
                <a:sym typeface="Roboto Mono Light"/>
              </a:rPr>
              <a:t/>
            </a:r>
            <a:br>
              <a:rPr lang="en" sz="1250" b="0" i="0" u="none" strike="noStrike" cap="none">
                <a:solidFill>
                  <a:srgbClr val="3A4145"/>
                </a:solidFill>
                <a:highlight>
                  <a:schemeClr val="lt2"/>
                </a:highlight>
                <a:latin typeface="Roboto Mono Light"/>
                <a:ea typeface="Roboto Mono Light"/>
                <a:cs typeface="Roboto Mono Light"/>
                <a:sym typeface="Roboto Mono Light"/>
              </a:rPr>
            </a:br>
            <a:r>
              <a:rPr lang="en" sz="900" b="1" i="0" u="none" strike="noStrike" cap="none">
                <a:solidFill>
                  <a:srgbClr val="008000"/>
                </a:solidFill>
                <a:highlight>
                  <a:srgbClr val="FFFFFF"/>
                </a:highlight>
                <a:latin typeface="Courier New"/>
                <a:ea typeface="Courier New"/>
                <a:cs typeface="Courier New"/>
                <a:sym typeface="Courier New"/>
              </a:rPr>
              <a:t># using params</a:t>
            </a:r>
            <a:br>
              <a:rPr lang="en" sz="900" b="1" i="0" u="none" strike="noStrike" cap="none">
                <a:solidFill>
                  <a:srgbClr val="008000"/>
                </a:solidFill>
                <a:highlight>
                  <a:srgbClr val="FFFFFF"/>
                </a:highlight>
                <a:latin typeface="Courier New"/>
                <a:ea typeface="Courier New"/>
                <a:cs typeface="Courier New"/>
                <a:sym typeface="Courier New"/>
              </a:rPr>
            </a:br>
            <a:r>
              <a:rPr lang="en" sz="900" b="1" i="0" u="none" strike="noStrike" cap="none">
                <a:solidFill>
                  <a:srgbClr val="AF00DB"/>
                </a:solidFill>
                <a:highlight>
                  <a:srgbClr val="FFFFFF"/>
                </a:highlight>
                <a:latin typeface="Courier New"/>
                <a:ea typeface="Courier New"/>
                <a:cs typeface="Courier New"/>
                <a:sym typeface="Courier New"/>
              </a:rPr>
              <a:t>import</a:t>
            </a:r>
            <a:r>
              <a:rPr lang="en" sz="900" b="1" i="0" u="none" strike="noStrike" cap="none">
                <a:solidFill>
                  <a:srgbClr val="000000"/>
                </a:solidFill>
                <a:highlight>
                  <a:srgbClr val="FFFFFF"/>
                </a:highlight>
                <a:latin typeface="Courier New"/>
                <a:ea typeface="Courier New"/>
                <a:cs typeface="Courier New"/>
                <a:sym typeface="Courier New"/>
              </a:rPr>
              <a:t> </a:t>
            </a:r>
            <a:r>
              <a:rPr lang="en" sz="900" b="1" i="0" u="none" strike="noStrike" cap="none">
                <a:solidFill>
                  <a:srgbClr val="267F99"/>
                </a:solidFill>
                <a:highlight>
                  <a:srgbClr val="FFFFFF"/>
                </a:highlight>
                <a:latin typeface="Courier New"/>
                <a:ea typeface="Courier New"/>
                <a:cs typeface="Courier New"/>
                <a:sym typeface="Courier New"/>
              </a:rPr>
              <a:t>requests</a:t>
            </a:r>
            <a:br>
              <a:rPr lang="en" sz="900" b="1" i="0" u="none" strike="noStrike" cap="none">
                <a:solidFill>
                  <a:srgbClr val="267F99"/>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api_key</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A31515"/>
                </a:solidFill>
                <a:highlight>
                  <a:srgbClr val="FFFFFF"/>
                </a:highlight>
                <a:latin typeface="Courier New"/>
                <a:ea typeface="Courier New"/>
                <a:cs typeface="Courier New"/>
                <a:sym typeface="Courier New"/>
              </a:rPr>
              <a:t>'AISyBlpHhMpwzwmuQGPxEuNu5VGaicwDDn1DI'</a:t>
            </a:r>
            <a:br>
              <a:rPr lang="en" sz="900" b="1" i="0" u="none" strike="noStrike" cap="none">
                <a:solidFill>
                  <a:srgbClr val="A31515"/>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267F99"/>
                </a:solidFill>
                <a:highlight>
                  <a:srgbClr val="FFFFFF"/>
                </a:highlight>
                <a:latin typeface="Courier New"/>
                <a:ea typeface="Courier New"/>
                <a:cs typeface="Courier New"/>
                <a:sym typeface="Courier New"/>
              </a:rPr>
              <a:t>requests</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795E26"/>
                </a:solidFill>
                <a:highlight>
                  <a:srgbClr val="FFFFFF"/>
                </a:highlight>
                <a:latin typeface="Courier New"/>
                <a:ea typeface="Courier New"/>
                <a:cs typeface="Courier New"/>
                <a:sym typeface="Courier New"/>
              </a:rPr>
              <a:t>get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a:t>
            </a:r>
            <a:r>
              <a:rPr lang="en" sz="900" b="1" i="0" u="sng" strike="noStrike" cap="none">
                <a:solidFill>
                  <a:schemeClr val="hlink"/>
                </a:solidFill>
                <a:highlight>
                  <a:srgbClr val="FFFFFF"/>
                </a:highlight>
                <a:latin typeface="Courier New"/>
                <a:ea typeface="Courier New"/>
                <a:cs typeface="Courier New"/>
                <a:sym typeface="Courier New"/>
                <a:hlinkClick r:id="rId3"/>
              </a:rPr>
              <a:t>http://example.com/',params=({'api_key':api_key})</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795E26"/>
                </a:solidFill>
                <a:highlight>
                  <a:srgbClr val="FFFFFF"/>
                </a:highlight>
                <a:latin typeface="Courier New"/>
                <a:ea typeface="Courier New"/>
                <a:cs typeface="Courier New"/>
                <a:sym typeface="Courier New"/>
              </a:rPr>
              <a:t>print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text</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0000"/>
                </a:solidFill>
                <a:highlight>
                  <a:srgbClr val="FFFFFF"/>
                </a:highlight>
                <a:latin typeface="Courier New"/>
                <a:ea typeface="Courier New"/>
                <a:cs typeface="Courier New"/>
                <a:sym typeface="Courier New"/>
              </a:rPr>
              <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8000"/>
                </a:solidFill>
                <a:highlight>
                  <a:srgbClr val="FFFFFF"/>
                </a:highlight>
                <a:latin typeface="Courier New"/>
                <a:ea typeface="Courier New"/>
                <a:cs typeface="Courier New"/>
                <a:sym typeface="Courier New"/>
              </a:rPr>
              <a:t># using header</a:t>
            </a:r>
            <a:r>
              <a:rPr lang="en" sz="900" b="1" i="0" u="none" strike="noStrike" cap="none">
                <a:solidFill>
                  <a:srgbClr val="A31515"/>
                </a:solidFill>
                <a:highlight>
                  <a:srgbClr val="FFFFFF"/>
                </a:highlight>
                <a:latin typeface="Courier New"/>
                <a:ea typeface="Courier New"/>
                <a:cs typeface="Courier New"/>
                <a:sym typeface="Courier New"/>
              </a:rPr>
              <a:t/>
            </a:r>
            <a:br>
              <a:rPr lang="en" sz="900" b="1" i="0" u="none" strike="noStrike" cap="none">
                <a:solidFill>
                  <a:srgbClr val="A31515"/>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header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A31515"/>
                </a:solidFill>
                <a:highlight>
                  <a:srgbClr val="FFFFFF"/>
                </a:highlight>
                <a:latin typeface="Courier New"/>
                <a:ea typeface="Courier New"/>
                <a:cs typeface="Courier New"/>
                <a:sym typeface="Courier New"/>
              </a:rPr>
              <a:t>"X-API-Key"</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api_key</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 = </a:t>
            </a:r>
            <a:r>
              <a:rPr lang="en" sz="900" b="1" i="0" u="none" strike="noStrike" cap="none">
                <a:solidFill>
                  <a:srgbClr val="267F99"/>
                </a:solidFill>
                <a:highlight>
                  <a:srgbClr val="FFFFFF"/>
                </a:highlight>
                <a:latin typeface="Courier New"/>
                <a:ea typeface="Courier New"/>
                <a:cs typeface="Courier New"/>
                <a:sym typeface="Courier New"/>
              </a:rPr>
              <a:t>requests</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795E26"/>
                </a:solidFill>
                <a:highlight>
                  <a:srgbClr val="FFFFFF"/>
                </a:highlight>
                <a:latin typeface="Courier New"/>
                <a:ea typeface="Courier New"/>
                <a:cs typeface="Courier New"/>
                <a:sym typeface="Courier New"/>
              </a:rPr>
              <a:t>get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A31515"/>
                </a:solidFill>
                <a:highlight>
                  <a:srgbClr val="FFFFFF"/>
                </a:highlight>
                <a:latin typeface="Courier New"/>
                <a:ea typeface="Courier New"/>
                <a:cs typeface="Courier New"/>
                <a:sym typeface="Courier New"/>
              </a:rPr>
              <a:t>'</a:t>
            </a:r>
            <a:r>
              <a:rPr lang="en" sz="900" b="1" i="0" u="sng" strike="noStrike" cap="none">
                <a:solidFill>
                  <a:schemeClr val="hlink"/>
                </a:solidFill>
                <a:highlight>
                  <a:srgbClr val="FFFFFF"/>
                </a:highlight>
                <a:latin typeface="Courier New"/>
                <a:ea typeface="Courier New"/>
                <a:cs typeface="Courier New"/>
                <a:sym typeface="Courier New"/>
                <a:hlinkClick r:id="rId4"/>
              </a:rPr>
              <a:t>http://example.com/',headers=header</a:t>
            </a:r>
            <a:r>
              <a:rPr lang="en" sz="900" b="1" i="0" u="none" strike="noStrike" cap="none">
                <a:solidFill>
                  <a:srgbClr val="000000"/>
                </a:solidFill>
                <a:highlight>
                  <a:srgbClr val="FFFFFF"/>
                </a:highlight>
                <a:latin typeface="Courier New"/>
                <a:ea typeface="Courier New"/>
                <a:cs typeface="Courier New"/>
                <a:sym typeface="Courier New"/>
              </a:rPr>
              <a:t>)</a:t>
            </a:r>
            <a:br>
              <a:rPr lang="en" sz="900" b="1" i="0" u="none" strike="noStrike" cap="none">
                <a:solidFill>
                  <a:srgbClr val="000000"/>
                </a:solidFill>
                <a:highlight>
                  <a:srgbClr val="FFFFFF"/>
                </a:highlight>
                <a:latin typeface="Courier New"/>
                <a:ea typeface="Courier New"/>
                <a:cs typeface="Courier New"/>
                <a:sym typeface="Courier New"/>
              </a:rPr>
            </a:br>
            <a:r>
              <a:rPr lang="en" sz="900" b="1" i="0" u="none" strike="noStrike" cap="none">
                <a:solidFill>
                  <a:srgbClr val="795E26"/>
                </a:solidFill>
                <a:highlight>
                  <a:srgbClr val="FFFFFF"/>
                </a:highlight>
                <a:latin typeface="Courier New"/>
                <a:ea typeface="Courier New"/>
                <a:cs typeface="Courier New"/>
                <a:sym typeface="Courier New"/>
              </a:rPr>
              <a:t>print</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r</a:t>
            </a:r>
            <a:r>
              <a:rPr lang="en" sz="900" b="1" i="0" u="none" strike="noStrike" cap="none">
                <a:solidFill>
                  <a:srgbClr val="000000"/>
                </a:solidFill>
                <a:highlight>
                  <a:srgbClr val="FFFFFF"/>
                </a:highlight>
                <a:latin typeface="Courier New"/>
                <a:ea typeface="Courier New"/>
                <a:cs typeface="Courier New"/>
                <a:sym typeface="Courier New"/>
              </a:rPr>
              <a:t>.</a:t>
            </a:r>
            <a:r>
              <a:rPr lang="en" sz="900" b="1" i="0" u="none" strike="noStrike" cap="none">
                <a:solidFill>
                  <a:srgbClr val="001080"/>
                </a:solidFill>
                <a:highlight>
                  <a:srgbClr val="FFFFFF"/>
                </a:highlight>
                <a:latin typeface="Courier New"/>
                <a:ea typeface="Courier New"/>
                <a:cs typeface="Courier New"/>
                <a:sym typeface="Courier New"/>
              </a:rPr>
              <a:t>text</a:t>
            </a:r>
            <a:r>
              <a:rPr lang="en" sz="900" b="1" i="0" u="none" strike="noStrike" cap="none">
                <a:solidFill>
                  <a:srgbClr val="000000"/>
                </a:solidFill>
                <a:highlight>
                  <a:srgbClr val="FFFFFF"/>
                </a:highlight>
                <a:latin typeface="Courier New"/>
                <a:ea typeface="Courier New"/>
                <a:cs typeface="Courier New"/>
                <a:sym typeface="Courier New"/>
              </a:rPr>
              <a:t>)</a:t>
            </a:r>
            <a:endParaRPr sz="900" b="1" i="0" u="none" strike="noStrike" cap="none">
              <a:solidFill>
                <a:srgbClr val="008000"/>
              </a:solidFill>
              <a:highlight>
                <a:srgbClr val="FFFFFF"/>
              </a:highlight>
              <a:latin typeface="Courier New"/>
              <a:ea typeface="Courier New"/>
              <a:cs typeface="Courier New"/>
              <a:sym typeface="Courier New"/>
            </a:endParaRPr>
          </a:p>
        </p:txBody>
      </p:sp>
      <p:sp>
        <p:nvSpPr>
          <p:cNvPr id="310" name="Google Shape;310;ge185968441_0_57"/>
          <p:cNvSpPr txBox="1">
            <a:spLocks noGrp="1"/>
          </p:cNvSpPr>
          <p:nvPr>
            <p:ph type="title"/>
          </p:nvPr>
        </p:nvSpPr>
        <p:spPr>
          <a:xfrm>
            <a:off x="557550" y="144823"/>
            <a:ext cx="7571700" cy="485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000"/>
              <a:buNone/>
            </a:pPr>
            <a:r>
              <a:rPr lang="en" sz="2700" b="1"/>
              <a:t>Methods to Authentication REST API</a:t>
            </a:r>
            <a:endParaRPr sz="2700" b="1"/>
          </a:p>
        </p:txBody>
      </p:sp>
      <p:sp>
        <p:nvSpPr>
          <p:cNvPr id="311" name="Google Shape;311;ge185968441_0_57"/>
          <p:cNvSpPr txBox="1">
            <a:spLocks noGrp="1"/>
          </p:cNvSpPr>
          <p:nvPr>
            <p:ph type="body" idx="1"/>
          </p:nvPr>
        </p:nvSpPr>
        <p:spPr>
          <a:xfrm>
            <a:off x="557550" y="499750"/>
            <a:ext cx="8461200" cy="201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500"/>
              </a:spcBef>
              <a:spcAft>
                <a:spcPts val="4800"/>
              </a:spcAft>
              <a:buSzPts val="2400"/>
              <a:buNone/>
            </a:pPr>
            <a:r>
              <a:rPr lang="en" sz="1650">
                <a:solidFill>
                  <a:srgbClr val="EF4F63"/>
                </a:solidFill>
                <a:highlight>
                  <a:srgbClr val="FFFFFF"/>
                </a:highlight>
                <a:latin typeface="Merriweather"/>
                <a:ea typeface="Merriweather"/>
                <a:cs typeface="Merriweather"/>
                <a:sym typeface="Merriweather"/>
              </a:rPr>
              <a:t>OAuth 2.0</a:t>
            </a:r>
            <a:r>
              <a:rPr lang="en" sz="1650">
                <a:solidFill>
                  <a:srgbClr val="3A4145"/>
                </a:solidFill>
                <a:highlight>
                  <a:srgbClr val="FFFFFF"/>
                </a:highlight>
                <a:latin typeface="Merriweather"/>
                <a:ea typeface="Merriweather"/>
                <a:cs typeface="Merriweather"/>
                <a:sym typeface="Merriweather"/>
              </a:rPr>
              <a:t/>
            </a:r>
            <a:br>
              <a:rPr lang="en" sz="1650">
                <a:solidFill>
                  <a:srgbClr val="3A4145"/>
                </a:solidFill>
                <a:highlight>
                  <a:srgbClr val="FFFFFF"/>
                </a:highlight>
                <a:latin typeface="Merriweather"/>
                <a:ea typeface="Merriweather"/>
                <a:cs typeface="Merriweather"/>
                <a:sym typeface="Merriweather"/>
              </a:rPr>
            </a:br>
            <a:r>
              <a:rPr lang="en" sz="1350">
                <a:solidFill>
                  <a:srgbClr val="3A4145"/>
                </a:solidFill>
                <a:highlight>
                  <a:srgbClr val="FFFFFF"/>
                </a:highlight>
                <a:latin typeface="Merriweather"/>
                <a:ea typeface="Merriweather"/>
                <a:cs typeface="Merriweather"/>
                <a:sym typeface="Merriweather"/>
              </a:rPr>
              <a:t>OAuth 2.0 </a:t>
            </a:r>
            <a:r>
              <a:rPr lang="en" sz="1250">
                <a:solidFill>
                  <a:srgbClr val="3A4145"/>
                </a:solidFill>
                <a:highlight>
                  <a:srgbClr val="FFFFFF"/>
                </a:highlight>
                <a:latin typeface="Merriweather"/>
                <a:ea typeface="Merriweather"/>
                <a:cs typeface="Merriweather"/>
                <a:sym typeface="Merriweather"/>
              </a:rPr>
              <a:t>is an authorization protocol that gives an API client limited access to user data on a web server. GitHub, Google, and Facebook APIs notably use it. OAuth relies on authentication scenarios called flows, which allow the resource owner (user) to share the protected content from the resource server without sharing their credentials.</a:t>
            </a:r>
            <a:br>
              <a:rPr lang="en" sz="1250">
                <a:solidFill>
                  <a:srgbClr val="3A4145"/>
                </a:solidFill>
                <a:highlight>
                  <a:srgbClr val="FFFFFF"/>
                </a:highlight>
                <a:latin typeface="Merriweather"/>
                <a:ea typeface="Merriweather"/>
                <a:cs typeface="Merriweather"/>
                <a:sym typeface="Merriweather"/>
              </a:rPr>
            </a:br>
            <a:r>
              <a:rPr lang="en" sz="1250">
                <a:solidFill>
                  <a:srgbClr val="3A4145"/>
                </a:solidFill>
                <a:highlight>
                  <a:srgbClr val="FFFFFF"/>
                </a:highlight>
                <a:latin typeface="Merriweather"/>
                <a:ea typeface="Merriweather"/>
                <a:cs typeface="Merriweather"/>
                <a:sym typeface="Merriweather"/>
              </a:rPr>
              <a:t>OAuth use one or both of these tokens:</a:t>
            </a:r>
            <a:br>
              <a:rPr lang="en" sz="1250">
                <a:solidFill>
                  <a:srgbClr val="3A4145"/>
                </a:solidFill>
                <a:highlight>
                  <a:srgbClr val="FFFFFF"/>
                </a:highlight>
                <a:latin typeface="Merriweather"/>
                <a:ea typeface="Merriweather"/>
                <a:cs typeface="Merriweather"/>
                <a:sym typeface="Merriweather"/>
              </a:rPr>
            </a:br>
            <a:r>
              <a:rPr lang="en" sz="1250" b="1">
                <a:solidFill>
                  <a:srgbClr val="3A4145"/>
                </a:solidFill>
                <a:highlight>
                  <a:srgbClr val="FFFFFF"/>
                </a:highlight>
                <a:latin typeface="Merriweather"/>
                <a:ea typeface="Merriweather"/>
                <a:cs typeface="Merriweather"/>
                <a:sym typeface="Merriweather"/>
              </a:rPr>
              <a:t>access token</a:t>
            </a:r>
            <a:r>
              <a:rPr lang="en" sz="1250">
                <a:solidFill>
                  <a:srgbClr val="3A4145"/>
                </a:solidFill>
                <a:highlight>
                  <a:srgbClr val="FFFFFF"/>
                </a:highlight>
                <a:latin typeface="Merriweather"/>
                <a:ea typeface="Merriweather"/>
                <a:cs typeface="Merriweather"/>
                <a:sym typeface="Merriweather"/>
              </a:rPr>
              <a:t> sent like an API key, it allows the application to access a user’s data; it can expire.</a:t>
            </a:r>
            <a:br>
              <a:rPr lang="en" sz="1250">
                <a:solidFill>
                  <a:srgbClr val="3A4145"/>
                </a:solidFill>
                <a:highlight>
                  <a:srgbClr val="FFFFFF"/>
                </a:highlight>
                <a:latin typeface="Merriweather"/>
                <a:ea typeface="Merriweather"/>
                <a:cs typeface="Merriweather"/>
                <a:sym typeface="Merriweather"/>
              </a:rPr>
            </a:br>
            <a:r>
              <a:rPr lang="en" sz="1250" b="1">
                <a:solidFill>
                  <a:srgbClr val="3A4145"/>
                </a:solidFill>
                <a:highlight>
                  <a:srgbClr val="FFFFFF"/>
                </a:highlight>
                <a:latin typeface="Merriweather"/>
                <a:ea typeface="Merriweather"/>
                <a:cs typeface="Merriweather"/>
                <a:sym typeface="Merriweather"/>
              </a:rPr>
              <a:t>refresh token</a:t>
            </a:r>
            <a:r>
              <a:rPr lang="en" sz="1250">
                <a:solidFill>
                  <a:srgbClr val="3A4145"/>
                </a:solidFill>
                <a:highlight>
                  <a:srgbClr val="FFFFFF"/>
                </a:highlight>
                <a:latin typeface="Merriweather"/>
                <a:ea typeface="Merriweather"/>
                <a:cs typeface="Merriweather"/>
                <a:sym typeface="Merriweather"/>
              </a:rPr>
              <a:t> refresh tokens retrieve a new access token if they have expired.</a:t>
            </a:r>
            <a:br>
              <a:rPr lang="en" sz="1250">
                <a:solidFill>
                  <a:srgbClr val="3A4145"/>
                </a:solidFill>
                <a:highlight>
                  <a:srgbClr val="FFFFFF"/>
                </a:highlight>
                <a:latin typeface="Merriweather"/>
                <a:ea typeface="Merriweather"/>
                <a:cs typeface="Merriweather"/>
                <a:sym typeface="Merriweather"/>
              </a:rPr>
            </a:br>
            <a:endParaRPr sz="1050">
              <a:solidFill>
                <a:srgbClr val="3A4145"/>
              </a:solidFill>
              <a:highlight>
                <a:srgbClr val="FFFFFF"/>
              </a:highlight>
              <a:latin typeface="Merriweather"/>
              <a:ea typeface="Merriweather"/>
              <a:cs typeface="Merriweather"/>
              <a:sym typeface="Merriweather"/>
            </a:endParaRPr>
          </a:p>
        </p:txBody>
      </p:sp>
      <p:sp>
        <p:nvSpPr>
          <p:cNvPr id="312" name="Google Shape;312;ge185968441_0_57"/>
          <p:cNvSpPr txBox="1">
            <a:spLocks noGrp="1"/>
          </p:cNvSpPr>
          <p:nvPr>
            <p:ph type="sldNum" idx="12"/>
          </p:nvPr>
        </p:nvSpPr>
        <p:spPr>
          <a:xfrm>
            <a:off x="8404384" y="474990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48</a:t>
            </a:fld>
            <a:endParaRPr/>
          </a:p>
        </p:txBody>
      </p:sp>
      <p:sp>
        <p:nvSpPr>
          <p:cNvPr id="313" name="Google Shape;313;ge185968441_0_57"/>
          <p:cNvSpPr txBox="1"/>
          <p:nvPr/>
        </p:nvSpPr>
        <p:spPr>
          <a:xfrm>
            <a:off x="557550" y="2590850"/>
            <a:ext cx="7444800" cy="567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500"/>
              </a:spcBef>
              <a:spcAft>
                <a:spcPts val="4800"/>
              </a:spcAft>
              <a:buClr>
                <a:srgbClr val="000000"/>
              </a:buClr>
              <a:buSzPts val="1250"/>
              <a:buFont typeface="Arial"/>
              <a:buNone/>
            </a:pPr>
            <a:r>
              <a:rPr lang="en" sz="1250" b="0" i="0" u="none" strike="noStrike" cap="none">
                <a:solidFill>
                  <a:srgbClr val="3A4145"/>
                </a:solidFill>
                <a:highlight>
                  <a:srgbClr val="FFFFFF"/>
                </a:highlight>
                <a:latin typeface="Merriweather"/>
                <a:ea typeface="Merriweather"/>
                <a:cs typeface="Merriweather"/>
                <a:sym typeface="Merriweather"/>
              </a:rPr>
              <a:t>Here’s an example of a Bearer Auth in a request header:</a:t>
            </a:r>
            <a:r>
              <a:rPr lang="en" sz="1350" b="0" i="0" u="none" strike="noStrike" cap="none">
                <a:solidFill>
                  <a:srgbClr val="3A4145"/>
                </a:solidFill>
                <a:highlight>
                  <a:srgbClr val="FFFFFF"/>
                </a:highlight>
                <a:latin typeface="Merriweather"/>
                <a:ea typeface="Merriweather"/>
                <a:cs typeface="Merriweather"/>
                <a:sym typeface="Merriweather"/>
              </a:rPr>
              <a:t/>
            </a:r>
            <a:br>
              <a:rPr lang="en" sz="1350" b="0" i="0" u="none" strike="noStrike" cap="none">
                <a:solidFill>
                  <a:srgbClr val="3A4145"/>
                </a:solidFill>
                <a:highlight>
                  <a:srgbClr val="FFFFFF"/>
                </a:highlight>
                <a:latin typeface="Merriweather"/>
                <a:ea typeface="Merriweather"/>
                <a:cs typeface="Merriweather"/>
                <a:sym typeface="Merriweather"/>
              </a:rPr>
            </a:br>
            <a:r>
              <a:rPr lang="en" sz="1050" b="0" i="0" u="none" strike="noStrike" cap="none">
                <a:solidFill>
                  <a:srgbClr val="3A4145"/>
                </a:solidFill>
                <a:highlight>
                  <a:schemeClr val="lt2"/>
                </a:highlight>
                <a:latin typeface="Roboto Mono Light"/>
                <a:ea typeface="Roboto Mono Light"/>
                <a:cs typeface="Roboto Mono Light"/>
                <a:sym typeface="Roboto Mono Light"/>
              </a:rPr>
              <a:t>Authorization: Bearer </a:t>
            </a:r>
            <a:r>
              <a:rPr lang="en" sz="850" b="0" i="0" u="none" strike="noStrike" cap="none">
                <a:solidFill>
                  <a:srgbClr val="3A4145"/>
                </a:solidFill>
                <a:highlight>
                  <a:schemeClr val="lt2"/>
                </a:highlight>
                <a:latin typeface="Roboto Mono Light"/>
                <a:ea typeface="Roboto Mono Light"/>
                <a:cs typeface="Roboto Mono Light"/>
                <a:sym typeface="Roboto Mono Light"/>
              </a:rPr>
              <a:t>eyJhbGciOiJIUzI1NiIsInR5cCI6IkpXVCJ9......</a:t>
            </a:r>
            <a:r>
              <a:rPr lang="en" sz="1050" b="0" i="0" u="none" strike="noStrike" cap="none">
                <a:solidFill>
                  <a:srgbClr val="3A4145"/>
                </a:solidFill>
                <a:highlight>
                  <a:schemeClr val="lt2"/>
                </a:highlight>
                <a:latin typeface="Roboto Mono Light"/>
                <a:ea typeface="Roboto Mono Light"/>
                <a:cs typeface="Roboto Mono Light"/>
                <a:sym typeface="Roboto Mono Light"/>
              </a:rPr>
              <a:t>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animEffect transition="in" filter="fade">
                                      <p:cBhvr>
                                        <p:cTn id="7" dur="1000"/>
                                        <p:tgtEl>
                                          <p:spTgt spid="3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3"/>
                                        </p:tgtEl>
                                        <p:attrNameLst>
                                          <p:attrName>style.visibility</p:attrName>
                                        </p:attrNameLst>
                                      </p:cBhvr>
                                      <p:to>
                                        <p:strVal val="visible"/>
                                      </p:to>
                                    </p:set>
                                    <p:animEffect transition="in" filter="fade">
                                      <p:cBhvr>
                                        <p:cTn id="12" dur="1000"/>
                                        <p:tgtEl>
                                          <p:spTgt spid="3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9"/>
                                        </p:tgtEl>
                                        <p:attrNameLst>
                                          <p:attrName>style.visibility</p:attrName>
                                        </p:attrNameLst>
                                      </p:cBhvr>
                                      <p:to>
                                        <p:strVal val="visible"/>
                                      </p:to>
                                    </p:set>
                                    <p:animEffect transition="in" filter="fade">
                                      <p:cBhvr>
                                        <p:cTn id="17" dur="10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ef0424f90f_0_178"/>
          <p:cNvSpPr txBox="1"/>
          <p:nvPr/>
        </p:nvSpPr>
        <p:spPr>
          <a:xfrm>
            <a:off x="1546025" y="1868978"/>
            <a:ext cx="5832600" cy="17313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endParaRPr sz="6000" b="1" i="0" u="none" strike="noStrike" cap="none" dirty="0">
              <a:solidFill>
                <a:srgbClr val="CFD8DC"/>
              </a:solidFill>
              <a:latin typeface="Roboto Slab"/>
              <a:ea typeface="Roboto Slab"/>
              <a:cs typeface="Roboto Slab"/>
              <a:sym typeface="Roboto Slab"/>
            </a:endParaRPr>
          </a:p>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rgbClr val="0091EA"/>
                </a:solidFill>
                <a:latin typeface="Roboto Slab"/>
                <a:ea typeface="Roboto Slab"/>
                <a:cs typeface="Roboto Slab"/>
                <a:sym typeface="Roboto Slab"/>
              </a:rPr>
              <a:t>Deploying Flask app on </a:t>
            </a:r>
            <a:r>
              <a:rPr lang="en" sz="3600" b="1" dirty="0">
                <a:solidFill>
                  <a:srgbClr val="0091EA"/>
                </a:solidFill>
                <a:latin typeface="Roboto Slab"/>
                <a:ea typeface="Roboto Slab"/>
                <a:cs typeface="Roboto Slab"/>
                <a:sym typeface="Roboto Slab"/>
              </a:rPr>
              <a:t>r</a:t>
            </a:r>
            <a:r>
              <a:rPr lang="en" sz="3600" b="1" i="0" u="none" strike="noStrike" cap="none" dirty="0" smtClean="0">
                <a:solidFill>
                  <a:srgbClr val="0091EA"/>
                </a:solidFill>
                <a:latin typeface="Roboto Slab"/>
                <a:ea typeface="Roboto Slab"/>
                <a:cs typeface="Roboto Slab"/>
                <a:sym typeface="Roboto Slab"/>
              </a:rPr>
              <a:t>ender.com</a:t>
            </a:r>
            <a:endParaRPr sz="3600" b="1" i="0" u="none" strike="noStrike" cap="none" dirty="0">
              <a:solidFill>
                <a:srgbClr val="0091EA"/>
              </a:solidFill>
              <a:latin typeface="Roboto Slab"/>
              <a:ea typeface="Roboto Slab"/>
              <a:cs typeface="Roboto Slab"/>
              <a:sym typeface="Roboto Slab"/>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dirty="0">
              <a:solidFill>
                <a:srgbClr val="0091EA"/>
              </a:solidFill>
              <a:latin typeface="Roboto Slab"/>
              <a:ea typeface="Roboto Slab"/>
              <a:cs typeface="Roboto Slab"/>
              <a:sym typeface="Roboto Slab"/>
            </a:endParaRPr>
          </a:p>
        </p:txBody>
      </p:sp>
      <p:sp>
        <p:nvSpPr>
          <p:cNvPr id="408" name="Google Shape;408;gef0424f90f_0_178"/>
          <p:cNvSpPr txBox="1"/>
          <p:nvPr/>
        </p:nvSpPr>
        <p:spPr>
          <a:xfrm>
            <a:off x="8362984" y="465710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49</a:t>
            </a:fld>
            <a:endParaRPr sz="1300" b="1" i="0" u="none" strike="noStrike" cap="none">
              <a:solidFill>
                <a:srgbClr val="0091EA"/>
              </a:solidFill>
              <a:latin typeface="Arial"/>
              <a:ea typeface="Arial"/>
              <a:cs typeface="Arial"/>
              <a:sym typeface="Arial"/>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9" name="Google Shape;129;gecc5717692_0_12"/>
          <p:cNvSpPr txBox="1"/>
          <p:nvPr/>
        </p:nvSpPr>
        <p:spPr>
          <a:xfrm>
            <a:off x="3062386" y="2212550"/>
            <a:ext cx="7478400" cy="48471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600"/>
              </a:spcBef>
              <a:spcAft>
                <a:spcPts val="0"/>
              </a:spcAft>
              <a:buClr>
                <a:srgbClr val="000000"/>
              </a:buClr>
              <a:buSzPts val="1700"/>
              <a:buFont typeface="Arial"/>
              <a:buNone/>
            </a:pPr>
            <a:endParaRPr sz="1450" b="0" i="0" u="none" strike="noStrike" cap="none" dirty="0">
              <a:solidFill>
                <a:srgbClr val="292929"/>
              </a:solidFill>
              <a:latin typeface="Arial"/>
              <a:ea typeface="Arial"/>
              <a:cs typeface="Arial"/>
              <a:sym typeface="Arial"/>
            </a:endParaRPr>
          </a:p>
        </p:txBody>
      </p:sp>
      <p:sp>
        <p:nvSpPr>
          <p:cNvPr id="131" name="Google Shape;131;gecc5717692_0_12"/>
          <p:cNvSpPr txBox="1"/>
          <p:nvPr/>
        </p:nvSpPr>
        <p:spPr>
          <a:xfrm>
            <a:off x="832800" y="1035392"/>
            <a:ext cx="7369800" cy="33239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200" b="1" i="0" u="none" strike="noStrike" cap="none" dirty="0">
                <a:solidFill>
                  <a:srgbClr val="EF4F63"/>
                </a:solidFill>
                <a:latin typeface="+mj-lt"/>
                <a:sym typeface="Arial"/>
              </a:rPr>
              <a:t>Throttling</a:t>
            </a:r>
            <a:r>
              <a:rPr lang="en" sz="1200" b="1" i="0" u="none" strike="noStrike" cap="none" dirty="0">
                <a:solidFill>
                  <a:srgbClr val="333333"/>
                </a:solidFill>
                <a:highlight>
                  <a:srgbClr val="FFFEFE"/>
                </a:highlight>
                <a:latin typeface="+mj-lt"/>
                <a:ea typeface="Roboto"/>
                <a:cs typeface="Roboto"/>
                <a:sym typeface="Roboto"/>
              </a:rPr>
              <a:t> </a:t>
            </a:r>
            <a:r>
              <a:rPr lang="en" sz="1200" b="0" i="0" u="none" strike="noStrike" cap="none" dirty="0">
                <a:solidFill>
                  <a:srgbClr val="292929"/>
                </a:solidFill>
                <a:latin typeface="+mj-lt"/>
                <a:sym typeface="Arial"/>
              </a:rPr>
              <a:t>limits the number of requests an application can make to an API</a:t>
            </a:r>
            <a:r>
              <a:rPr lang="en" sz="1200" b="0" i="0" u="none" strike="noStrike" cap="none" dirty="0" smtClean="0">
                <a:solidFill>
                  <a:srgbClr val="292929"/>
                </a:solidFill>
                <a:latin typeface="+mj-lt"/>
                <a:sym typeface="Arial"/>
              </a:rPr>
              <a:t>.</a:t>
            </a:r>
          </a:p>
          <a:p>
            <a:pPr marL="0" marR="0" lvl="0" indent="0" algn="l" rtl="0">
              <a:lnSpc>
                <a:spcPct val="100000"/>
              </a:lnSpc>
              <a:spcBef>
                <a:spcPts val="0"/>
              </a:spcBef>
              <a:spcAft>
                <a:spcPts val="0"/>
              </a:spcAft>
              <a:buClr>
                <a:srgbClr val="000000"/>
              </a:buClr>
              <a:buSzPts val="1700"/>
              <a:buFont typeface="Arial"/>
              <a:buNone/>
            </a:pPr>
            <a:endParaRPr lang="en" sz="1200" b="0" i="0" u="none" strike="noStrike" cap="none" dirty="0" smtClean="0">
              <a:solidFill>
                <a:srgbClr val="292929"/>
              </a:solidFill>
              <a:latin typeface="+mj-lt"/>
              <a:sym typeface="Arial"/>
            </a:endParaRPr>
          </a:p>
          <a:p>
            <a:pPr>
              <a:buSzPts val="1700"/>
            </a:pPr>
            <a:r>
              <a:rPr lang="en-US" sz="1200" b="1" dirty="0">
                <a:solidFill>
                  <a:srgbClr val="EF4F63"/>
                </a:solidFill>
                <a:latin typeface="+mj-lt"/>
              </a:rPr>
              <a:t>Properties</a:t>
            </a:r>
            <a:r>
              <a:rPr lang="en-US" sz="1200" dirty="0">
                <a:solidFill>
                  <a:srgbClr val="333333"/>
                </a:solidFill>
                <a:highlight>
                  <a:srgbClr val="FFFEFE"/>
                </a:highlight>
                <a:latin typeface="+mj-lt"/>
                <a:ea typeface="Roboto"/>
                <a:cs typeface="Roboto"/>
                <a:sym typeface="Roboto"/>
              </a:rPr>
              <a:t> </a:t>
            </a:r>
            <a:r>
              <a:rPr lang="en-US" sz="1200" dirty="0" err="1">
                <a:solidFill>
                  <a:srgbClr val="292929"/>
                </a:solidFill>
                <a:latin typeface="+mj-lt"/>
              </a:rPr>
              <a:t>Properties</a:t>
            </a:r>
            <a:r>
              <a:rPr lang="en-US" sz="1200" dirty="0">
                <a:solidFill>
                  <a:srgbClr val="292929"/>
                </a:solidFill>
                <a:latin typeface="+mj-lt"/>
              </a:rPr>
              <a:t> are name value pairs that can be used in the API functionality. API developers can define a different value for the same property in different environments like sandbox/test/production.</a:t>
            </a:r>
          </a:p>
          <a:p>
            <a:pPr>
              <a:buSzPts val="1700"/>
            </a:pPr>
            <a:endParaRPr lang="en-US" sz="1200" dirty="0" smtClean="0">
              <a:solidFill>
                <a:srgbClr val="EF4F63"/>
              </a:solidFill>
              <a:latin typeface="+mj-lt"/>
            </a:endParaRPr>
          </a:p>
          <a:p>
            <a:pPr>
              <a:buSzPts val="1700"/>
            </a:pPr>
            <a:r>
              <a:rPr lang="en-US" sz="1200" b="1" dirty="0" smtClean="0">
                <a:solidFill>
                  <a:srgbClr val="EF4F63"/>
                </a:solidFill>
                <a:latin typeface="+mj-lt"/>
              </a:rPr>
              <a:t>Access </a:t>
            </a:r>
            <a:r>
              <a:rPr lang="en-US" sz="1200" b="1" dirty="0">
                <a:solidFill>
                  <a:srgbClr val="EF4F63"/>
                </a:solidFill>
                <a:latin typeface="+mj-lt"/>
              </a:rPr>
              <a:t>Tokens</a:t>
            </a:r>
            <a:r>
              <a:rPr lang="en-US" sz="1200" b="1" dirty="0">
                <a:solidFill>
                  <a:srgbClr val="666666"/>
                </a:solidFill>
                <a:highlight>
                  <a:srgbClr val="FFFFFF"/>
                </a:highlight>
                <a:latin typeface="+mj-lt"/>
                <a:ea typeface="Verdana"/>
                <a:cs typeface="Verdana"/>
                <a:sym typeface="Verdana"/>
              </a:rPr>
              <a:t> </a:t>
            </a:r>
            <a:r>
              <a:rPr lang="en-US" sz="1200" dirty="0">
                <a:solidFill>
                  <a:srgbClr val="292929"/>
                </a:solidFill>
                <a:latin typeface="+mj-lt"/>
              </a:rPr>
              <a:t>provide the authorization necessary to allow client applications to call APIs that they are subscribed to</a:t>
            </a:r>
            <a:r>
              <a:rPr lang="en-US" sz="1200" dirty="0" smtClean="0">
                <a:solidFill>
                  <a:srgbClr val="292929"/>
                </a:solidFill>
                <a:latin typeface="+mj-lt"/>
              </a:rPr>
              <a:t>.</a:t>
            </a:r>
          </a:p>
          <a:p>
            <a:pPr>
              <a:buSzPts val="1700"/>
            </a:pPr>
            <a:endParaRPr lang="en-US" sz="1200" dirty="0" smtClean="0">
              <a:solidFill>
                <a:srgbClr val="EF4F63"/>
              </a:solidFill>
              <a:latin typeface="+mj-lt"/>
            </a:endParaRPr>
          </a:p>
          <a:p>
            <a:pPr>
              <a:buSzPts val="1700"/>
            </a:pPr>
            <a:r>
              <a:rPr lang="en-US" sz="1200" b="1" dirty="0" err="1" smtClean="0">
                <a:solidFill>
                  <a:srgbClr val="EF4F63"/>
                </a:solidFill>
                <a:latin typeface="+mj-lt"/>
              </a:rPr>
              <a:t>cURL</a:t>
            </a:r>
            <a:r>
              <a:rPr lang="en-US" sz="1200" b="1" dirty="0" smtClean="0">
                <a:solidFill>
                  <a:srgbClr val="666666"/>
                </a:solidFill>
                <a:highlight>
                  <a:srgbClr val="FFFFFF"/>
                </a:highlight>
                <a:latin typeface="+mj-lt"/>
                <a:ea typeface="Verdana"/>
                <a:cs typeface="Verdana"/>
                <a:sym typeface="Verdana"/>
              </a:rPr>
              <a:t> </a:t>
            </a:r>
            <a:r>
              <a:rPr lang="en-US" sz="1200" dirty="0">
                <a:solidFill>
                  <a:srgbClr val="292929"/>
                </a:solidFill>
                <a:latin typeface="+mj-lt"/>
              </a:rPr>
              <a:t>is a command line tool for transferring data in various protocols, in our case HTTP.</a:t>
            </a:r>
            <a:endParaRPr lang="en-US" sz="1200" dirty="0">
              <a:latin typeface="+mj-lt"/>
            </a:endParaRPr>
          </a:p>
          <a:p>
            <a:pPr>
              <a:buSzPts val="1700"/>
            </a:pPr>
            <a:endParaRPr lang="en-US" sz="1200" dirty="0" smtClean="0">
              <a:solidFill>
                <a:srgbClr val="EF4F63"/>
              </a:solidFill>
              <a:latin typeface="+mj-lt"/>
            </a:endParaRPr>
          </a:p>
          <a:p>
            <a:pPr>
              <a:buSzPts val="1700"/>
            </a:pPr>
            <a:r>
              <a:rPr lang="en-US" sz="1200" b="1" dirty="0" smtClean="0">
                <a:solidFill>
                  <a:srgbClr val="EF4F63"/>
                </a:solidFill>
                <a:latin typeface="+mj-lt"/>
              </a:rPr>
              <a:t>OAuth</a:t>
            </a:r>
            <a:r>
              <a:rPr lang="en-US" sz="1200" b="1" dirty="0" smtClean="0">
                <a:solidFill>
                  <a:srgbClr val="666666"/>
                </a:solidFill>
                <a:highlight>
                  <a:srgbClr val="FFFFFF"/>
                </a:highlight>
                <a:latin typeface="+mj-lt"/>
                <a:ea typeface="Verdana"/>
                <a:cs typeface="Verdana"/>
                <a:sym typeface="Verdana"/>
              </a:rPr>
              <a:t> </a:t>
            </a:r>
            <a:r>
              <a:rPr lang="en-US" sz="1200" dirty="0">
                <a:solidFill>
                  <a:srgbClr val="292929"/>
                </a:solidFill>
                <a:latin typeface="+mj-lt"/>
              </a:rPr>
              <a:t>is an open standard for token-based authentication and authorization on the web</a:t>
            </a:r>
            <a:r>
              <a:rPr lang="en-US" sz="1200" dirty="0" smtClean="0">
                <a:solidFill>
                  <a:srgbClr val="292929"/>
                </a:solidFill>
                <a:latin typeface="+mj-lt"/>
              </a:rPr>
              <a:t>.</a:t>
            </a:r>
          </a:p>
          <a:p>
            <a:pPr>
              <a:buSzPts val="1700"/>
            </a:pPr>
            <a:endParaRPr lang="en-US" sz="1200" dirty="0" smtClean="0">
              <a:solidFill>
                <a:srgbClr val="EF4F63"/>
              </a:solidFill>
              <a:latin typeface="+mj-lt"/>
            </a:endParaRPr>
          </a:p>
          <a:p>
            <a:pPr>
              <a:buSzPts val="1700"/>
            </a:pPr>
            <a:r>
              <a:rPr lang="en-US" sz="1200" b="1" dirty="0" smtClean="0">
                <a:solidFill>
                  <a:srgbClr val="EF4F63"/>
                </a:solidFill>
                <a:latin typeface="+mj-lt"/>
              </a:rPr>
              <a:t>SOAP</a:t>
            </a:r>
            <a:r>
              <a:rPr lang="en-US" sz="1200" b="1" dirty="0" smtClean="0">
                <a:solidFill>
                  <a:srgbClr val="666666"/>
                </a:solidFill>
                <a:highlight>
                  <a:srgbClr val="FFFFFF"/>
                </a:highlight>
                <a:latin typeface="+mj-lt"/>
                <a:ea typeface="Verdana"/>
                <a:cs typeface="Verdana"/>
                <a:sym typeface="Verdana"/>
              </a:rPr>
              <a:t> </a:t>
            </a:r>
            <a:r>
              <a:rPr lang="en-US" sz="1200" dirty="0">
                <a:solidFill>
                  <a:srgbClr val="292929"/>
                </a:solidFill>
                <a:latin typeface="+mj-lt"/>
              </a:rPr>
              <a:t>stands for Simple Object Access Protocol. This method of web services transmits messages via XML, usually as an HTTP POST. SOAP services contain service operations that are requested by the calling application</a:t>
            </a:r>
            <a:r>
              <a:rPr lang="en-US" sz="1200" dirty="0" smtClean="0">
                <a:solidFill>
                  <a:srgbClr val="292929"/>
                </a:solidFill>
                <a:latin typeface="+mj-lt"/>
              </a:rPr>
              <a:t>.</a:t>
            </a:r>
          </a:p>
          <a:p>
            <a:pPr>
              <a:buSzPts val="1700"/>
            </a:pPr>
            <a:endParaRPr lang="en-US" sz="1200" dirty="0" smtClean="0">
              <a:solidFill>
                <a:srgbClr val="EF4F63"/>
              </a:solidFill>
              <a:latin typeface="+mj-lt"/>
            </a:endParaRPr>
          </a:p>
          <a:p>
            <a:pPr>
              <a:buSzPts val="1700"/>
            </a:pPr>
            <a:r>
              <a:rPr lang="en-US" sz="1200" b="1" dirty="0" smtClean="0">
                <a:solidFill>
                  <a:srgbClr val="EF4F63"/>
                </a:solidFill>
                <a:latin typeface="+mj-lt"/>
              </a:rPr>
              <a:t>Headers</a:t>
            </a:r>
            <a:r>
              <a:rPr lang="en-US" sz="1200" dirty="0" smtClean="0">
                <a:solidFill>
                  <a:srgbClr val="EF4F63"/>
                </a:solidFill>
                <a:latin typeface="+mj-lt"/>
              </a:rPr>
              <a:t> </a:t>
            </a:r>
            <a:r>
              <a:rPr lang="en-US" sz="1200" dirty="0" err="1">
                <a:solidFill>
                  <a:srgbClr val="292929"/>
                </a:solidFill>
                <a:latin typeface="+mj-lt"/>
              </a:rPr>
              <a:t>Headers</a:t>
            </a:r>
            <a:r>
              <a:rPr lang="en-US" sz="1200" dirty="0">
                <a:solidFill>
                  <a:srgbClr val="292929"/>
                </a:solidFill>
                <a:latin typeface="+mj-lt"/>
              </a:rPr>
              <a:t> are used to pass additional information with request and response</a:t>
            </a:r>
            <a:r>
              <a:rPr lang="en-US" sz="1200" dirty="0" smtClean="0">
                <a:solidFill>
                  <a:srgbClr val="292929"/>
                </a:solidFill>
                <a:latin typeface="+mj-lt"/>
              </a:rPr>
              <a:t>.</a:t>
            </a:r>
            <a:endParaRPr lang="en-US" sz="1200" dirty="0">
              <a:solidFill>
                <a:srgbClr val="292929"/>
              </a:solidFill>
              <a:latin typeface="+mj-lt"/>
            </a:endParaRPr>
          </a:p>
        </p:txBody>
      </p:sp>
      <p:sp>
        <p:nvSpPr>
          <p:cNvPr id="132" name="Google Shape;132;gecc5717692_0_12"/>
          <p:cNvSpPr txBox="1"/>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marR="0" lvl="0" indent="0" algn="l" rtl="0">
              <a:lnSpc>
                <a:spcPct val="110000"/>
              </a:lnSpc>
              <a:spcBef>
                <a:spcPts val="2400"/>
              </a:spcBef>
              <a:spcAft>
                <a:spcPts val="600"/>
              </a:spcAft>
              <a:buClr>
                <a:srgbClr val="000000"/>
              </a:buClr>
              <a:buSzPts val="3000"/>
              <a:buFont typeface="Arial"/>
              <a:buNone/>
            </a:pPr>
            <a:r>
              <a:rPr lang="en" sz="3000" b="1" i="0" u="none" strike="noStrike" cap="none">
                <a:solidFill>
                  <a:srgbClr val="0091EA"/>
                </a:solidFill>
                <a:latin typeface="Roboto Slab"/>
                <a:ea typeface="Roboto Slab"/>
                <a:cs typeface="Roboto Slab"/>
                <a:sym typeface="Roboto Slab"/>
              </a:rPr>
              <a:t>API Terminology</a:t>
            </a:r>
            <a:endParaRPr sz="3000" b="1" i="0" u="none" strike="noStrike" cap="none">
              <a:solidFill>
                <a:srgbClr val="0091EA"/>
              </a:solidFill>
              <a:latin typeface="Roboto Slab"/>
              <a:ea typeface="Roboto Slab"/>
              <a:cs typeface="Roboto Slab"/>
              <a:sym typeface="Roboto Slab"/>
            </a:endParaRPr>
          </a:p>
        </p:txBody>
      </p:sp>
      <p:sp>
        <p:nvSpPr>
          <p:cNvPr id="133" name="Google Shape;133;gecc5717692_0_12"/>
          <p:cNvSpPr txBox="1"/>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1" i="0" u="none" strike="noStrike" cap="none">
                <a:solidFill>
                  <a:srgbClr val="0091EA"/>
                </a:solidFill>
                <a:latin typeface="Arial"/>
                <a:ea typeface="Arial"/>
                <a:cs typeface="Arial"/>
                <a:sym typeface="Arial"/>
              </a:rPr>
              <a:t>50</a:t>
            </a:fld>
            <a:endParaRPr sz="1300" b="1" i="0" u="none" strike="noStrike" cap="none">
              <a:solidFill>
                <a:srgbClr val="0091EA"/>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1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fade">
                                      <p:cBhvr>
                                        <p:cTn id="12"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e1936f3aa2_0_39"/>
          <p:cNvSpPr txBox="1">
            <a:spLocks noGrp="1"/>
          </p:cNvSpPr>
          <p:nvPr>
            <p:ph type="body" idx="1"/>
          </p:nvPr>
        </p:nvSpPr>
        <p:spPr>
          <a:xfrm>
            <a:off x="786150" y="1109300"/>
            <a:ext cx="7571700" cy="35484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600"/>
              </a:spcBef>
              <a:spcAft>
                <a:spcPts val="0"/>
              </a:spcAft>
              <a:buClr>
                <a:schemeClr val="dk1"/>
              </a:buClr>
              <a:buSzPts val="1800"/>
              <a:buChar char="●"/>
            </a:pPr>
            <a:r>
              <a:rPr lang="en" sz="1800"/>
              <a:t>Accept and respond with JSON</a:t>
            </a:r>
            <a:endParaRPr sz="1800"/>
          </a:p>
          <a:p>
            <a:pPr marL="457200" lvl="0" indent="-342900" algn="l" rtl="0">
              <a:lnSpc>
                <a:spcPct val="150000"/>
              </a:lnSpc>
              <a:spcBef>
                <a:spcPts val="0"/>
              </a:spcBef>
              <a:spcAft>
                <a:spcPts val="0"/>
              </a:spcAft>
              <a:buClr>
                <a:schemeClr val="dk1"/>
              </a:buClr>
              <a:buSzPts val="1800"/>
              <a:buChar char="●"/>
            </a:pPr>
            <a:r>
              <a:rPr lang="en" sz="1800"/>
              <a:t>Use nouns instead of verbs in endpoint paths</a:t>
            </a:r>
            <a:endParaRPr sz="1800"/>
          </a:p>
          <a:p>
            <a:pPr marL="457200" lvl="0" indent="-342900" algn="l" rtl="0">
              <a:lnSpc>
                <a:spcPct val="150000"/>
              </a:lnSpc>
              <a:spcBef>
                <a:spcPts val="0"/>
              </a:spcBef>
              <a:spcAft>
                <a:spcPts val="0"/>
              </a:spcAft>
              <a:buClr>
                <a:schemeClr val="dk1"/>
              </a:buClr>
              <a:buSzPts val="1800"/>
              <a:buChar char="●"/>
            </a:pPr>
            <a:r>
              <a:rPr lang="en" sz="1800"/>
              <a:t>Handle errors gracefully and return standard error codes</a:t>
            </a:r>
            <a:endParaRPr sz="1800"/>
          </a:p>
          <a:p>
            <a:pPr marL="457200" lvl="0" indent="-342900" algn="l" rtl="0">
              <a:lnSpc>
                <a:spcPct val="150000"/>
              </a:lnSpc>
              <a:spcBef>
                <a:spcPts val="0"/>
              </a:spcBef>
              <a:spcAft>
                <a:spcPts val="0"/>
              </a:spcAft>
              <a:buClr>
                <a:schemeClr val="dk1"/>
              </a:buClr>
              <a:buSzPts val="1800"/>
              <a:buChar char="●"/>
            </a:pPr>
            <a:r>
              <a:rPr lang="en" sz="1800"/>
              <a:t>Allow filtering, sorting, and pagination</a:t>
            </a:r>
            <a:endParaRPr sz="1800"/>
          </a:p>
          <a:p>
            <a:pPr marL="457200" lvl="0" indent="-342900" algn="l" rtl="0">
              <a:lnSpc>
                <a:spcPct val="150000"/>
              </a:lnSpc>
              <a:spcBef>
                <a:spcPts val="0"/>
              </a:spcBef>
              <a:spcAft>
                <a:spcPts val="0"/>
              </a:spcAft>
              <a:buClr>
                <a:schemeClr val="dk1"/>
              </a:buClr>
              <a:buSzPts val="1800"/>
              <a:buChar char="●"/>
            </a:pPr>
            <a:r>
              <a:rPr lang="en" sz="1800"/>
              <a:t>Maintain Good Security Practices</a:t>
            </a:r>
            <a:endParaRPr sz="1800"/>
          </a:p>
          <a:p>
            <a:pPr marL="457200" lvl="0" indent="-342900" algn="l" rtl="0">
              <a:lnSpc>
                <a:spcPct val="150000"/>
              </a:lnSpc>
              <a:spcBef>
                <a:spcPts val="0"/>
              </a:spcBef>
              <a:spcAft>
                <a:spcPts val="0"/>
              </a:spcAft>
              <a:buClr>
                <a:schemeClr val="dk1"/>
              </a:buClr>
              <a:buSzPts val="1800"/>
              <a:buChar char="●"/>
            </a:pPr>
            <a:r>
              <a:rPr lang="en" sz="1800"/>
              <a:t>Cache data to improve performance</a:t>
            </a:r>
            <a:endParaRPr sz="1800"/>
          </a:p>
          <a:p>
            <a:pPr marL="457200" lvl="0" indent="-342900" algn="l" rtl="0">
              <a:lnSpc>
                <a:spcPct val="150000"/>
              </a:lnSpc>
              <a:spcBef>
                <a:spcPts val="0"/>
              </a:spcBef>
              <a:spcAft>
                <a:spcPts val="0"/>
              </a:spcAft>
              <a:buClr>
                <a:schemeClr val="dk1"/>
              </a:buClr>
              <a:buSzPts val="1800"/>
              <a:buChar char="●"/>
            </a:pPr>
            <a:r>
              <a:rPr lang="en" sz="1800"/>
              <a:t>Versioning our APIs</a:t>
            </a:r>
            <a:endParaRPr sz="1200"/>
          </a:p>
        </p:txBody>
      </p:sp>
      <p:sp>
        <p:nvSpPr>
          <p:cNvPr id="157" name="Google Shape;157;ge1936f3aa2_0_39"/>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p>
            <a:pPr marL="0" lvl="0" indent="0" algn="ctr" rtl="0">
              <a:lnSpc>
                <a:spcPct val="110000"/>
              </a:lnSpc>
              <a:spcBef>
                <a:spcPts val="2400"/>
              </a:spcBef>
              <a:spcAft>
                <a:spcPts val="0"/>
              </a:spcAft>
              <a:buSzPts val="2000"/>
              <a:buNone/>
            </a:pPr>
            <a:endParaRPr sz="2300">
              <a:solidFill>
                <a:srgbClr val="000000"/>
              </a:solidFill>
              <a:highlight>
                <a:srgbClr val="FFFFFF"/>
              </a:highlight>
              <a:latin typeface="Times New Roman"/>
              <a:ea typeface="Times New Roman"/>
              <a:cs typeface="Times New Roman"/>
              <a:sym typeface="Times New Roman"/>
            </a:endParaRPr>
          </a:p>
          <a:p>
            <a:pPr marL="0" lvl="0" indent="0" algn="l" rtl="0">
              <a:lnSpc>
                <a:spcPct val="110000"/>
              </a:lnSpc>
              <a:spcBef>
                <a:spcPts val="2400"/>
              </a:spcBef>
              <a:spcAft>
                <a:spcPts val="600"/>
              </a:spcAft>
              <a:buSzPts val="2000"/>
              <a:buNone/>
            </a:pPr>
            <a:r>
              <a:rPr lang="en" sz="3000" b="1"/>
              <a:t>REST API best practices</a:t>
            </a:r>
            <a:endParaRPr sz="3000" b="1"/>
          </a:p>
        </p:txBody>
      </p:sp>
      <p:sp>
        <p:nvSpPr>
          <p:cNvPr id="158" name="Google Shape;158;ge1936f3aa2_0_3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51</a:t>
            </a:fld>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25"/>
          <p:cNvSpPr txBox="1">
            <a:spLocks noGrp="1"/>
          </p:cNvSpPr>
          <p:nvPr>
            <p:ph type="ctrTitle" idx="4294967295"/>
          </p:nvPr>
        </p:nvSpPr>
        <p:spPr>
          <a:xfrm>
            <a:off x="685800" y="516542"/>
            <a:ext cx="77724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1"/>
              </a:buClr>
              <a:buSzPts val="2000"/>
              <a:buFont typeface="Roboto Slab"/>
              <a:buNone/>
            </a:pPr>
            <a:r>
              <a:rPr lang="en" sz="6000" b="1" i="0" u="none" strike="noStrike" cap="none" dirty="0">
                <a:solidFill>
                  <a:schemeClr val="accent1"/>
                </a:solidFill>
                <a:latin typeface="Roboto Slab"/>
                <a:ea typeface="Roboto Slab"/>
                <a:cs typeface="Roboto Slab"/>
                <a:sym typeface="Roboto Slab"/>
              </a:rPr>
              <a:t>Thanks!</a:t>
            </a:r>
            <a:endParaRPr sz="6000" b="1" i="0" u="none" strike="noStrike" cap="none" dirty="0">
              <a:solidFill>
                <a:schemeClr val="accent1"/>
              </a:solidFill>
              <a:latin typeface="Roboto Slab"/>
              <a:ea typeface="Roboto Slab"/>
              <a:cs typeface="Roboto Slab"/>
              <a:sym typeface="Roboto Slab"/>
            </a:endParaRPr>
          </a:p>
        </p:txBody>
      </p:sp>
      <p:sp>
        <p:nvSpPr>
          <p:cNvPr id="653" name="Google Shape;653;p25"/>
          <p:cNvSpPr txBox="1">
            <a:spLocks noGrp="1"/>
          </p:cNvSpPr>
          <p:nvPr>
            <p:ph type="subTitle" idx="4294967295"/>
          </p:nvPr>
        </p:nvSpPr>
        <p:spPr>
          <a:xfrm>
            <a:off x="685800" y="1639913"/>
            <a:ext cx="65937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4"/>
              </a:buClr>
              <a:buSzPts val="3000"/>
              <a:buFont typeface="Arial"/>
              <a:buNone/>
            </a:pPr>
            <a:r>
              <a:rPr lang="en" sz="3600" b="1" i="0" u="none" strike="noStrike" cap="none" dirty="0">
                <a:solidFill>
                  <a:schemeClr val="dk1"/>
                </a:solidFill>
                <a:latin typeface="Arial"/>
                <a:ea typeface="Arial"/>
                <a:cs typeface="Arial"/>
                <a:sym typeface="Arial"/>
              </a:rPr>
              <a:t>Any questions?</a:t>
            </a:r>
            <a:endParaRPr sz="3600" b="1" i="0" u="none" strike="noStrike" cap="none" dirty="0">
              <a:solidFill>
                <a:schemeClr val="dk1"/>
              </a:solidFill>
              <a:latin typeface="Arial"/>
              <a:ea typeface="Arial"/>
              <a:cs typeface="Arial"/>
              <a:sym typeface="Arial"/>
            </a:endParaRPr>
          </a:p>
        </p:txBody>
      </p:sp>
      <p:sp>
        <p:nvSpPr>
          <p:cNvPr id="654" name="Google Shape;654;p25"/>
          <p:cNvSpPr txBox="1">
            <a:spLocks noGrp="1"/>
          </p:cNvSpPr>
          <p:nvPr>
            <p:ph type="body" idx="4294967295"/>
          </p:nvPr>
        </p:nvSpPr>
        <p:spPr>
          <a:xfrm>
            <a:off x="685799" y="2464406"/>
            <a:ext cx="7973292" cy="246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3000"/>
              <a:buNone/>
            </a:pPr>
            <a:r>
              <a:rPr lang="en" dirty="0"/>
              <a:t>You can find me </a:t>
            </a:r>
            <a:r>
              <a:rPr lang="en" dirty="0" smtClean="0"/>
              <a:t>on Linkedin: </a:t>
            </a:r>
            <a:r>
              <a:rPr lang="en" dirty="0" smtClean="0">
                <a:hlinkClick r:id="rId3"/>
              </a:rPr>
              <a:t>@zainkhanln</a:t>
            </a:r>
            <a:endParaRPr dirty="0"/>
          </a:p>
        </p:txBody>
      </p:sp>
      <p:sp>
        <p:nvSpPr>
          <p:cNvPr id="655" name="Google Shape;655;p25"/>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52</a:t>
            </a:fld>
            <a:endParaRPr/>
          </a:p>
        </p:txBody>
      </p:sp>
    </p:spTree>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TotalTime>
  <Words>3331</Words>
  <Application>Microsoft Office PowerPoint</Application>
  <PresentationFormat>On-screen Show (16:9)</PresentationFormat>
  <Paragraphs>513</Paragraphs>
  <Slides>52</Slides>
  <Notes>51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52</vt:i4>
      </vt:variant>
    </vt:vector>
  </HeadingPairs>
  <TitlesOfParts>
    <vt:vector size="64" baseType="lpstr">
      <vt:lpstr>Arial</vt:lpstr>
      <vt:lpstr>Merriweather</vt:lpstr>
      <vt:lpstr>Roboto Mono Light</vt:lpstr>
      <vt:lpstr>Roboto</vt:lpstr>
      <vt:lpstr>Consolas</vt:lpstr>
      <vt:lpstr>Courier New</vt:lpstr>
      <vt:lpstr>Verdana</vt:lpstr>
      <vt:lpstr>Times New Roman</vt:lpstr>
      <vt:lpstr>Georgia</vt:lpstr>
      <vt:lpstr>Roboto Slab</vt:lpstr>
      <vt:lpstr>Roboto Mono</vt:lpstr>
      <vt:lpstr>Cordelia template</vt:lpstr>
      <vt:lpstr>Data Acquisition</vt:lpstr>
      <vt:lpstr> Application Programming Interface</vt:lpstr>
      <vt:lpstr>Introduction to API</vt:lpstr>
      <vt:lpstr>Introduction to API</vt:lpstr>
      <vt:lpstr>APIs real life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Working with JSON in Python</vt:lpstr>
      <vt:lpstr>Working with JSON in Python</vt:lpstr>
      <vt:lpstr>PowerPoint Presentation</vt:lpstr>
      <vt:lpstr> API Design Principles</vt:lpstr>
      <vt:lpstr> Fetching Data from API using Python &amp; Postman </vt:lpstr>
      <vt:lpstr>Python request library</vt:lpstr>
      <vt:lpstr>Python request library</vt:lpstr>
      <vt:lpstr>Python request library</vt:lpstr>
      <vt:lpstr>Python request library</vt:lpstr>
      <vt:lpstr>Python request library</vt:lpstr>
      <vt:lpstr>Python request library</vt:lpstr>
      <vt:lpstr>Python request library</vt:lpstr>
      <vt:lpstr>Python request library</vt:lpstr>
      <vt:lpstr>Python request library</vt:lpstr>
      <vt:lpstr>Python request library</vt:lpstr>
      <vt:lpstr>Postman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Authentication for apis and Oauth 2.0 flow python</vt:lpstr>
      <vt:lpstr>PowerPoint Presentation</vt:lpstr>
      <vt:lpstr>Methods to Authentication REST API</vt:lpstr>
      <vt:lpstr>Methods to Authentication REST API</vt:lpstr>
      <vt:lpstr>Methods to Authentication REST API</vt:lpstr>
      <vt:lpstr>Methods to Authentication REST API</vt:lpstr>
      <vt:lpstr>Methods to Authentication REST API</vt:lpstr>
      <vt:lpstr>PowerPoint Presentation</vt:lpstr>
      <vt:lpstr>PowerPoint Presentation</vt:lpstr>
      <vt:lpstr> REST API best practices</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Acquisition</dc:title>
  <cp:lastModifiedBy>Zain</cp:lastModifiedBy>
  <cp:revision>140</cp:revision>
  <dcterms:modified xsi:type="dcterms:W3CDTF">2026-02-05T14:07:26Z</dcterms:modified>
</cp:coreProperties>
</file>